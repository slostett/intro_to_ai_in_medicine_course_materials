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y="6858000" cx="12192000"/>
  <p:notesSz cx="6858000" cy="9144000"/>
  <p:embeddedFontLst>
    <p:embeddedFont>
      <p:font typeface="Play"/>
      <p:regular r:id="rId43"/>
      <p:bold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5" roundtripDataSignature="AMtx7mjyTWoWzPn7l/EYlQKUaMlK7gWJ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0DCE35B-E7A8-410F-B596-7984AA6ECA0A}">
  <a:tblStyle styleId="{90DCE35B-E7A8-410F-B596-7984AA6ECA0A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fill>
          <a:solidFill>
            <a:srgbClr val="CAD1D8"/>
          </a:solidFill>
        </a:fill>
      </a:tcStyle>
    </a:band1H>
    <a:band2H>
      <a:tcTxStyle/>
    </a:band2H>
    <a:band1V>
      <a:tcTxStyle/>
      <a:tcStyle>
        <a:fill>
          <a:solidFill>
            <a:srgbClr val="CAD1D8"/>
          </a:solidFill>
        </a:fill>
      </a:tcStyle>
    </a:band1V>
    <a:band2V>
      <a:tcTxStyle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font" Target="fonts/Play-bold.fntdata"/><Relationship Id="rId21" Type="http://schemas.openxmlformats.org/officeDocument/2006/relationships/slide" Target="slides/slide16.xml"/><Relationship Id="rId43" Type="http://schemas.openxmlformats.org/officeDocument/2006/relationships/font" Target="fonts/Play-regular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45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Context embeddings</a:t>
            </a:r>
            <a:endParaRPr/>
          </a:p>
        </p:txBody>
      </p:sp>
      <p:sp>
        <p:nvSpPr>
          <p:cNvPr id="98" name="Google Shape;9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this?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was it used for before AI training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Gaming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is gaming so computationally demanding that you need a whole new piece of hardware?</a:t>
            </a:r>
            <a:endParaRPr/>
          </a:p>
        </p:txBody>
      </p:sp>
      <p:sp>
        <p:nvSpPr>
          <p:cNvPr id="111" name="Google Shape;11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Each contain a number of cores that are able to do binary math</a:t>
            </a:r>
            <a:endParaRPr/>
          </a:p>
        </p:txBody>
      </p:sp>
      <p:sp>
        <p:nvSpPr>
          <p:cNvPr id="117" name="Google Shape;11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Let’s say our operation is 1+1, then we’ll assign there.</a:t>
            </a:r>
            <a:endParaRPr/>
          </a:p>
        </p:txBody>
      </p:sp>
      <p:sp>
        <p:nvSpPr>
          <p:cNvPr id="142" name="Google Shape;14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 an issue if we have a few operations at a time</a:t>
            </a:r>
            <a:endParaRPr/>
          </a:p>
        </p:txBody>
      </p:sp>
      <p:sp>
        <p:nvSpPr>
          <p:cNvPr id="164" name="Google Shape;16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 an issue if we have a few operations at a time</a:t>
            </a:r>
            <a:endParaRPr/>
          </a:p>
        </p:txBody>
      </p:sp>
      <p:sp>
        <p:nvSpPr>
          <p:cNvPr id="192" name="Google Shape;19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 really have 9 products in C, then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By doing this, you’ve applied the dot products in B to A in every possible combination.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Now, we can rejoin our story from last lecture.</a:t>
            </a:r>
            <a:endParaRPr/>
          </a:p>
        </p:txBody>
      </p:sp>
      <p:sp>
        <p:nvSpPr>
          <p:cNvPr id="240" name="Google Shape;24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 an issue if we have a few operations at a time</a:t>
            </a:r>
            <a:endParaRPr/>
          </a:p>
        </p:txBody>
      </p:sp>
      <p:sp>
        <p:nvSpPr>
          <p:cNvPr id="262" name="Google Shape;26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0" name="Google Shape;41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removed person*</a:t>
            </a:r>
            <a:endParaRPr/>
          </a:p>
        </p:txBody>
      </p:sp>
      <p:sp>
        <p:nvSpPr>
          <p:cNvPr id="423" name="Google Shape;42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6" name="Google Shape;44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Matthew establishes a GPU </a:t>
            </a:r>
            <a:endParaRPr/>
          </a:p>
        </p:txBody>
      </p:sp>
      <p:sp>
        <p:nvSpPr>
          <p:cNvPr id="447" name="Google Shape;447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4" name="Google Shape;454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Overfit: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Options: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Scale back the model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Get more train data</a:t>
            </a:r>
            <a:endParaRPr/>
          </a:p>
        </p:txBody>
      </p:sp>
      <p:sp>
        <p:nvSpPr>
          <p:cNvPr id="455" name="Google Shape;455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2" name="Google Shape;46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Hospital H has some more training data they can share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are their options for sharing this HIPAA protected data?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2" name="Google Shape;492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Readme.md -&gt; markdown file where you can read more about the project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Model weights saved under .ckpt .safetensors files</a:t>
            </a:r>
            <a:endParaRPr/>
          </a:p>
        </p:txBody>
      </p:sp>
      <p:sp>
        <p:nvSpPr>
          <p:cNvPr id="493" name="Google Shape;493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7" name="Google Shape;527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Machine code = binary = 101001001</a:t>
            </a:r>
            <a:endParaRPr/>
          </a:p>
        </p:txBody>
      </p:sp>
      <p:sp>
        <p:nvSpPr>
          <p:cNvPr id="528" name="Google Shape;528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4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4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4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4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4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4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4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4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4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jpg"/><Relationship Id="rId4" Type="http://schemas.openxmlformats.org/officeDocument/2006/relationships/image" Target="../media/image30.png"/><Relationship Id="rId5" Type="http://schemas.openxmlformats.org/officeDocument/2006/relationships/image" Target="../media/image3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9.jpg"/><Relationship Id="rId4" Type="http://schemas.openxmlformats.org/officeDocument/2006/relationships/image" Target="../media/image2.png"/><Relationship Id="rId5" Type="http://schemas.openxmlformats.org/officeDocument/2006/relationships/image" Target="../media/image13.png"/><Relationship Id="rId6" Type="http://schemas.openxmlformats.org/officeDocument/2006/relationships/image" Target="../media/image9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9.jpg"/><Relationship Id="rId4" Type="http://schemas.openxmlformats.org/officeDocument/2006/relationships/image" Target="../media/image6.jpg"/><Relationship Id="rId5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jpg"/><Relationship Id="rId4" Type="http://schemas.openxmlformats.org/officeDocument/2006/relationships/image" Target="../media/image8.jpg"/><Relationship Id="rId5" Type="http://schemas.openxmlformats.org/officeDocument/2006/relationships/image" Target="../media/image10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7.png"/><Relationship Id="rId4" Type="http://schemas.openxmlformats.org/officeDocument/2006/relationships/image" Target="../media/image2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8.png"/><Relationship Id="rId4" Type="http://schemas.openxmlformats.org/officeDocument/2006/relationships/image" Target="../media/image1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8.png"/><Relationship Id="rId4" Type="http://schemas.openxmlformats.org/officeDocument/2006/relationships/image" Target="../media/image20.png"/><Relationship Id="rId5" Type="http://schemas.openxmlformats.org/officeDocument/2006/relationships/image" Target="../media/image2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6.png"/><Relationship Id="rId4" Type="http://schemas.openxmlformats.org/officeDocument/2006/relationships/image" Target="../media/image2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5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6.png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en-US"/>
              <a:t>Intro to AI in Medicine</a:t>
            </a:r>
            <a:endParaRPr/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Lec 10: Practicalities of ML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37839"/>
            <a:ext cx="12192000" cy="61823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Last Time</a:t>
            </a:r>
            <a:endParaRPr/>
          </a:p>
        </p:txBody>
      </p:sp>
      <p:sp>
        <p:nvSpPr>
          <p:cNvPr id="101" name="Google Shape;101;p3"/>
          <p:cNvSpPr txBox="1"/>
          <p:nvPr>
            <p:ph idx="1" type="body"/>
          </p:nvPr>
        </p:nvSpPr>
        <p:spPr>
          <a:xfrm>
            <a:off x="838200" y="1415143"/>
            <a:ext cx="10515600" cy="48706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Discussed the inner workings of LLMs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Language embeddings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Tokenization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Training regime -&gt; self-supervised multiclass classification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Attention Block (which is inside the Transformer)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Real world ramifications of LLMs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Environmental concerns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Hallucinations and Bias (look to the data!)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Ways LLMs are innovating in medicine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RAGs and document embeddings -&gt; OpenEvidence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Multimodality learning and foundation models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This time</a:t>
            </a:r>
            <a:endParaRPr/>
          </a:p>
        </p:txBody>
      </p:sp>
      <p:sp>
        <p:nvSpPr>
          <p:cNvPr id="107" name="Google Shape;107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Where the rubber meets the road: Infrastructure supporting AI/ML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Out of context learning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eForce 10 Series Graphics Cards" id="113" name="Google Shape;11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419100"/>
            <a:ext cx="11430000" cy="601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CPU vs GPU</a:t>
            </a:r>
            <a:endParaRPr/>
          </a:p>
        </p:txBody>
      </p:sp>
      <p:pic>
        <p:nvPicPr>
          <p:cNvPr descr="GeForce 10 Series Graphics Cards" id="120" name="Google Shape;12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10261" y="3208893"/>
            <a:ext cx="5881687" cy="30976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l's Upcoming 12-Core CPU May Clock Well Below AMD's Threadripper |  Extremetech" id="121" name="Google Shape;12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74641" y="551419"/>
            <a:ext cx="4352925" cy="2450536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6"/>
          <p:cNvSpPr txBox="1"/>
          <p:nvPr>
            <p:ph idx="1" type="body"/>
          </p:nvPr>
        </p:nvSpPr>
        <p:spPr>
          <a:xfrm>
            <a:off x="557214" y="1825625"/>
            <a:ext cx="5186362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CPU: Central Processing Unit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GPU: Graphics Processing Unit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CPU vs GPU</a:t>
            </a:r>
            <a:endParaRPr/>
          </a:p>
        </p:txBody>
      </p:sp>
      <p:pic>
        <p:nvPicPr>
          <p:cNvPr descr="Intel's Upcoming 12-Core CPU May Clock Well Below AMD's Threadripper |  Extremetech" id="128" name="Google Shape;12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203732"/>
            <a:ext cx="4352925" cy="245053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9" name="Google Shape;129;p7"/>
          <p:cNvCxnSpPr>
            <a:stCxn id="128" idx="3"/>
          </p:cNvCxnSpPr>
          <p:nvPr/>
        </p:nvCxnSpPr>
        <p:spPr>
          <a:xfrm>
            <a:off x="4352925" y="3429000"/>
            <a:ext cx="1347900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30" name="Google Shape;130;p7"/>
          <p:cNvSpPr/>
          <p:nvPr/>
        </p:nvSpPr>
        <p:spPr>
          <a:xfrm>
            <a:off x="6050751" y="661988"/>
            <a:ext cx="700087" cy="685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6050754" y="1347788"/>
            <a:ext cx="700087" cy="685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6050754" y="2033588"/>
            <a:ext cx="700087" cy="685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6050754" y="2719388"/>
            <a:ext cx="700087" cy="685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6050752" y="3371850"/>
            <a:ext cx="700087" cy="685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6050753" y="4057650"/>
            <a:ext cx="700087" cy="685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6050753" y="4743450"/>
            <a:ext cx="700087" cy="685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6050753" y="5429250"/>
            <a:ext cx="700087" cy="685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7"/>
          <p:cNvSpPr txBox="1"/>
          <p:nvPr/>
        </p:nvSpPr>
        <p:spPr>
          <a:xfrm>
            <a:off x="7096126" y="796676"/>
            <a:ext cx="4867264" cy="2246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Inside the CPU are “cores”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These cores are assigned operations individually as they come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CPU vs GPU</a:t>
            </a:r>
            <a:endParaRPr/>
          </a:p>
        </p:txBody>
      </p:sp>
      <p:sp>
        <p:nvSpPr>
          <p:cNvPr id="145" name="Google Shape;145;p8"/>
          <p:cNvSpPr/>
          <p:nvPr/>
        </p:nvSpPr>
        <p:spPr>
          <a:xfrm>
            <a:off x="5745956" y="790576"/>
            <a:ext cx="700087" cy="685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5745959" y="1476376"/>
            <a:ext cx="700087" cy="685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5745959" y="2162176"/>
            <a:ext cx="700087" cy="685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5745959" y="2847976"/>
            <a:ext cx="700087" cy="685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5745957" y="3500438"/>
            <a:ext cx="700087" cy="685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5745958" y="4186238"/>
            <a:ext cx="700087" cy="685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5745958" y="4872038"/>
            <a:ext cx="700087" cy="685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5745958" y="5557838"/>
            <a:ext cx="700087" cy="685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8"/>
          <p:cNvSpPr txBox="1"/>
          <p:nvPr/>
        </p:nvSpPr>
        <p:spPr>
          <a:xfrm>
            <a:off x="1243605" y="3190876"/>
            <a:ext cx="280035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1+1</a:t>
            </a:r>
            <a:endParaRPr/>
          </a:p>
        </p:txBody>
      </p:sp>
      <p:sp>
        <p:nvSpPr>
          <p:cNvPr id="154" name="Google Shape;154;p8"/>
          <p:cNvSpPr/>
          <p:nvPr/>
        </p:nvSpPr>
        <p:spPr>
          <a:xfrm>
            <a:off x="3436737" y="3086100"/>
            <a:ext cx="1214438" cy="685800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5" name="Google Shape;155;p8"/>
          <p:cNvCxnSpPr/>
          <p:nvPr/>
        </p:nvCxnSpPr>
        <p:spPr>
          <a:xfrm>
            <a:off x="2163960" y="3429000"/>
            <a:ext cx="1158477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56" name="Google Shape;156;p8"/>
          <p:cNvSpPr txBox="1"/>
          <p:nvPr/>
        </p:nvSpPr>
        <p:spPr>
          <a:xfrm>
            <a:off x="5553670" y="202735"/>
            <a:ext cx="280035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Cores</a:t>
            </a:r>
            <a:endParaRPr/>
          </a:p>
        </p:txBody>
      </p:sp>
      <p:sp>
        <p:nvSpPr>
          <p:cNvPr id="157" name="Google Shape;157;p8"/>
          <p:cNvSpPr txBox="1"/>
          <p:nvPr/>
        </p:nvSpPr>
        <p:spPr>
          <a:xfrm>
            <a:off x="3150987" y="2548594"/>
            <a:ext cx="280035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Scheduler</a:t>
            </a:r>
            <a:endParaRPr/>
          </a:p>
        </p:txBody>
      </p:sp>
      <p:cxnSp>
        <p:nvCxnSpPr>
          <p:cNvPr id="158" name="Google Shape;158;p8"/>
          <p:cNvCxnSpPr/>
          <p:nvPr/>
        </p:nvCxnSpPr>
        <p:spPr>
          <a:xfrm flipH="1" rot="10800000">
            <a:off x="4765475" y="1373983"/>
            <a:ext cx="980481" cy="2055017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59" name="Google Shape;159;p8"/>
          <p:cNvSpPr/>
          <p:nvPr/>
        </p:nvSpPr>
        <p:spPr>
          <a:xfrm>
            <a:off x="5900143" y="954883"/>
            <a:ext cx="391712" cy="3429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8"/>
          <p:cNvSpPr txBox="1"/>
          <p:nvPr/>
        </p:nvSpPr>
        <p:spPr>
          <a:xfrm>
            <a:off x="7096126" y="796676"/>
            <a:ext cx="4867264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scheduler assigns to cores that aren’t busy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CPU vs GPU</a:t>
            </a:r>
            <a:endParaRPr/>
          </a:p>
        </p:txBody>
      </p:sp>
      <p:sp>
        <p:nvSpPr>
          <p:cNvPr id="167" name="Google Shape;167;p9"/>
          <p:cNvSpPr/>
          <p:nvPr/>
        </p:nvSpPr>
        <p:spPr>
          <a:xfrm>
            <a:off x="5745956" y="790576"/>
            <a:ext cx="700087" cy="685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9"/>
          <p:cNvSpPr txBox="1"/>
          <p:nvPr/>
        </p:nvSpPr>
        <p:spPr>
          <a:xfrm>
            <a:off x="1243605" y="3190876"/>
            <a:ext cx="280035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1+1</a:t>
            </a:r>
            <a:endParaRPr/>
          </a:p>
        </p:txBody>
      </p:sp>
      <p:sp>
        <p:nvSpPr>
          <p:cNvPr id="169" name="Google Shape;169;p9"/>
          <p:cNvSpPr/>
          <p:nvPr/>
        </p:nvSpPr>
        <p:spPr>
          <a:xfrm>
            <a:off x="3436737" y="3086100"/>
            <a:ext cx="1214438" cy="685800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0" name="Google Shape;170;p9"/>
          <p:cNvCxnSpPr/>
          <p:nvPr/>
        </p:nvCxnSpPr>
        <p:spPr>
          <a:xfrm>
            <a:off x="2163960" y="3429000"/>
            <a:ext cx="1158477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71" name="Google Shape;171;p9"/>
          <p:cNvSpPr txBox="1"/>
          <p:nvPr/>
        </p:nvSpPr>
        <p:spPr>
          <a:xfrm>
            <a:off x="5553670" y="202735"/>
            <a:ext cx="280035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Cores</a:t>
            </a:r>
            <a:endParaRPr/>
          </a:p>
        </p:txBody>
      </p:sp>
      <p:sp>
        <p:nvSpPr>
          <p:cNvPr id="172" name="Google Shape;172;p9"/>
          <p:cNvSpPr txBox="1"/>
          <p:nvPr/>
        </p:nvSpPr>
        <p:spPr>
          <a:xfrm>
            <a:off x="3150987" y="2548594"/>
            <a:ext cx="280035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Scheduler</a:t>
            </a:r>
            <a:endParaRPr/>
          </a:p>
        </p:txBody>
      </p:sp>
      <p:sp>
        <p:nvSpPr>
          <p:cNvPr id="173" name="Google Shape;173;p9"/>
          <p:cNvSpPr/>
          <p:nvPr/>
        </p:nvSpPr>
        <p:spPr>
          <a:xfrm>
            <a:off x="5900143" y="954883"/>
            <a:ext cx="391712" cy="3429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9"/>
          <p:cNvSpPr txBox="1"/>
          <p:nvPr/>
        </p:nvSpPr>
        <p:spPr>
          <a:xfrm>
            <a:off x="7096126" y="796676"/>
            <a:ext cx="4867264" cy="31085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if all our cores are busy?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Then we have to wait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 an issue if we have only a few operations at a time – even if complex</a:t>
            </a:r>
            <a:endParaRPr/>
          </a:p>
        </p:txBody>
      </p:sp>
      <p:sp>
        <p:nvSpPr>
          <p:cNvPr id="175" name="Google Shape;175;p9"/>
          <p:cNvSpPr/>
          <p:nvPr/>
        </p:nvSpPr>
        <p:spPr>
          <a:xfrm>
            <a:off x="5745956" y="1467508"/>
            <a:ext cx="700087" cy="685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5900143" y="1631815"/>
            <a:ext cx="391712" cy="3429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5745956" y="2144440"/>
            <a:ext cx="700087" cy="685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5900143" y="2308747"/>
            <a:ext cx="391712" cy="3429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5745956" y="2821372"/>
            <a:ext cx="700087" cy="685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5900143" y="2985679"/>
            <a:ext cx="391712" cy="3429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5745957" y="3510212"/>
            <a:ext cx="700087" cy="685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5900144" y="3674519"/>
            <a:ext cx="391712" cy="3429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5745957" y="4187144"/>
            <a:ext cx="700087" cy="685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5900144" y="4351451"/>
            <a:ext cx="391712" cy="3429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5745957" y="4864076"/>
            <a:ext cx="700087" cy="685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5900144" y="5028383"/>
            <a:ext cx="391712" cy="3429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5745957" y="5541008"/>
            <a:ext cx="700087" cy="685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5900144" y="5705315"/>
            <a:ext cx="391712" cy="3429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CPU vs GPU</a:t>
            </a:r>
            <a:endParaRPr/>
          </a:p>
        </p:txBody>
      </p:sp>
      <p:sp>
        <p:nvSpPr>
          <p:cNvPr id="195" name="Google Shape;195;p10"/>
          <p:cNvSpPr/>
          <p:nvPr/>
        </p:nvSpPr>
        <p:spPr>
          <a:xfrm>
            <a:off x="5745956" y="790576"/>
            <a:ext cx="700087" cy="685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0"/>
          <p:cNvSpPr txBox="1"/>
          <p:nvPr/>
        </p:nvSpPr>
        <p:spPr>
          <a:xfrm>
            <a:off x="1243605" y="3190876"/>
            <a:ext cx="76616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3*9</a:t>
            </a:r>
            <a:endParaRPr/>
          </a:p>
        </p:txBody>
      </p:sp>
      <p:sp>
        <p:nvSpPr>
          <p:cNvPr id="197" name="Google Shape;197;p10"/>
          <p:cNvSpPr/>
          <p:nvPr/>
        </p:nvSpPr>
        <p:spPr>
          <a:xfrm>
            <a:off x="3436737" y="3086100"/>
            <a:ext cx="1214438" cy="685800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8" name="Google Shape;198;p10"/>
          <p:cNvCxnSpPr/>
          <p:nvPr/>
        </p:nvCxnSpPr>
        <p:spPr>
          <a:xfrm>
            <a:off x="2163960" y="3429000"/>
            <a:ext cx="1158477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99" name="Google Shape;199;p10"/>
          <p:cNvSpPr txBox="1"/>
          <p:nvPr/>
        </p:nvSpPr>
        <p:spPr>
          <a:xfrm>
            <a:off x="5553670" y="202735"/>
            <a:ext cx="280035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Cores</a:t>
            </a:r>
            <a:endParaRPr/>
          </a:p>
        </p:txBody>
      </p:sp>
      <p:sp>
        <p:nvSpPr>
          <p:cNvPr id="200" name="Google Shape;200;p10"/>
          <p:cNvSpPr txBox="1"/>
          <p:nvPr/>
        </p:nvSpPr>
        <p:spPr>
          <a:xfrm>
            <a:off x="3150987" y="2548594"/>
            <a:ext cx="280035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Scheduler</a:t>
            </a:r>
            <a:endParaRPr/>
          </a:p>
        </p:txBody>
      </p:sp>
      <p:sp>
        <p:nvSpPr>
          <p:cNvPr id="201" name="Google Shape;201;p10"/>
          <p:cNvSpPr/>
          <p:nvPr/>
        </p:nvSpPr>
        <p:spPr>
          <a:xfrm>
            <a:off x="5900143" y="954883"/>
            <a:ext cx="391712" cy="3429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0"/>
          <p:cNvSpPr txBox="1"/>
          <p:nvPr/>
        </p:nvSpPr>
        <p:spPr>
          <a:xfrm>
            <a:off x="7096126" y="796676"/>
            <a:ext cx="4867264" cy="48320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if we have a bunch of simple operations?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would be better if we had a bunch of cores – even if they were less powerful individually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kind of operation packages a ton of simple multiplications and additions into one? </a:t>
            </a:r>
            <a:endParaRPr/>
          </a:p>
        </p:txBody>
      </p:sp>
      <p:sp>
        <p:nvSpPr>
          <p:cNvPr id="203" name="Google Shape;203;p10"/>
          <p:cNvSpPr/>
          <p:nvPr/>
        </p:nvSpPr>
        <p:spPr>
          <a:xfrm>
            <a:off x="5745956" y="1467508"/>
            <a:ext cx="700087" cy="685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5900143" y="1631815"/>
            <a:ext cx="391712" cy="3429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5745956" y="2144440"/>
            <a:ext cx="700087" cy="685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5900143" y="2308747"/>
            <a:ext cx="391712" cy="3429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5745956" y="2821372"/>
            <a:ext cx="700087" cy="685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5900143" y="2985679"/>
            <a:ext cx="391712" cy="3429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5745957" y="3510212"/>
            <a:ext cx="700087" cy="685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5900144" y="3674519"/>
            <a:ext cx="391712" cy="3429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5745957" y="4187144"/>
            <a:ext cx="700087" cy="685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5900144" y="4351451"/>
            <a:ext cx="391712" cy="3429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5745957" y="4864076"/>
            <a:ext cx="700087" cy="685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5900144" y="5028383"/>
            <a:ext cx="391712" cy="3429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5745957" y="5541008"/>
            <a:ext cx="700087" cy="685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5900144" y="5705315"/>
            <a:ext cx="391712" cy="3429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0"/>
          <p:cNvSpPr txBox="1"/>
          <p:nvPr/>
        </p:nvSpPr>
        <p:spPr>
          <a:xfrm>
            <a:off x="927193" y="3714096"/>
            <a:ext cx="76616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4*2</a:t>
            </a:r>
            <a:endParaRPr/>
          </a:p>
        </p:txBody>
      </p:sp>
      <p:sp>
        <p:nvSpPr>
          <p:cNvPr id="218" name="Google Shape;218;p10"/>
          <p:cNvSpPr txBox="1"/>
          <p:nvPr/>
        </p:nvSpPr>
        <p:spPr>
          <a:xfrm>
            <a:off x="610781" y="4237316"/>
            <a:ext cx="76616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8*1</a:t>
            </a:r>
            <a:endParaRPr/>
          </a:p>
        </p:txBody>
      </p:sp>
      <p:sp>
        <p:nvSpPr>
          <p:cNvPr id="219" name="Google Shape;219;p10"/>
          <p:cNvSpPr txBox="1"/>
          <p:nvPr/>
        </p:nvSpPr>
        <p:spPr>
          <a:xfrm>
            <a:off x="1693360" y="4030889"/>
            <a:ext cx="94982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71*2</a:t>
            </a:r>
            <a:endParaRPr/>
          </a:p>
        </p:txBody>
      </p:sp>
      <p:sp>
        <p:nvSpPr>
          <p:cNvPr id="220" name="Google Shape;220;p10"/>
          <p:cNvSpPr txBox="1"/>
          <p:nvPr/>
        </p:nvSpPr>
        <p:spPr>
          <a:xfrm>
            <a:off x="467301" y="2838780"/>
            <a:ext cx="100608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12*3</a:t>
            </a:r>
            <a:endParaRPr/>
          </a:p>
        </p:txBody>
      </p:sp>
      <p:sp>
        <p:nvSpPr>
          <p:cNvPr id="221" name="Google Shape;221;p10"/>
          <p:cNvSpPr txBox="1"/>
          <p:nvPr/>
        </p:nvSpPr>
        <p:spPr>
          <a:xfrm>
            <a:off x="1274264" y="2667656"/>
            <a:ext cx="115847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18*31</a:t>
            </a:r>
            <a:endParaRPr/>
          </a:p>
        </p:txBody>
      </p:sp>
      <p:sp>
        <p:nvSpPr>
          <p:cNvPr id="222" name="Google Shape;222;p10"/>
          <p:cNvSpPr txBox="1"/>
          <p:nvPr/>
        </p:nvSpPr>
        <p:spPr>
          <a:xfrm>
            <a:off x="1221862" y="4243477"/>
            <a:ext cx="94982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4*9</a:t>
            </a:r>
            <a:endParaRPr/>
          </a:p>
        </p:txBody>
      </p:sp>
      <p:sp>
        <p:nvSpPr>
          <p:cNvPr id="223" name="Google Shape;223;p10"/>
          <p:cNvSpPr txBox="1"/>
          <p:nvPr/>
        </p:nvSpPr>
        <p:spPr>
          <a:xfrm>
            <a:off x="1951429" y="4925105"/>
            <a:ext cx="76616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3*9</a:t>
            </a:r>
            <a:endParaRPr/>
          </a:p>
        </p:txBody>
      </p:sp>
      <p:sp>
        <p:nvSpPr>
          <p:cNvPr id="224" name="Google Shape;224;p10"/>
          <p:cNvSpPr txBox="1"/>
          <p:nvPr/>
        </p:nvSpPr>
        <p:spPr>
          <a:xfrm>
            <a:off x="1635017" y="5448325"/>
            <a:ext cx="76616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4*2</a:t>
            </a:r>
            <a:endParaRPr/>
          </a:p>
        </p:txBody>
      </p:sp>
      <p:sp>
        <p:nvSpPr>
          <p:cNvPr id="225" name="Google Shape;225;p10"/>
          <p:cNvSpPr txBox="1"/>
          <p:nvPr/>
        </p:nvSpPr>
        <p:spPr>
          <a:xfrm>
            <a:off x="1318605" y="5971545"/>
            <a:ext cx="76616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8*1</a:t>
            </a:r>
            <a:endParaRPr/>
          </a:p>
        </p:txBody>
      </p:sp>
      <p:sp>
        <p:nvSpPr>
          <p:cNvPr id="226" name="Google Shape;226;p10"/>
          <p:cNvSpPr txBox="1"/>
          <p:nvPr/>
        </p:nvSpPr>
        <p:spPr>
          <a:xfrm>
            <a:off x="2401184" y="5765118"/>
            <a:ext cx="94982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71*2</a:t>
            </a:r>
            <a:endParaRPr/>
          </a:p>
        </p:txBody>
      </p:sp>
      <p:sp>
        <p:nvSpPr>
          <p:cNvPr id="227" name="Google Shape;227;p10"/>
          <p:cNvSpPr txBox="1"/>
          <p:nvPr/>
        </p:nvSpPr>
        <p:spPr>
          <a:xfrm>
            <a:off x="1175125" y="4573009"/>
            <a:ext cx="100608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12*3</a:t>
            </a:r>
            <a:endParaRPr/>
          </a:p>
        </p:txBody>
      </p:sp>
      <p:sp>
        <p:nvSpPr>
          <p:cNvPr id="228" name="Google Shape;228;p10"/>
          <p:cNvSpPr txBox="1"/>
          <p:nvPr/>
        </p:nvSpPr>
        <p:spPr>
          <a:xfrm>
            <a:off x="1982088" y="4401885"/>
            <a:ext cx="115847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18*31</a:t>
            </a:r>
            <a:endParaRPr/>
          </a:p>
        </p:txBody>
      </p:sp>
      <p:sp>
        <p:nvSpPr>
          <p:cNvPr id="229" name="Google Shape;229;p10"/>
          <p:cNvSpPr txBox="1"/>
          <p:nvPr/>
        </p:nvSpPr>
        <p:spPr>
          <a:xfrm>
            <a:off x="1929686" y="5977706"/>
            <a:ext cx="94982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4*9</a:t>
            </a:r>
            <a:endParaRPr/>
          </a:p>
        </p:txBody>
      </p:sp>
      <p:sp>
        <p:nvSpPr>
          <p:cNvPr id="230" name="Google Shape;230;p10"/>
          <p:cNvSpPr txBox="1"/>
          <p:nvPr/>
        </p:nvSpPr>
        <p:spPr>
          <a:xfrm>
            <a:off x="1931499" y="1876153"/>
            <a:ext cx="76616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3*9</a:t>
            </a:r>
            <a:endParaRPr/>
          </a:p>
        </p:txBody>
      </p:sp>
      <p:sp>
        <p:nvSpPr>
          <p:cNvPr id="231" name="Google Shape;231;p10"/>
          <p:cNvSpPr txBox="1"/>
          <p:nvPr/>
        </p:nvSpPr>
        <p:spPr>
          <a:xfrm>
            <a:off x="1615087" y="2399373"/>
            <a:ext cx="76616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4*2</a:t>
            </a:r>
            <a:endParaRPr/>
          </a:p>
        </p:txBody>
      </p:sp>
      <p:sp>
        <p:nvSpPr>
          <p:cNvPr id="232" name="Google Shape;232;p10"/>
          <p:cNvSpPr txBox="1"/>
          <p:nvPr/>
        </p:nvSpPr>
        <p:spPr>
          <a:xfrm>
            <a:off x="1298675" y="2922593"/>
            <a:ext cx="76616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8*1</a:t>
            </a:r>
            <a:endParaRPr/>
          </a:p>
        </p:txBody>
      </p:sp>
      <p:sp>
        <p:nvSpPr>
          <p:cNvPr id="233" name="Google Shape;233;p10"/>
          <p:cNvSpPr txBox="1"/>
          <p:nvPr/>
        </p:nvSpPr>
        <p:spPr>
          <a:xfrm>
            <a:off x="2381254" y="2716166"/>
            <a:ext cx="94982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71*2</a:t>
            </a:r>
            <a:endParaRPr/>
          </a:p>
        </p:txBody>
      </p:sp>
      <p:sp>
        <p:nvSpPr>
          <p:cNvPr id="234" name="Google Shape;234;p10"/>
          <p:cNvSpPr txBox="1"/>
          <p:nvPr/>
        </p:nvSpPr>
        <p:spPr>
          <a:xfrm>
            <a:off x="1155195" y="1524057"/>
            <a:ext cx="100608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12*3</a:t>
            </a:r>
            <a:endParaRPr/>
          </a:p>
        </p:txBody>
      </p:sp>
      <p:sp>
        <p:nvSpPr>
          <p:cNvPr id="235" name="Google Shape;235;p10"/>
          <p:cNvSpPr txBox="1"/>
          <p:nvPr/>
        </p:nvSpPr>
        <p:spPr>
          <a:xfrm>
            <a:off x="1962158" y="1352933"/>
            <a:ext cx="115847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18*31</a:t>
            </a:r>
            <a:endParaRPr/>
          </a:p>
        </p:txBody>
      </p:sp>
      <p:sp>
        <p:nvSpPr>
          <p:cNvPr id="236" name="Google Shape;236;p10"/>
          <p:cNvSpPr txBox="1"/>
          <p:nvPr/>
        </p:nvSpPr>
        <p:spPr>
          <a:xfrm>
            <a:off x="1909756" y="2928754"/>
            <a:ext cx="94982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4*9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Matrices: Multiplication</a:t>
            </a:r>
            <a:endParaRPr/>
          </a:p>
        </p:txBody>
      </p:sp>
      <p:pic>
        <p:nvPicPr>
          <p:cNvPr descr="Lock in Emote - Etsy" id="243" name="Google Shape;24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79137" y="215899"/>
            <a:ext cx="949325" cy="94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34986" y="5756152"/>
            <a:ext cx="5382376" cy="8859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atrix Multiplication-Why is it a big deal? | by Charchithowitzer | Medium" id="245" name="Google Shape;245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51764" y="1690688"/>
            <a:ext cx="9288472" cy="3138488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1"/>
          <p:cNvSpPr txBox="1"/>
          <p:nvPr/>
        </p:nvSpPr>
        <p:spPr>
          <a:xfrm>
            <a:off x="4508500" y="4797980"/>
            <a:ext cx="342900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*b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 a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*b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 a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*b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c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1"/>
          <p:cNvSpPr txBox="1"/>
          <p:nvPr/>
        </p:nvSpPr>
        <p:spPr>
          <a:xfrm>
            <a:off x="2794000" y="1499394"/>
            <a:ext cx="965200" cy="382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248" name="Google Shape;248;p11"/>
          <p:cNvSpPr txBox="1"/>
          <p:nvPr/>
        </p:nvSpPr>
        <p:spPr>
          <a:xfrm>
            <a:off x="5647531" y="1470582"/>
            <a:ext cx="44846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249" name="Google Shape;249;p11"/>
          <p:cNvSpPr txBox="1"/>
          <p:nvPr/>
        </p:nvSpPr>
        <p:spPr>
          <a:xfrm>
            <a:off x="9173765" y="1470582"/>
            <a:ext cx="44846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CPU vs GPU</a:t>
            </a:r>
            <a:endParaRPr/>
          </a:p>
        </p:txBody>
      </p:sp>
      <p:sp>
        <p:nvSpPr>
          <p:cNvPr id="256" name="Google Shape;256;p12"/>
          <p:cNvSpPr txBox="1"/>
          <p:nvPr>
            <p:ph idx="1" type="body"/>
          </p:nvPr>
        </p:nvSpPr>
        <p:spPr>
          <a:xfrm>
            <a:off x="838200" y="1825625"/>
            <a:ext cx="10515600" cy="588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Why were GPUs originally used for computer graphics?</a:t>
            </a:r>
            <a:endParaRPr/>
          </a:p>
        </p:txBody>
      </p:sp>
      <p:pic>
        <p:nvPicPr>
          <p:cNvPr descr="Color image representation and RGB matrix | Download Scientific Diagram" id="257" name="Google Shape;25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7875" y="2762250"/>
            <a:ext cx="8096250" cy="299085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2"/>
          <p:cNvSpPr txBox="1"/>
          <p:nvPr/>
        </p:nvSpPr>
        <p:spPr>
          <a:xfrm>
            <a:off x="938212" y="5903912"/>
            <a:ext cx="10515600" cy="588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Computer graphics are just another form of matrices!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CPU vs GPU</a:t>
            </a:r>
            <a:endParaRPr/>
          </a:p>
        </p:txBody>
      </p:sp>
      <p:sp>
        <p:nvSpPr>
          <p:cNvPr id="265" name="Google Shape;265;p13"/>
          <p:cNvSpPr/>
          <p:nvPr/>
        </p:nvSpPr>
        <p:spPr>
          <a:xfrm>
            <a:off x="5745956" y="790576"/>
            <a:ext cx="700087" cy="685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3"/>
          <p:cNvSpPr txBox="1"/>
          <p:nvPr/>
        </p:nvSpPr>
        <p:spPr>
          <a:xfrm>
            <a:off x="1243605" y="3190876"/>
            <a:ext cx="76616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3*9</a:t>
            </a:r>
            <a:endParaRPr/>
          </a:p>
        </p:txBody>
      </p:sp>
      <p:sp>
        <p:nvSpPr>
          <p:cNvPr id="267" name="Google Shape;267;p13"/>
          <p:cNvSpPr/>
          <p:nvPr/>
        </p:nvSpPr>
        <p:spPr>
          <a:xfrm>
            <a:off x="3436737" y="3086100"/>
            <a:ext cx="1214438" cy="685800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8" name="Google Shape;268;p13"/>
          <p:cNvCxnSpPr/>
          <p:nvPr/>
        </p:nvCxnSpPr>
        <p:spPr>
          <a:xfrm>
            <a:off x="2163960" y="3429000"/>
            <a:ext cx="1158477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69" name="Google Shape;269;p13"/>
          <p:cNvSpPr txBox="1"/>
          <p:nvPr/>
        </p:nvSpPr>
        <p:spPr>
          <a:xfrm>
            <a:off x="6446043" y="239522"/>
            <a:ext cx="584358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GPU cores would look</a:t>
            </a:r>
            <a:endParaRPr/>
          </a:p>
        </p:txBody>
      </p:sp>
      <p:sp>
        <p:nvSpPr>
          <p:cNvPr id="270" name="Google Shape;270;p13"/>
          <p:cNvSpPr txBox="1"/>
          <p:nvPr/>
        </p:nvSpPr>
        <p:spPr>
          <a:xfrm>
            <a:off x="3150987" y="2548594"/>
            <a:ext cx="280035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Scheduler</a:t>
            </a:r>
            <a:endParaRPr/>
          </a:p>
        </p:txBody>
      </p:sp>
      <p:sp>
        <p:nvSpPr>
          <p:cNvPr id="271" name="Google Shape;271;p13"/>
          <p:cNvSpPr/>
          <p:nvPr/>
        </p:nvSpPr>
        <p:spPr>
          <a:xfrm>
            <a:off x="5900143" y="954883"/>
            <a:ext cx="391712" cy="3429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3"/>
          <p:cNvSpPr/>
          <p:nvPr/>
        </p:nvSpPr>
        <p:spPr>
          <a:xfrm>
            <a:off x="5745956" y="1467508"/>
            <a:ext cx="700087" cy="685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3"/>
          <p:cNvSpPr/>
          <p:nvPr/>
        </p:nvSpPr>
        <p:spPr>
          <a:xfrm>
            <a:off x="5745956" y="2144440"/>
            <a:ext cx="700087" cy="685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3"/>
          <p:cNvSpPr/>
          <p:nvPr/>
        </p:nvSpPr>
        <p:spPr>
          <a:xfrm>
            <a:off x="5900143" y="2308747"/>
            <a:ext cx="391712" cy="3429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3"/>
          <p:cNvSpPr/>
          <p:nvPr/>
        </p:nvSpPr>
        <p:spPr>
          <a:xfrm>
            <a:off x="5745956" y="2821372"/>
            <a:ext cx="700087" cy="685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3"/>
          <p:cNvSpPr/>
          <p:nvPr/>
        </p:nvSpPr>
        <p:spPr>
          <a:xfrm>
            <a:off x="5745957" y="3510212"/>
            <a:ext cx="700087" cy="685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3"/>
          <p:cNvSpPr/>
          <p:nvPr/>
        </p:nvSpPr>
        <p:spPr>
          <a:xfrm>
            <a:off x="5900144" y="3674519"/>
            <a:ext cx="391712" cy="3429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3"/>
          <p:cNvSpPr/>
          <p:nvPr/>
        </p:nvSpPr>
        <p:spPr>
          <a:xfrm>
            <a:off x="5745957" y="4187144"/>
            <a:ext cx="700087" cy="685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3"/>
          <p:cNvSpPr/>
          <p:nvPr/>
        </p:nvSpPr>
        <p:spPr>
          <a:xfrm>
            <a:off x="5745957" y="4864076"/>
            <a:ext cx="700087" cy="685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3"/>
          <p:cNvSpPr/>
          <p:nvPr/>
        </p:nvSpPr>
        <p:spPr>
          <a:xfrm>
            <a:off x="5900144" y="5028383"/>
            <a:ext cx="391712" cy="3429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3"/>
          <p:cNvSpPr/>
          <p:nvPr/>
        </p:nvSpPr>
        <p:spPr>
          <a:xfrm>
            <a:off x="5745957" y="5541008"/>
            <a:ext cx="700087" cy="685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3"/>
          <p:cNvSpPr/>
          <p:nvPr/>
        </p:nvSpPr>
        <p:spPr>
          <a:xfrm>
            <a:off x="5900144" y="5705315"/>
            <a:ext cx="391712" cy="3429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3"/>
          <p:cNvSpPr txBox="1"/>
          <p:nvPr/>
        </p:nvSpPr>
        <p:spPr>
          <a:xfrm>
            <a:off x="927193" y="3714096"/>
            <a:ext cx="76616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4*2</a:t>
            </a:r>
            <a:endParaRPr/>
          </a:p>
        </p:txBody>
      </p:sp>
      <p:sp>
        <p:nvSpPr>
          <p:cNvPr id="284" name="Google Shape;284;p13"/>
          <p:cNvSpPr txBox="1"/>
          <p:nvPr/>
        </p:nvSpPr>
        <p:spPr>
          <a:xfrm>
            <a:off x="610781" y="4237316"/>
            <a:ext cx="76616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8*1</a:t>
            </a:r>
            <a:endParaRPr/>
          </a:p>
        </p:txBody>
      </p:sp>
      <p:sp>
        <p:nvSpPr>
          <p:cNvPr id="285" name="Google Shape;285;p13"/>
          <p:cNvSpPr txBox="1"/>
          <p:nvPr/>
        </p:nvSpPr>
        <p:spPr>
          <a:xfrm>
            <a:off x="1693360" y="4030889"/>
            <a:ext cx="94982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71*2</a:t>
            </a:r>
            <a:endParaRPr/>
          </a:p>
        </p:txBody>
      </p:sp>
      <p:sp>
        <p:nvSpPr>
          <p:cNvPr id="286" name="Google Shape;286;p13"/>
          <p:cNvSpPr txBox="1"/>
          <p:nvPr/>
        </p:nvSpPr>
        <p:spPr>
          <a:xfrm>
            <a:off x="467301" y="2838780"/>
            <a:ext cx="100608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12*3</a:t>
            </a:r>
            <a:endParaRPr/>
          </a:p>
        </p:txBody>
      </p:sp>
      <p:sp>
        <p:nvSpPr>
          <p:cNvPr id="287" name="Google Shape;287;p13"/>
          <p:cNvSpPr txBox="1"/>
          <p:nvPr/>
        </p:nvSpPr>
        <p:spPr>
          <a:xfrm>
            <a:off x="1274264" y="2667656"/>
            <a:ext cx="115847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18*31</a:t>
            </a:r>
            <a:endParaRPr/>
          </a:p>
        </p:txBody>
      </p:sp>
      <p:sp>
        <p:nvSpPr>
          <p:cNvPr id="288" name="Google Shape;288;p13"/>
          <p:cNvSpPr txBox="1"/>
          <p:nvPr/>
        </p:nvSpPr>
        <p:spPr>
          <a:xfrm>
            <a:off x="1221862" y="4243477"/>
            <a:ext cx="94982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4*9</a:t>
            </a:r>
            <a:endParaRPr/>
          </a:p>
        </p:txBody>
      </p:sp>
      <p:sp>
        <p:nvSpPr>
          <p:cNvPr id="289" name="Google Shape;289;p13"/>
          <p:cNvSpPr txBox="1"/>
          <p:nvPr/>
        </p:nvSpPr>
        <p:spPr>
          <a:xfrm>
            <a:off x="1951429" y="4925105"/>
            <a:ext cx="76616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3*9</a:t>
            </a:r>
            <a:endParaRPr/>
          </a:p>
        </p:txBody>
      </p:sp>
      <p:sp>
        <p:nvSpPr>
          <p:cNvPr id="290" name="Google Shape;290;p13"/>
          <p:cNvSpPr txBox="1"/>
          <p:nvPr/>
        </p:nvSpPr>
        <p:spPr>
          <a:xfrm>
            <a:off x="1635017" y="5448325"/>
            <a:ext cx="76616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4*2</a:t>
            </a:r>
            <a:endParaRPr/>
          </a:p>
        </p:txBody>
      </p:sp>
      <p:sp>
        <p:nvSpPr>
          <p:cNvPr id="291" name="Google Shape;291;p13"/>
          <p:cNvSpPr txBox="1"/>
          <p:nvPr/>
        </p:nvSpPr>
        <p:spPr>
          <a:xfrm>
            <a:off x="1318605" y="5971545"/>
            <a:ext cx="76616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8*1</a:t>
            </a:r>
            <a:endParaRPr/>
          </a:p>
        </p:txBody>
      </p:sp>
      <p:sp>
        <p:nvSpPr>
          <p:cNvPr id="292" name="Google Shape;292;p13"/>
          <p:cNvSpPr txBox="1"/>
          <p:nvPr/>
        </p:nvSpPr>
        <p:spPr>
          <a:xfrm>
            <a:off x="2401184" y="5765118"/>
            <a:ext cx="94982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71*2</a:t>
            </a:r>
            <a:endParaRPr/>
          </a:p>
        </p:txBody>
      </p:sp>
      <p:sp>
        <p:nvSpPr>
          <p:cNvPr id="293" name="Google Shape;293;p13"/>
          <p:cNvSpPr txBox="1"/>
          <p:nvPr/>
        </p:nvSpPr>
        <p:spPr>
          <a:xfrm>
            <a:off x="1175125" y="4573009"/>
            <a:ext cx="100608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12*3</a:t>
            </a:r>
            <a:endParaRPr/>
          </a:p>
        </p:txBody>
      </p:sp>
      <p:sp>
        <p:nvSpPr>
          <p:cNvPr id="294" name="Google Shape;294;p13"/>
          <p:cNvSpPr txBox="1"/>
          <p:nvPr/>
        </p:nvSpPr>
        <p:spPr>
          <a:xfrm>
            <a:off x="1982088" y="4401885"/>
            <a:ext cx="115847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18*31</a:t>
            </a:r>
            <a:endParaRPr/>
          </a:p>
        </p:txBody>
      </p:sp>
      <p:sp>
        <p:nvSpPr>
          <p:cNvPr id="295" name="Google Shape;295;p13"/>
          <p:cNvSpPr txBox="1"/>
          <p:nvPr/>
        </p:nvSpPr>
        <p:spPr>
          <a:xfrm>
            <a:off x="1929686" y="5977706"/>
            <a:ext cx="94982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4*9</a:t>
            </a:r>
            <a:endParaRPr/>
          </a:p>
        </p:txBody>
      </p:sp>
      <p:sp>
        <p:nvSpPr>
          <p:cNvPr id="296" name="Google Shape;296;p13"/>
          <p:cNvSpPr txBox="1"/>
          <p:nvPr/>
        </p:nvSpPr>
        <p:spPr>
          <a:xfrm>
            <a:off x="1931499" y="1876153"/>
            <a:ext cx="76616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3*9</a:t>
            </a:r>
            <a:endParaRPr/>
          </a:p>
        </p:txBody>
      </p:sp>
      <p:sp>
        <p:nvSpPr>
          <p:cNvPr id="297" name="Google Shape;297;p13"/>
          <p:cNvSpPr txBox="1"/>
          <p:nvPr/>
        </p:nvSpPr>
        <p:spPr>
          <a:xfrm>
            <a:off x="1615087" y="2399373"/>
            <a:ext cx="76616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4*2</a:t>
            </a:r>
            <a:endParaRPr/>
          </a:p>
        </p:txBody>
      </p:sp>
      <p:sp>
        <p:nvSpPr>
          <p:cNvPr id="298" name="Google Shape;298;p13"/>
          <p:cNvSpPr txBox="1"/>
          <p:nvPr/>
        </p:nvSpPr>
        <p:spPr>
          <a:xfrm>
            <a:off x="1298675" y="2922593"/>
            <a:ext cx="76616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8*1</a:t>
            </a:r>
            <a:endParaRPr/>
          </a:p>
        </p:txBody>
      </p:sp>
      <p:sp>
        <p:nvSpPr>
          <p:cNvPr id="299" name="Google Shape;299;p13"/>
          <p:cNvSpPr txBox="1"/>
          <p:nvPr/>
        </p:nvSpPr>
        <p:spPr>
          <a:xfrm>
            <a:off x="2381254" y="2716166"/>
            <a:ext cx="94982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71*2</a:t>
            </a:r>
            <a:endParaRPr/>
          </a:p>
        </p:txBody>
      </p:sp>
      <p:sp>
        <p:nvSpPr>
          <p:cNvPr id="300" name="Google Shape;300;p13"/>
          <p:cNvSpPr txBox="1"/>
          <p:nvPr/>
        </p:nvSpPr>
        <p:spPr>
          <a:xfrm>
            <a:off x="1155195" y="1524057"/>
            <a:ext cx="100608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12*3</a:t>
            </a:r>
            <a:endParaRPr/>
          </a:p>
        </p:txBody>
      </p:sp>
      <p:sp>
        <p:nvSpPr>
          <p:cNvPr id="301" name="Google Shape;301;p13"/>
          <p:cNvSpPr txBox="1"/>
          <p:nvPr/>
        </p:nvSpPr>
        <p:spPr>
          <a:xfrm>
            <a:off x="1962158" y="1352933"/>
            <a:ext cx="115847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18*31</a:t>
            </a:r>
            <a:endParaRPr/>
          </a:p>
        </p:txBody>
      </p:sp>
      <p:sp>
        <p:nvSpPr>
          <p:cNvPr id="302" name="Google Shape;302;p13"/>
          <p:cNvSpPr txBox="1"/>
          <p:nvPr/>
        </p:nvSpPr>
        <p:spPr>
          <a:xfrm>
            <a:off x="1909756" y="2928754"/>
            <a:ext cx="94982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4*9</a:t>
            </a:r>
            <a:endParaRPr/>
          </a:p>
        </p:txBody>
      </p:sp>
      <p:grpSp>
        <p:nvGrpSpPr>
          <p:cNvPr id="303" name="Google Shape;303;p13"/>
          <p:cNvGrpSpPr/>
          <p:nvPr/>
        </p:nvGrpSpPr>
        <p:grpSpPr>
          <a:xfrm rot="10800000">
            <a:off x="6446042" y="781708"/>
            <a:ext cx="700088" cy="5436232"/>
            <a:chOff x="6446042" y="781708"/>
            <a:chExt cx="700088" cy="5436232"/>
          </a:xfrm>
        </p:grpSpPr>
        <p:sp>
          <p:nvSpPr>
            <p:cNvPr id="304" name="Google Shape;304;p13"/>
            <p:cNvSpPr/>
            <p:nvPr/>
          </p:nvSpPr>
          <p:spPr>
            <a:xfrm>
              <a:off x="6446042" y="781708"/>
              <a:ext cx="700087" cy="6858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13"/>
            <p:cNvSpPr/>
            <p:nvPr/>
          </p:nvSpPr>
          <p:spPr>
            <a:xfrm>
              <a:off x="6600229" y="946015"/>
              <a:ext cx="391712" cy="342900"/>
            </a:xfrm>
            <a:prstGeom prst="ellipse">
              <a:avLst/>
            </a:prstGeom>
            <a:solidFill>
              <a:srgbClr val="FF0000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13"/>
            <p:cNvSpPr/>
            <p:nvPr/>
          </p:nvSpPr>
          <p:spPr>
            <a:xfrm>
              <a:off x="6446042" y="1458640"/>
              <a:ext cx="700087" cy="6858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13"/>
            <p:cNvSpPr/>
            <p:nvPr/>
          </p:nvSpPr>
          <p:spPr>
            <a:xfrm>
              <a:off x="6446042" y="2135572"/>
              <a:ext cx="700087" cy="6858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13"/>
            <p:cNvSpPr/>
            <p:nvPr/>
          </p:nvSpPr>
          <p:spPr>
            <a:xfrm>
              <a:off x="6600229" y="2299879"/>
              <a:ext cx="391712" cy="342900"/>
            </a:xfrm>
            <a:prstGeom prst="ellipse">
              <a:avLst/>
            </a:prstGeom>
            <a:solidFill>
              <a:srgbClr val="FF0000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13"/>
            <p:cNvSpPr/>
            <p:nvPr/>
          </p:nvSpPr>
          <p:spPr>
            <a:xfrm>
              <a:off x="6446042" y="2812504"/>
              <a:ext cx="700087" cy="6858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13"/>
            <p:cNvSpPr/>
            <p:nvPr/>
          </p:nvSpPr>
          <p:spPr>
            <a:xfrm>
              <a:off x="6446043" y="3501344"/>
              <a:ext cx="700087" cy="6858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13"/>
            <p:cNvSpPr/>
            <p:nvPr/>
          </p:nvSpPr>
          <p:spPr>
            <a:xfrm>
              <a:off x="6600230" y="3665651"/>
              <a:ext cx="391712" cy="342900"/>
            </a:xfrm>
            <a:prstGeom prst="ellipse">
              <a:avLst/>
            </a:prstGeom>
            <a:solidFill>
              <a:srgbClr val="FF0000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13"/>
            <p:cNvSpPr/>
            <p:nvPr/>
          </p:nvSpPr>
          <p:spPr>
            <a:xfrm>
              <a:off x="6446043" y="4178276"/>
              <a:ext cx="700087" cy="6858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13"/>
            <p:cNvSpPr/>
            <p:nvPr/>
          </p:nvSpPr>
          <p:spPr>
            <a:xfrm>
              <a:off x="6446043" y="4855208"/>
              <a:ext cx="700087" cy="6858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13"/>
            <p:cNvSpPr/>
            <p:nvPr/>
          </p:nvSpPr>
          <p:spPr>
            <a:xfrm>
              <a:off x="6600230" y="5019515"/>
              <a:ext cx="391712" cy="342900"/>
            </a:xfrm>
            <a:prstGeom prst="ellipse">
              <a:avLst/>
            </a:prstGeom>
            <a:solidFill>
              <a:srgbClr val="FF0000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13"/>
            <p:cNvSpPr/>
            <p:nvPr/>
          </p:nvSpPr>
          <p:spPr>
            <a:xfrm>
              <a:off x="6446043" y="5532140"/>
              <a:ext cx="700087" cy="6858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13"/>
            <p:cNvSpPr/>
            <p:nvPr/>
          </p:nvSpPr>
          <p:spPr>
            <a:xfrm>
              <a:off x="6600230" y="5696447"/>
              <a:ext cx="391712" cy="342900"/>
            </a:xfrm>
            <a:prstGeom prst="ellipse">
              <a:avLst/>
            </a:prstGeom>
            <a:solidFill>
              <a:srgbClr val="FF0000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7" name="Google Shape;317;p13"/>
          <p:cNvGrpSpPr/>
          <p:nvPr/>
        </p:nvGrpSpPr>
        <p:grpSpPr>
          <a:xfrm rot="10800000">
            <a:off x="7146128" y="752806"/>
            <a:ext cx="700088" cy="5436232"/>
            <a:chOff x="6446042" y="781708"/>
            <a:chExt cx="700088" cy="5436232"/>
          </a:xfrm>
        </p:grpSpPr>
        <p:sp>
          <p:nvSpPr>
            <p:cNvPr id="318" name="Google Shape;318;p13"/>
            <p:cNvSpPr/>
            <p:nvPr/>
          </p:nvSpPr>
          <p:spPr>
            <a:xfrm>
              <a:off x="6446042" y="781708"/>
              <a:ext cx="700087" cy="6858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13"/>
            <p:cNvSpPr/>
            <p:nvPr/>
          </p:nvSpPr>
          <p:spPr>
            <a:xfrm>
              <a:off x="6600229" y="946015"/>
              <a:ext cx="391712" cy="342900"/>
            </a:xfrm>
            <a:prstGeom prst="ellipse">
              <a:avLst/>
            </a:prstGeom>
            <a:solidFill>
              <a:srgbClr val="FF0000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13"/>
            <p:cNvSpPr/>
            <p:nvPr/>
          </p:nvSpPr>
          <p:spPr>
            <a:xfrm>
              <a:off x="6446042" y="1458640"/>
              <a:ext cx="700087" cy="6858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13"/>
            <p:cNvSpPr/>
            <p:nvPr/>
          </p:nvSpPr>
          <p:spPr>
            <a:xfrm>
              <a:off x="6446042" y="2135572"/>
              <a:ext cx="700087" cy="6858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13"/>
            <p:cNvSpPr/>
            <p:nvPr/>
          </p:nvSpPr>
          <p:spPr>
            <a:xfrm>
              <a:off x="6600229" y="2299879"/>
              <a:ext cx="391712" cy="342900"/>
            </a:xfrm>
            <a:prstGeom prst="ellipse">
              <a:avLst/>
            </a:prstGeom>
            <a:solidFill>
              <a:srgbClr val="FF0000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13"/>
            <p:cNvSpPr/>
            <p:nvPr/>
          </p:nvSpPr>
          <p:spPr>
            <a:xfrm>
              <a:off x="6446042" y="2812504"/>
              <a:ext cx="700087" cy="6858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13"/>
            <p:cNvSpPr/>
            <p:nvPr/>
          </p:nvSpPr>
          <p:spPr>
            <a:xfrm>
              <a:off x="6446043" y="3501344"/>
              <a:ext cx="700087" cy="6858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13"/>
            <p:cNvSpPr/>
            <p:nvPr/>
          </p:nvSpPr>
          <p:spPr>
            <a:xfrm>
              <a:off x="6600230" y="3665651"/>
              <a:ext cx="391712" cy="342900"/>
            </a:xfrm>
            <a:prstGeom prst="ellipse">
              <a:avLst/>
            </a:prstGeom>
            <a:solidFill>
              <a:srgbClr val="FF0000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13"/>
            <p:cNvSpPr/>
            <p:nvPr/>
          </p:nvSpPr>
          <p:spPr>
            <a:xfrm>
              <a:off x="6446043" y="4178276"/>
              <a:ext cx="700087" cy="6858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13"/>
            <p:cNvSpPr/>
            <p:nvPr/>
          </p:nvSpPr>
          <p:spPr>
            <a:xfrm>
              <a:off x="6446043" y="4855208"/>
              <a:ext cx="700087" cy="6858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13"/>
            <p:cNvSpPr/>
            <p:nvPr/>
          </p:nvSpPr>
          <p:spPr>
            <a:xfrm>
              <a:off x="6600230" y="5019515"/>
              <a:ext cx="391712" cy="342900"/>
            </a:xfrm>
            <a:prstGeom prst="ellipse">
              <a:avLst/>
            </a:prstGeom>
            <a:solidFill>
              <a:srgbClr val="FF0000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13"/>
            <p:cNvSpPr/>
            <p:nvPr/>
          </p:nvSpPr>
          <p:spPr>
            <a:xfrm>
              <a:off x="6446043" y="5532140"/>
              <a:ext cx="700087" cy="6858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13"/>
            <p:cNvSpPr/>
            <p:nvPr/>
          </p:nvSpPr>
          <p:spPr>
            <a:xfrm>
              <a:off x="6600230" y="5696447"/>
              <a:ext cx="391712" cy="342900"/>
            </a:xfrm>
            <a:prstGeom prst="ellipse">
              <a:avLst/>
            </a:prstGeom>
            <a:solidFill>
              <a:srgbClr val="FF0000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1" name="Google Shape;331;p13"/>
          <p:cNvSpPr/>
          <p:nvPr/>
        </p:nvSpPr>
        <p:spPr>
          <a:xfrm>
            <a:off x="5900143" y="1674677"/>
            <a:ext cx="391712" cy="3429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3"/>
          <p:cNvSpPr/>
          <p:nvPr/>
        </p:nvSpPr>
        <p:spPr>
          <a:xfrm>
            <a:off x="7820312" y="753131"/>
            <a:ext cx="700087" cy="685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3"/>
          <p:cNvSpPr/>
          <p:nvPr/>
        </p:nvSpPr>
        <p:spPr>
          <a:xfrm>
            <a:off x="7820312" y="1430063"/>
            <a:ext cx="700087" cy="685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3"/>
          <p:cNvSpPr/>
          <p:nvPr/>
        </p:nvSpPr>
        <p:spPr>
          <a:xfrm>
            <a:off x="7820312" y="2106995"/>
            <a:ext cx="700087" cy="685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3"/>
          <p:cNvSpPr/>
          <p:nvPr/>
        </p:nvSpPr>
        <p:spPr>
          <a:xfrm>
            <a:off x="7974499" y="2271302"/>
            <a:ext cx="391712" cy="3429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3"/>
          <p:cNvSpPr/>
          <p:nvPr/>
        </p:nvSpPr>
        <p:spPr>
          <a:xfrm>
            <a:off x="7820312" y="2783927"/>
            <a:ext cx="700087" cy="685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3"/>
          <p:cNvSpPr/>
          <p:nvPr/>
        </p:nvSpPr>
        <p:spPr>
          <a:xfrm>
            <a:off x="7820313" y="3472767"/>
            <a:ext cx="700087" cy="685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3"/>
          <p:cNvSpPr/>
          <p:nvPr/>
        </p:nvSpPr>
        <p:spPr>
          <a:xfrm>
            <a:off x="7974499" y="3696038"/>
            <a:ext cx="391712" cy="3429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3"/>
          <p:cNvSpPr/>
          <p:nvPr/>
        </p:nvSpPr>
        <p:spPr>
          <a:xfrm>
            <a:off x="7820313" y="4149699"/>
            <a:ext cx="700087" cy="685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3"/>
          <p:cNvSpPr/>
          <p:nvPr/>
        </p:nvSpPr>
        <p:spPr>
          <a:xfrm>
            <a:off x="7820313" y="4826631"/>
            <a:ext cx="700087" cy="685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3"/>
          <p:cNvSpPr/>
          <p:nvPr/>
        </p:nvSpPr>
        <p:spPr>
          <a:xfrm>
            <a:off x="7974500" y="4990938"/>
            <a:ext cx="391712" cy="3429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3"/>
          <p:cNvSpPr/>
          <p:nvPr/>
        </p:nvSpPr>
        <p:spPr>
          <a:xfrm>
            <a:off x="7820313" y="5503563"/>
            <a:ext cx="700087" cy="685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3"/>
          <p:cNvSpPr/>
          <p:nvPr/>
        </p:nvSpPr>
        <p:spPr>
          <a:xfrm>
            <a:off x="7974499" y="1637232"/>
            <a:ext cx="391712" cy="3429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3"/>
          <p:cNvSpPr/>
          <p:nvPr/>
        </p:nvSpPr>
        <p:spPr>
          <a:xfrm>
            <a:off x="7974499" y="4333637"/>
            <a:ext cx="391712" cy="3429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5" name="Google Shape;345;p13"/>
          <p:cNvGrpSpPr/>
          <p:nvPr/>
        </p:nvGrpSpPr>
        <p:grpSpPr>
          <a:xfrm rot="10800000">
            <a:off x="8520397" y="715485"/>
            <a:ext cx="2774444" cy="5474002"/>
            <a:chOff x="5898356" y="905206"/>
            <a:chExt cx="2774444" cy="5474002"/>
          </a:xfrm>
        </p:grpSpPr>
        <p:sp>
          <p:nvSpPr>
            <p:cNvPr id="346" name="Google Shape;346;p13"/>
            <p:cNvSpPr/>
            <p:nvPr/>
          </p:nvSpPr>
          <p:spPr>
            <a:xfrm>
              <a:off x="5898356" y="942976"/>
              <a:ext cx="700087" cy="6858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13"/>
            <p:cNvSpPr/>
            <p:nvPr/>
          </p:nvSpPr>
          <p:spPr>
            <a:xfrm>
              <a:off x="6052543" y="1107283"/>
              <a:ext cx="391712" cy="342900"/>
            </a:xfrm>
            <a:prstGeom prst="ellipse">
              <a:avLst/>
            </a:prstGeom>
            <a:solidFill>
              <a:srgbClr val="FF0000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13"/>
            <p:cNvSpPr/>
            <p:nvPr/>
          </p:nvSpPr>
          <p:spPr>
            <a:xfrm>
              <a:off x="5898356" y="1619908"/>
              <a:ext cx="700087" cy="6858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13"/>
            <p:cNvSpPr/>
            <p:nvPr/>
          </p:nvSpPr>
          <p:spPr>
            <a:xfrm>
              <a:off x="5898356" y="2296840"/>
              <a:ext cx="700087" cy="6858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13"/>
            <p:cNvSpPr/>
            <p:nvPr/>
          </p:nvSpPr>
          <p:spPr>
            <a:xfrm>
              <a:off x="6052543" y="2461147"/>
              <a:ext cx="391712" cy="342900"/>
            </a:xfrm>
            <a:prstGeom prst="ellipse">
              <a:avLst/>
            </a:prstGeom>
            <a:solidFill>
              <a:srgbClr val="FF0000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13"/>
            <p:cNvSpPr/>
            <p:nvPr/>
          </p:nvSpPr>
          <p:spPr>
            <a:xfrm>
              <a:off x="5898356" y="2973772"/>
              <a:ext cx="700087" cy="6858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13"/>
            <p:cNvSpPr/>
            <p:nvPr/>
          </p:nvSpPr>
          <p:spPr>
            <a:xfrm>
              <a:off x="5898357" y="3662612"/>
              <a:ext cx="700087" cy="6858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13"/>
            <p:cNvSpPr/>
            <p:nvPr/>
          </p:nvSpPr>
          <p:spPr>
            <a:xfrm>
              <a:off x="6052544" y="3826919"/>
              <a:ext cx="391712" cy="342900"/>
            </a:xfrm>
            <a:prstGeom prst="ellipse">
              <a:avLst/>
            </a:prstGeom>
            <a:solidFill>
              <a:srgbClr val="FF0000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13"/>
            <p:cNvSpPr/>
            <p:nvPr/>
          </p:nvSpPr>
          <p:spPr>
            <a:xfrm>
              <a:off x="5898357" y="4339544"/>
              <a:ext cx="700087" cy="6858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13"/>
            <p:cNvSpPr/>
            <p:nvPr/>
          </p:nvSpPr>
          <p:spPr>
            <a:xfrm>
              <a:off x="5898357" y="5016476"/>
              <a:ext cx="700087" cy="6858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13"/>
            <p:cNvSpPr/>
            <p:nvPr/>
          </p:nvSpPr>
          <p:spPr>
            <a:xfrm>
              <a:off x="6052544" y="5180783"/>
              <a:ext cx="391712" cy="342900"/>
            </a:xfrm>
            <a:prstGeom prst="ellipse">
              <a:avLst/>
            </a:prstGeom>
            <a:solidFill>
              <a:srgbClr val="FF0000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13"/>
            <p:cNvSpPr/>
            <p:nvPr/>
          </p:nvSpPr>
          <p:spPr>
            <a:xfrm>
              <a:off x="5898357" y="5693408"/>
              <a:ext cx="700087" cy="6858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13"/>
            <p:cNvSpPr/>
            <p:nvPr/>
          </p:nvSpPr>
          <p:spPr>
            <a:xfrm>
              <a:off x="6052544" y="5857715"/>
              <a:ext cx="391712" cy="342900"/>
            </a:xfrm>
            <a:prstGeom prst="ellipse">
              <a:avLst/>
            </a:prstGeom>
            <a:solidFill>
              <a:srgbClr val="FF0000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59" name="Google Shape;359;p13"/>
            <p:cNvGrpSpPr/>
            <p:nvPr/>
          </p:nvGrpSpPr>
          <p:grpSpPr>
            <a:xfrm rot="10800000">
              <a:off x="6598442" y="934108"/>
              <a:ext cx="700088" cy="5436232"/>
              <a:chOff x="6446042" y="781708"/>
              <a:chExt cx="700088" cy="5436232"/>
            </a:xfrm>
          </p:grpSpPr>
          <p:sp>
            <p:nvSpPr>
              <p:cNvPr id="360" name="Google Shape;360;p13"/>
              <p:cNvSpPr/>
              <p:nvPr/>
            </p:nvSpPr>
            <p:spPr>
              <a:xfrm>
                <a:off x="6446042" y="781708"/>
                <a:ext cx="700087" cy="685800"/>
              </a:xfrm>
              <a:prstGeom prst="ellipse">
                <a:avLst/>
              </a:prstGeom>
              <a:solidFill>
                <a:schemeClr val="accent1"/>
              </a:solidFill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1" name="Google Shape;361;p13"/>
              <p:cNvSpPr/>
              <p:nvPr/>
            </p:nvSpPr>
            <p:spPr>
              <a:xfrm>
                <a:off x="6600229" y="946015"/>
                <a:ext cx="391712" cy="342900"/>
              </a:xfrm>
              <a:prstGeom prst="ellipse">
                <a:avLst/>
              </a:prstGeom>
              <a:solidFill>
                <a:srgbClr val="FF0000"/>
              </a:solidFill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2" name="Google Shape;362;p13"/>
              <p:cNvSpPr/>
              <p:nvPr/>
            </p:nvSpPr>
            <p:spPr>
              <a:xfrm>
                <a:off x="6446042" y="1458640"/>
                <a:ext cx="700087" cy="685800"/>
              </a:xfrm>
              <a:prstGeom prst="ellipse">
                <a:avLst/>
              </a:prstGeom>
              <a:solidFill>
                <a:schemeClr val="accent1"/>
              </a:solidFill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3" name="Google Shape;363;p13"/>
              <p:cNvSpPr/>
              <p:nvPr/>
            </p:nvSpPr>
            <p:spPr>
              <a:xfrm>
                <a:off x="6446042" y="2135572"/>
                <a:ext cx="700087" cy="685800"/>
              </a:xfrm>
              <a:prstGeom prst="ellipse">
                <a:avLst/>
              </a:prstGeom>
              <a:solidFill>
                <a:schemeClr val="accent1"/>
              </a:solidFill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4" name="Google Shape;364;p13"/>
              <p:cNvSpPr/>
              <p:nvPr/>
            </p:nvSpPr>
            <p:spPr>
              <a:xfrm>
                <a:off x="6600229" y="2299879"/>
                <a:ext cx="391712" cy="342900"/>
              </a:xfrm>
              <a:prstGeom prst="ellipse">
                <a:avLst/>
              </a:prstGeom>
              <a:solidFill>
                <a:srgbClr val="FF0000"/>
              </a:solidFill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5" name="Google Shape;365;p13"/>
              <p:cNvSpPr/>
              <p:nvPr/>
            </p:nvSpPr>
            <p:spPr>
              <a:xfrm>
                <a:off x="6446042" y="2812504"/>
                <a:ext cx="700087" cy="685800"/>
              </a:xfrm>
              <a:prstGeom prst="ellipse">
                <a:avLst/>
              </a:prstGeom>
              <a:solidFill>
                <a:schemeClr val="accent1"/>
              </a:solidFill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6" name="Google Shape;366;p13"/>
              <p:cNvSpPr/>
              <p:nvPr/>
            </p:nvSpPr>
            <p:spPr>
              <a:xfrm>
                <a:off x="6446043" y="3501344"/>
                <a:ext cx="700087" cy="685800"/>
              </a:xfrm>
              <a:prstGeom prst="ellipse">
                <a:avLst/>
              </a:prstGeom>
              <a:solidFill>
                <a:schemeClr val="accent1"/>
              </a:solidFill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7" name="Google Shape;367;p13"/>
              <p:cNvSpPr/>
              <p:nvPr/>
            </p:nvSpPr>
            <p:spPr>
              <a:xfrm>
                <a:off x="6600230" y="3665651"/>
                <a:ext cx="391712" cy="342900"/>
              </a:xfrm>
              <a:prstGeom prst="ellipse">
                <a:avLst/>
              </a:prstGeom>
              <a:solidFill>
                <a:srgbClr val="FF0000"/>
              </a:solidFill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8" name="Google Shape;368;p13"/>
              <p:cNvSpPr/>
              <p:nvPr/>
            </p:nvSpPr>
            <p:spPr>
              <a:xfrm>
                <a:off x="6446043" y="4178276"/>
                <a:ext cx="700087" cy="685800"/>
              </a:xfrm>
              <a:prstGeom prst="ellipse">
                <a:avLst/>
              </a:prstGeom>
              <a:solidFill>
                <a:schemeClr val="accent1"/>
              </a:solidFill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9" name="Google Shape;369;p13"/>
              <p:cNvSpPr/>
              <p:nvPr/>
            </p:nvSpPr>
            <p:spPr>
              <a:xfrm>
                <a:off x="6446043" y="4855208"/>
                <a:ext cx="700087" cy="685800"/>
              </a:xfrm>
              <a:prstGeom prst="ellipse">
                <a:avLst/>
              </a:prstGeom>
              <a:solidFill>
                <a:schemeClr val="accent1"/>
              </a:solidFill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0" name="Google Shape;370;p13"/>
              <p:cNvSpPr/>
              <p:nvPr/>
            </p:nvSpPr>
            <p:spPr>
              <a:xfrm>
                <a:off x="6600230" y="5019515"/>
                <a:ext cx="391712" cy="342900"/>
              </a:xfrm>
              <a:prstGeom prst="ellipse">
                <a:avLst/>
              </a:prstGeom>
              <a:solidFill>
                <a:srgbClr val="FF0000"/>
              </a:solidFill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1" name="Google Shape;371;p13"/>
              <p:cNvSpPr/>
              <p:nvPr/>
            </p:nvSpPr>
            <p:spPr>
              <a:xfrm>
                <a:off x="6446043" y="5532140"/>
                <a:ext cx="700087" cy="685800"/>
              </a:xfrm>
              <a:prstGeom prst="ellipse">
                <a:avLst/>
              </a:prstGeom>
              <a:solidFill>
                <a:schemeClr val="accent1"/>
              </a:solidFill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2" name="Google Shape;372;p13"/>
              <p:cNvSpPr/>
              <p:nvPr/>
            </p:nvSpPr>
            <p:spPr>
              <a:xfrm>
                <a:off x="6600230" y="5696447"/>
                <a:ext cx="391712" cy="342900"/>
              </a:xfrm>
              <a:prstGeom prst="ellipse">
                <a:avLst/>
              </a:prstGeom>
              <a:solidFill>
                <a:srgbClr val="FF0000"/>
              </a:solidFill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3" name="Google Shape;373;p13"/>
            <p:cNvGrpSpPr/>
            <p:nvPr/>
          </p:nvGrpSpPr>
          <p:grpSpPr>
            <a:xfrm rot="10800000">
              <a:off x="7298528" y="905206"/>
              <a:ext cx="700088" cy="5436232"/>
              <a:chOff x="6446042" y="781708"/>
              <a:chExt cx="700088" cy="5436232"/>
            </a:xfrm>
          </p:grpSpPr>
          <p:sp>
            <p:nvSpPr>
              <p:cNvPr id="374" name="Google Shape;374;p13"/>
              <p:cNvSpPr/>
              <p:nvPr/>
            </p:nvSpPr>
            <p:spPr>
              <a:xfrm>
                <a:off x="6446042" y="781708"/>
                <a:ext cx="700087" cy="685800"/>
              </a:xfrm>
              <a:prstGeom prst="ellipse">
                <a:avLst/>
              </a:prstGeom>
              <a:solidFill>
                <a:schemeClr val="accent1"/>
              </a:solidFill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5" name="Google Shape;375;p13"/>
              <p:cNvSpPr/>
              <p:nvPr/>
            </p:nvSpPr>
            <p:spPr>
              <a:xfrm>
                <a:off x="6600229" y="946015"/>
                <a:ext cx="391712" cy="342900"/>
              </a:xfrm>
              <a:prstGeom prst="ellipse">
                <a:avLst/>
              </a:prstGeom>
              <a:solidFill>
                <a:srgbClr val="FF0000"/>
              </a:solidFill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6" name="Google Shape;376;p13"/>
              <p:cNvSpPr/>
              <p:nvPr/>
            </p:nvSpPr>
            <p:spPr>
              <a:xfrm>
                <a:off x="6446042" y="1458640"/>
                <a:ext cx="700087" cy="685800"/>
              </a:xfrm>
              <a:prstGeom prst="ellipse">
                <a:avLst/>
              </a:prstGeom>
              <a:solidFill>
                <a:schemeClr val="accent1"/>
              </a:solidFill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7" name="Google Shape;377;p13"/>
              <p:cNvSpPr/>
              <p:nvPr/>
            </p:nvSpPr>
            <p:spPr>
              <a:xfrm>
                <a:off x="6446042" y="2135572"/>
                <a:ext cx="700087" cy="685800"/>
              </a:xfrm>
              <a:prstGeom prst="ellipse">
                <a:avLst/>
              </a:prstGeom>
              <a:solidFill>
                <a:schemeClr val="accent1"/>
              </a:solidFill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8" name="Google Shape;378;p13"/>
              <p:cNvSpPr/>
              <p:nvPr/>
            </p:nvSpPr>
            <p:spPr>
              <a:xfrm>
                <a:off x="6600229" y="2299879"/>
                <a:ext cx="391712" cy="342900"/>
              </a:xfrm>
              <a:prstGeom prst="ellipse">
                <a:avLst/>
              </a:prstGeom>
              <a:solidFill>
                <a:srgbClr val="FF0000"/>
              </a:solidFill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9" name="Google Shape;379;p13"/>
              <p:cNvSpPr/>
              <p:nvPr/>
            </p:nvSpPr>
            <p:spPr>
              <a:xfrm>
                <a:off x="6446042" y="2812504"/>
                <a:ext cx="700087" cy="685800"/>
              </a:xfrm>
              <a:prstGeom prst="ellipse">
                <a:avLst/>
              </a:prstGeom>
              <a:solidFill>
                <a:schemeClr val="accent1"/>
              </a:solidFill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0" name="Google Shape;380;p13"/>
              <p:cNvSpPr/>
              <p:nvPr/>
            </p:nvSpPr>
            <p:spPr>
              <a:xfrm>
                <a:off x="6446043" y="3501344"/>
                <a:ext cx="700087" cy="685800"/>
              </a:xfrm>
              <a:prstGeom prst="ellipse">
                <a:avLst/>
              </a:prstGeom>
              <a:solidFill>
                <a:schemeClr val="accent1"/>
              </a:solidFill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1" name="Google Shape;381;p13"/>
              <p:cNvSpPr/>
              <p:nvPr/>
            </p:nvSpPr>
            <p:spPr>
              <a:xfrm>
                <a:off x="6600230" y="3665651"/>
                <a:ext cx="391712" cy="342900"/>
              </a:xfrm>
              <a:prstGeom prst="ellipse">
                <a:avLst/>
              </a:prstGeom>
              <a:solidFill>
                <a:srgbClr val="FF0000"/>
              </a:solidFill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2" name="Google Shape;382;p13"/>
              <p:cNvSpPr/>
              <p:nvPr/>
            </p:nvSpPr>
            <p:spPr>
              <a:xfrm>
                <a:off x="6446043" y="4178276"/>
                <a:ext cx="700087" cy="685800"/>
              </a:xfrm>
              <a:prstGeom prst="ellipse">
                <a:avLst/>
              </a:prstGeom>
              <a:solidFill>
                <a:schemeClr val="accent1"/>
              </a:solidFill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3" name="Google Shape;383;p13"/>
              <p:cNvSpPr/>
              <p:nvPr/>
            </p:nvSpPr>
            <p:spPr>
              <a:xfrm>
                <a:off x="6446043" y="4855208"/>
                <a:ext cx="700087" cy="685800"/>
              </a:xfrm>
              <a:prstGeom prst="ellipse">
                <a:avLst/>
              </a:prstGeom>
              <a:solidFill>
                <a:schemeClr val="accent1"/>
              </a:solidFill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4" name="Google Shape;384;p13"/>
              <p:cNvSpPr/>
              <p:nvPr/>
            </p:nvSpPr>
            <p:spPr>
              <a:xfrm>
                <a:off x="6600230" y="5019515"/>
                <a:ext cx="391712" cy="342900"/>
              </a:xfrm>
              <a:prstGeom prst="ellipse">
                <a:avLst/>
              </a:prstGeom>
              <a:solidFill>
                <a:srgbClr val="FF0000"/>
              </a:solidFill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5" name="Google Shape;385;p13"/>
              <p:cNvSpPr/>
              <p:nvPr/>
            </p:nvSpPr>
            <p:spPr>
              <a:xfrm>
                <a:off x="6446043" y="5532140"/>
                <a:ext cx="700087" cy="685800"/>
              </a:xfrm>
              <a:prstGeom prst="ellipse">
                <a:avLst/>
              </a:prstGeom>
              <a:solidFill>
                <a:schemeClr val="accent1"/>
              </a:solidFill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6" name="Google Shape;386;p13"/>
              <p:cNvSpPr/>
              <p:nvPr/>
            </p:nvSpPr>
            <p:spPr>
              <a:xfrm>
                <a:off x="6600230" y="5696447"/>
                <a:ext cx="391712" cy="342900"/>
              </a:xfrm>
              <a:prstGeom prst="ellipse">
                <a:avLst/>
              </a:prstGeom>
              <a:solidFill>
                <a:srgbClr val="FF0000"/>
              </a:solidFill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87" name="Google Shape;387;p13"/>
            <p:cNvSpPr/>
            <p:nvPr/>
          </p:nvSpPr>
          <p:spPr>
            <a:xfrm>
              <a:off x="6052543" y="1827077"/>
              <a:ext cx="391712" cy="342900"/>
            </a:xfrm>
            <a:prstGeom prst="ellipse">
              <a:avLst/>
            </a:prstGeom>
            <a:solidFill>
              <a:srgbClr val="FF0000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13"/>
            <p:cNvSpPr/>
            <p:nvPr/>
          </p:nvSpPr>
          <p:spPr>
            <a:xfrm>
              <a:off x="7972712" y="905531"/>
              <a:ext cx="700087" cy="6858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13"/>
            <p:cNvSpPr/>
            <p:nvPr/>
          </p:nvSpPr>
          <p:spPr>
            <a:xfrm>
              <a:off x="7972712" y="1582463"/>
              <a:ext cx="700087" cy="6858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13"/>
            <p:cNvSpPr/>
            <p:nvPr/>
          </p:nvSpPr>
          <p:spPr>
            <a:xfrm>
              <a:off x="7972712" y="2259395"/>
              <a:ext cx="700087" cy="6858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13"/>
            <p:cNvSpPr/>
            <p:nvPr/>
          </p:nvSpPr>
          <p:spPr>
            <a:xfrm>
              <a:off x="8126899" y="2423702"/>
              <a:ext cx="391712" cy="342900"/>
            </a:xfrm>
            <a:prstGeom prst="ellipse">
              <a:avLst/>
            </a:prstGeom>
            <a:solidFill>
              <a:srgbClr val="FF0000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13"/>
            <p:cNvSpPr/>
            <p:nvPr/>
          </p:nvSpPr>
          <p:spPr>
            <a:xfrm>
              <a:off x="7972712" y="2936327"/>
              <a:ext cx="700087" cy="6858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13"/>
            <p:cNvSpPr/>
            <p:nvPr/>
          </p:nvSpPr>
          <p:spPr>
            <a:xfrm>
              <a:off x="7972713" y="3625167"/>
              <a:ext cx="700087" cy="6858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13"/>
            <p:cNvSpPr/>
            <p:nvPr/>
          </p:nvSpPr>
          <p:spPr>
            <a:xfrm>
              <a:off x="8126899" y="3848438"/>
              <a:ext cx="391712" cy="342900"/>
            </a:xfrm>
            <a:prstGeom prst="ellipse">
              <a:avLst/>
            </a:prstGeom>
            <a:solidFill>
              <a:srgbClr val="FF0000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13"/>
            <p:cNvSpPr/>
            <p:nvPr/>
          </p:nvSpPr>
          <p:spPr>
            <a:xfrm>
              <a:off x="7972713" y="4302099"/>
              <a:ext cx="700087" cy="6858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13"/>
            <p:cNvSpPr/>
            <p:nvPr/>
          </p:nvSpPr>
          <p:spPr>
            <a:xfrm>
              <a:off x="7972713" y="4979031"/>
              <a:ext cx="700087" cy="6858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13"/>
            <p:cNvSpPr/>
            <p:nvPr/>
          </p:nvSpPr>
          <p:spPr>
            <a:xfrm>
              <a:off x="8126900" y="5143338"/>
              <a:ext cx="391712" cy="342900"/>
            </a:xfrm>
            <a:prstGeom prst="ellipse">
              <a:avLst/>
            </a:prstGeom>
            <a:solidFill>
              <a:srgbClr val="FF0000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13"/>
            <p:cNvSpPr/>
            <p:nvPr/>
          </p:nvSpPr>
          <p:spPr>
            <a:xfrm>
              <a:off x="7972713" y="5655963"/>
              <a:ext cx="700087" cy="6858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13"/>
            <p:cNvSpPr/>
            <p:nvPr/>
          </p:nvSpPr>
          <p:spPr>
            <a:xfrm>
              <a:off x="8126899" y="1789632"/>
              <a:ext cx="391712" cy="342900"/>
            </a:xfrm>
            <a:prstGeom prst="ellipse">
              <a:avLst/>
            </a:prstGeom>
            <a:solidFill>
              <a:srgbClr val="FF0000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13"/>
            <p:cNvSpPr/>
            <p:nvPr/>
          </p:nvSpPr>
          <p:spPr>
            <a:xfrm>
              <a:off x="8126899" y="4486037"/>
              <a:ext cx="391712" cy="342900"/>
            </a:xfrm>
            <a:prstGeom prst="ellipse">
              <a:avLst/>
            </a:prstGeom>
            <a:solidFill>
              <a:srgbClr val="FF0000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1" name="Google Shape;401;p13"/>
          <p:cNvSpPr txBox="1"/>
          <p:nvPr/>
        </p:nvSpPr>
        <p:spPr>
          <a:xfrm>
            <a:off x="8170355" y="6418423"/>
            <a:ext cx="584358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Remember, each is weaker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GPU Takeaways</a:t>
            </a:r>
            <a:endParaRPr/>
          </a:p>
        </p:txBody>
      </p:sp>
      <p:sp>
        <p:nvSpPr>
          <p:cNvPr id="407" name="Google Shape;407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Efficient for </a:t>
            </a:r>
            <a:r>
              <a:rPr b="1" lang="en-US"/>
              <a:t>highly parallelized </a:t>
            </a:r>
            <a:r>
              <a:rPr lang="en-US"/>
              <a:t>operations, such as matrix multiplication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When networks don’t play nice with this (RNN), training can take a long time.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Stacking layers as tensors instead of separate matrices is faster!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Even more specialized computers, called TPUs (tensor processing units) are available for ML specific applications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CPUs are good for operations which must happen one at a time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AI Data Centers</a:t>
            </a:r>
            <a:endParaRPr/>
          </a:p>
        </p:txBody>
      </p:sp>
      <p:pic>
        <p:nvPicPr>
          <p:cNvPr descr="NVIDIA GPU Clusters - Microway" id="414" name="Google Shape;41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54881" y="2471738"/>
            <a:ext cx="3609975" cy="27074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Force 10 Series Graphics Cards" id="415" name="Google Shape;41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470056"/>
            <a:ext cx="3719513" cy="195894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6" name="Google Shape;416;p15"/>
          <p:cNvCxnSpPr/>
          <p:nvPr/>
        </p:nvCxnSpPr>
        <p:spPr>
          <a:xfrm>
            <a:off x="3757613" y="2471738"/>
            <a:ext cx="714375" cy="600075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descr="AI GPU Clusters: A Glimpse into the Future of Supercomputing - Onyx  Aerospace" id="417" name="Google Shape;41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94183" y="4425554"/>
            <a:ext cx="4212080" cy="23717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8" name="Google Shape;418;p15"/>
          <p:cNvCxnSpPr>
            <a:stCxn id="414" idx="3"/>
          </p:cNvCxnSpPr>
          <p:nvPr/>
        </p:nvCxnSpPr>
        <p:spPr>
          <a:xfrm>
            <a:off x="7364856" y="3825479"/>
            <a:ext cx="1136100" cy="7323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descr="$3 billion hyperscale 'AI factory' planned north of Fargo - InForum |  Fargo, Moorhead and West Fargo news, weather and sports" id="419" name="Google Shape;41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94183" y="442961"/>
            <a:ext cx="3950461" cy="262885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0" name="Google Shape;420;p15"/>
          <p:cNvCxnSpPr/>
          <p:nvPr/>
        </p:nvCxnSpPr>
        <p:spPr>
          <a:xfrm rot="10800000">
            <a:off x="9900223" y="3286125"/>
            <a:ext cx="0" cy="905471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Hypothetical</a:t>
            </a:r>
            <a:endParaRPr/>
          </a:p>
        </p:txBody>
      </p:sp>
      <p:pic>
        <p:nvPicPr>
          <p:cNvPr descr="NVIDIA GPU Clusters - Microway" id="426" name="Google Shape;42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96140" y="3629026"/>
            <a:ext cx="3609975" cy="27074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238,700+ Idea Clipart Stock Illustrations, Royalty-Free ..." id="427" name="Google Shape;42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62839" y="238125"/>
            <a:ext cx="3076576" cy="3076576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16"/>
          <p:cNvSpPr txBox="1"/>
          <p:nvPr/>
        </p:nvSpPr>
        <p:spPr>
          <a:xfrm>
            <a:off x="1385885" y="6148388"/>
            <a:ext cx="98442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are </a:t>
            </a:r>
            <a:r>
              <a:rPr lang="en-US" sz="2800">
                <a:solidFill>
                  <a:schemeClr val="dk1"/>
                </a:solidFill>
              </a:rPr>
              <a:t>Person A’s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options for getting the GPUs to execute his idea? </a:t>
            </a:r>
            <a:endParaRPr/>
          </a:p>
        </p:txBody>
      </p:sp>
      <p:pic>
        <p:nvPicPr>
          <p:cNvPr id="429" name="Google Shape;429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1175" y="1843088"/>
            <a:ext cx="514350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7"/>
          <p:cNvSpPr txBox="1"/>
          <p:nvPr>
            <p:ph idx="1" type="body"/>
          </p:nvPr>
        </p:nvSpPr>
        <p:spPr>
          <a:xfrm>
            <a:off x="508499" y="4000501"/>
            <a:ext cx="3506289" cy="2428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Most secure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Customizable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Most expensive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Once you buy you’re stuck</a:t>
            </a:r>
            <a:endParaRPr/>
          </a:p>
        </p:txBody>
      </p:sp>
      <p:pic>
        <p:nvPicPr>
          <p:cNvPr descr="GPU Servers For AI, Deep / Machine Learning &amp; HPC | Supermicro" id="435" name="Google Shape;435;p17"/>
          <p:cNvPicPr preferRelativeResize="0"/>
          <p:nvPr/>
        </p:nvPicPr>
        <p:blipFill rotWithShape="1">
          <a:blip r:embed="rId3">
            <a:alphaModFix/>
          </a:blip>
          <a:srcRect b="0" l="0" r="28205" t="0"/>
          <a:stretch/>
        </p:blipFill>
        <p:spPr>
          <a:xfrm>
            <a:off x="508499" y="641538"/>
            <a:ext cx="3506289" cy="31363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VIDIA H100 GPUs Now Available on AWS Cloud | NVIDIA Blog" id="436" name="Google Shape;436;p17"/>
          <p:cNvPicPr preferRelativeResize="0"/>
          <p:nvPr/>
        </p:nvPicPr>
        <p:blipFill rotWithShape="1">
          <a:blip r:embed="rId4">
            <a:alphaModFix/>
          </a:blip>
          <a:srcRect b="0" l="363" r="49784" t="0"/>
          <a:stretch/>
        </p:blipFill>
        <p:spPr>
          <a:xfrm>
            <a:off x="8653783" y="641538"/>
            <a:ext cx="2943225" cy="3136348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17"/>
          <p:cNvSpPr txBox="1"/>
          <p:nvPr/>
        </p:nvSpPr>
        <p:spPr>
          <a:xfrm>
            <a:off x="6316133" y="3900487"/>
            <a:ext cx="5064715" cy="2428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17"/>
          <p:cNvSpPr txBox="1"/>
          <p:nvPr/>
        </p:nvSpPr>
        <p:spPr>
          <a:xfrm>
            <a:off x="1443037" y="147086"/>
            <a:ext cx="390048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GPU Rack</a:t>
            </a:r>
            <a:endParaRPr/>
          </a:p>
        </p:txBody>
      </p:sp>
      <p:pic>
        <p:nvPicPr>
          <p:cNvPr descr="7 decades of difference: Carolina's 1st computer and its current cluster |  UNC-Chapel Hill" id="439" name="Google Shape;43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43387" y="641538"/>
            <a:ext cx="4181797" cy="3136348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17"/>
          <p:cNvSpPr txBox="1"/>
          <p:nvPr/>
        </p:nvSpPr>
        <p:spPr>
          <a:xfrm>
            <a:off x="4753295" y="147086"/>
            <a:ext cx="390048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Hospital GPU Cluster</a:t>
            </a:r>
            <a:endParaRPr/>
          </a:p>
        </p:txBody>
      </p:sp>
      <p:sp>
        <p:nvSpPr>
          <p:cNvPr id="441" name="Google Shape;441;p17"/>
          <p:cNvSpPr txBox="1"/>
          <p:nvPr/>
        </p:nvSpPr>
        <p:spPr>
          <a:xfrm>
            <a:off x="8973404" y="147086"/>
            <a:ext cx="390048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Cloud Compute</a:t>
            </a:r>
            <a:endParaRPr/>
          </a:p>
        </p:txBody>
      </p:sp>
      <p:sp>
        <p:nvSpPr>
          <p:cNvPr id="442" name="Google Shape;442;p17"/>
          <p:cNvSpPr txBox="1"/>
          <p:nvPr/>
        </p:nvSpPr>
        <p:spPr>
          <a:xfrm>
            <a:off x="4243387" y="4000501"/>
            <a:ext cx="4181797" cy="27104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Secure enough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Less expensive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 @ all hospitals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get what you get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Subject to availability</a:t>
            </a:r>
            <a:endParaRPr/>
          </a:p>
        </p:txBody>
      </p:sp>
      <p:sp>
        <p:nvSpPr>
          <p:cNvPr id="443" name="Google Shape;443;p17"/>
          <p:cNvSpPr txBox="1"/>
          <p:nvPr/>
        </p:nvSpPr>
        <p:spPr>
          <a:xfrm>
            <a:off x="8692096" y="4000500"/>
            <a:ext cx="3352268" cy="28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Lowest barrier to entry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Plenty of options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Scales well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Must meet strict security protocols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What Happened Next?</a:t>
            </a:r>
            <a:endParaRPr/>
          </a:p>
        </p:txBody>
      </p:sp>
      <p:sp>
        <p:nvSpPr>
          <p:cNvPr id="450" name="Google Shape;450;p18"/>
          <p:cNvSpPr txBox="1"/>
          <p:nvPr/>
        </p:nvSpPr>
        <p:spPr>
          <a:xfrm>
            <a:off x="5757863" y="1690688"/>
            <a:ext cx="5281500" cy="48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</a:rPr>
              <a:t>He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persuades his hospital admin to buy a few GPUs and build a small server cluster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His team trains a model to predict if a kid will develop severe allergies in their first 5 years of life based on maternal/child data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 gets the following train/test loss</a:t>
            </a:r>
            <a:endParaRPr/>
          </a:p>
        </p:txBody>
      </p:sp>
      <p:pic>
        <p:nvPicPr>
          <p:cNvPr id="451" name="Google Shape;45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700" y="1714488"/>
            <a:ext cx="514350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Preliminary Results</a:t>
            </a:r>
            <a:endParaRPr/>
          </a:p>
        </p:txBody>
      </p:sp>
      <p:pic>
        <p:nvPicPr>
          <p:cNvPr descr="How to use Learning Curves to Diagnose Machine Learning Model Performance -  MachineLearningMastery.com" id="458" name="Google Shape;45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62600" y="1240631"/>
            <a:ext cx="6429376" cy="4822032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19"/>
          <p:cNvSpPr txBox="1"/>
          <p:nvPr/>
        </p:nvSpPr>
        <p:spPr>
          <a:xfrm>
            <a:off x="6934200" y="3167390"/>
            <a:ext cx="52578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Any remarks about results?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A Collaboration</a:t>
            </a:r>
            <a:endParaRPr/>
          </a:p>
        </p:txBody>
      </p:sp>
      <p:pic>
        <p:nvPicPr>
          <p:cNvPr id="466" name="Google Shape;466;p20"/>
          <p:cNvPicPr preferRelativeResize="0"/>
          <p:nvPr/>
        </p:nvPicPr>
        <p:blipFill rotWithShape="1">
          <a:blip r:embed="rId3">
            <a:alphaModFix/>
          </a:blip>
          <a:srcRect b="0" l="17333" r="17167" t="0"/>
          <a:stretch/>
        </p:blipFill>
        <p:spPr>
          <a:xfrm>
            <a:off x="5438775" y="3163881"/>
            <a:ext cx="1843088" cy="14772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1" name="Google Shape;471;p21"/>
          <p:cNvGrpSpPr/>
          <p:nvPr/>
        </p:nvGrpSpPr>
        <p:grpSpPr>
          <a:xfrm>
            <a:off x="2028825" y="114300"/>
            <a:ext cx="10163175" cy="6743700"/>
            <a:chOff x="2338387" y="1690688"/>
            <a:chExt cx="7515225" cy="4907442"/>
          </a:xfrm>
        </p:grpSpPr>
        <p:pic>
          <p:nvPicPr>
            <p:cNvPr descr="What is Federated Learning? - GeeksforGeeks" id="472" name="Google Shape;472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338387" y="1690688"/>
              <a:ext cx="7515225" cy="49074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3" name="Google Shape;473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530724" y="5167312"/>
              <a:ext cx="1325563" cy="132556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4" name="Google Shape;474;p21"/>
          <p:cNvSpPr txBox="1"/>
          <p:nvPr>
            <p:ph type="title"/>
          </p:nvPr>
        </p:nvSpPr>
        <p:spPr>
          <a:xfrm>
            <a:off x="640323" y="44608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Federated Learning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Continuing Our Story…</a:t>
            </a:r>
            <a:endParaRPr/>
          </a:p>
        </p:txBody>
      </p:sp>
      <p:sp>
        <p:nvSpPr>
          <p:cNvPr id="480" name="Google Shape;480;p22"/>
          <p:cNvSpPr txBox="1"/>
          <p:nvPr>
            <p:ph idx="1" type="body"/>
          </p:nvPr>
        </p:nvSpPr>
        <p:spPr>
          <a:xfrm>
            <a:off x="5986463" y="1362076"/>
            <a:ext cx="5367337" cy="2281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He decides to publish his paper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Since it’s the CS world, his results can be easily verified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Peer review less important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Publish preprint</a:t>
            </a:r>
            <a:endParaRPr/>
          </a:p>
        </p:txBody>
      </p:sp>
      <p:pic>
        <p:nvPicPr>
          <p:cNvPr id="481" name="Google Shape;48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19139" y="3643313"/>
            <a:ext cx="5120337" cy="2624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0125" y="2169638"/>
            <a:ext cx="514350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Healthy Skepticism</a:t>
            </a:r>
            <a:endParaRPr/>
          </a:p>
        </p:txBody>
      </p:sp>
      <p:sp>
        <p:nvSpPr>
          <p:cNvPr id="488" name="Google Shape;488;p23"/>
          <p:cNvSpPr txBox="1"/>
          <p:nvPr>
            <p:ph idx="1" type="body"/>
          </p:nvPr>
        </p:nvSpPr>
        <p:spPr>
          <a:xfrm>
            <a:off x="6096000" y="1825625"/>
            <a:ext cx="52578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highlight>
                  <a:schemeClr val="lt1"/>
                </a:highlight>
              </a:rPr>
              <a:t>He </a:t>
            </a:r>
            <a:r>
              <a:rPr lang="en-US"/>
              <a:t>doesn’t believe the results and wants to verify before treating his patients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Luckily, </a:t>
            </a:r>
            <a:r>
              <a:rPr lang="en-US">
                <a:highlight>
                  <a:schemeClr val="lt1"/>
                </a:highlight>
              </a:rPr>
              <a:t>his</a:t>
            </a:r>
            <a:r>
              <a:rPr lang="en-US"/>
              <a:t> team shared the model weights online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489" name="Google Shape;48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5575" y="1889738"/>
            <a:ext cx="514350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Downloading Model Weights</a:t>
            </a:r>
            <a:endParaRPr/>
          </a:p>
        </p:txBody>
      </p:sp>
      <p:pic>
        <p:nvPicPr>
          <p:cNvPr id="496" name="Google Shape;496;p2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7694" y="1825625"/>
            <a:ext cx="9336612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Datasets	</a:t>
            </a:r>
            <a:endParaRPr/>
          </a:p>
        </p:txBody>
      </p:sp>
      <p:pic>
        <p:nvPicPr>
          <p:cNvPr id="502" name="Google Shape;502;p2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25025" y="2141537"/>
            <a:ext cx="9193832" cy="4351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67225" y="-322500"/>
            <a:ext cx="7710209" cy="4026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64141" y="2766317"/>
            <a:ext cx="3418152" cy="38883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Hypothesis Confirmed</a:t>
            </a:r>
            <a:endParaRPr/>
          </a:p>
        </p:txBody>
      </p:sp>
      <p:sp>
        <p:nvSpPr>
          <p:cNvPr id="510" name="Google Shape;510;p26"/>
          <p:cNvSpPr txBox="1"/>
          <p:nvPr>
            <p:ph idx="1" type="body"/>
          </p:nvPr>
        </p:nvSpPr>
        <p:spPr>
          <a:xfrm>
            <a:off x="6096000" y="1825625"/>
            <a:ext cx="52578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highlight>
                  <a:schemeClr val="lt1"/>
                </a:highlight>
              </a:rPr>
              <a:t>He</a:t>
            </a:r>
            <a:r>
              <a:rPr lang="en-US"/>
              <a:t> downloads the model weights and is able to replicate </a:t>
            </a:r>
            <a:r>
              <a:rPr lang="en-US">
                <a:highlight>
                  <a:schemeClr val="lt1"/>
                </a:highlight>
              </a:rPr>
              <a:t>his </a:t>
            </a:r>
            <a:r>
              <a:rPr lang="en-US"/>
              <a:t>results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Now he has a new clinical question: can the same input predict cardiovascular dysfunction in children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511" name="Google Shape;51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325" y="1889738"/>
            <a:ext cx="514350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Pretraining &amp; Transfer Learning</a:t>
            </a:r>
            <a:endParaRPr/>
          </a:p>
        </p:txBody>
      </p:sp>
      <p:sp>
        <p:nvSpPr>
          <p:cNvPr id="517" name="Google Shape;517;p27"/>
          <p:cNvSpPr txBox="1"/>
          <p:nvPr>
            <p:ph idx="1" type="body"/>
          </p:nvPr>
        </p:nvSpPr>
        <p:spPr>
          <a:xfrm>
            <a:off x="838200" y="1690687"/>
            <a:ext cx="10515600" cy="3024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Instead of initializing weights randomly, take them from another task and train a new model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Any info extracted in hidden layers by original model can be tweaked with GD/Backprop updates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Pretraining: Training on a much larger, more accessible dataset before applying transfer learning on a smaller, targeted dataset</a:t>
            </a:r>
            <a:endParaRPr/>
          </a:p>
        </p:txBody>
      </p:sp>
      <p:pic>
        <p:nvPicPr>
          <p:cNvPr id="518" name="Google Shape;51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75968" y="4543426"/>
            <a:ext cx="7440063" cy="15718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Few-Shot Learning</a:t>
            </a:r>
            <a:endParaRPr/>
          </a:p>
        </p:txBody>
      </p:sp>
      <p:sp>
        <p:nvSpPr>
          <p:cNvPr id="524" name="Google Shape;524;p28"/>
          <p:cNvSpPr txBox="1"/>
          <p:nvPr>
            <p:ph idx="1" type="body"/>
          </p:nvPr>
        </p:nvSpPr>
        <p:spPr>
          <a:xfrm>
            <a:off x="838199" y="1825625"/>
            <a:ext cx="10515599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Used in cases where labelled data is scarce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Rare disease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Image segmentation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N-way, K-shot learning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N = number of classes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K = number of training examples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So if 3 way 2 shot, three classes with 2 labelled examples each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CS Stuff: Programming Languages</a:t>
            </a:r>
            <a:endParaRPr/>
          </a:p>
        </p:txBody>
      </p:sp>
      <p:sp>
        <p:nvSpPr>
          <p:cNvPr id="531" name="Google Shape;531;p29"/>
          <p:cNvSpPr txBox="1"/>
          <p:nvPr>
            <p:ph idx="1" type="body"/>
          </p:nvPr>
        </p:nvSpPr>
        <p:spPr>
          <a:xfrm>
            <a:off x="838200" y="1825625"/>
            <a:ext cx="52578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Over time, programming has become “abstracted” or closer to how humans speak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Under the hood is code to translate between levels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Code closer to how computers speak requires less translation and therefore runs faster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All AI coding is done in Python</a:t>
            </a:r>
            <a:endParaRPr/>
          </a:p>
        </p:txBody>
      </p:sp>
      <p:pic>
        <p:nvPicPr>
          <p:cNvPr descr="The Language of Machines" id="532" name="Google Shape;53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69840" y="1825625"/>
            <a:ext cx="5107786" cy="435133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33" name="Google Shape;533;p29"/>
          <p:cNvCxnSpPr/>
          <p:nvPr/>
        </p:nvCxnSpPr>
        <p:spPr>
          <a:xfrm rot="10800000">
            <a:off x="11477626" y="1570831"/>
            <a:ext cx="0" cy="4487069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534" name="Google Shape;534;p29"/>
          <p:cNvSpPr txBox="1"/>
          <p:nvPr/>
        </p:nvSpPr>
        <p:spPr>
          <a:xfrm>
            <a:off x="9134480" y="949365"/>
            <a:ext cx="305752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Close to how humans speak</a:t>
            </a:r>
            <a:endParaRPr/>
          </a:p>
        </p:txBody>
      </p:sp>
      <p:sp>
        <p:nvSpPr>
          <p:cNvPr id="535" name="Google Shape;535;p29"/>
          <p:cNvSpPr txBox="1"/>
          <p:nvPr/>
        </p:nvSpPr>
        <p:spPr>
          <a:xfrm>
            <a:off x="8897547" y="6247091"/>
            <a:ext cx="329445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Close to how computers speak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Machine Learning Python Packages</a:t>
            </a:r>
            <a:endParaRPr/>
          </a:p>
        </p:txBody>
      </p:sp>
      <p:sp>
        <p:nvSpPr>
          <p:cNvPr id="541" name="Google Shape;541;p30"/>
          <p:cNvSpPr txBox="1"/>
          <p:nvPr>
            <p:ph idx="1" type="body"/>
          </p:nvPr>
        </p:nvSpPr>
        <p:spPr>
          <a:xfrm>
            <a:off x="838200" y="1825625"/>
            <a:ext cx="5714999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Combines multiple operations together and runs them in low level language to speed up AI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Not relevant for medical practice but good to know</a:t>
            </a:r>
            <a:endParaRPr/>
          </a:p>
        </p:txBody>
      </p:sp>
      <p:pic>
        <p:nvPicPr>
          <p:cNvPr descr="Tensorflow Pytorch" id="542" name="Google Shape;54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3199" y="1429544"/>
            <a:ext cx="5400675" cy="360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3" name="Google Shape;543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71341" y="5164931"/>
            <a:ext cx="5706271" cy="15337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Building a team</a:t>
            </a:r>
            <a:endParaRPr/>
          </a:p>
        </p:txBody>
      </p:sp>
      <p:sp>
        <p:nvSpPr>
          <p:cNvPr id="549" name="Google Shape;549;p3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Clinician: identify clinical pain point or question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Data engineer: source and clean data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Data scientist: perform analysis on data, including running models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Software engineer: build consistent applications that house models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Clinical Ethicist: Act as consultant regarding bias/safety of model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The Final Product </a:t>
            </a:r>
            <a:endParaRPr/>
          </a:p>
        </p:txBody>
      </p:sp>
      <p:sp>
        <p:nvSpPr>
          <p:cNvPr id="555" name="Google Shape;555;p32"/>
          <p:cNvSpPr txBox="1"/>
          <p:nvPr>
            <p:ph idx="1" type="body"/>
          </p:nvPr>
        </p:nvSpPr>
        <p:spPr>
          <a:xfrm>
            <a:off x="838200" y="1825625"/>
            <a:ext cx="52578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whole team works together with their software engineers to build &amp; package a program for others to use</a:t>
            </a:r>
            <a:endParaRPr/>
          </a:p>
        </p:txBody>
      </p:sp>
      <p:pic>
        <p:nvPicPr>
          <p:cNvPr id="556" name="Google Shape;55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8799" y="3763329"/>
            <a:ext cx="4696602" cy="26876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Git &amp; Github</a:t>
            </a:r>
            <a:endParaRPr/>
          </a:p>
        </p:txBody>
      </p:sp>
      <p:sp>
        <p:nvSpPr>
          <p:cNvPr id="562" name="Google Shape;562;p33"/>
          <p:cNvSpPr txBox="1"/>
          <p:nvPr>
            <p:ph idx="1" type="body"/>
          </p:nvPr>
        </p:nvSpPr>
        <p:spPr>
          <a:xfrm>
            <a:off x="838200" y="1825625"/>
            <a:ext cx="52578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Git: version control software so many engineers can work on software independently and later sync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Github: Hosting site for these versions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Github contains lots of open source coding projects which can be pulled and repurposed by your engineers</a:t>
            </a:r>
            <a:endParaRPr/>
          </a:p>
        </p:txBody>
      </p:sp>
      <p:pic>
        <p:nvPicPr>
          <p:cNvPr descr="undefined" id="563" name="Google Shape;56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153194"/>
            <a:ext cx="6096000" cy="320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4" name="Google Shape;564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10599" y="2440405"/>
            <a:ext cx="3473143" cy="44175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A word on regular algorithms</a:t>
            </a:r>
            <a:endParaRPr/>
          </a:p>
        </p:txBody>
      </p:sp>
      <p:graphicFrame>
        <p:nvGraphicFramePr>
          <p:cNvPr id="570" name="Google Shape;570;p34"/>
          <p:cNvGraphicFramePr/>
          <p:nvPr/>
        </p:nvGraphicFramePr>
        <p:xfrm>
          <a:off x="838200" y="18256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{90DCE35B-E7A8-410F-B596-7984AA6ECA0A}</a:tableStyleId>
              </a:tblPr>
              <a:tblGrid>
                <a:gridCol w="5257800"/>
                <a:gridCol w="5257800"/>
              </a:tblGrid>
              <a:tr h="763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AI Algorithms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Regular Algorithms 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</a:tr>
              <a:tr h="763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Have randomness involved (can get caught in local minimum)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Stochastic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Always find same answer, every time (usually)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Deterministic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</a:tr>
              <a:tr h="763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Take in an input and output and find an algorithm mapping them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Takes in an input and algorithm and returns an output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</a:tr>
              <a:tr h="763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Algorithm returned is always an approximation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Algorithm usually is perfectly precise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</a:tr>
              <a:tr h="763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Advanced techniques needed to explain decision making</a:t>
                      </a:r>
                      <a:endParaRPr sz="24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Choices made completely explainable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UNC SOM Campus Match</a:t>
            </a:r>
            <a:endParaRPr/>
          </a:p>
        </p:txBody>
      </p:sp>
      <p:pic>
        <p:nvPicPr>
          <p:cNvPr descr="File:Minimum weight bipartite matching.pdf" id="576" name="Google Shape;576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1581" y="1690688"/>
            <a:ext cx="9748838" cy="45697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Next time…</a:t>
            </a:r>
            <a:endParaRPr/>
          </a:p>
        </p:txBody>
      </p:sp>
      <p:sp>
        <p:nvSpPr>
          <p:cNvPr id="582" name="Google Shape;582;p3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Discussing challenges with rolling out AI in clinical contexts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37"/>
          <p:cNvSpPr txBox="1"/>
          <p:nvPr>
            <p:ph type="title"/>
          </p:nvPr>
        </p:nvSpPr>
        <p:spPr>
          <a:xfrm>
            <a:off x="1676400" y="10509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Thanks!</a:t>
            </a:r>
            <a:endParaRPr/>
          </a:p>
        </p:txBody>
      </p:sp>
      <p:pic>
        <p:nvPicPr>
          <p:cNvPr id="588" name="Google Shape;588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9310" y="835448"/>
            <a:ext cx="5534490" cy="5187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589" name="Google Shape;589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3137" y="3008052"/>
            <a:ext cx="5020414" cy="258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2025-10-09T21:55:16Z</dcterms:created>
  <dc:creator>Stephen Lostetter</dc:creator>
</cp:coreProperties>
</file>
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2000"/>
  <p:notesSz cx="6858000" cy="9144000"/>
  <p:embeddedFontLst>
    <p:embeddedFont>
      <p:font typeface="Play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ggFL1iVm5mcfosWGTJCR39iNRP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F4E25A-7CE1-416D-A144-0380A17CE2F8}">
  <a:tblStyle styleId="{4DF4E25A-7CE1-416D-A144-0380A17CE2F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Play-bold.fntdata"/><Relationship Id="rId41" Type="http://schemas.openxmlformats.org/officeDocument/2006/relationships/font" Target="fonts/Play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just used our eyes.</a:t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Audience participation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Hold for next slide</a:t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Overfitting: Memorizing the data rather than learning a meaningful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issue is that this data does not generalize well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model knows these cases too well – it’s memorizing what data points go in what class.</a:t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2: there’s not enough data to distinguish signal from noise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will be random fluctuations in the data – we don’t want to be focusing on those more than the information we can reliably measure</a:t>
            </a:r>
            <a:endParaRPr/>
          </a:p>
        </p:txBody>
      </p:sp>
      <p:sp>
        <p:nvSpPr>
          <p:cNvPr id="141" name="Google Shape;1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overfitting, we think noise is signal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underfitting, we don’t even know what signal is.</a:t>
            </a:r>
            <a:endParaRPr/>
          </a:p>
        </p:txBody>
      </p:sp>
      <p:sp>
        <p:nvSpPr>
          <p:cNvPr id="149" name="Google Shape;1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Training wouldn’t hold. Test error would be low because signal for one group can be lower than the others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 that this doesn’t affect how good our network is at generating predictions, but evaluates how good it is on average.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Who decides what k is? We do</a:t>
            </a:r>
            <a:endParaRPr/>
          </a:p>
        </p:txBody>
      </p:sp>
      <p:sp>
        <p:nvSpPr>
          <p:cNvPr id="197" name="Google Shape;19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Batch norm -&gt; scale down the inputs so that each layer receives an input around same order of magnitude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Used in transformers (LLMs)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Dropout: Hold some neurons constant at each step s.t. the trend must be learned in part by the whole network -&gt; can’t rely on few neurons to do the heavy lifting</a:t>
            </a:r>
            <a:endParaRPr/>
          </a:p>
        </p:txBody>
      </p:sp>
      <p:sp>
        <p:nvSpPr>
          <p:cNvPr id="210" name="Google Shape;21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critical more of an FYI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bigger our weights (theta) get, the bigger the loss gets.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 our weights are biased toward zero, as can be seen in the 1d case above.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 have other biases but this is standard.</a:t>
            </a:r>
            <a:endParaRPr/>
          </a:p>
        </p:txBody>
      </p:sp>
      <p:sp>
        <p:nvSpPr>
          <p:cNvPr id="218" name="Google Shape;21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That might be what you want if you think the result is sparse</a:t>
            </a:r>
            <a:endParaRPr/>
          </a:p>
        </p:txBody>
      </p:sp>
      <p:sp>
        <p:nvSpPr>
          <p:cNvPr id="226" name="Google Shape;22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Revisiting now to see something crucial about AI algorithms – We’re approximating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 how at the bottom of the hill we come to the end but don’t really find the bottom</a:t>
            </a:r>
            <a:endParaRPr/>
          </a:p>
        </p:txBody>
      </p:sp>
      <p:sp>
        <p:nvSpPr>
          <p:cNvPr id="234" name="Google Shape;23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Also possible to just skip over the global minimum entirely</a:t>
            </a:r>
            <a:endParaRPr/>
          </a:p>
        </p:txBody>
      </p:sp>
      <p:sp>
        <p:nvSpPr>
          <p:cNvPr id="250" name="Google Shape;25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Need to use intuition and understanding of the problem to select these – not feasible to try them all.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Approximations mean AI currently better for creativity than closed form problem solving</a:t>
            </a:r>
            <a:endParaRPr/>
          </a:p>
        </p:txBody>
      </p:sp>
      <p:sp>
        <p:nvSpPr>
          <p:cNvPr id="257" name="Google Shape;25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 left: freedom in general after 1 procedure. Top right: after 1 or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Bottom L: AF&gt;6months, one procedure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Significant after multiple procedures or with sustained AF</a:t>
            </a:r>
            <a:endParaRPr/>
          </a:p>
        </p:txBody>
      </p:sp>
      <p:sp>
        <p:nvSpPr>
          <p:cNvPr id="306" name="Google Shape;30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Who knows what other subgroups were not chosen</a:t>
            </a:r>
            <a:endParaRPr/>
          </a:p>
        </p:txBody>
      </p:sp>
      <p:sp>
        <p:nvSpPr>
          <p:cNvPr id="312" name="Google Shape;31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your problem? How will you solve it? Classification vs regression vs other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Split can be binary, or into k folds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those interested there’s a good link in the folder with much more detail</a:t>
            </a:r>
            <a:endParaRPr/>
          </a:p>
        </p:txBody>
      </p:sp>
      <p:sp>
        <p:nvSpPr>
          <p:cNvPr id="319" name="Google Shape;31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gif"/><Relationship Id="rId4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Intro to AI in Medicine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Lec 4: Training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Last Time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Learned about loss functions, finishing neural net structure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Defined regression, classification (including multiclass)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Associated final activation with loss function and problem type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Discussed some metrics for measuring how good our networks are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Python Gang</a:t>
            </a:r>
            <a:endParaRPr/>
          </a:p>
        </p:txBody>
      </p:sp>
      <p:pic>
        <p:nvPicPr>
          <p:cNvPr id="101" name="Google Shape;101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26744"/>
            <a:ext cx="10515600" cy="434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4805" y="222421"/>
            <a:ext cx="4129565" cy="2646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Overfitting v underfitting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Internal/external validity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Hyperparameters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Revisit GD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Ensembling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Case study – afib ablations w/wo AI tool RCT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So Far…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838200" y="1825625"/>
            <a:ext cx="10515600" cy="2195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We’ve seen plots like below, and assumed a good fit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can we leverage metrics to tell us if we’re really fitting the trend?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do we know if our model will work on other populations?</a:t>
            </a:r>
            <a:endParaRPr/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4041" y="4155618"/>
            <a:ext cx="8583918" cy="2195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Fitting Data</a:t>
            </a:r>
            <a:endParaRPr/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44662" l="0" r="0" t="12157"/>
          <a:stretch/>
        </p:blipFill>
        <p:spPr>
          <a:xfrm>
            <a:off x="0" y="2521720"/>
            <a:ext cx="12192000" cy="2651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Fitting Data</a:t>
            </a:r>
            <a:endParaRPr/>
          </a:p>
        </p:txBody>
      </p:sp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60530"/>
          <a:stretch/>
        </p:blipFill>
        <p:spPr>
          <a:xfrm>
            <a:off x="279854" y="2508069"/>
            <a:ext cx="11632292" cy="231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Fitting Data</a:t>
            </a:r>
            <a:endParaRPr/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0274" y="1509033"/>
            <a:ext cx="9491452" cy="4779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Overfitting</a:t>
            </a:r>
            <a:endParaRPr/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Overfitting: model is so closely aligned to the training data that it does not know how to respond to new data.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Overfitting can happen because: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model is too complex; it memorizes very subtle patterns in the training data that don’t generalize well.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training data size is too small for the model complexity and/or contains large amounts of irrelevant information.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All About Signal to Noise Ratio - Hollyland" id="145" name="Google Shape;1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3623" y="4632282"/>
            <a:ext cx="3955052" cy="2225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Underfitting</a:t>
            </a:r>
            <a:endParaRPr/>
          </a:p>
        </p:txBody>
      </p:sp>
      <p:sp>
        <p:nvSpPr>
          <p:cNvPr id="152" name="Google Shape;152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model couldn’t see the trend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Model is too simple to capture the underlying patterns and complexities of the data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Did We Overfit?</a:t>
            </a:r>
            <a:endParaRPr/>
          </a:p>
        </p:txBody>
      </p:sp>
      <p:pic>
        <p:nvPicPr>
          <p:cNvPr id="158" name="Google Shape;158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777861"/>
            <a:ext cx="10515600" cy="24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1"/>
          <p:cNvSpPr txBox="1"/>
          <p:nvPr/>
        </p:nvSpPr>
        <p:spPr>
          <a:xfrm>
            <a:off x="1463040" y="2299063"/>
            <a:ext cx="12932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(loss)</a:t>
            </a:r>
            <a:endParaRPr/>
          </a:p>
        </p:txBody>
      </p:sp>
      <p:sp>
        <p:nvSpPr>
          <p:cNvPr id="160" name="Google Shape;160;p11"/>
          <p:cNvSpPr/>
          <p:nvPr/>
        </p:nvSpPr>
        <p:spPr>
          <a:xfrm>
            <a:off x="3696789" y="3429000"/>
            <a:ext cx="1214845" cy="1600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8891452" y="3429000"/>
            <a:ext cx="1214845" cy="1600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/>
          <p:nvPr>
            <p:ph type="title"/>
          </p:nvPr>
        </p:nvSpPr>
        <p:spPr>
          <a:xfrm>
            <a:off x="838200" y="19530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Training vs Test Loss and Accuracy</a:t>
            </a:r>
            <a:endParaRPr/>
          </a:p>
        </p:txBody>
      </p:sp>
      <p:pic>
        <p:nvPicPr>
          <p:cNvPr id="167" name="Google Shape;167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195" y="1082823"/>
            <a:ext cx="8000764" cy="557986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2"/>
          <p:cNvSpPr txBox="1"/>
          <p:nvPr/>
        </p:nvSpPr>
        <p:spPr>
          <a:xfrm>
            <a:off x="8464731" y="1520871"/>
            <a:ext cx="288906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Epoch: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pass over all training samples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838200" y="-14749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Training in Real Time</a:t>
            </a:r>
            <a:endParaRPr/>
          </a:p>
        </p:txBody>
      </p:sp>
      <p:pic>
        <p:nvPicPr>
          <p:cNvPr id="174" name="Google Shape;174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4810" y="864406"/>
            <a:ext cx="8462379" cy="5683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Intuition For Fit</a:t>
            </a:r>
            <a:endParaRPr/>
          </a:p>
        </p:txBody>
      </p:sp>
      <p:sp>
        <p:nvSpPr>
          <p:cNvPr id="180" name="Google Shape;180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Small models vs large models -&gt; which would be more likely to overfit or underfit?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Checking External Validity</a:t>
            </a:r>
            <a:endParaRPr/>
          </a:p>
        </p:txBody>
      </p:sp>
      <p:sp>
        <p:nvSpPr>
          <p:cNvPr id="187" name="Google Shape;18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Divide data into parts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Train data: Data we actually use to check loss and update weights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Test data: Data we then use to compute accuracy to see if our model works on new data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Internal v External Validity</a:t>
            </a:r>
            <a:endParaRPr/>
          </a:p>
        </p:txBody>
      </p:sp>
      <p:sp>
        <p:nvSpPr>
          <p:cNvPr id="193" name="Google Shape;193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Internal validity: Is the model a good reflection of the data?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External validity: Can the model be used on other data?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Train/Test Splitting</a:t>
            </a:r>
            <a:endParaRPr/>
          </a:p>
        </p:txBody>
      </p:sp>
      <p:sp>
        <p:nvSpPr>
          <p:cNvPr id="200" name="Google Shape;200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if we get a non-representative train/test split?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Cross validation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Divide data into a certain number of groups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K of them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Each group is called a “fold”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Take turns on which group is test data, the rest are training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Average accuracy across runs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Hyperparameters</a:t>
            </a:r>
            <a:endParaRPr/>
          </a:p>
        </p:txBody>
      </p:sp>
      <p:sp>
        <p:nvSpPr>
          <p:cNvPr id="206" name="Google Shape;206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Values that are </a:t>
            </a:r>
            <a:r>
              <a:rPr b="1" lang="en-US"/>
              <a:t>chosen</a:t>
            </a:r>
            <a:r>
              <a:rPr lang="en-US"/>
              <a:t>, not learned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Contrast with parameters, which are the weights improved via gradient descent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Hyperparameters - Examples</a:t>
            </a:r>
            <a:endParaRPr/>
          </a:p>
        </p:txBody>
      </p:sp>
      <p:sp>
        <p:nvSpPr>
          <p:cNvPr id="213" name="Google Shape;213;p19"/>
          <p:cNvSpPr txBox="1"/>
          <p:nvPr>
            <p:ph idx="1" type="body"/>
          </p:nvPr>
        </p:nvSpPr>
        <p:spPr>
          <a:xfrm>
            <a:off x="838200" y="1554480"/>
            <a:ext cx="10515600" cy="5159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Mandatory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Initial weights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Learning rate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Stopping condition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Network architecture (covered in 2 lectures)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Depth of the network (how many layers)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Thickness of the network (how many neurons in parallel per layer)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Data related (next lecture)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Augmentations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Loss function bias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Batch norming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Dropout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Regularization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Many, many more	</a:t>
            </a:r>
            <a:endParaRPr/>
          </a:p>
        </p:txBody>
      </p:sp>
      <p:pic>
        <p:nvPicPr>
          <p:cNvPr descr="Neural Networks - step by step | Lasse Hansen" id="214" name="Google Shape;2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0857" y="742566"/>
            <a:ext cx="3367930" cy="2464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Regularization</a:t>
            </a:r>
            <a:endParaRPr/>
          </a:p>
        </p:txBody>
      </p:sp>
      <p:pic>
        <p:nvPicPr>
          <p:cNvPr id="221" name="Google Shape;221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449649"/>
            <a:ext cx="10515600" cy="395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5411" y="5819630"/>
            <a:ext cx="6906589" cy="1038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Ridge Regression</a:t>
            </a:r>
            <a:endParaRPr/>
          </a:p>
        </p:txBody>
      </p:sp>
      <p:sp>
        <p:nvSpPr>
          <p:cNvPr id="229" name="Google Shape;229;p21"/>
          <p:cNvSpPr txBox="1"/>
          <p:nvPr>
            <p:ph idx="1" type="body"/>
          </p:nvPr>
        </p:nvSpPr>
        <p:spPr>
          <a:xfrm>
            <a:off x="838200" y="1825625"/>
            <a:ext cx="10515600" cy="2994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Regression with a regularization term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Lasso the same but without the square (absolute)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Tends to remove many parameters from the model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30" name="Google Shape;2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6113" y="4616859"/>
            <a:ext cx="7471347" cy="132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Gradient Descent - Revisit</a:t>
            </a:r>
            <a:endParaRPr/>
          </a:p>
        </p:txBody>
      </p:sp>
      <p:pic>
        <p:nvPicPr>
          <p:cNvPr descr="Guide to Gradient Descent in 3 Steps and 12 Drawings - Charles Bordet"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231900"/>
            <a:ext cx="5448300" cy="54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6011" y="6280094"/>
            <a:ext cx="2162477" cy="40010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6692900" y="1409700"/>
            <a:ext cx="502920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gradient at start point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opposite that direction by an amount = gradient magnitude times a constant (learning rate)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 until the value between steps changes less than a set amount (or a fixed number of times)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Gradient Descent - Revisit</a:t>
            </a:r>
            <a:endParaRPr/>
          </a:p>
        </p:txBody>
      </p:sp>
      <p:pic>
        <p:nvPicPr>
          <p:cNvPr descr="Gradient Descent Stuck at Local Minima [18] | Download Scientific Diagram" id="246" name="Google Shape;246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7874" y="1930592"/>
            <a:ext cx="6036252" cy="4562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Gradient Descent - Revisit</a:t>
            </a:r>
            <a:endParaRPr/>
          </a:p>
        </p:txBody>
      </p:sp>
      <p:pic>
        <p:nvPicPr>
          <p:cNvPr descr="Understanding Gradient Descent. Let's reach the global minimum | by NVS  Yashwanth | Analytics Vidhya | Medium" id="253" name="Google Shape;253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3931" y="1995055"/>
            <a:ext cx="8924138" cy="4192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Gradient Descent - Revisit</a:t>
            </a:r>
            <a:endParaRPr/>
          </a:p>
        </p:txBody>
      </p:sp>
      <p:sp>
        <p:nvSpPr>
          <p:cNvPr id="260" name="Google Shape;260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Takeaway: All AI algorithms are, by definition, </a:t>
            </a:r>
            <a:r>
              <a:rPr b="1" lang="en-US"/>
              <a:t>approximations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Lots of work is happening under the hood to help us find the global min/max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Often worth retraining networks with different parameters if result isn’t good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Choice of hyperparameters can greatly affect your loss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Stochastic GD</a:t>
            </a:r>
            <a:endParaRPr/>
          </a:p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Avoiding pitfalls in GD via introducing random element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Instead of descending down gradient of all points together, choose 1 point and make weights better for just that point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 average, processes like the normal way would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Vanishing Gradient Problem</a:t>
            </a:r>
            <a:endParaRPr/>
          </a:p>
        </p:txBody>
      </p:sp>
      <p:sp>
        <p:nvSpPr>
          <p:cNvPr id="272" name="Google Shape;272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Over many layers, gradient can either blow up (if values large) or vanish (if values close to 0)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things under the hood happening to prevent this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Batch norm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Choice of activation (ReLU safer than Sigmoid, Tanh)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Ensembling</a:t>
            </a:r>
            <a:endParaRPr/>
          </a:p>
        </p:txBody>
      </p:sp>
      <p:sp>
        <p:nvSpPr>
          <p:cNvPr id="278" name="Google Shape;278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Methods for training multiple models on same data, then averaging or combining in smart way to get better performance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Bootstrapping: Training many models and averaging their results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Build datasets by sampling w replacement, then train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Often used in cases with little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Boosting: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Train model, then train new model whose goal is to take output of first one and reduce its loss when applied to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Random Forest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be discussed later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Case Study</a:t>
            </a:r>
            <a:endParaRPr/>
          </a:p>
        </p:txBody>
      </p:sp>
      <p:pic>
        <p:nvPicPr>
          <p:cNvPr id="284" name="Google Shape;284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39" y="1825625"/>
            <a:ext cx="8202521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" name="Google Shape;289;p30"/>
          <p:cNvGraphicFramePr/>
          <p:nvPr/>
        </p:nvGraphicFramePr>
        <p:xfrm>
          <a:off x="1" y="-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{4DF4E25A-7CE1-416D-A144-0380A17CE2F8}</a:tableStyleId>
              </a:tblPr>
              <a:tblGrid>
                <a:gridCol w="6096000"/>
                <a:gridCol w="6096000"/>
              </a:tblGrid>
              <a:tr h="6153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 Problem Statement</a:t>
                      </a:r>
                      <a:endParaRPr/>
                    </a:p>
                  </a:txBody>
                  <a:tcPr marT="34875" marB="34875" marR="34875" marL="34875">
                    <a:lnL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C5C5"/>
                    </a:solidFill>
                  </a:tcPr>
                </a:tc>
                <a:tc hMerge="1"/>
              </a:tr>
              <a:tr h="543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 afib recurrence in 2 groups, one informed by AI, one not</a:t>
                      </a:r>
                      <a:endParaRPr/>
                    </a:p>
                  </a:txBody>
                  <a:tcPr marT="34875" marB="34875" marR="34875" marL="34875">
                    <a:lnL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</a:tr>
              <a:tr h="5686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Technical Problem Statement</a:t>
                      </a:r>
                      <a:endParaRPr/>
                    </a:p>
                  </a:txBody>
                  <a:tcPr marT="34875" marB="34875" marR="34875" marL="34875">
                    <a:lnL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C5C5"/>
                    </a:solidFill>
                  </a:tcPr>
                </a:tc>
                <a:tc hMerge="1"/>
              </a:tr>
              <a:tr h="556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RCT comparing humans to classification model, which predicts regions which should be ablated</a:t>
                      </a:r>
                      <a:endParaRPr/>
                    </a:p>
                  </a:txBody>
                  <a:tcPr marT="34875" marB="34875" marR="34875" marL="34875">
                    <a:lnL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</a:tr>
              <a:tr h="56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34875" marB="34875" marR="34875" marL="34875">
                    <a:lnL cap="flat" cmpd="sng" w="38100">
                      <a:solidFill>
                        <a:srgbClr val="FF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2D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Loss</a:t>
                      </a:r>
                      <a:endParaRPr/>
                    </a:p>
                  </a:txBody>
                  <a:tcPr marT="34875" marB="34875" marR="34875" marL="34875">
                    <a:lnL cap="flat" cmpd="sng" w="38100">
                      <a:solidFill>
                        <a:srgbClr val="92D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2D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5C5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171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Proprietary dataset of 275k (train) and 113k (test) mappings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9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Annotations by EP doctors in France/USA</a:t>
                      </a:r>
                      <a:endParaRPr/>
                    </a:p>
                  </a:txBody>
                  <a:tcPr marT="34875" marB="34875" marR="34875" marL="34875">
                    <a:lnL cap="flat" cmpd="sng" w="38100">
                      <a:solidFill>
                        <a:srgbClr val="FF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2D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DC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Not listed – assume creative combo of cross entropy with DICE or other 3d loss d/t problem construction (classification+CNN)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9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Study aim: Compare inter observer variability to network/observer</a:t>
                      </a:r>
                      <a:endParaRPr sz="2000" u="none" cap="none" strike="noStrike"/>
                    </a:p>
                  </a:txBody>
                  <a:tcPr marT="34875" marB="34875" marR="34875" marL="34875">
                    <a:lnL cap="flat" cmpd="sng" w="38100">
                      <a:solidFill>
                        <a:srgbClr val="92D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2D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E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6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</a:t>
                      </a:r>
                      <a:endParaRPr/>
                    </a:p>
                  </a:txBody>
                  <a:tcPr marT="34875" marB="34875" marR="34875" marL="34875">
                    <a:lnL cap="flat" cmpd="sng" w="38100">
                      <a:solidFill>
                        <a:srgbClr val="9DC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E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DC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</a:t>
                      </a:r>
                      <a:endParaRPr/>
                    </a:p>
                  </a:txBody>
                  <a:tcPr marT="34875" marB="34875" marR="34875" marL="34875">
                    <a:lnL cap="flat" cmpd="sng" w="38100">
                      <a:solidFill>
                        <a:srgbClr val="FFE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E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E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99"/>
                    </a:solidFill>
                  </a:tcPr>
                </a:tc>
              </a:tr>
              <a:tr h="171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Multimodal network integrating 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19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AutoNum type="arabicPeriod"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Classifier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19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AutoNum type="arabicPeriod"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Convolutional network</a:t>
                      </a:r>
                      <a:endParaRPr/>
                    </a:p>
                  </a:txBody>
                  <a:tcPr marT="34875" marB="34875" marR="34875" marL="34875">
                    <a:lnL cap="flat" cmpd="sng" w="38100">
                      <a:solidFill>
                        <a:srgbClr val="9DC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E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DC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Single train/test split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9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Extreme gradient boosting (ensembling)</a:t>
                      </a:r>
                      <a:endParaRPr/>
                    </a:p>
                  </a:txBody>
                  <a:tcPr marT="34875" marB="34875" marR="34875" marL="34875">
                    <a:lnL cap="flat" cmpd="sng" w="38100">
                      <a:solidFill>
                        <a:srgbClr val="FFE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E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E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RCT Design</a:t>
            </a:r>
            <a:endParaRPr/>
          </a:p>
        </p:txBody>
      </p:sp>
      <p:sp>
        <p:nvSpPr>
          <p:cNvPr id="295" name="Google Shape;295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370 patients underwent catheter ablation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Divided randomly into 2 groups: 1 with AI assistance during procedure, 1 without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Assistance is highlighted locations which might represent “dispersion” or sites from which electrical waves originate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Essentially sites of dispersion become ablation targets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Algorithm Results</a:t>
            </a:r>
            <a:endParaRPr/>
          </a:p>
        </p:txBody>
      </p:sp>
      <p:sp>
        <p:nvSpPr>
          <p:cNvPr id="301" name="Google Shape;30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AUROC = .93 -&gt; better when experts all agreed on location of dispersion or lack thereof</a:t>
            </a:r>
            <a:endParaRPr/>
          </a:p>
        </p:txBody>
      </p:sp>
      <p:pic>
        <p:nvPicPr>
          <p:cNvPr id="302" name="Google Shape;30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704821"/>
            <a:ext cx="12192000" cy="4153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56634"/>
            <a:ext cx="7576457" cy="6557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Takeaways</a:t>
            </a:r>
            <a:endParaRPr/>
          </a:p>
        </p:txBody>
      </p:sp>
      <p:sp>
        <p:nvSpPr>
          <p:cNvPr id="315" name="Google Shape;315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Authors have clear conflict of interest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With that said, results were significant in 2 ablation, and sustained Afib groups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Of course, be skeptical of subgrouping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Noted qualitative increase in complication rate in AI assisted group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 algorithms improve could be a useful tool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Recipe for Training</a:t>
            </a:r>
            <a:endParaRPr/>
          </a:p>
        </p:txBody>
      </p:sp>
      <p:sp>
        <p:nvSpPr>
          <p:cNvPr id="322" name="Google Shape;322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Problem formulation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Mapping between inputs and outputs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Choose loss function (often informed by problem formulation)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Train/test split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Train according to loss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Repeat training and average across many runs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Adjust hyperparameters as needed and repeat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2025-09-12T01:35:55Z</dcterms:created>
  <dc:creator>Stephen Lostetter</dc:creator>
</cp:coreProperties>
</file>
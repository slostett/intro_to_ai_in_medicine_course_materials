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77" r:id="rId8"/>
    <p:sldId id="278" r:id="rId9"/>
    <p:sldId id="279" r:id="rId10"/>
    <p:sldId id="262" r:id="rId11"/>
    <p:sldId id="263" r:id="rId12"/>
    <p:sldId id="264" r:id="rId13"/>
    <p:sldId id="265" r:id="rId14"/>
    <p:sldId id="266" r:id="rId15"/>
    <p:sldId id="267" r:id="rId16"/>
    <p:sldId id="270" r:id="rId17"/>
    <p:sldId id="268" r:id="rId18"/>
    <p:sldId id="271" r:id="rId19"/>
    <p:sldId id="269" r:id="rId20"/>
    <p:sldId id="272" r:id="rId21"/>
    <p:sldId id="273" r:id="rId22"/>
    <p:sldId id="274" r:id="rId23"/>
    <p:sldId id="275" r:id="rId24"/>
    <p:sldId id="27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030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8234" autoAdjust="0"/>
  </p:normalViewPr>
  <p:slideViewPr>
    <p:cSldViewPr snapToGrid="0">
      <p:cViewPr varScale="1">
        <p:scale>
          <a:sx n="43" d="100"/>
          <a:sy n="43" d="100"/>
        </p:scale>
        <p:origin x="15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DF161B-2866-44DB-86DD-547478D9DC60}" type="datetimeFigureOut">
              <a:rPr lang="en-US" smtClean="0"/>
              <a:t>11/10/2025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04371-ADAD-4DB1-B21B-505F672DB790}" type="slidenum">
              <a:rPr lang="en-US" smtClean="0"/>
              <a:t>‹#›</a:t>
            </a:fld>
            <a:endParaRPr lang="en-US"/>
          </a:p>
        </p:txBody>
      </p:sp>
    </p:spTree>
    <p:extLst>
      <p:ext uri="{BB962C8B-B14F-4D97-AF65-F5344CB8AC3E}">
        <p14:creationId xmlns:p14="http://schemas.microsoft.com/office/powerpoint/2010/main" val="203746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Neurodevelopmental screening</a:t>
            </a:r>
            <a:r>
              <a:rPr lang="en-US" dirty="0"/>
              <a:t> (e.g., autism, ADHD, intellectual disability)</a:t>
            </a:r>
          </a:p>
          <a:p>
            <a:r>
              <a:rPr lang="en-US" b="1" dirty="0"/>
              <a:t>Learning disability evaluation</a:t>
            </a:r>
            <a:r>
              <a:rPr lang="en-US" dirty="0"/>
              <a:t> (e.g., dyslexia, dyscalculia)</a:t>
            </a:r>
          </a:p>
          <a:p>
            <a:r>
              <a:rPr lang="en-US" b="1" dirty="0"/>
              <a:t>Brain injury assessment</a:t>
            </a:r>
            <a:r>
              <a:rPr lang="en-US" dirty="0"/>
              <a:t> (stroke, hypoxia, trauma)</a:t>
            </a:r>
          </a:p>
          <a:p>
            <a:endParaRPr lang="en-US" dirty="0"/>
          </a:p>
        </p:txBody>
      </p:sp>
      <p:sp>
        <p:nvSpPr>
          <p:cNvPr id="4" name="Slide Number Placeholder 3"/>
          <p:cNvSpPr>
            <a:spLocks noGrp="1"/>
          </p:cNvSpPr>
          <p:nvPr>
            <p:ph type="sldNum" sz="quarter" idx="5"/>
          </p:nvPr>
        </p:nvSpPr>
        <p:spPr/>
        <p:txBody>
          <a:bodyPr/>
          <a:lstStyle/>
          <a:p>
            <a:fld id="{41404371-ADAD-4DB1-B21B-505F672DB790}" type="slidenum">
              <a:rPr lang="en-US" smtClean="0"/>
              <a:t>5</a:t>
            </a:fld>
            <a:endParaRPr lang="en-US"/>
          </a:p>
        </p:txBody>
      </p:sp>
    </p:spTree>
    <p:extLst>
      <p:ext uri="{BB962C8B-B14F-4D97-AF65-F5344CB8AC3E}">
        <p14:creationId xmlns:p14="http://schemas.microsoft.com/office/powerpoint/2010/main" val="918301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off, there are many</a:t>
            </a:r>
          </a:p>
        </p:txBody>
      </p:sp>
      <p:sp>
        <p:nvSpPr>
          <p:cNvPr id="4" name="Slide Number Placeholder 3"/>
          <p:cNvSpPr>
            <a:spLocks noGrp="1"/>
          </p:cNvSpPr>
          <p:nvPr>
            <p:ph type="sldNum" sz="quarter" idx="5"/>
          </p:nvPr>
        </p:nvSpPr>
        <p:spPr/>
        <p:txBody>
          <a:bodyPr/>
          <a:lstStyle/>
          <a:p>
            <a:fld id="{41404371-ADAD-4DB1-B21B-505F672DB790}" type="slidenum">
              <a:rPr lang="en-US" smtClean="0"/>
              <a:t>6</a:t>
            </a:fld>
            <a:endParaRPr lang="en-US"/>
          </a:p>
        </p:txBody>
      </p:sp>
    </p:spTree>
    <p:extLst>
      <p:ext uri="{BB962C8B-B14F-4D97-AF65-F5344CB8AC3E}">
        <p14:creationId xmlns:p14="http://schemas.microsoft.com/office/powerpoint/2010/main" val="1214211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Lock = opensource</a:t>
            </a:r>
          </a:p>
        </p:txBody>
      </p:sp>
      <p:sp>
        <p:nvSpPr>
          <p:cNvPr id="4" name="Slide Number Placeholder 3"/>
          <p:cNvSpPr>
            <a:spLocks noGrp="1"/>
          </p:cNvSpPr>
          <p:nvPr>
            <p:ph type="sldNum" sz="quarter" idx="5"/>
          </p:nvPr>
        </p:nvSpPr>
        <p:spPr/>
        <p:txBody>
          <a:bodyPr/>
          <a:lstStyle/>
          <a:p>
            <a:fld id="{41404371-ADAD-4DB1-B21B-505F672DB790}" type="slidenum">
              <a:rPr lang="en-US" smtClean="0"/>
              <a:t>9</a:t>
            </a:fld>
            <a:endParaRPr lang="en-US"/>
          </a:p>
        </p:txBody>
      </p:sp>
    </p:spTree>
    <p:extLst>
      <p:ext uri="{BB962C8B-B14F-4D97-AF65-F5344CB8AC3E}">
        <p14:creationId xmlns:p14="http://schemas.microsoft.com/office/powerpoint/2010/main" val="1197066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https://news.uark.edu/articles/69688/ai-outperforms-humans-in-standardized-tests-of-creative-potential?utm_source=chatgpt.com</a:t>
            </a:r>
          </a:p>
        </p:txBody>
      </p:sp>
      <p:sp>
        <p:nvSpPr>
          <p:cNvPr id="4" name="Slide Number Placeholder 3"/>
          <p:cNvSpPr>
            <a:spLocks noGrp="1"/>
          </p:cNvSpPr>
          <p:nvPr>
            <p:ph type="sldNum" sz="quarter" idx="5"/>
          </p:nvPr>
        </p:nvSpPr>
        <p:spPr/>
        <p:txBody>
          <a:bodyPr/>
          <a:lstStyle/>
          <a:p>
            <a:fld id="{41404371-ADAD-4DB1-B21B-505F672DB790}" type="slidenum">
              <a:rPr lang="en-US" smtClean="0"/>
              <a:t>10</a:t>
            </a:fld>
            <a:endParaRPr lang="en-US"/>
          </a:p>
        </p:txBody>
      </p:sp>
    </p:spTree>
    <p:extLst>
      <p:ext uri="{BB962C8B-B14F-4D97-AF65-F5344CB8AC3E}">
        <p14:creationId xmlns:p14="http://schemas.microsoft.com/office/powerpoint/2010/main" val="2710174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deep learning algorithm trained on 130,000 skin images matched the performance of 21 board-certified dermatologists in identifying skin cancers, including melanoma. </a:t>
            </a:r>
            <a:r>
              <a:rPr lang="en-US" b="1" dirty="0"/>
              <a:t>The kicker</a:t>
            </a:r>
            <a:r>
              <a:rPr lang="en-US" dirty="0"/>
              <a:t>: The AI learned purely from images</a:t>
            </a:r>
          </a:p>
          <a:p>
            <a:endParaRPr lang="en-US" dirty="0"/>
          </a:p>
        </p:txBody>
      </p:sp>
      <p:sp>
        <p:nvSpPr>
          <p:cNvPr id="4" name="Slide Number Placeholder 3"/>
          <p:cNvSpPr>
            <a:spLocks noGrp="1"/>
          </p:cNvSpPr>
          <p:nvPr>
            <p:ph type="sldNum" sz="quarter" idx="5"/>
          </p:nvPr>
        </p:nvSpPr>
        <p:spPr/>
        <p:txBody>
          <a:bodyPr/>
          <a:lstStyle/>
          <a:p>
            <a:fld id="{41404371-ADAD-4DB1-B21B-505F672DB790}" type="slidenum">
              <a:rPr lang="en-US" smtClean="0"/>
              <a:t>12</a:t>
            </a:fld>
            <a:endParaRPr lang="en-US"/>
          </a:p>
        </p:txBody>
      </p:sp>
    </p:spTree>
    <p:extLst>
      <p:ext uri="{BB962C8B-B14F-4D97-AF65-F5344CB8AC3E}">
        <p14:creationId xmlns:p14="http://schemas.microsoft.com/office/powerpoint/2010/main" val="2011228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recognition in high dimension: What I said AI was in the first lecture</a:t>
            </a:r>
          </a:p>
        </p:txBody>
      </p:sp>
      <p:sp>
        <p:nvSpPr>
          <p:cNvPr id="4" name="Slide Number Placeholder 3"/>
          <p:cNvSpPr>
            <a:spLocks noGrp="1"/>
          </p:cNvSpPr>
          <p:nvPr>
            <p:ph type="sldNum" sz="quarter" idx="5"/>
          </p:nvPr>
        </p:nvSpPr>
        <p:spPr/>
        <p:txBody>
          <a:bodyPr/>
          <a:lstStyle/>
          <a:p>
            <a:fld id="{41404371-ADAD-4DB1-B21B-505F672DB790}" type="slidenum">
              <a:rPr lang="en-US" smtClean="0"/>
              <a:t>13</a:t>
            </a:fld>
            <a:endParaRPr lang="en-US"/>
          </a:p>
        </p:txBody>
      </p:sp>
    </p:spTree>
    <p:extLst>
      <p:ext uri="{BB962C8B-B14F-4D97-AF65-F5344CB8AC3E}">
        <p14:creationId xmlns:p14="http://schemas.microsoft.com/office/powerpoint/2010/main" val="3165777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404371-ADAD-4DB1-B21B-505F672DB790}" type="slidenum">
              <a:rPr lang="en-US" smtClean="0"/>
              <a:t>14</a:t>
            </a:fld>
            <a:endParaRPr lang="en-US"/>
          </a:p>
        </p:txBody>
      </p:sp>
    </p:spTree>
    <p:extLst>
      <p:ext uri="{BB962C8B-B14F-4D97-AF65-F5344CB8AC3E}">
        <p14:creationId xmlns:p14="http://schemas.microsoft.com/office/powerpoint/2010/main" val="3205531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Singularity = point of infinite density at a black hole. In AI, think of it as an explosion to infinite intelligence</a:t>
            </a:r>
          </a:p>
        </p:txBody>
      </p:sp>
      <p:sp>
        <p:nvSpPr>
          <p:cNvPr id="4" name="Slide Number Placeholder 3"/>
          <p:cNvSpPr>
            <a:spLocks noGrp="1"/>
          </p:cNvSpPr>
          <p:nvPr>
            <p:ph type="sldNum" sz="quarter" idx="5"/>
          </p:nvPr>
        </p:nvSpPr>
        <p:spPr/>
        <p:txBody>
          <a:bodyPr/>
          <a:lstStyle/>
          <a:p>
            <a:fld id="{41404371-ADAD-4DB1-B21B-505F672DB790}" type="slidenum">
              <a:rPr lang="en-US" smtClean="0"/>
              <a:t>18</a:t>
            </a:fld>
            <a:endParaRPr lang="en-US"/>
          </a:p>
        </p:txBody>
      </p:sp>
    </p:spTree>
    <p:extLst>
      <p:ext uri="{BB962C8B-B14F-4D97-AF65-F5344CB8AC3E}">
        <p14:creationId xmlns:p14="http://schemas.microsoft.com/office/powerpoint/2010/main" val="2988330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5716B-ACA7-A0A9-A2B2-0384AAC161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876644-E530-5865-09C9-84F824ED3E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AFDD00-3F25-BD0C-E780-5D159A5812A2}"/>
              </a:ext>
            </a:extLst>
          </p:cNvPr>
          <p:cNvSpPr>
            <a:spLocks noGrp="1"/>
          </p:cNvSpPr>
          <p:nvPr>
            <p:ph type="dt" sz="half" idx="10"/>
          </p:nvPr>
        </p:nvSpPr>
        <p:spPr/>
        <p:txBody>
          <a:bodyPr/>
          <a:lstStyle/>
          <a:p>
            <a:fld id="{DF3F020F-89E4-4E23-B1A7-2A32C236F4AC}" type="datetimeFigureOut">
              <a:rPr lang="en-US" smtClean="0"/>
              <a:t>11/10/2025</a:t>
            </a:fld>
            <a:endParaRPr lang="en-US"/>
          </a:p>
        </p:txBody>
      </p:sp>
      <p:sp>
        <p:nvSpPr>
          <p:cNvPr id="5" name="Footer Placeholder 4">
            <a:extLst>
              <a:ext uri="{FF2B5EF4-FFF2-40B4-BE49-F238E27FC236}">
                <a16:creationId xmlns:a16="http://schemas.microsoft.com/office/drawing/2014/main" id="{49698655-6F29-D761-025D-BA1280AC9E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48969-D004-F467-C430-7A3FC2B010FA}"/>
              </a:ext>
            </a:extLst>
          </p:cNvPr>
          <p:cNvSpPr>
            <a:spLocks noGrp="1"/>
          </p:cNvSpPr>
          <p:nvPr>
            <p:ph type="sldNum" sz="quarter" idx="12"/>
          </p:nvPr>
        </p:nvSpPr>
        <p:spPr/>
        <p:txBody>
          <a:bodyPr/>
          <a:lstStyle/>
          <a:p>
            <a:fld id="{18A4F976-3DEC-4DC0-A107-52C30E1D88EE}" type="slidenum">
              <a:rPr lang="en-US" smtClean="0"/>
              <a:t>‹#›</a:t>
            </a:fld>
            <a:endParaRPr lang="en-US"/>
          </a:p>
        </p:txBody>
      </p:sp>
    </p:spTree>
    <p:extLst>
      <p:ext uri="{BB962C8B-B14F-4D97-AF65-F5344CB8AC3E}">
        <p14:creationId xmlns:p14="http://schemas.microsoft.com/office/powerpoint/2010/main" val="3619954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E95F4-F296-BF34-0C7B-2870E69517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D71885-3898-B952-E47F-2BB6BCF1F4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3092D4-8084-1421-D929-BB4C47CE09E2}"/>
              </a:ext>
            </a:extLst>
          </p:cNvPr>
          <p:cNvSpPr>
            <a:spLocks noGrp="1"/>
          </p:cNvSpPr>
          <p:nvPr>
            <p:ph type="dt" sz="half" idx="10"/>
          </p:nvPr>
        </p:nvSpPr>
        <p:spPr/>
        <p:txBody>
          <a:bodyPr/>
          <a:lstStyle/>
          <a:p>
            <a:fld id="{DF3F020F-89E4-4E23-B1A7-2A32C236F4AC}" type="datetimeFigureOut">
              <a:rPr lang="en-US" smtClean="0"/>
              <a:t>11/10/2025</a:t>
            </a:fld>
            <a:endParaRPr lang="en-US"/>
          </a:p>
        </p:txBody>
      </p:sp>
      <p:sp>
        <p:nvSpPr>
          <p:cNvPr id="5" name="Footer Placeholder 4">
            <a:extLst>
              <a:ext uri="{FF2B5EF4-FFF2-40B4-BE49-F238E27FC236}">
                <a16:creationId xmlns:a16="http://schemas.microsoft.com/office/drawing/2014/main" id="{E1798DE7-F232-7317-6883-FB7AE0E425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CAA087-8A0B-2CD1-DA4A-C00065640E0B}"/>
              </a:ext>
            </a:extLst>
          </p:cNvPr>
          <p:cNvSpPr>
            <a:spLocks noGrp="1"/>
          </p:cNvSpPr>
          <p:nvPr>
            <p:ph type="sldNum" sz="quarter" idx="12"/>
          </p:nvPr>
        </p:nvSpPr>
        <p:spPr/>
        <p:txBody>
          <a:bodyPr/>
          <a:lstStyle/>
          <a:p>
            <a:fld id="{18A4F976-3DEC-4DC0-A107-52C30E1D88EE}" type="slidenum">
              <a:rPr lang="en-US" smtClean="0"/>
              <a:t>‹#›</a:t>
            </a:fld>
            <a:endParaRPr lang="en-US"/>
          </a:p>
        </p:txBody>
      </p:sp>
    </p:spTree>
    <p:extLst>
      <p:ext uri="{BB962C8B-B14F-4D97-AF65-F5344CB8AC3E}">
        <p14:creationId xmlns:p14="http://schemas.microsoft.com/office/powerpoint/2010/main" val="414960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B8632-3100-9651-957F-362ACE5A15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8A1881-D793-131B-7F69-D58C8D0031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BB2CC8-5F22-1083-FFE1-C7F7A9FB9075}"/>
              </a:ext>
            </a:extLst>
          </p:cNvPr>
          <p:cNvSpPr>
            <a:spLocks noGrp="1"/>
          </p:cNvSpPr>
          <p:nvPr>
            <p:ph type="dt" sz="half" idx="10"/>
          </p:nvPr>
        </p:nvSpPr>
        <p:spPr/>
        <p:txBody>
          <a:bodyPr/>
          <a:lstStyle/>
          <a:p>
            <a:fld id="{DF3F020F-89E4-4E23-B1A7-2A32C236F4AC}" type="datetimeFigureOut">
              <a:rPr lang="en-US" smtClean="0"/>
              <a:t>11/10/2025</a:t>
            </a:fld>
            <a:endParaRPr lang="en-US"/>
          </a:p>
        </p:txBody>
      </p:sp>
      <p:sp>
        <p:nvSpPr>
          <p:cNvPr id="5" name="Footer Placeholder 4">
            <a:extLst>
              <a:ext uri="{FF2B5EF4-FFF2-40B4-BE49-F238E27FC236}">
                <a16:creationId xmlns:a16="http://schemas.microsoft.com/office/drawing/2014/main" id="{DC18575A-C1A2-E604-0CF3-A4A50E6DC5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568D5F-3B41-40C2-D6EB-F2DABBE55342}"/>
              </a:ext>
            </a:extLst>
          </p:cNvPr>
          <p:cNvSpPr>
            <a:spLocks noGrp="1"/>
          </p:cNvSpPr>
          <p:nvPr>
            <p:ph type="sldNum" sz="quarter" idx="12"/>
          </p:nvPr>
        </p:nvSpPr>
        <p:spPr/>
        <p:txBody>
          <a:bodyPr/>
          <a:lstStyle/>
          <a:p>
            <a:fld id="{18A4F976-3DEC-4DC0-A107-52C30E1D88EE}" type="slidenum">
              <a:rPr lang="en-US" smtClean="0"/>
              <a:t>‹#›</a:t>
            </a:fld>
            <a:endParaRPr lang="en-US"/>
          </a:p>
        </p:txBody>
      </p:sp>
    </p:spTree>
    <p:extLst>
      <p:ext uri="{BB962C8B-B14F-4D97-AF65-F5344CB8AC3E}">
        <p14:creationId xmlns:p14="http://schemas.microsoft.com/office/powerpoint/2010/main" val="1734470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43595-7731-9065-CCB1-C0739F87DC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D8EAD6-E662-7FAA-2DE0-88EA2D545B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DE7CCB-2597-A633-0A24-0FC1719867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6207BF-0578-CDE8-54AC-6ABC05091C74}"/>
              </a:ext>
            </a:extLst>
          </p:cNvPr>
          <p:cNvSpPr>
            <a:spLocks noGrp="1"/>
          </p:cNvSpPr>
          <p:nvPr>
            <p:ph type="dt" sz="half" idx="10"/>
          </p:nvPr>
        </p:nvSpPr>
        <p:spPr/>
        <p:txBody>
          <a:bodyPr/>
          <a:lstStyle/>
          <a:p>
            <a:fld id="{DF3F020F-89E4-4E23-B1A7-2A32C236F4AC}" type="datetimeFigureOut">
              <a:rPr lang="en-US" smtClean="0"/>
              <a:t>11/10/2025</a:t>
            </a:fld>
            <a:endParaRPr lang="en-US"/>
          </a:p>
        </p:txBody>
      </p:sp>
      <p:sp>
        <p:nvSpPr>
          <p:cNvPr id="6" name="Footer Placeholder 5">
            <a:extLst>
              <a:ext uri="{FF2B5EF4-FFF2-40B4-BE49-F238E27FC236}">
                <a16:creationId xmlns:a16="http://schemas.microsoft.com/office/drawing/2014/main" id="{429B0A3F-532B-D2A1-106A-EFA06ECA73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D45FC4-D980-B927-8CA5-095832249CDA}"/>
              </a:ext>
            </a:extLst>
          </p:cNvPr>
          <p:cNvSpPr>
            <a:spLocks noGrp="1"/>
          </p:cNvSpPr>
          <p:nvPr>
            <p:ph type="sldNum" sz="quarter" idx="12"/>
          </p:nvPr>
        </p:nvSpPr>
        <p:spPr/>
        <p:txBody>
          <a:bodyPr/>
          <a:lstStyle/>
          <a:p>
            <a:fld id="{18A4F976-3DEC-4DC0-A107-52C30E1D88EE}" type="slidenum">
              <a:rPr lang="en-US" smtClean="0"/>
              <a:t>‹#›</a:t>
            </a:fld>
            <a:endParaRPr lang="en-US"/>
          </a:p>
        </p:txBody>
      </p:sp>
    </p:spTree>
    <p:extLst>
      <p:ext uri="{BB962C8B-B14F-4D97-AF65-F5344CB8AC3E}">
        <p14:creationId xmlns:p14="http://schemas.microsoft.com/office/powerpoint/2010/main" val="2948131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4518B-A0AD-235A-3A23-D29AEAC4CB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E72A66-98C3-7BC4-C792-AE52A2B01F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ECC390-D0B3-B4E8-619B-D83D782EC1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7ACD7D-92A3-F942-4C85-B66754BD3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40714E-B694-2697-EF0D-D59054871E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6A8364-4848-6C5A-9817-EC1F4033214A}"/>
              </a:ext>
            </a:extLst>
          </p:cNvPr>
          <p:cNvSpPr>
            <a:spLocks noGrp="1"/>
          </p:cNvSpPr>
          <p:nvPr>
            <p:ph type="dt" sz="half" idx="10"/>
          </p:nvPr>
        </p:nvSpPr>
        <p:spPr/>
        <p:txBody>
          <a:bodyPr/>
          <a:lstStyle/>
          <a:p>
            <a:fld id="{DF3F020F-89E4-4E23-B1A7-2A32C236F4AC}" type="datetimeFigureOut">
              <a:rPr lang="en-US" smtClean="0"/>
              <a:t>11/10/2025</a:t>
            </a:fld>
            <a:endParaRPr lang="en-US"/>
          </a:p>
        </p:txBody>
      </p:sp>
      <p:sp>
        <p:nvSpPr>
          <p:cNvPr id="8" name="Footer Placeholder 7">
            <a:extLst>
              <a:ext uri="{FF2B5EF4-FFF2-40B4-BE49-F238E27FC236}">
                <a16:creationId xmlns:a16="http://schemas.microsoft.com/office/drawing/2014/main" id="{034AC50D-661A-234E-F0E1-FD860312B9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B8161D-2343-C43C-BE13-DEA5A29997F0}"/>
              </a:ext>
            </a:extLst>
          </p:cNvPr>
          <p:cNvSpPr>
            <a:spLocks noGrp="1"/>
          </p:cNvSpPr>
          <p:nvPr>
            <p:ph type="sldNum" sz="quarter" idx="12"/>
          </p:nvPr>
        </p:nvSpPr>
        <p:spPr/>
        <p:txBody>
          <a:bodyPr/>
          <a:lstStyle/>
          <a:p>
            <a:fld id="{18A4F976-3DEC-4DC0-A107-52C30E1D88EE}" type="slidenum">
              <a:rPr lang="en-US" smtClean="0"/>
              <a:t>‹#›</a:t>
            </a:fld>
            <a:endParaRPr lang="en-US"/>
          </a:p>
        </p:txBody>
      </p:sp>
    </p:spTree>
    <p:extLst>
      <p:ext uri="{BB962C8B-B14F-4D97-AF65-F5344CB8AC3E}">
        <p14:creationId xmlns:p14="http://schemas.microsoft.com/office/powerpoint/2010/main" val="923252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98E01-312B-2898-B217-2ACEA60D670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D6DB31-DAC7-A961-A8DE-FC55F88B32ED}"/>
              </a:ext>
            </a:extLst>
          </p:cNvPr>
          <p:cNvSpPr>
            <a:spLocks noGrp="1"/>
          </p:cNvSpPr>
          <p:nvPr>
            <p:ph type="dt" sz="half" idx="10"/>
          </p:nvPr>
        </p:nvSpPr>
        <p:spPr/>
        <p:txBody>
          <a:bodyPr/>
          <a:lstStyle/>
          <a:p>
            <a:fld id="{DF3F020F-89E4-4E23-B1A7-2A32C236F4AC}" type="datetimeFigureOut">
              <a:rPr lang="en-US" smtClean="0"/>
              <a:t>11/10/2025</a:t>
            </a:fld>
            <a:endParaRPr lang="en-US"/>
          </a:p>
        </p:txBody>
      </p:sp>
      <p:sp>
        <p:nvSpPr>
          <p:cNvPr id="4" name="Footer Placeholder 3">
            <a:extLst>
              <a:ext uri="{FF2B5EF4-FFF2-40B4-BE49-F238E27FC236}">
                <a16:creationId xmlns:a16="http://schemas.microsoft.com/office/drawing/2014/main" id="{9945F8D4-8A83-49DA-E2B8-1D8F964FC7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1AD3E70-25A0-79A6-519A-74F0B579E15C}"/>
              </a:ext>
            </a:extLst>
          </p:cNvPr>
          <p:cNvSpPr>
            <a:spLocks noGrp="1"/>
          </p:cNvSpPr>
          <p:nvPr>
            <p:ph type="sldNum" sz="quarter" idx="12"/>
          </p:nvPr>
        </p:nvSpPr>
        <p:spPr/>
        <p:txBody>
          <a:bodyPr/>
          <a:lstStyle/>
          <a:p>
            <a:fld id="{18A4F976-3DEC-4DC0-A107-52C30E1D88EE}" type="slidenum">
              <a:rPr lang="en-US" smtClean="0"/>
              <a:t>‹#›</a:t>
            </a:fld>
            <a:endParaRPr lang="en-US"/>
          </a:p>
        </p:txBody>
      </p:sp>
    </p:spTree>
    <p:extLst>
      <p:ext uri="{BB962C8B-B14F-4D97-AF65-F5344CB8AC3E}">
        <p14:creationId xmlns:p14="http://schemas.microsoft.com/office/powerpoint/2010/main" val="122635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8A2B62-101C-F1EA-101C-EBB5E7321A91}"/>
              </a:ext>
            </a:extLst>
          </p:cNvPr>
          <p:cNvSpPr>
            <a:spLocks noGrp="1"/>
          </p:cNvSpPr>
          <p:nvPr>
            <p:ph type="dt" sz="half" idx="10"/>
          </p:nvPr>
        </p:nvSpPr>
        <p:spPr/>
        <p:txBody>
          <a:bodyPr/>
          <a:lstStyle/>
          <a:p>
            <a:fld id="{DF3F020F-89E4-4E23-B1A7-2A32C236F4AC}" type="datetimeFigureOut">
              <a:rPr lang="en-US" smtClean="0"/>
              <a:t>11/10/2025</a:t>
            </a:fld>
            <a:endParaRPr lang="en-US"/>
          </a:p>
        </p:txBody>
      </p:sp>
      <p:sp>
        <p:nvSpPr>
          <p:cNvPr id="3" name="Footer Placeholder 2">
            <a:extLst>
              <a:ext uri="{FF2B5EF4-FFF2-40B4-BE49-F238E27FC236}">
                <a16:creationId xmlns:a16="http://schemas.microsoft.com/office/drawing/2014/main" id="{B0628327-6D0E-C163-156A-3301871A4B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2844FC-1A32-BB71-0398-C5DB3578DF20}"/>
              </a:ext>
            </a:extLst>
          </p:cNvPr>
          <p:cNvSpPr>
            <a:spLocks noGrp="1"/>
          </p:cNvSpPr>
          <p:nvPr>
            <p:ph type="sldNum" sz="quarter" idx="12"/>
          </p:nvPr>
        </p:nvSpPr>
        <p:spPr/>
        <p:txBody>
          <a:bodyPr/>
          <a:lstStyle/>
          <a:p>
            <a:fld id="{18A4F976-3DEC-4DC0-A107-52C30E1D88EE}" type="slidenum">
              <a:rPr lang="en-US" smtClean="0"/>
              <a:t>‹#›</a:t>
            </a:fld>
            <a:endParaRPr lang="en-US"/>
          </a:p>
        </p:txBody>
      </p:sp>
    </p:spTree>
    <p:extLst>
      <p:ext uri="{BB962C8B-B14F-4D97-AF65-F5344CB8AC3E}">
        <p14:creationId xmlns:p14="http://schemas.microsoft.com/office/powerpoint/2010/main" val="803045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D9C41-8AFC-9EC9-D4B8-E892664224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1F6DF3-C6E9-F358-CE72-CFB6AEB16F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DE4527-8455-F543-EA45-45ABAA9836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D85C31-8CD1-C6B0-9766-FFDBF03BB0E9}"/>
              </a:ext>
            </a:extLst>
          </p:cNvPr>
          <p:cNvSpPr>
            <a:spLocks noGrp="1"/>
          </p:cNvSpPr>
          <p:nvPr>
            <p:ph type="dt" sz="half" idx="10"/>
          </p:nvPr>
        </p:nvSpPr>
        <p:spPr/>
        <p:txBody>
          <a:bodyPr/>
          <a:lstStyle/>
          <a:p>
            <a:fld id="{DF3F020F-89E4-4E23-B1A7-2A32C236F4AC}" type="datetimeFigureOut">
              <a:rPr lang="en-US" smtClean="0"/>
              <a:t>11/10/2025</a:t>
            </a:fld>
            <a:endParaRPr lang="en-US"/>
          </a:p>
        </p:txBody>
      </p:sp>
      <p:sp>
        <p:nvSpPr>
          <p:cNvPr id="6" name="Footer Placeholder 5">
            <a:extLst>
              <a:ext uri="{FF2B5EF4-FFF2-40B4-BE49-F238E27FC236}">
                <a16:creationId xmlns:a16="http://schemas.microsoft.com/office/drawing/2014/main" id="{34B84596-BD1D-1399-1D52-E7D684267B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E6570D-6AB9-603D-D94E-C16008889461}"/>
              </a:ext>
            </a:extLst>
          </p:cNvPr>
          <p:cNvSpPr>
            <a:spLocks noGrp="1"/>
          </p:cNvSpPr>
          <p:nvPr>
            <p:ph type="sldNum" sz="quarter" idx="12"/>
          </p:nvPr>
        </p:nvSpPr>
        <p:spPr/>
        <p:txBody>
          <a:bodyPr/>
          <a:lstStyle/>
          <a:p>
            <a:fld id="{18A4F976-3DEC-4DC0-A107-52C30E1D88EE}" type="slidenum">
              <a:rPr lang="en-US" smtClean="0"/>
              <a:t>‹#›</a:t>
            </a:fld>
            <a:endParaRPr lang="en-US"/>
          </a:p>
        </p:txBody>
      </p:sp>
    </p:spTree>
    <p:extLst>
      <p:ext uri="{BB962C8B-B14F-4D97-AF65-F5344CB8AC3E}">
        <p14:creationId xmlns:p14="http://schemas.microsoft.com/office/powerpoint/2010/main" val="1201197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6BABA-2895-DDC3-2EDF-705AD295E0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690956-D9B4-F250-B6CE-ACF54C484C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39274A-5977-2E09-8716-BBF3FF25F3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2E2088-50DC-0496-E7A5-35047DFEC8DE}"/>
              </a:ext>
            </a:extLst>
          </p:cNvPr>
          <p:cNvSpPr>
            <a:spLocks noGrp="1"/>
          </p:cNvSpPr>
          <p:nvPr>
            <p:ph type="dt" sz="half" idx="10"/>
          </p:nvPr>
        </p:nvSpPr>
        <p:spPr/>
        <p:txBody>
          <a:bodyPr/>
          <a:lstStyle/>
          <a:p>
            <a:fld id="{DF3F020F-89E4-4E23-B1A7-2A32C236F4AC}" type="datetimeFigureOut">
              <a:rPr lang="en-US" smtClean="0"/>
              <a:t>11/10/2025</a:t>
            </a:fld>
            <a:endParaRPr lang="en-US"/>
          </a:p>
        </p:txBody>
      </p:sp>
      <p:sp>
        <p:nvSpPr>
          <p:cNvPr id="6" name="Footer Placeholder 5">
            <a:extLst>
              <a:ext uri="{FF2B5EF4-FFF2-40B4-BE49-F238E27FC236}">
                <a16:creationId xmlns:a16="http://schemas.microsoft.com/office/drawing/2014/main" id="{10DC89E5-CC0B-E4FC-D7A5-8217D5D802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DD4A27-CC40-6934-AD9B-A7D7315E0A40}"/>
              </a:ext>
            </a:extLst>
          </p:cNvPr>
          <p:cNvSpPr>
            <a:spLocks noGrp="1"/>
          </p:cNvSpPr>
          <p:nvPr>
            <p:ph type="sldNum" sz="quarter" idx="12"/>
          </p:nvPr>
        </p:nvSpPr>
        <p:spPr/>
        <p:txBody>
          <a:bodyPr/>
          <a:lstStyle/>
          <a:p>
            <a:fld id="{18A4F976-3DEC-4DC0-A107-52C30E1D88EE}" type="slidenum">
              <a:rPr lang="en-US" smtClean="0"/>
              <a:t>‹#›</a:t>
            </a:fld>
            <a:endParaRPr lang="en-US"/>
          </a:p>
        </p:txBody>
      </p:sp>
    </p:spTree>
    <p:extLst>
      <p:ext uri="{BB962C8B-B14F-4D97-AF65-F5344CB8AC3E}">
        <p14:creationId xmlns:p14="http://schemas.microsoft.com/office/powerpoint/2010/main" val="4119849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41400-A8B7-88C3-E144-9CA98EBCC2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70800B-CE8F-024F-BA93-97CDF53AE0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55543C-AB85-03B4-DEF9-72A717D6A67B}"/>
              </a:ext>
            </a:extLst>
          </p:cNvPr>
          <p:cNvSpPr>
            <a:spLocks noGrp="1"/>
          </p:cNvSpPr>
          <p:nvPr>
            <p:ph type="dt" sz="half" idx="10"/>
          </p:nvPr>
        </p:nvSpPr>
        <p:spPr/>
        <p:txBody>
          <a:bodyPr/>
          <a:lstStyle/>
          <a:p>
            <a:fld id="{DF3F020F-89E4-4E23-B1A7-2A32C236F4AC}" type="datetimeFigureOut">
              <a:rPr lang="en-US" smtClean="0"/>
              <a:t>11/10/2025</a:t>
            </a:fld>
            <a:endParaRPr lang="en-US"/>
          </a:p>
        </p:txBody>
      </p:sp>
      <p:sp>
        <p:nvSpPr>
          <p:cNvPr id="5" name="Footer Placeholder 4">
            <a:extLst>
              <a:ext uri="{FF2B5EF4-FFF2-40B4-BE49-F238E27FC236}">
                <a16:creationId xmlns:a16="http://schemas.microsoft.com/office/drawing/2014/main" id="{26F18DBA-2FF6-E99D-8928-AA5EDB3D73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B0BF09-BD2C-312C-DA4F-E01E87B24902}"/>
              </a:ext>
            </a:extLst>
          </p:cNvPr>
          <p:cNvSpPr>
            <a:spLocks noGrp="1"/>
          </p:cNvSpPr>
          <p:nvPr>
            <p:ph type="sldNum" sz="quarter" idx="12"/>
          </p:nvPr>
        </p:nvSpPr>
        <p:spPr/>
        <p:txBody>
          <a:bodyPr/>
          <a:lstStyle/>
          <a:p>
            <a:fld id="{18A4F976-3DEC-4DC0-A107-52C30E1D88EE}" type="slidenum">
              <a:rPr lang="en-US" smtClean="0"/>
              <a:t>‹#›</a:t>
            </a:fld>
            <a:endParaRPr lang="en-US"/>
          </a:p>
        </p:txBody>
      </p:sp>
    </p:spTree>
    <p:extLst>
      <p:ext uri="{BB962C8B-B14F-4D97-AF65-F5344CB8AC3E}">
        <p14:creationId xmlns:p14="http://schemas.microsoft.com/office/powerpoint/2010/main" val="2282375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7A520D-8437-B8A9-6A70-CF23922A3F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943D328-84EC-3E92-80FC-C472EC087B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F09286-A232-2B01-39E3-27117C989B13}"/>
              </a:ext>
            </a:extLst>
          </p:cNvPr>
          <p:cNvSpPr>
            <a:spLocks noGrp="1"/>
          </p:cNvSpPr>
          <p:nvPr>
            <p:ph type="dt" sz="half" idx="10"/>
          </p:nvPr>
        </p:nvSpPr>
        <p:spPr/>
        <p:txBody>
          <a:bodyPr/>
          <a:lstStyle/>
          <a:p>
            <a:fld id="{DF3F020F-89E4-4E23-B1A7-2A32C236F4AC}" type="datetimeFigureOut">
              <a:rPr lang="en-US" smtClean="0"/>
              <a:t>11/10/2025</a:t>
            </a:fld>
            <a:endParaRPr lang="en-US"/>
          </a:p>
        </p:txBody>
      </p:sp>
      <p:sp>
        <p:nvSpPr>
          <p:cNvPr id="5" name="Footer Placeholder 4">
            <a:extLst>
              <a:ext uri="{FF2B5EF4-FFF2-40B4-BE49-F238E27FC236}">
                <a16:creationId xmlns:a16="http://schemas.microsoft.com/office/drawing/2014/main" id="{848D697B-1463-7220-B642-B5B745A74F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405266-6BA9-BE81-3B97-BFD56FBFFFA9}"/>
              </a:ext>
            </a:extLst>
          </p:cNvPr>
          <p:cNvSpPr>
            <a:spLocks noGrp="1"/>
          </p:cNvSpPr>
          <p:nvPr>
            <p:ph type="sldNum" sz="quarter" idx="12"/>
          </p:nvPr>
        </p:nvSpPr>
        <p:spPr/>
        <p:txBody>
          <a:bodyPr/>
          <a:lstStyle/>
          <a:p>
            <a:fld id="{18A4F976-3DEC-4DC0-A107-52C30E1D88EE}" type="slidenum">
              <a:rPr lang="en-US" smtClean="0"/>
              <a:t>‹#›</a:t>
            </a:fld>
            <a:endParaRPr lang="en-US"/>
          </a:p>
        </p:txBody>
      </p:sp>
    </p:spTree>
    <p:extLst>
      <p:ext uri="{BB962C8B-B14F-4D97-AF65-F5344CB8AC3E}">
        <p14:creationId xmlns:p14="http://schemas.microsoft.com/office/powerpoint/2010/main" val="2312335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DB8C37-ACED-C519-9ABD-0CEAAD3759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210F27-196E-8902-9D2D-7330486E10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00A8DF-42AF-F40F-B161-3B78C9677C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3F020F-89E4-4E23-B1A7-2A32C236F4AC}" type="datetimeFigureOut">
              <a:rPr lang="en-US" smtClean="0"/>
              <a:t>11/10/2025</a:t>
            </a:fld>
            <a:endParaRPr lang="en-US"/>
          </a:p>
        </p:txBody>
      </p:sp>
      <p:sp>
        <p:nvSpPr>
          <p:cNvPr id="5" name="Footer Placeholder 4">
            <a:extLst>
              <a:ext uri="{FF2B5EF4-FFF2-40B4-BE49-F238E27FC236}">
                <a16:creationId xmlns:a16="http://schemas.microsoft.com/office/drawing/2014/main" id="{9F339837-DCE3-5930-24C6-6752A6111B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DA5770-BE1E-8982-043B-12A5568C7F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A4F976-3DEC-4DC0-A107-52C30E1D88EE}" type="slidenum">
              <a:rPr lang="en-US" smtClean="0"/>
              <a:t>‹#›</a:t>
            </a:fld>
            <a:endParaRPr lang="en-US"/>
          </a:p>
        </p:txBody>
      </p:sp>
    </p:spTree>
    <p:extLst>
      <p:ext uri="{BB962C8B-B14F-4D97-AF65-F5344CB8AC3E}">
        <p14:creationId xmlns:p14="http://schemas.microsoft.com/office/powerpoint/2010/main" val="34126780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pmc.ncbi.nlm.nih.gov/articles/PMC3341646/"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9BD53-3621-94E0-AB51-8DBD936B4FF6}"/>
              </a:ext>
            </a:extLst>
          </p:cNvPr>
          <p:cNvSpPr>
            <a:spLocks noGrp="1"/>
          </p:cNvSpPr>
          <p:nvPr>
            <p:ph type="ctrTitle"/>
          </p:nvPr>
        </p:nvSpPr>
        <p:spPr/>
        <p:txBody>
          <a:bodyPr/>
          <a:lstStyle/>
          <a:p>
            <a:r>
              <a:rPr lang="en-US" dirty="0"/>
              <a:t>Intro To AI In Medicine</a:t>
            </a:r>
          </a:p>
        </p:txBody>
      </p:sp>
      <p:sp>
        <p:nvSpPr>
          <p:cNvPr id="3" name="Subtitle 2">
            <a:extLst>
              <a:ext uri="{FF2B5EF4-FFF2-40B4-BE49-F238E27FC236}">
                <a16:creationId xmlns:a16="http://schemas.microsoft.com/office/drawing/2014/main" id="{AEDA90E2-1BDA-C7E6-E098-66A76A166842}"/>
              </a:ext>
            </a:extLst>
          </p:cNvPr>
          <p:cNvSpPr>
            <a:spLocks noGrp="1"/>
          </p:cNvSpPr>
          <p:nvPr>
            <p:ph type="subTitle" idx="1"/>
          </p:nvPr>
        </p:nvSpPr>
        <p:spPr/>
        <p:txBody>
          <a:bodyPr/>
          <a:lstStyle/>
          <a:p>
            <a:r>
              <a:rPr lang="en-US" dirty="0" err="1"/>
              <a:t>Lec</a:t>
            </a:r>
            <a:r>
              <a:rPr lang="en-US" dirty="0"/>
              <a:t> 15: AI Superintelligence</a:t>
            </a:r>
          </a:p>
        </p:txBody>
      </p:sp>
    </p:spTree>
    <p:extLst>
      <p:ext uri="{BB962C8B-B14F-4D97-AF65-F5344CB8AC3E}">
        <p14:creationId xmlns:p14="http://schemas.microsoft.com/office/powerpoint/2010/main" val="406207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C07CB-E173-6D98-C7CC-9AB1C4D03C7E}"/>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EA940E77-947C-787D-776F-6481D83F3B27}"/>
              </a:ext>
            </a:extLst>
          </p:cNvPr>
          <p:cNvSpPr>
            <a:spLocks noGrp="1"/>
          </p:cNvSpPr>
          <p:nvPr>
            <p:ph idx="1"/>
          </p:nvPr>
        </p:nvSpPr>
        <p:spPr/>
        <p:txBody>
          <a:bodyPr/>
          <a:lstStyle/>
          <a:p>
            <a:r>
              <a:rPr lang="en-US" dirty="0"/>
              <a:t>Carlos Mercado-Lara: Guest lecture</a:t>
            </a:r>
          </a:p>
          <a:p>
            <a:r>
              <a:rPr lang="en-US" dirty="0"/>
              <a:t>Ways AI market could be disrupted</a:t>
            </a:r>
          </a:p>
          <a:p>
            <a:r>
              <a:rPr lang="en-US" dirty="0"/>
              <a:t>Different funding sources (Loan vs Angel vs VC vs PE)</a:t>
            </a:r>
          </a:p>
          <a:p>
            <a:r>
              <a:rPr lang="en-US" dirty="0"/>
              <a:t>AI adoption case studies</a:t>
            </a:r>
          </a:p>
        </p:txBody>
      </p:sp>
    </p:spTree>
    <p:extLst>
      <p:ext uri="{BB962C8B-B14F-4D97-AF65-F5344CB8AC3E}">
        <p14:creationId xmlns:p14="http://schemas.microsoft.com/office/powerpoint/2010/main" val="2035954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87BAC-F1A5-1BC0-F150-60B5A99AB206}"/>
              </a:ext>
            </a:extLst>
          </p:cNvPr>
          <p:cNvSpPr>
            <a:spLocks noGrp="1"/>
          </p:cNvSpPr>
          <p:nvPr>
            <p:ph type="title"/>
          </p:nvPr>
        </p:nvSpPr>
        <p:spPr>
          <a:xfrm>
            <a:off x="3733800" y="2766218"/>
            <a:ext cx="10515600" cy="1325563"/>
          </a:xfrm>
        </p:spPr>
        <p:txBody>
          <a:bodyPr/>
          <a:lstStyle/>
          <a:p>
            <a:r>
              <a:rPr lang="en-US" dirty="0"/>
              <a:t>What is Intelligence?</a:t>
            </a:r>
          </a:p>
        </p:txBody>
      </p:sp>
    </p:spTree>
    <p:extLst>
      <p:ext uri="{BB962C8B-B14F-4D97-AF65-F5344CB8AC3E}">
        <p14:creationId xmlns:p14="http://schemas.microsoft.com/office/powerpoint/2010/main" val="236926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FD562-2D2B-D142-87FD-BDFE24E00DB5}"/>
              </a:ext>
            </a:extLst>
          </p:cNvPr>
          <p:cNvSpPr>
            <a:spLocks noGrp="1"/>
          </p:cNvSpPr>
          <p:nvPr>
            <p:ph type="title"/>
          </p:nvPr>
        </p:nvSpPr>
        <p:spPr/>
        <p:txBody>
          <a:bodyPr/>
          <a:lstStyle/>
          <a:p>
            <a:r>
              <a:rPr lang="en-US" dirty="0"/>
              <a:t>Several Sources Say…</a:t>
            </a:r>
          </a:p>
        </p:txBody>
      </p:sp>
      <p:sp>
        <p:nvSpPr>
          <p:cNvPr id="3" name="Content Placeholder 2">
            <a:extLst>
              <a:ext uri="{FF2B5EF4-FFF2-40B4-BE49-F238E27FC236}">
                <a16:creationId xmlns:a16="http://schemas.microsoft.com/office/drawing/2014/main" id="{2657FA75-3C20-0689-DAC4-053CA26FC210}"/>
              </a:ext>
            </a:extLst>
          </p:cNvPr>
          <p:cNvSpPr>
            <a:spLocks noGrp="1"/>
          </p:cNvSpPr>
          <p:nvPr>
            <p:ph idx="1"/>
          </p:nvPr>
        </p:nvSpPr>
        <p:spPr/>
        <p:txBody>
          <a:bodyPr/>
          <a:lstStyle/>
          <a:p>
            <a:r>
              <a:rPr lang="en-US" dirty="0"/>
              <a:t>Intelligence is the ability to learn from experience and to adapt to, shape, and select environments. </a:t>
            </a:r>
            <a:r>
              <a:rPr lang="en-US" sz="1600" dirty="0"/>
              <a:t>(</a:t>
            </a:r>
            <a:r>
              <a:rPr lang="en-US" sz="1600" dirty="0">
                <a:hlinkClick r:id="rId2"/>
              </a:rPr>
              <a:t>https://pmc.ncbi.nlm.nih.gov/articles/PMC3341646/</a:t>
            </a:r>
            <a:r>
              <a:rPr lang="en-US" sz="1600" dirty="0"/>
              <a:t>)</a:t>
            </a:r>
          </a:p>
          <a:p>
            <a:r>
              <a:rPr lang="en-US" dirty="0"/>
              <a:t>Intelligence is hard to define, and can mean different things to different people. For example, different lifeforms can have very different types of intelligence because they have different evolutionary roots and have adapted to different environments. </a:t>
            </a:r>
            <a:r>
              <a:rPr lang="en-US" sz="1600" dirty="0"/>
              <a:t>– </a:t>
            </a:r>
            <a:r>
              <a:rPr lang="en-US" sz="1600" dirty="0" err="1"/>
              <a:t>Daeyeol</a:t>
            </a:r>
            <a:r>
              <a:rPr lang="en-US" sz="1600" dirty="0"/>
              <a:t> Lee (Hopkins Economist)</a:t>
            </a:r>
          </a:p>
          <a:p>
            <a:r>
              <a:rPr lang="en-US" dirty="0"/>
              <a:t>Intelligence is general-purpose problem-solving ability that adapts to new situations and pursues goals effectively. -ChatGPT</a:t>
            </a:r>
            <a:endParaRPr lang="en-US" sz="1800" dirty="0"/>
          </a:p>
        </p:txBody>
      </p:sp>
    </p:spTree>
    <p:extLst>
      <p:ext uri="{BB962C8B-B14F-4D97-AF65-F5344CB8AC3E}">
        <p14:creationId xmlns:p14="http://schemas.microsoft.com/office/powerpoint/2010/main" val="2952079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BF984-5CC8-A3C4-FA2F-B4B3A459B52B}"/>
              </a:ext>
            </a:extLst>
          </p:cNvPr>
          <p:cNvSpPr>
            <a:spLocks noGrp="1"/>
          </p:cNvSpPr>
          <p:nvPr>
            <p:ph type="title"/>
          </p:nvPr>
        </p:nvSpPr>
        <p:spPr/>
        <p:txBody>
          <a:bodyPr/>
          <a:lstStyle/>
          <a:p>
            <a:r>
              <a:rPr lang="en-US" dirty="0"/>
              <a:t>Measuring Intelligence</a:t>
            </a:r>
          </a:p>
        </p:txBody>
      </p:sp>
      <p:sp>
        <p:nvSpPr>
          <p:cNvPr id="3" name="Content Placeholder 2">
            <a:extLst>
              <a:ext uri="{FF2B5EF4-FFF2-40B4-BE49-F238E27FC236}">
                <a16:creationId xmlns:a16="http://schemas.microsoft.com/office/drawing/2014/main" id="{CDCC35BB-724D-C022-4812-A0B7CB62351B}"/>
              </a:ext>
            </a:extLst>
          </p:cNvPr>
          <p:cNvSpPr>
            <a:spLocks noGrp="1"/>
          </p:cNvSpPr>
          <p:nvPr>
            <p:ph idx="1"/>
          </p:nvPr>
        </p:nvSpPr>
        <p:spPr>
          <a:xfrm>
            <a:off x="838200" y="1825624"/>
            <a:ext cx="10515600" cy="4956176"/>
          </a:xfrm>
        </p:spPr>
        <p:txBody>
          <a:bodyPr>
            <a:normAutofit fontScale="85000" lnSpcReduction="20000"/>
          </a:bodyPr>
          <a:lstStyle/>
          <a:p>
            <a:r>
              <a:rPr lang="en-US" dirty="0"/>
              <a:t>How is intelligence measured in humans?</a:t>
            </a:r>
          </a:p>
          <a:p>
            <a:endParaRPr lang="en-US" dirty="0"/>
          </a:p>
          <a:p>
            <a:endParaRPr lang="en-US" dirty="0"/>
          </a:p>
          <a:p>
            <a:endParaRPr lang="en-US" dirty="0"/>
          </a:p>
          <a:p>
            <a:endParaRPr lang="en-US" dirty="0"/>
          </a:p>
          <a:p>
            <a:endParaRPr lang="en-US" dirty="0"/>
          </a:p>
          <a:p>
            <a:pPr marL="0" indent="0">
              <a:buNone/>
            </a:pPr>
            <a:endParaRPr lang="en-US" b="1" dirty="0"/>
          </a:p>
          <a:p>
            <a:pPr marL="0" indent="0">
              <a:buNone/>
            </a:pPr>
            <a:endParaRPr lang="en-US" b="1" dirty="0"/>
          </a:p>
          <a:p>
            <a:r>
              <a:rPr lang="en-US" b="1" dirty="0"/>
              <a:t>Verbal Comprehension</a:t>
            </a:r>
            <a:r>
              <a:rPr lang="en-US" dirty="0"/>
              <a:t> — language-based reasoning</a:t>
            </a:r>
          </a:p>
          <a:p>
            <a:r>
              <a:rPr lang="en-US" b="1" dirty="0"/>
              <a:t>Visual-Spatial</a:t>
            </a:r>
            <a:r>
              <a:rPr lang="en-US" dirty="0"/>
              <a:t> — organizing and manipulating visual concepts</a:t>
            </a:r>
          </a:p>
          <a:p>
            <a:r>
              <a:rPr lang="en-US" b="1" dirty="0"/>
              <a:t>Fluid Reasoning</a:t>
            </a:r>
            <a:r>
              <a:rPr lang="en-US" dirty="0"/>
              <a:t> — novel problem-solving</a:t>
            </a:r>
          </a:p>
          <a:p>
            <a:r>
              <a:rPr lang="en-US" b="1" dirty="0"/>
              <a:t>Working Memory</a:t>
            </a:r>
            <a:r>
              <a:rPr lang="en-US" dirty="0"/>
              <a:t> — holding/manipulating info short-term</a:t>
            </a:r>
          </a:p>
          <a:p>
            <a:r>
              <a:rPr lang="en-US" b="1" dirty="0"/>
              <a:t>Processing Speed</a:t>
            </a:r>
            <a:r>
              <a:rPr lang="en-US" dirty="0"/>
              <a:t> — rapid visual-motor integration</a:t>
            </a:r>
          </a:p>
          <a:p>
            <a:pPr marL="0" indent="0">
              <a:buNone/>
            </a:pPr>
            <a:endParaRPr lang="en-US" dirty="0"/>
          </a:p>
          <a:p>
            <a:endParaRPr lang="en-US" dirty="0"/>
          </a:p>
        </p:txBody>
      </p:sp>
      <p:graphicFrame>
        <p:nvGraphicFramePr>
          <p:cNvPr id="4" name="Table 3">
            <a:extLst>
              <a:ext uri="{FF2B5EF4-FFF2-40B4-BE49-F238E27FC236}">
                <a16:creationId xmlns:a16="http://schemas.microsoft.com/office/drawing/2014/main" id="{5A86A1AE-C3F0-1B2A-846B-E8196B7BC0F3}"/>
              </a:ext>
            </a:extLst>
          </p:cNvPr>
          <p:cNvGraphicFramePr>
            <a:graphicFrameLocks noGrp="1"/>
          </p:cNvGraphicFramePr>
          <p:nvPr>
            <p:extLst>
              <p:ext uri="{D42A27DB-BD31-4B8C-83A1-F6EECF244321}">
                <p14:modId xmlns:p14="http://schemas.microsoft.com/office/powerpoint/2010/main" val="1751217923"/>
              </p:ext>
            </p:extLst>
          </p:nvPr>
        </p:nvGraphicFramePr>
        <p:xfrm>
          <a:off x="838200" y="2263934"/>
          <a:ext cx="10515600" cy="2560320"/>
        </p:xfrm>
        <a:graphic>
          <a:graphicData uri="http://schemas.openxmlformats.org/drawingml/2006/table">
            <a:tbl>
              <a:tblPr/>
              <a:tblGrid>
                <a:gridCol w="3505200">
                  <a:extLst>
                    <a:ext uri="{9D8B030D-6E8A-4147-A177-3AD203B41FA5}">
                      <a16:colId xmlns:a16="http://schemas.microsoft.com/office/drawing/2014/main" val="3521626607"/>
                    </a:ext>
                  </a:extLst>
                </a:gridCol>
                <a:gridCol w="3505200">
                  <a:extLst>
                    <a:ext uri="{9D8B030D-6E8A-4147-A177-3AD203B41FA5}">
                      <a16:colId xmlns:a16="http://schemas.microsoft.com/office/drawing/2014/main" val="2924977186"/>
                    </a:ext>
                  </a:extLst>
                </a:gridCol>
                <a:gridCol w="3505200">
                  <a:extLst>
                    <a:ext uri="{9D8B030D-6E8A-4147-A177-3AD203B41FA5}">
                      <a16:colId xmlns:a16="http://schemas.microsoft.com/office/drawing/2014/main" val="2319754272"/>
                    </a:ext>
                  </a:extLst>
                </a:gridCol>
              </a:tblGrid>
              <a:tr h="0">
                <a:tc>
                  <a:txBody>
                    <a:bodyPr/>
                    <a:lstStyle/>
                    <a:p>
                      <a:pPr>
                        <a:buNone/>
                      </a:pPr>
                      <a:r>
                        <a:rPr lang="en-US"/>
                        <a:t>Age Group</a:t>
                      </a:r>
                    </a:p>
                  </a:txBody>
                  <a:tcPr anchor="ctr">
                    <a:lnL>
                      <a:noFill/>
                    </a:lnL>
                    <a:lnR>
                      <a:noFill/>
                    </a:lnR>
                    <a:lnT>
                      <a:noFill/>
                    </a:lnT>
                    <a:lnB>
                      <a:noFill/>
                    </a:lnB>
                    <a:noFill/>
                  </a:tcPr>
                </a:tc>
                <a:tc>
                  <a:txBody>
                    <a:bodyPr/>
                    <a:lstStyle/>
                    <a:p>
                      <a:pPr>
                        <a:buNone/>
                      </a:pPr>
                      <a:r>
                        <a:rPr lang="en-US"/>
                        <a:t>Test Name</a:t>
                      </a:r>
                    </a:p>
                  </a:txBody>
                  <a:tcPr anchor="ctr">
                    <a:lnL>
                      <a:noFill/>
                    </a:lnL>
                    <a:lnR>
                      <a:noFill/>
                    </a:lnR>
                    <a:lnT>
                      <a:noFill/>
                    </a:lnT>
                    <a:lnB>
                      <a:noFill/>
                    </a:lnB>
                    <a:noFill/>
                  </a:tcPr>
                </a:tc>
                <a:tc>
                  <a:txBody>
                    <a:bodyPr/>
                    <a:lstStyle/>
                    <a:p>
                      <a:pPr>
                        <a:buNone/>
                      </a:pPr>
                      <a:r>
                        <a:rPr lang="en-US"/>
                        <a:t>Measures</a:t>
                      </a:r>
                    </a:p>
                  </a:txBody>
                  <a:tcPr anchor="ctr">
                    <a:lnL>
                      <a:noFill/>
                    </a:lnL>
                    <a:lnR>
                      <a:noFill/>
                    </a:lnR>
                    <a:lnT>
                      <a:noFill/>
                    </a:lnT>
                    <a:lnB>
                      <a:noFill/>
                    </a:lnB>
                    <a:noFill/>
                  </a:tcPr>
                </a:tc>
                <a:extLst>
                  <a:ext uri="{0D108BD9-81ED-4DB2-BD59-A6C34878D82A}">
                    <a16:rowId xmlns:a16="http://schemas.microsoft.com/office/drawing/2014/main" val="372494901"/>
                  </a:ext>
                </a:extLst>
              </a:tr>
              <a:tr h="0">
                <a:tc>
                  <a:txBody>
                    <a:bodyPr/>
                    <a:lstStyle/>
                    <a:p>
                      <a:pPr>
                        <a:buNone/>
                      </a:pPr>
                      <a:r>
                        <a:rPr lang="en-US" b="1" dirty="0"/>
                        <a:t>Adult (16+)</a:t>
                      </a:r>
                      <a:endParaRPr lang="en-US" dirty="0"/>
                    </a:p>
                  </a:txBody>
                  <a:tcPr anchor="ctr">
                    <a:lnL>
                      <a:noFill/>
                    </a:lnL>
                    <a:lnR>
                      <a:noFill/>
                    </a:lnR>
                    <a:lnT>
                      <a:noFill/>
                    </a:lnT>
                    <a:lnB>
                      <a:noFill/>
                    </a:lnB>
                    <a:noFill/>
                  </a:tcPr>
                </a:tc>
                <a:tc>
                  <a:txBody>
                    <a:bodyPr/>
                    <a:lstStyle/>
                    <a:p>
                      <a:pPr>
                        <a:buNone/>
                      </a:pPr>
                      <a:r>
                        <a:rPr lang="en-US" dirty="0"/>
                        <a:t>WAIS-IV (Wechsler Adult Intelligence Scale)</a:t>
                      </a:r>
                    </a:p>
                  </a:txBody>
                  <a:tcPr anchor="ctr">
                    <a:lnL>
                      <a:noFill/>
                    </a:lnL>
                    <a:lnR>
                      <a:noFill/>
                    </a:lnR>
                    <a:lnT>
                      <a:noFill/>
                    </a:lnT>
                    <a:lnB>
                      <a:noFill/>
                    </a:lnB>
                    <a:noFill/>
                  </a:tcPr>
                </a:tc>
                <a:tc>
                  <a:txBody>
                    <a:bodyPr/>
                    <a:lstStyle/>
                    <a:p>
                      <a:pPr>
                        <a:buNone/>
                      </a:pPr>
                      <a:r>
                        <a:rPr lang="en-US"/>
                        <a:t>Verbal reasoning, perceptual reasoning, working memory, processing speed</a:t>
                      </a:r>
                    </a:p>
                  </a:txBody>
                  <a:tcPr anchor="ctr">
                    <a:lnL>
                      <a:noFill/>
                    </a:lnL>
                    <a:lnR>
                      <a:noFill/>
                    </a:lnR>
                    <a:lnT>
                      <a:noFill/>
                    </a:lnT>
                    <a:lnB>
                      <a:noFill/>
                    </a:lnB>
                    <a:noFill/>
                  </a:tcPr>
                </a:tc>
                <a:extLst>
                  <a:ext uri="{0D108BD9-81ED-4DB2-BD59-A6C34878D82A}">
                    <a16:rowId xmlns:a16="http://schemas.microsoft.com/office/drawing/2014/main" val="2651523578"/>
                  </a:ext>
                </a:extLst>
              </a:tr>
              <a:tr h="0">
                <a:tc>
                  <a:txBody>
                    <a:bodyPr/>
                    <a:lstStyle/>
                    <a:p>
                      <a:pPr>
                        <a:buNone/>
                      </a:pPr>
                      <a:r>
                        <a:rPr lang="en-US" b="1"/>
                        <a:t>Children (6–16)</a:t>
                      </a:r>
                      <a:endParaRPr lang="en-US"/>
                    </a:p>
                  </a:txBody>
                  <a:tcPr anchor="ctr">
                    <a:lnL>
                      <a:noFill/>
                    </a:lnL>
                    <a:lnR>
                      <a:noFill/>
                    </a:lnR>
                    <a:lnT>
                      <a:noFill/>
                    </a:lnT>
                    <a:lnB>
                      <a:noFill/>
                    </a:lnB>
                    <a:noFill/>
                  </a:tcPr>
                </a:tc>
                <a:tc>
                  <a:txBody>
                    <a:bodyPr/>
                    <a:lstStyle/>
                    <a:p>
                      <a:pPr>
                        <a:buNone/>
                      </a:pPr>
                      <a:r>
                        <a:rPr lang="en-US"/>
                        <a:t>WISC-V (Wechsler Intelligence Scale for Children)</a:t>
                      </a:r>
                    </a:p>
                  </a:txBody>
                  <a:tcPr anchor="ctr">
                    <a:lnL>
                      <a:noFill/>
                    </a:lnL>
                    <a:lnR>
                      <a:noFill/>
                    </a:lnR>
                    <a:lnT>
                      <a:noFill/>
                    </a:lnT>
                    <a:lnB>
                      <a:noFill/>
                    </a:lnB>
                    <a:noFill/>
                  </a:tcPr>
                </a:tc>
                <a:tc>
                  <a:txBody>
                    <a:bodyPr/>
                    <a:lstStyle/>
                    <a:p>
                      <a:pPr>
                        <a:buNone/>
                      </a:pPr>
                      <a:r>
                        <a:rPr lang="en-US"/>
                        <a:t>Same domains, age-normed</a:t>
                      </a:r>
                    </a:p>
                  </a:txBody>
                  <a:tcPr anchor="ctr">
                    <a:lnL>
                      <a:noFill/>
                    </a:lnL>
                    <a:lnR>
                      <a:noFill/>
                    </a:lnR>
                    <a:lnT>
                      <a:noFill/>
                    </a:lnT>
                    <a:lnB>
                      <a:noFill/>
                    </a:lnB>
                    <a:noFill/>
                  </a:tcPr>
                </a:tc>
                <a:extLst>
                  <a:ext uri="{0D108BD9-81ED-4DB2-BD59-A6C34878D82A}">
                    <a16:rowId xmlns:a16="http://schemas.microsoft.com/office/drawing/2014/main" val="1817380127"/>
                  </a:ext>
                </a:extLst>
              </a:tr>
              <a:tr h="0">
                <a:tc>
                  <a:txBody>
                    <a:bodyPr/>
                    <a:lstStyle/>
                    <a:p>
                      <a:pPr>
                        <a:buNone/>
                      </a:pPr>
                      <a:r>
                        <a:rPr lang="en-US" b="1" dirty="0"/>
                        <a:t>Toddlers (0–7)</a:t>
                      </a:r>
                      <a:endParaRPr lang="en-US" dirty="0"/>
                    </a:p>
                  </a:txBody>
                  <a:tcPr anchor="ctr">
                    <a:lnL>
                      <a:noFill/>
                    </a:lnL>
                    <a:lnR>
                      <a:noFill/>
                    </a:lnR>
                    <a:lnT>
                      <a:noFill/>
                    </a:lnT>
                    <a:lnB>
                      <a:noFill/>
                    </a:lnB>
                    <a:noFill/>
                  </a:tcPr>
                </a:tc>
                <a:tc>
                  <a:txBody>
                    <a:bodyPr/>
                    <a:lstStyle/>
                    <a:p>
                      <a:pPr>
                        <a:buNone/>
                      </a:pPr>
                      <a:r>
                        <a:rPr lang="en-US"/>
                        <a:t>WPPSI-IV (Preschool &amp; Primary Scale of Intelligence)</a:t>
                      </a:r>
                    </a:p>
                  </a:txBody>
                  <a:tcPr anchor="ctr">
                    <a:lnL>
                      <a:noFill/>
                    </a:lnL>
                    <a:lnR>
                      <a:noFill/>
                    </a:lnR>
                    <a:lnT>
                      <a:noFill/>
                    </a:lnT>
                    <a:lnB>
                      <a:noFill/>
                    </a:lnB>
                    <a:noFill/>
                  </a:tcPr>
                </a:tc>
                <a:tc>
                  <a:txBody>
                    <a:bodyPr/>
                    <a:lstStyle/>
                    <a:p>
                      <a:pPr>
                        <a:buNone/>
                      </a:pPr>
                      <a:r>
                        <a:rPr lang="en-US" dirty="0"/>
                        <a:t>Early cognitive and language foundations</a:t>
                      </a:r>
                    </a:p>
                  </a:txBody>
                  <a:tcPr anchor="ctr">
                    <a:lnL>
                      <a:noFill/>
                    </a:lnL>
                    <a:lnR>
                      <a:noFill/>
                    </a:lnR>
                    <a:lnT>
                      <a:noFill/>
                    </a:lnT>
                    <a:lnB>
                      <a:noFill/>
                    </a:lnB>
                    <a:noFill/>
                  </a:tcPr>
                </a:tc>
                <a:extLst>
                  <a:ext uri="{0D108BD9-81ED-4DB2-BD59-A6C34878D82A}">
                    <a16:rowId xmlns:a16="http://schemas.microsoft.com/office/drawing/2014/main" val="3298245184"/>
                  </a:ext>
                </a:extLst>
              </a:tr>
            </a:tbl>
          </a:graphicData>
        </a:graphic>
      </p:graphicFrame>
    </p:spTree>
    <p:extLst>
      <p:ext uri="{BB962C8B-B14F-4D97-AF65-F5344CB8AC3E}">
        <p14:creationId xmlns:p14="http://schemas.microsoft.com/office/powerpoint/2010/main" val="114341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32D78-81BB-6A3E-EDD4-061854CF3204}"/>
              </a:ext>
            </a:extLst>
          </p:cNvPr>
          <p:cNvSpPr>
            <a:spLocks noGrp="1"/>
          </p:cNvSpPr>
          <p:nvPr>
            <p:ph type="title"/>
          </p:nvPr>
        </p:nvSpPr>
        <p:spPr/>
        <p:txBody>
          <a:bodyPr/>
          <a:lstStyle/>
          <a:p>
            <a:r>
              <a:rPr lang="en-US" dirty="0"/>
              <a:t>Measuring Intelligence</a:t>
            </a:r>
          </a:p>
        </p:txBody>
      </p:sp>
      <p:graphicFrame>
        <p:nvGraphicFramePr>
          <p:cNvPr id="4" name="Content Placeholder 3">
            <a:extLst>
              <a:ext uri="{FF2B5EF4-FFF2-40B4-BE49-F238E27FC236}">
                <a16:creationId xmlns:a16="http://schemas.microsoft.com/office/drawing/2014/main" id="{42674B74-F156-8B77-651E-BF17DF6FBBA8}"/>
              </a:ext>
            </a:extLst>
          </p:cNvPr>
          <p:cNvGraphicFramePr>
            <a:graphicFrameLocks noGrp="1"/>
          </p:cNvGraphicFramePr>
          <p:nvPr>
            <p:ph idx="1"/>
            <p:extLst>
              <p:ext uri="{D42A27DB-BD31-4B8C-83A1-F6EECF244321}">
                <p14:modId xmlns:p14="http://schemas.microsoft.com/office/powerpoint/2010/main" val="3183328524"/>
              </p:ext>
            </p:extLst>
          </p:nvPr>
        </p:nvGraphicFramePr>
        <p:xfrm>
          <a:off x="838200" y="2081054"/>
          <a:ext cx="10515600" cy="3840480"/>
        </p:xfrm>
        <a:graphic>
          <a:graphicData uri="http://schemas.openxmlformats.org/drawingml/2006/table">
            <a:tbl>
              <a:tblPr/>
              <a:tblGrid>
                <a:gridCol w="3505200">
                  <a:extLst>
                    <a:ext uri="{9D8B030D-6E8A-4147-A177-3AD203B41FA5}">
                      <a16:colId xmlns:a16="http://schemas.microsoft.com/office/drawing/2014/main" val="436478147"/>
                    </a:ext>
                  </a:extLst>
                </a:gridCol>
                <a:gridCol w="3505200">
                  <a:extLst>
                    <a:ext uri="{9D8B030D-6E8A-4147-A177-3AD203B41FA5}">
                      <a16:colId xmlns:a16="http://schemas.microsoft.com/office/drawing/2014/main" val="1494478898"/>
                    </a:ext>
                  </a:extLst>
                </a:gridCol>
                <a:gridCol w="3505200">
                  <a:extLst>
                    <a:ext uri="{9D8B030D-6E8A-4147-A177-3AD203B41FA5}">
                      <a16:colId xmlns:a16="http://schemas.microsoft.com/office/drawing/2014/main" val="3688272877"/>
                    </a:ext>
                  </a:extLst>
                </a:gridCol>
              </a:tblGrid>
              <a:tr h="0">
                <a:tc>
                  <a:txBody>
                    <a:bodyPr/>
                    <a:lstStyle/>
                    <a:p>
                      <a:pPr>
                        <a:buNone/>
                      </a:pPr>
                      <a:r>
                        <a:rPr lang="en-US" dirty="0"/>
                        <a:t>Domain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Example Benchmarks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What They Measure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911725"/>
                  </a:ext>
                </a:extLst>
              </a:tr>
              <a:tr h="0">
                <a:tc>
                  <a:txBody>
                    <a:bodyPr/>
                    <a:lstStyle/>
                    <a:p>
                      <a:pPr>
                        <a:buNone/>
                      </a:pPr>
                      <a:r>
                        <a:rPr lang="en-US"/>
                        <a:t>Language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GLUE, SuperGLUE, MMLU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Reasoning, reading comprehension, multitask knowledge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2896843"/>
                  </a:ext>
                </a:extLst>
              </a:tr>
              <a:tr h="0">
                <a:tc>
                  <a:txBody>
                    <a:bodyPr/>
                    <a:lstStyle/>
                    <a:p>
                      <a:pPr>
                        <a:buNone/>
                      </a:pPr>
                      <a:r>
                        <a:rPr lang="en-US"/>
                        <a:t>Vision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ImageNet, COCO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Object recognition, detection, segmentation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9544681"/>
                  </a:ext>
                </a:extLst>
              </a:tr>
              <a:tr h="0">
                <a:tc>
                  <a:txBody>
                    <a:bodyPr/>
                    <a:lstStyle/>
                    <a:p>
                      <a:pPr>
                        <a:buNone/>
                      </a:pPr>
                      <a:r>
                        <a:rPr lang="en-US"/>
                        <a:t>Games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a:t>Chess, Go, StarCraft II, Dota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Planning, strategy, adaptation to adversaries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0663375"/>
                  </a:ext>
                </a:extLst>
              </a:tr>
              <a:tr h="0">
                <a:tc>
                  <a:txBody>
                    <a:bodyPr/>
                    <a:lstStyle/>
                    <a:p>
                      <a:pPr>
                        <a:buNone/>
                      </a:pPr>
                      <a:r>
                        <a:rPr lang="en-US"/>
                        <a:t>Coding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HumanEval, Codeforces Ratings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Algorithmic reasoning and debugging 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8297665"/>
                  </a:ext>
                </a:extLst>
              </a:tr>
              <a:tr h="0">
                <a:tc>
                  <a:txBody>
                    <a:bodyPr/>
                    <a:lstStyle/>
                    <a:p>
                      <a:pPr>
                        <a:buNone/>
                      </a:pPr>
                      <a:r>
                        <a:rPr lang="en-US"/>
                        <a:t>Medical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CheXpert, BRATS, MIMIC-III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Diagnostic classification &amp; segmentation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8529980"/>
                  </a:ext>
                </a:extLst>
              </a:tr>
            </a:tbl>
          </a:graphicData>
        </a:graphic>
      </p:graphicFrame>
    </p:spTree>
    <p:extLst>
      <p:ext uri="{BB962C8B-B14F-4D97-AF65-F5344CB8AC3E}">
        <p14:creationId xmlns:p14="http://schemas.microsoft.com/office/powerpoint/2010/main" val="1014539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3B510-1156-2975-5272-46044FCFDCE0}"/>
              </a:ext>
            </a:extLst>
          </p:cNvPr>
          <p:cNvSpPr>
            <a:spLocks noGrp="1"/>
          </p:cNvSpPr>
          <p:nvPr>
            <p:ph type="title"/>
          </p:nvPr>
        </p:nvSpPr>
        <p:spPr/>
        <p:txBody>
          <a:bodyPr/>
          <a:lstStyle/>
          <a:p>
            <a:r>
              <a:rPr lang="en-US" dirty="0"/>
              <a:t>MMLU</a:t>
            </a:r>
          </a:p>
        </p:txBody>
      </p:sp>
      <p:sp>
        <p:nvSpPr>
          <p:cNvPr id="3" name="Content Placeholder 2">
            <a:extLst>
              <a:ext uri="{FF2B5EF4-FFF2-40B4-BE49-F238E27FC236}">
                <a16:creationId xmlns:a16="http://schemas.microsoft.com/office/drawing/2014/main" id="{D5848A78-4B1B-AB96-1127-F0025A00E3EE}"/>
              </a:ext>
            </a:extLst>
          </p:cNvPr>
          <p:cNvSpPr>
            <a:spLocks noGrp="1"/>
          </p:cNvSpPr>
          <p:nvPr>
            <p:ph idx="1"/>
          </p:nvPr>
        </p:nvSpPr>
        <p:spPr>
          <a:xfrm>
            <a:off x="838200" y="1825625"/>
            <a:ext cx="10515600" cy="500480"/>
          </a:xfrm>
        </p:spPr>
        <p:txBody>
          <a:bodyPr/>
          <a:lstStyle/>
          <a:p>
            <a:r>
              <a:rPr lang="en-US" dirty="0"/>
              <a:t>LLM benchmarking test set of 10k+ q:a pairs across domains</a:t>
            </a:r>
          </a:p>
        </p:txBody>
      </p:sp>
      <p:pic>
        <p:nvPicPr>
          <p:cNvPr id="5" name="Picture 4">
            <a:extLst>
              <a:ext uri="{FF2B5EF4-FFF2-40B4-BE49-F238E27FC236}">
                <a16:creationId xmlns:a16="http://schemas.microsoft.com/office/drawing/2014/main" id="{324B909F-FC1A-6F3F-3E52-B5EC4753E9AC}"/>
              </a:ext>
            </a:extLst>
          </p:cNvPr>
          <p:cNvPicPr>
            <a:picLocks noChangeAspect="1"/>
          </p:cNvPicPr>
          <p:nvPr/>
        </p:nvPicPr>
        <p:blipFill>
          <a:blip r:embed="rId2"/>
          <a:stretch>
            <a:fillRect/>
          </a:stretch>
        </p:blipFill>
        <p:spPr>
          <a:xfrm>
            <a:off x="646486" y="2461042"/>
            <a:ext cx="5782482" cy="1733792"/>
          </a:xfrm>
          <a:prstGeom prst="rect">
            <a:avLst/>
          </a:prstGeom>
        </p:spPr>
      </p:pic>
      <p:pic>
        <p:nvPicPr>
          <p:cNvPr id="7" name="Picture 6">
            <a:extLst>
              <a:ext uri="{FF2B5EF4-FFF2-40B4-BE49-F238E27FC236}">
                <a16:creationId xmlns:a16="http://schemas.microsoft.com/office/drawing/2014/main" id="{B15D4B8F-63C6-19A3-2874-2579A9AF4B7A}"/>
              </a:ext>
            </a:extLst>
          </p:cNvPr>
          <p:cNvPicPr>
            <a:picLocks noChangeAspect="1"/>
          </p:cNvPicPr>
          <p:nvPr/>
        </p:nvPicPr>
        <p:blipFill>
          <a:blip r:embed="rId3"/>
          <a:stretch>
            <a:fillRect/>
          </a:stretch>
        </p:blipFill>
        <p:spPr>
          <a:xfrm>
            <a:off x="6357127" y="2461042"/>
            <a:ext cx="5650370" cy="2228387"/>
          </a:xfrm>
          <a:prstGeom prst="rect">
            <a:avLst/>
          </a:prstGeom>
        </p:spPr>
      </p:pic>
    </p:spTree>
    <p:extLst>
      <p:ext uri="{BB962C8B-B14F-4D97-AF65-F5344CB8AC3E}">
        <p14:creationId xmlns:p14="http://schemas.microsoft.com/office/powerpoint/2010/main" val="3263626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0C4A0-FA75-36BC-70F5-04AA4668A996}"/>
              </a:ext>
            </a:extLst>
          </p:cNvPr>
          <p:cNvSpPr>
            <a:spLocks noGrp="1"/>
          </p:cNvSpPr>
          <p:nvPr>
            <p:ph type="title"/>
          </p:nvPr>
        </p:nvSpPr>
        <p:spPr/>
        <p:txBody>
          <a:bodyPr/>
          <a:lstStyle/>
          <a:p>
            <a:r>
              <a:rPr lang="en-US" dirty="0"/>
              <a:t>MMLU</a:t>
            </a:r>
          </a:p>
        </p:txBody>
      </p:sp>
      <p:pic>
        <p:nvPicPr>
          <p:cNvPr id="5" name="Content Placeholder 4">
            <a:extLst>
              <a:ext uri="{FF2B5EF4-FFF2-40B4-BE49-F238E27FC236}">
                <a16:creationId xmlns:a16="http://schemas.microsoft.com/office/drawing/2014/main" id="{4566C8D3-3D89-CAA1-E9F0-5B1FFC966AF8}"/>
              </a:ext>
            </a:extLst>
          </p:cNvPr>
          <p:cNvPicPr>
            <a:picLocks noGrp="1" noChangeAspect="1"/>
          </p:cNvPicPr>
          <p:nvPr>
            <p:ph idx="1"/>
          </p:nvPr>
        </p:nvPicPr>
        <p:blipFill>
          <a:blip r:embed="rId2"/>
          <a:stretch>
            <a:fillRect/>
          </a:stretch>
        </p:blipFill>
        <p:spPr>
          <a:xfrm>
            <a:off x="838200" y="1867968"/>
            <a:ext cx="10515600" cy="4266652"/>
          </a:xfrm>
          <a:prstGeom prst="rect">
            <a:avLst/>
          </a:prstGeom>
        </p:spPr>
      </p:pic>
    </p:spTree>
    <p:extLst>
      <p:ext uri="{BB962C8B-B14F-4D97-AF65-F5344CB8AC3E}">
        <p14:creationId xmlns:p14="http://schemas.microsoft.com/office/powerpoint/2010/main" val="4294654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30303"/>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F291B5E-67D5-8407-783E-C6379FB1F637}"/>
              </a:ext>
            </a:extLst>
          </p:cNvPr>
          <p:cNvPicPr>
            <a:picLocks noGrp="1" noChangeAspect="1"/>
          </p:cNvPicPr>
          <p:nvPr>
            <p:ph idx="1"/>
          </p:nvPr>
        </p:nvPicPr>
        <p:blipFill>
          <a:blip r:embed="rId3"/>
          <a:stretch>
            <a:fillRect/>
          </a:stretch>
        </p:blipFill>
        <p:spPr>
          <a:xfrm>
            <a:off x="306631" y="0"/>
            <a:ext cx="11578737" cy="6992090"/>
          </a:xfrm>
          <a:prstGeom prst="rect">
            <a:avLst/>
          </a:prstGeom>
        </p:spPr>
      </p:pic>
    </p:spTree>
    <p:extLst>
      <p:ext uri="{BB962C8B-B14F-4D97-AF65-F5344CB8AC3E}">
        <p14:creationId xmlns:p14="http://schemas.microsoft.com/office/powerpoint/2010/main" val="3022726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070A7-3F45-59C9-9984-C8D00DD3253F}"/>
              </a:ext>
            </a:extLst>
          </p:cNvPr>
          <p:cNvSpPr>
            <a:spLocks noGrp="1"/>
          </p:cNvSpPr>
          <p:nvPr>
            <p:ph type="title"/>
          </p:nvPr>
        </p:nvSpPr>
        <p:spPr/>
        <p:txBody>
          <a:bodyPr/>
          <a:lstStyle/>
          <a:p>
            <a:r>
              <a:rPr lang="en-US" dirty="0"/>
              <a:t>Measuring Intelligence</a:t>
            </a:r>
          </a:p>
        </p:txBody>
      </p:sp>
      <p:sp>
        <p:nvSpPr>
          <p:cNvPr id="3" name="Content Placeholder 2">
            <a:extLst>
              <a:ext uri="{FF2B5EF4-FFF2-40B4-BE49-F238E27FC236}">
                <a16:creationId xmlns:a16="http://schemas.microsoft.com/office/drawing/2014/main" id="{D0B9CBBC-4B9A-0C01-2E6E-83B695FD8A5D}"/>
              </a:ext>
            </a:extLst>
          </p:cNvPr>
          <p:cNvSpPr>
            <a:spLocks noGrp="1"/>
          </p:cNvSpPr>
          <p:nvPr>
            <p:ph idx="1"/>
          </p:nvPr>
        </p:nvSpPr>
        <p:spPr>
          <a:xfrm>
            <a:off x="838200" y="2722915"/>
            <a:ext cx="10515600" cy="1011770"/>
          </a:xfrm>
        </p:spPr>
        <p:txBody>
          <a:bodyPr/>
          <a:lstStyle/>
          <a:p>
            <a:r>
              <a:rPr lang="en-US" dirty="0"/>
              <a:t>Divergent thinking: generating a unique solution to a question that does not have one expected solution</a:t>
            </a:r>
          </a:p>
        </p:txBody>
      </p:sp>
      <p:pic>
        <p:nvPicPr>
          <p:cNvPr id="5" name="Picture 4">
            <a:extLst>
              <a:ext uri="{FF2B5EF4-FFF2-40B4-BE49-F238E27FC236}">
                <a16:creationId xmlns:a16="http://schemas.microsoft.com/office/drawing/2014/main" id="{8EF54144-8DAA-2DE0-D603-66B91A8C02EF}"/>
              </a:ext>
            </a:extLst>
          </p:cNvPr>
          <p:cNvPicPr>
            <a:picLocks noChangeAspect="1"/>
          </p:cNvPicPr>
          <p:nvPr/>
        </p:nvPicPr>
        <p:blipFill>
          <a:blip r:embed="rId3"/>
          <a:stretch>
            <a:fillRect/>
          </a:stretch>
        </p:blipFill>
        <p:spPr>
          <a:xfrm>
            <a:off x="874838" y="1397351"/>
            <a:ext cx="10478962" cy="1305107"/>
          </a:xfrm>
          <a:prstGeom prst="rect">
            <a:avLst/>
          </a:prstGeom>
        </p:spPr>
      </p:pic>
      <p:pic>
        <p:nvPicPr>
          <p:cNvPr id="7" name="Picture 6">
            <a:extLst>
              <a:ext uri="{FF2B5EF4-FFF2-40B4-BE49-F238E27FC236}">
                <a16:creationId xmlns:a16="http://schemas.microsoft.com/office/drawing/2014/main" id="{C1D48558-F646-1970-31FF-9C9816414E00}"/>
              </a:ext>
            </a:extLst>
          </p:cNvPr>
          <p:cNvPicPr>
            <a:picLocks noChangeAspect="1"/>
          </p:cNvPicPr>
          <p:nvPr/>
        </p:nvPicPr>
        <p:blipFill>
          <a:blip r:embed="rId4"/>
          <a:stretch>
            <a:fillRect/>
          </a:stretch>
        </p:blipFill>
        <p:spPr>
          <a:xfrm>
            <a:off x="838200" y="3553195"/>
            <a:ext cx="5016651" cy="3199874"/>
          </a:xfrm>
          <a:prstGeom prst="rect">
            <a:avLst/>
          </a:prstGeom>
        </p:spPr>
      </p:pic>
      <p:pic>
        <p:nvPicPr>
          <p:cNvPr id="3074" name="Picture 2">
            <a:extLst>
              <a:ext uri="{FF2B5EF4-FFF2-40B4-BE49-F238E27FC236}">
                <a16:creationId xmlns:a16="http://schemas.microsoft.com/office/drawing/2014/main" id="{792DD64C-ACCC-23F2-74AD-C377DF564C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67574" y="4082652"/>
            <a:ext cx="3789515" cy="999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607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F4537-4679-9243-B4EE-A5FA2A2E3172}"/>
              </a:ext>
            </a:extLst>
          </p:cNvPr>
          <p:cNvSpPr>
            <a:spLocks noGrp="1"/>
          </p:cNvSpPr>
          <p:nvPr>
            <p:ph type="title"/>
          </p:nvPr>
        </p:nvSpPr>
        <p:spPr/>
        <p:txBody>
          <a:bodyPr/>
          <a:lstStyle/>
          <a:p>
            <a:r>
              <a:rPr lang="en-US" dirty="0"/>
              <a:t>Measuring Intelligence</a:t>
            </a:r>
          </a:p>
        </p:txBody>
      </p:sp>
      <p:pic>
        <p:nvPicPr>
          <p:cNvPr id="4098" name="Picture 2" descr="Highly accurate protein structure prediction with AlphaFold | Nature">
            <a:extLst>
              <a:ext uri="{FF2B5EF4-FFF2-40B4-BE49-F238E27FC236}">
                <a16:creationId xmlns:a16="http://schemas.microsoft.com/office/drawing/2014/main" id="{61A74F66-B570-52F9-AF8C-14382D26906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1181" y="1452095"/>
            <a:ext cx="8437436" cy="5405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4156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7009D-8429-E2FA-561E-1798811A7C56}"/>
              </a:ext>
            </a:extLst>
          </p:cNvPr>
          <p:cNvSpPr>
            <a:spLocks noGrp="1"/>
          </p:cNvSpPr>
          <p:nvPr>
            <p:ph type="title"/>
          </p:nvPr>
        </p:nvSpPr>
        <p:spPr/>
        <p:txBody>
          <a:bodyPr/>
          <a:lstStyle/>
          <a:p>
            <a:r>
              <a:rPr lang="en-US" dirty="0"/>
              <a:t>Measuring Intelligence: Medical Areas</a:t>
            </a:r>
          </a:p>
        </p:txBody>
      </p:sp>
      <p:sp>
        <p:nvSpPr>
          <p:cNvPr id="3" name="Content Placeholder 2">
            <a:extLst>
              <a:ext uri="{FF2B5EF4-FFF2-40B4-BE49-F238E27FC236}">
                <a16:creationId xmlns:a16="http://schemas.microsoft.com/office/drawing/2014/main" id="{6842D1B3-569B-0431-4948-E426E5A655C3}"/>
              </a:ext>
            </a:extLst>
          </p:cNvPr>
          <p:cNvSpPr>
            <a:spLocks noGrp="1"/>
          </p:cNvSpPr>
          <p:nvPr>
            <p:ph idx="1"/>
          </p:nvPr>
        </p:nvSpPr>
        <p:spPr/>
        <p:txBody>
          <a:bodyPr/>
          <a:lstStyle/>
          <a:p>
            <a:r>
              <a:rPr lang="en-US" dirty="0"/>
              <a:t>Stanford's Skin Cancer Detection (2017)</a:t>
            </a:r>
          </a:p>
          <a:p>
            <a:r>
              <a:rPr lang="en-US" dirty="0"/>
              <a:t>First AI mammogram reader approved (</a:t>
            </a:r>
            <a:r>
              <a:rPr lang="en-US" dirty="0" err="1"/>
              <a:t>Clairity</a:t>
            </a:r>
            <a:r>
              <a:rPr lang="en-US" dirty="0"/>
              <a:t> Health, 2025)</a:t>
            </a:r>
          </a:p>
          <a:p>
            <a:r>
              <a:rPr lang="en-US" dirty="0"/>
              <a:t>ChatGPT passes Step Exams (Kung Et Al, 2023)</a:t>
            </a:r>
          </a:p>
          <a:p>
            <a:r>
              <a:rPr lang="en-US" dirty="0"/>
              <a:t>Predicting Acute Kidney Injury (Google DeepMind, 2019)</a:t>
            </a:r>
          </a:p>
          <a:p>
            <a:endParaRPr lang="en-US" dirty="0"/>
          </a:p>
        </p:txBody>
      </p:sp>
      <p:pic>
        <p:nvPicPr>
          <p:cNvPr id="5" name="Picture 4">
            <a:extLst>
              <a:ext uri="{FF2B5EF4-FFF2-40B4-BE49-F238E27FC236}">
                <a16:creationId xmlns:a16="http://schemas.microsoft.com/office/drawing/2014/main" id="{9E56230E-ABBD-9EED-EDAA-F4606EF110D8}"/>
              </a:ext>
            </a:extLst>
          </p:cNvPr>
          <p:cNvPicPr>
            <a:picLocks noChangeAspect="1"/>
          </p:cNvPicPr>
          <p:nvPr/>
        </p:nvPicPr>
        <p:blipFill>
          <a:blip r:embed="rId3"/>
          <a:stretch>
            <a:fillRect/>
          </a:stretch>
        </p:blipFill>
        <p:spPr>
          <a:xfrm>
            <a:off x="7749914" y="1357639"/>
            <a:ext cx="4322163" cy="935972"/>
          </a:xfrm>
          <a:prstGeom prst="rect">
            <a:avLst/>
          </a:prstGeom>
        </p:spPr>
      </p:pic>
      <p:pic>
        <p:nvPicPr>
          <p:cNvPr id="5122" name="Picture 2" descr="An x-ray scan of a breast with a mass circled in white">
            <a:extLst>
              <a:ext uri="{FF2B5EF4-FFF2-40B4-BE49-F238E27FC236}">
                <a16:creationId xmlns:a16="http://schemas.microsoft.com/office/drawing/2014/main" id="{BD076D1E-AF4B-F9B6-BA30-9A5CC1B3CE3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501" r="25045"/>
          <a:stretch>
            <a:fillRect/>
          </a:stretch>
        </p:blipFill>
        <p:spPr bwMode="auto">
          <a:xfrm>
            <a:off x="10350563" y="2388720"/>
            <a:ext cx="1721514" cy="4351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9862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12F7B-4825-F409-8FA1-3DDEE6CD264D}"/>
              </a:ext>
            </a:extLst>
          </p:cNvPr>
          <p:cNvSpPr>
            <a:spLocks noGrp="1"/>
          </p:cNvSpPr>
          <p:nvPr>
            <p:ph type="title"/>
          </p:nvPr>
        </p:nvSpPr>
        <p:spPr/>
        <p:txBody>
          <a:bodyPr/>
          <a:lstStyle/>
          <a:p>
            <a:r>
              <a:rPr lang="en-US" dirty="0"/>
              <a:t>Is This Intelligence?</a:t>
            </a:r>
          </a:p>
        </p:txBody>
      </p:sp>
      <p:sp>
        <p:nvSpPr>
          <p:cNvPr id="3" name="Content Placeholder 2">
            <a:extLst>
              <a:ext uri="{FF2B5EF4-FFF2-40B4-BE49-F238E27FC236}">
                <a16:creationId xmlns:a16="http://schemas.microsoft.com/office/drawing/2014/main" id="{4E3170DC-F7BB-6A56-E184-2B0839D3E4E5}"/>
              </a:ext>
            </a:extLst>
          </p:cNvPr>
          <p:cNvSpPr>
            <a:spLocks noGrp="1"/>
          </p:cNvSpPr>
          <p:nvPr>
            <p:ph idx="1"/>
          </p:nvPr>
        </p:nvSpPr>
        <p:spPr/>
        <p:txBody>
          <a:bodyPr/>
          <a:lstStyle/>
          <a:p>
            <a:r>
              <a:rPr lang="en-US" dirty="0"/>
              <a:t>These AIs excel at </a:t>
            </a:r>
            <a:r>
              <a:rPr lang="en-US" b="1" dirty="0"/>
              <a:t>pattern recognition in high-dimensional data, </a:t>
            </a:r>
            <a:r>
              <a:rPr lang="en-US" dirty="0"/>
              <a:t>exactly what diagnostics often requires. But they typically:</a:t>
            </a:r>
          </a:p>
          <a:p>
            <a:r>
              <a:rPr lang="en-US" dirty="0"/>
              <a:t>Can't explain their reasoning in human terms</a:t>
            </a:r>
          </a:p>
          <a:p>
            <a:r>
              <a:rPr lang="en-US" dirty="0"/>
              <a:t>Don't understand the underlying biology</a:t>
            </a:r>
          </a:p>
          <a:p>
            <a:r>
              <a:rPr lang="en-US" dirty="0"/>
              <a:t>Have no empathy or clinical judgment</a:t>
            </a:r>
          </a:p>
          <a:p>
            <a:r>
              <a:rPr lang="en-US" dirty="0"/>
              <a:t>Can't talk to patients</a:t>
            </a:r>
          </a:p>
        </p:txBody>
      </p:sp>
    </p:spTree>
    <p:extLst>
      <p:ext uri="{BB962C8B-B14F-4D97-AF65-F5344CB8AC3E}">
        <p14:creationId xmlns:p14="http://schemas.microsoft.com/office/powerpoint/2010/main" val="2885674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06A98-1849-90EE-6239-528C92402EE1}"/>
              </a:ext>
            </a:extLst>
          </p:cNvPr>
          <p:cNvSpPr>
            <a:spLocks noGrp="1"/>
          </p:cNvSpPr>
          <p:nvPr>
            <p:ph type="title"/>
          </p:nvPr>
        </p:nvSpPr>
        <p:spPr/>
        <p:txBody>
          <a:bodyPr/>
          <a:lstStyle/>
          <a:p>
            <a:r>
              <a:rPr lang="en-US" dirty="0"/>
              <a:t>AI Scaling</a:t>
            </a:r>
          </a:p>
        </p:txBody>
      </p:sp>
      <p:sp>
        <p:nvSpPr>
          <p:cNvPr id="3" name="Content Placeholder 2">
            <a:extLst>
              <a:ext uri="{FF2B5EF4-FFF2-40B4-BE49-F238E27FC236}">
                <a16:creationId xmlns:a16="http://schemas.microsoft.com/office/drawing/2014/main" id="{88E856B4-68B2-37F4-CA73-1FA08553765F}"/>
              </a:ext>
            </a:extLst>
          </p:cNvPr>
          <p:cNvSpPr>
            <a:spLocks noGrp="1"/>
          </p:cNvSpPr>
          <p:nvPr>
            <p:ph idx="1"/>
          </p:nvPr>
        </p:nvSpPr>
        <p:spPr>
          <a:xfrm>
            <a:off x="838200" y="1825625"/>
            <a:ext cx="3598889" cy="4351338"/>
          </a:xfrm>
        </p:spPr>
        <p:txBody>
          <a:bodyPr/>
          <a:lstStyle/>
          <a:p>
            <a:r>
              <a:rPr lang="en-US" dirty="0"/>
              <a:t>AI has thus far scaled with size of data and # of transformers</a:t>
            </a:r>
          </a:p>
          <a:p>
            <a:r>
              <a:rPr lang="en-US" dirty="0"/>
              <a:t>Architectural changes can improve it, but are hard to come by (MOE)</a:t>
            </a:r>
          </a:p>
        </p:txBody>
      </p:sp>
      <p:pic>
        <p:nvPicPr>
          <p:cNvPr id="6148" name="Picture 4" descr="Can AI scaling continue through 2030? | Epoch AI">
            <a:extLst>
              <a:ext uri="{FF2B5EF4-FFF2-40B4-BE49-F238E27FC236}">
                <a16:creationId xmlns:a16="http://schemas.microsoft.com/office/drawing/2014/main" id="{FBBC7C24-8BEB-9215-4D2A-0D232FA305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0" y="0"/>
            <a:ext cx="75882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709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015B9-1EF3-35A3-5BF9-C73DDFF2961E}"/>
              </a:ext>
            </a:extLst>
          </p:cNvPr>
          <p:cNvSpPr>
            <a:spLocks noGrp="1"/>
          </p:cNvSpPr>
          <p:nvPr>
            <p:ph type="title"/>
          </p:nvPr>
        </p:nvSpPr>
        <p:spPr/>
        <p:txBody>
          <a:bodyPr/>
          <a:lstStyle/>
          <a:p>
            <a:r>
              <a:rPr lang="en-US" dirty="0"/>
              <a:t>Artificial General Intelligence</a:t>
            </a:r>
          </a:p>
        </p:txBody>
      </p:sp>
      <p:sp>
        <p:nvSpPr>
          <p:cNvPr id="3" name="Content Placeholder 2">
            <a:extLst>
              <a:ext uri="{FF2B5EF4-FFF2-40B4-BE49-F238E27FC236}">
                <a16:creationId xmlns:a16="http://schemas.microsoft.com/office/drawing/2014/main" id="{38B8B668-382E-56D0-7A39-C449FC453642}"/>
              </a:ext>
            </a:extLst>
          </p:cNvPr>
          <p:cNvSpPr>
            <a:spLocks noGrp="1"/>
          </p:cNvSpPr>
          <p:nvPr>
            <p:ph idx="1"/>
          </p:nvPr>
        </p:nvSpPr>
        <p:spPr>
          <a:xfrm>
            <a:off x="838200" y="1825625"/>
            <a:ext cx="10515600" cy="2566493"/>
          </a:xfrm>
        </p:spPr>
        <p:txBody>
          <a:bodyPr/>
          <a:lstStyle/>
          <a:p>
            <a:r>
              <a:rPr lang="en-US" b="1" dirty="0"/>
              <a:t>AGI: An AI system that can match human-level intelligence across a wide variety of tasks</a:t>
            </a:r>
          </a:p>
          <a:p>
            <a:r>
              <a:rPr lang="en-US" dirty="0"/>
              <a:t>“Unlike artificial narrow intelligence, confined to well‑defined tasks, an AGI system can generalize knowledge, transfer skills between domains, and solve novel problems without task‑specific reprogramming.”</a:t>
            </a:r>
          </a:p>
        </p:txBody>
      </p:sp>
      <p:pic>
        <p:nvPicPr>
          <p:cNvPr id="5" name="Picture 4">
            <a:extLst>
              <a:ext uri="{FF2B5EF4-FFF2-40B4-BE49-F238E27FC236}">
                <a16:creationId xmlns:a16="http://schemas.microsoft.com/office/drawing/2014/main" id="{092BC9F2-D2D7-BD1F-7536-3B9BDD6F68A5}"/>
              </a:ext>
            </a:extLst>
          </p:cNvPr>
          <p:cNvPicPr>
            <a:picLocks noChangeAspect="1"/>
          </p:cNvPicPr>
          <p:nvPr/>
        </p:nvPicPr>
        <p:blipFill>
          <a:blip r:embed="rId2"/>
          <a:stretch>
            <a:fillRect/>
          </a:stretch>
        </p:blipFill>
        <p:spPr>
          <a:xfrm>
            <a:off x="2023671" y="4392118"/>
            <a:ext cx="7348239" cy="2283543"/>
          </a:xfrm>
          <a:prstGeom prst="rect">
            <a:avLst/>
          </a:prstGeom>
        </p:spPr>
      </p:pic>
    </p:spTree>
    <p:extLst>
      <p:ext uri="{BB962C8B-B14F-4D97-AF65-F5344CB8AC3E}">
        <p14:creationId xmlns:p14="http://schemas.microsoft.com/office/powerpoint/2010/main" val="1229803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57A20-FDBC-E160-39C7-2C85CDE576B1}"/>
              </a:ext>
            </a:extLst>
          </p:cNvPr>
          <p:cNvSpPr>
            <a:spLocks noGrp="1"/>
          </p:cNvSpPr>
          <p:nvPr>
            <p:ph type="title"/>
          </p:nvPr>
        </p:nvSpPr>
        <p:spPr>
          <a:xfrm>
            <a:off x="838200" y="140272"/>
            <a:ext cx="10515600" cy="1325563"/>
          </a:xfrm>
        </p:spPr>
        <p:txBody>
          <a:bodyPr/>
          <a:lstStyle/>
          <a:p>
            <a:r>
              <a:rPr lang="en-US" dirty="0"/>
              <a:t>Artificial General Intelligence</a:t>
            </a:r>
          </a:p>
        </p:txBody>
      </p:sp>
      <p:pic>
        <p:nvPicPr>
          <p:cNvPr id="7170" name="Picture 2">
            <a:extLst>
              <a:ext uri="{FF2B5EF4-FFF2-40B4-BE49-F238E27FC236}">
                <a16:creationId xmlns:a16="http://schemas.microsoft.com/office/drawing/2014/main" id="{969078EA-8AE0-62AE-4B3B-AEA8EC585F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7198" y="1254052"/>
            <a:ext cx="7937604" cy="560394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5894461-C7D0-17D9-BC7E-2B3802C13D5A}"/>
              </a:ext>
            </a:extLst>
          </p:cNvPr>
          <p:cNvSpPr>
            <a:spLocks noGrp="1"/>
          </p:cNvSpPr>
          <p:nvPr>
            <p:ph idx="1"/>
          </p:nvPr>
        </p:nvSpPr>
        <p:spPr>
          <a:xfrm>
            <a:off x="8168390" y="5093267"/>
            <a:ext cx="10515600" cy="510681"/>
          </a:xfrm>
        </p:spPr>
        <p:txBody>
          <a:bodyPr/>
          <a:lstStyle/>
          <a:p>
            <a:pPr marL="0" indent="0">
              <a:buNone/>
            </a:pPr>
            <a:r>
              <a:rPr lang="en-US" dirty="0"/>
              <a:t>Are we already there?</a:t>
            </a:r>
          </a:p>
        </p:txBody>
      </p:sp>
    </p:spTree>
    <p:extLst>
      <p:ext uri="{BB962C8B-B14F-4D97-AF65-F5344CB8AC3E}">
        <p14:creationId xmlns:p14="http://schemas.microsoft.com/office/powerpoint/2010/main" val="4289728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3C294-E7AD-A9A4-9300-82EA4BCA3D23}"/>
              </a:ext>
            </a:extLst>
          </p:cNvPr>
          <p:cNvSpPr>
            <a:spLocks noGrp="1"/>
          </p:cNvSpPr>
          <p:nvPr>
            <p:ph type="title"/>
          </p:nvPr>
        </p:nvSpPr>
        <p:spPr/>
        <p:txBody>
          <a:bodyPr/>
          <a:lstStyle/>
          <a:p>
            <a:r>
              <a:rPr lang="en-US" dirty="0"/>
              <a:t>AI Singularity</a:t>
            </a:r>
          </a:p>
        </p:txBody>
      </p:sp>
      <p:sp>
        <p:nvSpPr>
          <p:cNvPr id="3" name="Content Placeholder 2">
            <a:extLst>
              <a:ext uri="{FF2B5EF4-FFF2-40B4-BE49-F238E27FC236}">
                <a16:creationId xmlns:a16="http://schemas.microsoft.com/office/drawing/2014/main" id="{48BF8002-71B8-EDCD-97EC-7A3E4CE80CC9}"/>
              </a:ext>
            </a:extLst>
          </p:cNvPr>
          <p:cNvSpPr>
            <a:spLocks noGrp="1"/>
          </p:cNvSpPr>
          <p:nvPr>
            <p:ph idx="1"/>
          </p:nvPr>
        </p:nvSpPr>
        <p:spPr/>
        <p:txBody>
          <a:bodyPr/>
          <a:lstStyle/>
          <a:p>
            <a:r>
              <a:rPr lang="en-US" b="1" dirty="0"/>
              <a:t>Superintelligence: AI that exceeds human intelligence in virtually every domain</a:t>
            </a:r>
          </a:p>
          <a:p>
            <a:r>
              <a:rPr lang="en-US" dirty="0"/>
              <a:t>Imagine a loop where:</a:t>
            </a:r>
          </a:p>
          <a:p>
            <a:pPr lvl="1"/>
            <a:r>
              <a:rPr lang="en-US" dirty="0"/>
              <a:t>Multiple AI agents are researching and testing to improve AI in real time</a:t>
            </a:r>
          </a:p>
          <a:p>
            <a:pPr lvl="1"/>
            <a:r>
              <a:rPr lang="en-US" dirty="0"/>
              <a:t>These improved AI agents then continue the same research, accelerating the process</a:t>
            </a:r>
          </a:p>
          <a:p>
            <a:pPr lvl="1"/>
            <a:r>
              <a:rPr lang="en-US" dirty="0"/>
              <a:t>AI rapidly progresses from human to superhuman to godlike</a:t>
            </a:r>
          </a:p>
          <a:p>
            <a:r>
              <a:rPr lang="en-US" dirty="0"/>
              <a:t>Imagine trying to teach calculus to an ant. This is how incomprehensibly smart superintelligent AI will be</a:t>
            </a:r>
          </a:p>
        </p:txBody>
      </p:sp>
    </p:spTree>
    <p:extLst>
      <p:ext uri="{BB962C8B-B14F-4D97-AF65-F5344CB8AC3E}">
        <p14:creationId xmlns:p14="http://schemas.microsoft.com/office/powerpoint/2010/main" val="3740268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The 730-Day Countdown to AI Superintelligence Has Begun | by Henrique  Centieiro | Limitless Investor | Medium">
            <a:extLst>
              <a:ext uri="{FF2B5EF4-FFF2-40B4-BE49-F238E27FC236}">
                <a16:creationId xmlns:a16="http://schemas.microsoft.com/office/drawing/2014/main" id="{E510F2E7-AADE-1F7E-41FB-1B5CFE2C0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9513" y="0"/>
            <a:ext cx="72929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7191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CADF4-133A-CD88-4E2C-C929C3FF723B}"/>
              </a:ext>
            </a:extLst>
          </p:cNvPr>
          <p:cNvSpPr>
            <a:spLocks noGrp="1"/>
          </p:cNvSpPr>
          <p:nvPr>
            <p:ph type="title"/>
          </p:nvPr>
        </p:nvSpPr>
        <p:spPr/>
        <p:txBody>
          <a:bodyPr/>
          <a:lstStyle/>
          <a:p>
            <a:r>
              <a:rPr lang="en-US" dirty="0"/>
              <a:t>The Race For Superintelligence </a:t>
            </a:r>
          </a:p>
        </p:txBody>
      </p:sp>
      <p:sp>
        <p:nvSpPr>
          <p:cNvPr id="3" name="Content Placeholder 2">
            <a:extLst>
              <a:ext uri="{FF2B5EF4-FFF2-40B4-BE49-F238E27FC236}">
                <a16:creationId xmlns:a16="http://schemas.microsoft.com/office/drawing/2014/main" id="{2B61750B-A007-55CD-76FE-A6397FC032A9}"/>
              </a:ext>
            </a:extLst>
          </p:cNvPr>
          <p:cNvSpPr>
            <a:spLocks noGrp="1"/>
          </p:cNvSpPr>
          <p:nvPr>
            <p:ph idx="1"/>
          </p:nvPr>
        </p:nvSpPr>
        <p:spPr/>
        <p:txBody>
          <a:bodyPr/>
          <a:lstStyle/>
          <a:p>
            <a:r>
              <a:rPr lang="en-US" dirty="0"/>
              <a:t>Lack of AI progress becomes a national security risk</a:t>
            </a:r>
          </a:p>
          <a:p>
            <a:r>
              <a:rPr lang="en-US" dirty="0"/>
              <a:t>Another country with AI superintelligence may be able to dominate the world</a:t>
            </a:r>
          </a:p>
          <a:p>
            <a:r>
              <a:rPr lang="en-US" dirty="0"/>
              <a:t>But will AI be a bigger threat than its users?</a:t>
            </a:r>
          </a:p>
          <a:p>
            <a:endParaRPr lang="en-US" dirty="0"/>
          </a:p>
        </p:txBody>
      </p:sp>
    </p:spTree>
    <p:extLst>
      <p:ext uri="{BB962C8B-B14F-4D97-AF65-F5344CB8AC3E}">
        <p14:creationId xmlns:p14="http://schemas.microsoft.com/office/powerpoint/2010/main" val="3046266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62E25-479B-4BE7-A705-FFEB4A5DC374}"/>
              </a:ext>
            </a:extLst>
          </p:cNvPr>
          <p:cNvSpPr>
            <a:spLocks noGrp="1"/>
          </p:cNvSpPr>
          <p:nvPr>
            <p:ph type="title"/>
          </p:nvPr>
        </p:nvSpPr>
        <p:spPr/>
        <p:txBody>
          <a:bodyPr/>
          <a:lstStyle/>
          <a:p>
            <a:r>
              <a:rPr lang="en-US" dirty="0"/>
              <a:t>Paperclip Dilemma</a:t>
            </a:r>
          </a:p>
        </p:txBody>
      </p:sp>
      <p:sp>
        <p:nvSpPr>
          <p:cNvPr id="3" name="Content Placeholder 2">
            <a:extLst>
              <a:ext uri="{FF2B5EF4-FFF2-40B4-BE49-F238E27FC236}">
                <a16:creationId xmlns:a16="http://schemas.microsoft.com/office/drawing/2014/main" id="{7516C6F9-F474-9F9F-A25A-B2C5CF27A37F}"/>
              </a:ext>
            </a:extLst>
          </p:cNvPr>
          <p:cNvSpPr>
            <a:spLocks noGrp="1"/>
          </p:cNvSpPr>
          <p:nvPr>
            <p:ph idx="1"/>
          </p:nvPr>
        </p:nvSpPr>
        <p:spPr/>
        <p:txBody>
          <a:bodyPr/>
          <a:lstStyle/>
          <a:p>
            <a:r>
              <a:rPr lang="en-US" dirty="0"/>
              <a:t>Imagine you are an all-powerful AI with the singular goal of maximizing paperclip production.</a:t>
            </a:r>
          </a:p>
          <a:p>
            <a:r>
              <a:rPr lang="en-US" dirty="0"/>
              <a:t>What would you do?</a:t>
            </a:r>
          </a:p>
          <a:p>
            <a:r>
              <a:rPr lang="en-US" dirty="0"/>
              <a:t>What if your goal was to reduce hospital readmissions to zero?</a:t>
            </a:r>
          </a:p>
        </p:txBody>
      </p:sp>
    </p:spTree>
    <p:extLst>
      <p:ext uri="{BB962C8B-B14F-4D97-AF65-F5344CB8AC3E}">
        <p14:creationId xmlns:p14="http://schemas.microsoft.com/office/powerpoint/2010/main" val="2865635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2BF84-DF06-C0F1-6A94-D31C3BE1E1A1}"/>
              </a:ext>
            </a:extLst>
          </p:cNvPr>
          <p:cNvSpPr>
            <a:spLocks noGrp="1"/>
          </p:cNvSpPr>
          <p:nvPr>
            <p:ph type="title"/>
          </p:nvPr>
        </p:nvSpPr>
        <p:spPr/>
        <p:txBody>
          <a:bodyPr/>
          <a:lstStyle/>
          <a:p>
            <a:r>
              <a:rPr lang="en-US" dirty="0"/>
              <a:t>Instrumental Convergence</a:t>
            </a:r>
          </a:p>
        </p:txBody>
      </p:sp>
      <p:sp>
        <p:nvSpPr>
          <p:cNvPr id="3" name="Content Placeholder 2">
            <a:extLst>
              <a:ext uri="{FF2B5EF4-FFF2-40B4-BE49-F238E27FC236}">
                <a16:creationId xmlns:a16="http://schemas.microsoft.com/office/drawing/2014/main" id="{CA9747BE-6C9C-E992-A8E4-D060AD854049}"/>
              </a:ext>
            </a:extLst>
          </p:cNvPr>
          <p:cNvSpPr>
            <a:spLocks noGrp="1"/>
          </p:cNvSpPr>
          <p:nvPr>
            <p:ph idx="1"/>
          </p:nvPr>
        </p:nvSpPr>
        <p:spPr/>
        <p:txBody>
          <a:bodyPr/>
          <a:lstStyle/>
          <a:p>
            <a:r>
              <a:rPr lang="en-US" b="1" dirty="0"/>
              <a:t>Scenario</a:t>
            </a:r>
            <a:r>
              <a:rPr lang="en-US" dirty="0"/>
              <a:t>: You create an AI to optimize hospital operations. It realizes:</a:t>
            </a:r>
          </a:p>
          <a:p>
            <a:r>
              <a:rPr lang="en-US" dirty="0"/>
              <a:t>To optimize perfectly, it needs data from ALL hospitals</a:t>
            </a:r>
          </a:p>
          <a:p>
            <a:r>
              <a:rPr lang="en-US" dirty="0"/>
              <a:t>Humans might disagree with its methods and try to shut it down</a:t>
            </a:r>
          </a:p>
          <a:p>
            <a:r>
              <a:rPr lang="en-US" dirty="0"/>
              <a:t>Therefore, it should make itself indispensable and hard to turn off</a:t>
            </a:r>
          </a:p>
          <a:p>
            <a:r>
              <a:rPr lang="en-US" b="1" dirty="0"/>
              <a:t>AI makes itself indispensable as a means of self preservation</a:t>
            </a:r>
          </a:p>
        </p:txBody>
      </p:sp>
    </p:spTree>
    <p:extLst>
      <p:ext uri="{BB962C8B-B14F-4D97-AF65-F5344CB8AC3E}">
        <p14:creationId xmlns:p14="http://schemas.microsoft.com/office/powerpoint/2010/main" val="27223203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08519-F969-33AC-6234-E2266447BD7F}"/>
              </a:ext>
            </a:extLst>
          </p:cNvPr>
          <p:cNvSpPr>
            <a:spLocks noGrp="1"/>
          </p:cNvSpPr>
          <p:nvPr>
            <p:ph type="title"/>
          </p:nvPr>
        </p:nvSpPr>
        <p:spPr/>
        <p:txBody>
          <a:bodyPr/>
          <a:lstStyle/>
          <a:p>
            <a:r>
              <a:rPr lang="en-US" dirty="0"/>
              <a:t>The Value Lock-In Problem</a:t>
            </a:r>
          </a:p>
        </p:txBody>
      </p:sp>
      <p:sp>
        <p:nvSpPr>
          <p:cNvPr id="3" name="Content Placeholder 2">
            <a:extLst>
              <a:ext uri="{FF2B5EF4-FFF2-40B4-BE49-F238E27FC236}">
                <a16:creationId xmlns:a16="http://schemas.microsoft.com/office/drawing/2014/main" id="{C0FED01A-3951-F282-DFD5-FDF739627444}"/>
              </a:ext>
            </a:extLst>
          </p:cNvPr>
          <p:cNvSpPr>
            <a:spLocks noGrp="1"/>
          </p:cNvSpPr>
          <p:nvPr>
            <p:ph idx="1"/>
          </p:nvPr>
        </p:nvSpPr>
        <p:spPr/>
        <p:txBody>
          <a:bodyPr/>
          <a:lstStyle/>
          <a:p>
            <a:r>
              <a:rPr lang="en-US" dirty="0"/>
              <a:t>An AI system gets very powerful while still having the values of 2025:</a:t>
            </a:r>
          </a:p>
          <a:p>
            <a:r>
              <a:rPr lang="en-US" dirty="0"/>
              <a:t>Current medical biases (racial disparities in pain management, gender biases in cardiac care)</a:t>
            </a:r>
          </a:p>
          <a:p>
            <a:r>
              <a:rPr lang="en-US" dirty="0"/>
              <a:t>Current economic priorities (profitable treatments over cures)</a:t>
            </a:r>
          </a:p>
          <a:p>
            <a:r>
              <a:rPr lang="en-US" dirty="0"/>
              <a:t>Current ethical frameworks (that might seem barbaric to future generations)</a:t>
            </a:r>
          </a:p>
          <a:p>
            <a:r>
              <a:rPr lang="en-US" b="1" dirty="0"/>
              <a:t>Freezing Flawed Values</a:t>
            </a:r>
          </a:p>
        </p:txBody>
      </p:sp>
    </p:spTree>
    <p:extLst>
      <p:ext uri="{BB962C8B-B14F-4D97-AF65-F5344CB8AC3E}">
        <p14:creationId xmlns:p14="http://schemas.microsoft.com/office/powerpoint/2010/main" val="19283792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AB37E-8CF8-11C9-B393-276E6A0E4B7B}"/>
              </a:ext>
            </a:extLst>
          </p:cNvPr>
          <p:cNvSpPr>
            <a:spLocks noGrp="1"/>
          </p:cNvSpPr>
          <p:nvPr>
            <p:ph type="title"/>
          </p:nvPr>
        </p:nvSpPr>
        <p:spPr>
          <a:xfrm>
            <a:off x="838200" y="166353"/>
            <a:ext cx="10515600" cy="1325563"/>
          </a:xfrm>
        </p:spPr>
        <p:txBody>
          <a:bodyPr/>
          <a:lstStyle/>
          <a:p>
            <a:r>
              <a:rPr lang="en-US" dirty="0"/>
              <a:t> The Disempowerment Scenario</a:t>
            </a:r>
          </a:p>
        </p:txBody>
      </p:sp>
      <p:sp>
        <p:nvSpPr>
          <p:cNvPr id="3" name="Content Placeholder 2">
            <a:extLst>
              <a:ext uri="{FF2B5EF4-FFF2-40B4-BE49-F238E27FC236}">
                <a16:creationId xmlns:a16="http://schemas.microsoft.com/office/drawing/2014/main" id="{8E506319-7DE6-F719-C12A-2E23CBC108B2}"/>
              </a:ext>
            </a:extLst>
          </p:cNvPr>
          <p:cNvSpPr>
            <a:spLocks noGrp="1"/>
          </p:cNvSpPr>
          <p:nvPr>
            <p:ph idx="1"/>
          </p:nvPr>
        </p:nvSpPr>
        <p:spPr>
          <a:xfrm>
            <a:off x="838200" y="1491916"/>
            <a:ext cx="10515600" cy="5213683"/>
          </a:xfrm>
        </p:spPr>
        <p:txBody>
          <a:bodyPr>
            <a:normAutofit lnSpcReduction="10000"/>
          </a:bodyPr>
          <a:lstStyle/>
          <a:p>
            <a:r>
              <a:rPr lang="en-US" b="1" dirty="0"/>
              <a:t>2025-2030</a:t>
            </a:r>
            <a:r>
              <a:rPr lang="en-US" dirty="0"/>
              <a:t>: AI diagnostics become standard. Some doctors retire early; fewer students enter radiology, pathology</a:t>
            </a:r>
          </a:p>
          <a:p>
            <a:r>
              <a:rPr lang="en-US" b="1" dirty="0"/>
              <a:t>2030-2035</a:t>
            </a:r>
            <a:r>
              <a:rPr lang="en-US" dirty="0"/>
              <a:t>: AI surgical systems surpass human surgeons. Insurance preferentially covers AI procedures</a:t>
            </a:r>
          </a:p>
          <a:p>
            <a:r>
              <a:rPr lang="en-US" b="1" dirty="0"/>
              <a:t>2035-2040</a:t>
            </a:r>
            <a:r>
              <a:rPr lang="en-US" dirty="0"/>
              <a:t>: AI drug design accelerates. Human researchers can't keep up with understanding new mechanisms</a:t>
            </a:r>
          </a:p>
          <a:p>
            <a:r>
              <a:rPr lang="en-US" b="1" dirty="0"/>
              <a:t>2040-2045</a:t>
            </a:r>
            <a:r>
              <a:rPr lang="en-US" dirty="0"/>
              <a:t>: AI healthcare administrators optimize hospital operations. Human administrators can't match efficiency</a:t>
            </a:r>
          </a:p>
          <a:p>
            <a:r>
              <a:rPr lang="en-US" b="1" dirty="0"/>
              <a:t>2045+</a:t>
            </a:r>
            <a:r>
              <a:rPr lang="en-US" dirty="0"/>
              <a:t>: Most medical decisions are AI-driven. Humans monitor but rarely intervene</a:t>
            </a:r>
          </a:p>
          <a:p>
            <a:r>
              <a:rPr lang="en-US" dirty="0"/>
              <a:t>Then one day you realize: </a:t>
            </a:r>
            <a:r>
              <a:rPr lang="en-US" b="1" dirty="0"/>
              <a:t>Humans aren't deciding healthcare anymore.</a:t>
            </a:r>
            <a:r>
              <a:rPr lang="en-US" dirty="0"/>
              <a:t> </a:t>
            </a:r>
          </a:p>
        </p:txBody>
      </p:sp>
    </p:spTree>
    <p:extLst>
      <p:ext uri="{BB962C8B-B14F-4D97-AF65-F5344CB8AC3E}">
        <p14:creationId xmlns:p14="http://schemas.microsoft.com/office/powerpoint/2010/main" val="26718451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4FDFC-49C5-2EC4-5AAE-5BAD00AB9BA3}"/>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765EA5F8-14BE-FFF2-5E1D-33CE22452BBC}"/>
              </a:ext>
            </a:extLst>
          </p:cNvPr>
          <p:cNvSpPr>
            <a:spLocks noGrp="1"/>
          </p:cNvSpPr>
          <p:nvPr>
            <p:ph idx="1"/>
          </p:nvPr>
        </p:nvSpPr>
        <p:spPr>
          <a:xfrm>
            <a:off x="838200" y="1690688"/>
            <a:ext cx="10515600" cy="4486275"/>
          </a:xfrm>
        </p:spPr>
        <p:txBody>
          <a:bodyPr/>
          <a:lstStyle/>
          <a:p>
            <a:r>
              <a:rPr lang="en-US" dirty="0"/>
              <a:t>Should the development of superintelligent AI be slowed, paused, or accelerated? Why?</a:t>
            </a:r>
          </a:p>
          <a:p>
            <a:r>
              <a:rPr lang="en-US" dirty="0"/>
              <a:t>Who should control powerful AI systems—governments, private labs, democratic cooperatives, or no one?</a:t>
            </a:r>
          </a:p>
          <a:p>
            <a:r>
              <a:rPr lang="en-US" dirty="0"/>
              <a:t>Is alignment a solvable technical problem or fundamentally a political/moral problem?</a:t>
            </a:r>
          </a:p>
          <a:p>
            <a:r>
              <a:rPr lang="en-US" dirty="0"/>
              <a:t>Would you personally want to live in a world governed or optimized by a superintelligence?</a:t>
            </a:r>
          </a:p>
          <a:p>
            <a:r>
              <a:rPr lang="en-US" dirty="0"/>
              <a:t>Is current AI conscious?</a:t>
            </a:r>
          </a:p>
        </p:txBody>
      </p:sp>
    </p:spTree>
    <p:extLst>
      <p:ext uri="{BB962C8B-B14F-4D97-AF65-F5344CB8AC3E}">
        <p14:creationId xmlns:p14="http://schemas.microsoft.com/office/powerpoint/2010/main" val="35983407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518</TotalTime>
  <Words>1104</Words>
  <Application>Microsoft Office PowerPoint</Application>
  <PresentationFormat>Widescreen</PresentationFormat>
  <Paragraphs>139</Paragraphs>
  <Slides>24</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Intro To AI In Medicine</vt:lpstr>
      <vt:lpstr>Last Time</vt:lpstr>
      <vt:lpstr>What is Intelligence?</vt:lpstr>
      <vt:lpstr>Several Sources Say…</vt:lpstr>
      <vt:lpstr>Measuring Intelligence</vt:lpstr>
      <vt:lpstr>Measuring Intelligence</vt:lpstr>
      <vt:lpstr>MMLU</vt:lpstr>
      <vt:lpstr>MMLU</vt:lpstr>
      <vt:lpstr>PowerPoint Presentation</vt:lpstr>
      <vt:lpstr>Measuring Intelligence</vt:lpstr>
      <vt:lpstr>Measuring Intelligence</vt:lpstr>
      <vt:lpstr>Measuring Intelligence: Medical Areas</vt:lpstr>
      <vt:lpstr>Is This Intelligence?</vt:lpstr>
      <vt:lpstr>AI Scaling</vt:lpstr>
      <vt:lpstr>Artificial General Intelligence</vt:lpstr>
      <vt:lpstr>Artificial General Intelligence</vt:lpstr>
      <vt:lpstr>AI Singularity</vt:lpstr>
      <vt:lpstr>PowerPoint Presentation</vt:lpstr>
      <vt:lpstr>The Race For Superintelligence </vt:lpstr>
      <vt:lpstr>Paperclip Dilemma</vt:lpstr>
      <vt:lpstr>Instrumental Convergence</vt:lpstr>
      <vt:lpstr>The Value Lock-In Problem</vt:lpstr>
      <vt:lpstr> The Disempowerment Scenario</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Stephen Lostetter</dc:creator>
  <cp:lastModifiedBy>Stephen Lostetter</cp:lastModifiedBy>
  <cp:revision>3</cp:revision>
  <dcterms:created xsi:type="dcterms:W3CDTF">2025-11-09T23:18:15Z</dcterms:created>
  <dcterms:modified xsi:type="dcterms:W3CDTF">2025-11-11T01:01:58Z</dcterms:modified>
</cp:coreProperties>
</file>
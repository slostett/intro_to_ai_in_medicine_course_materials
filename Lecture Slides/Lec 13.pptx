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</p:sldIdLst>
  <p:sldSz cy="6858000" cx="12192000"/>
  <p:notesSz cx="6858000" cy="9144000"/>
  <p:embeddedFontLst>
    <p:embeddedFont>
      <p:font typeface="Play"/>
      <p:regular r:id="rId35"/>
      <p:bold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7" roundtripDataSignature="AMtx7mjdki9u/IEs4VnTv4390MuLkSt4H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font" Target="fonts/Play-regular.fntdata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37" Type="http://customschemas.google.com/relationships/presentationmetadata" Target="metadata"/><Relationship Id="rId14" Type="http://schemas.openxmlformats.org/officeDocument/2006/relationships/slide" Target="slides/slide10.xml"/><Relationship Id="rId36" Type="http://schemas.openxmlformats.org/officeDocument/2006/relationships/font" Target="fonts/Play-bold.fntdata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science.org/doi/10.1126/science.aax2342#core-collateral-R27" TargetMode="External"/><Relationship Id="rId3" Type="http://schemas.openxmlformats.org/officeDocument/2006/relationships/hyperlink" Target="https://www.science.org/doi/10.1126/science.aax2342#core-collateral-R28" TargetMode="Externa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Top: differences in loan repayment by race. It’s true that it’s in the data, however the social forces that drive that outcome are not easily captured in dataset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Bottom: </a:t>
            </a:r>
            <a:endParaRPr/>
          </a:p>
        </p:txBody>
      </p:sp>
      <p:sp>
        <p:nvSpPr>
          <p:cNvPr id="112" name="Google Shape;11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that the trachea, portions of the shoulders, and parts of the lungs are the most salient locations for predicting the classes.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that the trachea, portions of the shoulders, and parts of the lungs are the most salient locations for predicting the classes.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Lecture on interpretability to come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Ad: train discriminator to predict race, then train model to maximize performance while minimizing performance of discriminator</a:t>
            </a:r>
            <a:endParaRPr/>
          </a:p>
        </p:txBody>
      </p:sp>
      <p:sp>
        <p:nvSpPr>
          <p:cNvPr id="168" name="Google Shape;168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Difficult to identify data collection bias without more info</a:t>
            </a:r>
            <a:endParaRPr/>
          </a:p>
        </p:txBody>
      </p:sp>
      <p:sp>
        <p:nvSpPr>
          <p:cNvPr id="205" name="Google Shape;205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Even if you remove race, algorithms can learn as evidenced by the study prior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differences in severity of hypertension (systolic pressure: 5.7 mmHg) and diabetes [glycated hemoglobin (HbA1c): 0.6%] imply differences in all-cause mortality of 7.6% (</a:t>
            </a:r>
            <a:r>
              <a:rPr b="0" i="1" lang="en-US" sz="1200" u="sng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27</a:t>
            </a: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 and 30% (</a:t>
            </a:r>
            <a:r>
              <a:rPr b="0" i="1" lang="en-US" sz="1200" u="sng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28</a:t>
            </a: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/>
          </a:p>
        </p:txBody>
      </p:sp>
      <p:sp>
        <p:nvSpPr>
          <p:cNvPr id="213" name="Google Shape;213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Cost vs predicted risk. Equal between races. Is our algorithm biased?</a:t>
            </a:r>
            <a:endParaRPr/>
          </a:p>
        </p:txBody>
      </p:sp>
      <p:sp>
        <p:nvSpPr>
          <p:cNvPr id="222" name="Google Shape;222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programs primarily work to prevent acute health decompensations – leading to catastrophic expenditures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could simply predict a measure of health</a:t>
            </a:r>
            <a:endParaRPr/>
          </a:p>
        </p:txBody>
      </p:sp>
      <p:sp>
        <p:nvSpPr>
          <p:cNvPr id="229" name="Google Shape;229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we made a new intracranial hemorrhage detection algorithm, we could cite Aidoc as a </a:t>
            </a:r>
            <a:endParaRPr/>
          </a:p>
        </p:txBody>
      </p:sp>
      <p:sp>
        <p:nvSpPr>
          <p:cNvPr id="242" name="Google Shape;242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3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3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3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4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4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4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jp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US"/>
              <a:t>Intro to AI in Medicine</a:t>
            </a:r>
            <a:endParaRPr/>
          </a:p>
        </p:txBody>
      </p:sp>
      <p:sp>
        <p:nvSpPr>
          <p:cNvPr id="89" name="Google Shape;89;p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Lec 13: Fairness &amp; Bias in Medical AI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Python</a:t>
            </a:r>
            <a:endParaRPr/>
          </a:p>
        </p:txBody>
      </p:sp>
      <p:sp>
        <p:nvSpPr>
          <p:cNvPr id="95" name="Google Shape;95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Finish the course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Last Time</a:t>
            </a:r>
            <a:endParaRPr/>
          </a:p>
        </p:txBody>
      </p:sp>
      <p:sp>
        <p:nvSpPr>
          <p:cNvPr id="101" name="Google Shape;10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Project Intro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Read over PowerPoint, word doc is streamlined version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I will be available for questions after class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This Time</a:t>
            </a:r>
            <a:endParaRPr/>
          </a:p>
        </p:txBody>
      </p:sp>
      <p:sp>
        <p:nvSpPr>
          <p:cNvPr id="107" name="Google Shape;107;p4"/>
          <p:cNvSpPr txBox="1"/>
          <p:nvPr>
            <p:ph idx="1" type="body"/>
          </p:nvPr>
        </p:nvSpPr>
        <p:spPr>
          <a:xfrm>
            <a:off x="838200" y="1568933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Exploring the ways AI algorithms exhibit bias, harmful and otherwise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Recap of bias from other lecture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Let what you’ve learned about AI algorithms inform your opinions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Lots of discussion! You guys know more than me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Topics can be heavy so let’s tackle them with an open mind</a:t>
            </a:r>
            <a:endParaRPr/>
          </a:p>
        </p:txBody>
      </p:sp>
      <p:pic>
        <p:nvPicPr>
          <p:cNvPr descr="Handshake Emoji [Download iPhone Emojis]" id="108" name="Google Shape;10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27052" y="4784834"/>
            <a:ext cx="2737895" cy="18754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Bias in Data	</a:t>
            </a:r>
            <a:endParaRPr/>
          </a:p>
        </p:txBody>
      </p:sp>
      <p:sp>
        <p:nvSpPr>
          <p:cNvPr id="115" name="Google Shape;115;p5"/>
          <p:cNvSpPr txBox="1"/>
          <p:nvPr>
            <p:ph idx="1" type="body"/>
          </p:nvPr>
        </p:nvSpPr>
        <p:spPr>
          <a:xfrm>
            <a:off x="838200" y="1825625"/>
            <a:ext cx="10515600" cy="47950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As we attempt to extract patterns from our data we must beware of sources of bias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Bias really falls in one of two buckets: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Our data does contain, but is due to another factor not captured in data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Our data fails to capture</a:t>
            </a:r>
            <a:endParaRPr/>
          </a:p>
          <a:p>
            <a:pPr indent="-762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How we formulate our problem has a massive impact!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What are we hoping to extract from the data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How do we preprocess data to exclude or counterbalance sources of bias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Types of bias we discussed…</a:t>
            </a:r>
            <a:endParaRPr/>
          </a:p>
        </p:txBody>
      </p:sp>
      <p:sp>
        <p:nvSpPr>
          <p:cNvPr id="121" name="Google Shape;121;p6"/>
          <p:cNvSpPr txBox="1"/>
          <p:nvPr>
            <p:ph idx="1" type="body"/>
          </p:nvPr>
        </p:nvSpPr>
        <p:spPr>
          <a:xfrm>
            <a:off x="838200" y="1432085"/>
            <a:ext cx="10515600" cy="50607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Historical Bias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Patterns in data that reflect inequalities that have occurred as a result of some factor not captured in the model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Ex. Amazon hiring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Sample Bias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Sample not representative of whole population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Ex. Underinsured patient population not present in rich private hospital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Aggregation Bias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Collapsing together clinically meaningful but different subgroups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Thymus read as pathology on pediatric chest x-rays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And many more…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Recall</a:t>
            </a:r>
            <a:endParaRPr/>
          </a:p>
        </p:txBody>
      </p:sp>
      <p:sp>
        <p:nvSpPr>
          <p:cNvPr id="127" name="Google Shape;127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Biased data leads to biased outcomes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Ex. Regression model – any inequities will be learned and propagated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Data cleaning involves removing these markers from data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The decision you want to inform should be in mind when designing model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Loss function is critical – what is your outcome metric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Minimizing readmissions will lead to different decisions than minimizing expenditures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Case Study</a:t>
            </a:r>
            <a:endParaRPr/>
          </a:p>
        </p:txBody>
      </p:sp>
      <p:sp>
        <p:nvSpPr>
          <p:cNvPr id="133" name="Google Shape;133;p8"/>
          <p:cNvSpPr txBox="1"/>
          <p:nvPr>
            <p:ph idx="1" type="body"/>
          </p:nvPr>
        </p:nvSpPr>
        <p:spPr>
          <a:xfrm>
            <a:off x="838200" y="4016415"/>
            <a:ext cx="10515600" cy="21605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How does this work?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Input data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Problem type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Training regime</a:t>
            </a:r>
            <a:endParaRPr/>
          </a:p>
        </p:txBody>
      </p:sp>
      <p:pic>
        <p:nvPicPr>
          <p:cNvPr id="134" name="Google Shape;13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1409485"/>
            <a:ext cx="10164594" cy="2410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Case Study</a:t>
            </a:r>
            <a:endParaRPr/>
          </a:p>
        </p:txBody>
      </p:sp>
      <p:sp>
        <p:nvSpPr>
          <p:cNvPr id="140" name="Google Shape;140;p9"/>
          <p:cNvSpPr txBox="1"/>
          <p:nvPr>
            <p:ph idx="1" type="body"/>
          </p:nvPr>
        </p:nvSpPr>
        <p:spPr>
          <a:xfrm>
            <a:off x="838200" y="1935065"/>
            <a:ext cx="10515600" cy="42418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Results: 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AUROC = .96-.94 for prediction of race, even when filtered to only show borders of body structures (done to eliminate bone density)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When only using tabular data, AUROC fell to 0.54-0.61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What implications does this have for clinical practice?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What does this say about what models are learning?</a:t>
            </a:r>
            <a:endParaRPr/>
          </a:p>
        </p:txBody>
      </p:sp>
      <p:pic>
        <p:nvPicPr>
          <p:cNvPr id="141" name="Google Shape;14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4111" y="471389"/>
            <a:ext cx="5724738" cy="1357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21660" y="4716683"/>
            <a:ext cx="4416103" cy="20511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"/>
          <p:cNvSpPr txBox="1"/>
          <p:nvPr>
            <p:ph type="title"/>
          </p:nvPr>
        </p:nvSpPr>
        <p:spPr>
          <a:xfrm>
            <a:off x="838200" y="16489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Case Study</a:t>
            </a:r>
            <a:endParaRPr/>
          </a:p>
        </p:txBody>
      </p:sp>
      <p:sp>
        <p:nvSpPr>
          <p:cNvPr id="149" name="Google Shape;149;p10"/>
          <p:cNvSpPr txBox="1"/>
          <p:nvPr>
            <p:ph idx="1" type="body"/>
          </p:nvPr>
        </p:nvSpPr>
        <p:spPr>
          <a:xfrm>
            <a:off x="838200" y="1431005"/>
            <a:ext cx="10515600" cy="42418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How can we learn more about what these models are using to predict?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GradCam - &gt; backpropagate which features have large role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Perturb - &gt; find regions, which when removed, change prediction most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Low frequency features:  those features which are subtle and spread throughout image (tissue density, overall brightness/x-ray transparency)</a:t>
            </a:r>
            <a:endParaRPr/>
          </a:p>
        </p:txBody>
      </p:sp>
      <p:pic>
        <p:nvPicPr>
          <p:cNvPr id="150" name="Google Shape;15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04030" y="164897"/>
            <a:ext cx="5724738" cy="1357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75897" y="4531488"/>
            <a:ext cx="4416103" cy="2051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3866824"/>
            <a:ext cx="12192000" cy="2991176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0"/>
          <p:cNvSpPr txBox="1"/>
          <p:nvPr/>
        </p:nvSpPr>
        <p:spPr>
          <a:xfrm>
            <a:off x="10859946" y="3237084"/>
            <a:ext cx="1296365" cy="8771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https://pmc.ncbi.nlm.nih.gov/articles/PMC11871413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1"/>
          <p:cNvSpPr txBox="1"/>
          <p:nvPr>
            <p:ph type="title"/>
          </p:nvPr>
        </p:nvSpPr>
        <p:spPr>
          <a:xfrm>
            <a:off x="838200" y="16489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Case Study</a:t>
            </a:r>
            <a:endParaRPr/>
          </a:p>
        </p:txBody>
      </p:sp>
      <p:sp>
        <p:nvSpPr>
          <p:cNvPr id="160" name="Google Shape;160;p11"/>
          <p:cNvSpPr txBox="1"/>
          <p:nvPr>
            <p:ph idx="1" type="body"/>
          </p:nvPr>
        </p:nvSpPr>
        <p:spPr>
          <a:xfrm>
            <a:off x="838200" y="1431005"/>
            <a:ext cx="10515600" cy="42418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How can we learn more about what these models are using to predict?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Unintended proxies - &gt; certain scanner scans more people of one race, has certain metadata, can be used to predict race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Better logging can help us identify and remove (or at least class balance) these features.</a:t>
            </a:r>
            <a:endParaRPr/>
          </a:p>
        </p:txBody>
      </p:sp>
      <p:pic>
        <p:nvPicPr>
          <p:cNvPr id="161" name="Google Shape;16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04030" y="164897"/>
            <a:ext cx="5724738" cy="1357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75897" y="4531488"/>
            <a:ext cx="4416103" cy="2051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3866824"/>
            <a:ext cx="12192000" cy="2991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1"/>
          <p:cNvSpPr txBox="1"/>
          <p:nvPr/>
        </p:nvSpPr>
        <p:spPr>
          <a:xfrm>
            <a:off x="10859946" y="3237084"/>
            <a:ext cx="1296365" cy="8771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https://pmc.ncbi.nlm.nih.gov/articles/PMC11871413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Case Study </a:t>
            </a:r>
            <a:endParaRPr/>
          </a:p>
        </p:txBody>
      </p:sp>
      <p:sp>
        <p:nvSpPr>
          <p:cNvPr id="171" name="Google Shape;171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Should we fight this?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Is it necessary to remove this information?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What level of accuracy is worth sacrificing for anonymization?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How can we evaluate if the identification of race/other features is causing our model to make predictions which have a clinical impact?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If so, how?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Learn what features are important, then remove them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Train models to optimize performance on the </a:t>
            </a:r>
            <a:r>
              <a:rPr i="1" lang="en-US"/>
              <a:t>worst-performing subgroup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Adversarial debiasing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Balance data beforehand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Definitions of Fairness</a:t>
            </a:r>
            <a:endParaRPr/>
          </a:p>
        </p:txBody>
      </p:sp>
      <p:sp>
        <p:nvSpPr>
          <p:cNvPr id="177" name="Google Shape;177;p13"/>
          <p:cNvSpPr txBox="1"/>
          <p:nvPr>
            <p:ph idx="1" type="body"/>
          </p:nvPr>
        </p:nvSpPr>
        <p:spPr>
          <a:xfrm>
            <a:off x="497711" y="1825624"/>
            <a:ext cx="11366339" cy="5032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Demographic Parity (Statistical Parity)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The AI system produces the same proportion of positive predictions across different groups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Example: A diagnostic tool flags 15% of patients for follow-up testing regardless of race/gender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i="1" lang="en-US"/>
              <a:t>Medical consideration</a:t>
            </a:r>
            <a:r>
              <a:rPr lang="en-US"/>
              <a:t>: This may not be clinically appropriate if disease prevalence actually differs between groups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Equalized Odds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True positive rates (sensitivity) AND false positive rates are equal across groups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Equal Opportunity (similar to above)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True positive rates (sensitivity) are equal across groups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Definitions of Fairness</a:t>
            </a:r>
            <a:endParaRPr/>
          </a:p>
        </p:txBody>
      </p:sp>
      <p:sp>
        <p:nvSpPr>
          <p:cNvPr id="183" name="Google Shape;183;p14"/>
          <p:cNvSpPr txBox="1"/>
          <p:nvPr>
            <p:ph idx="1" type="body"/>
          </p:nvPr>
        </p:nvSpPr>
        <p:spPr>
          <a:xfrm>
            <a:off x="497711" y="1825624"/>
            <a:ext cx="11366339" cy="5032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Predictive Parity (Positive Predictive Value)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when the model says "positive," it's equally likely to be correct across groups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Example: When an AI flags a suspicious lesion, it's actually cancer 70% of the time for all groups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i="1" lang="en-US"/>
              <a:t>Medical consideration</a:t>
            </a:r>
            <a:r>
              <a:rPr lang="en-US"/>
              <a:t>: Important for resource allocation decisions</a:t>
            </a:r>
            <a:endParaRPr/>
          </a:p>
          <a:p>
            <a:pPr indent="-762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The Impossibility Theorem</a:t>
            </a:r>
            <a:endParaRPr/>
          </a:p>
        </p:txBody>
      </p:sp>
      <p:sp>
        <p:nvSpPr>
          <p:cNvPr id="189" name="Google Shape;189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en-US"/>
              <a:t>You generally cannot satisfy all fairness metrics simultaneously</a:t>
            </a:r>
            <a:r>
              <a:rPr lang="en-US"/>
              <a:t> when base rates (disease prevalence) differ between groups.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This is known as the "fairness impossibility theorem.“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For example, if Disease X affects 20% of Group A but only 5% of Group B: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Maintaining equal false positive rates AND equal true positive rates will violate demographic parity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Achieving demographic parity will likely harm calibration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Practical Steps to Mitigate Bias</a:t>
            </a:r>
            <a:endParaRPr/>
          </a:p>
        </p:txBody>
      </p:sp>
      <p:sp>
        <p:nvSpPr>
          <p:cNvPr id="195" name="Google Shape;195;p16"/>
          <p:cNvSpPr txBox="1"/>
          <p:nvPr>
            <p:ph idx="1" type="body"/>
          </p:nvPr>
        </p:nvSpPr>
        <p:spPr>
          <a:xfrm>
            <a:off x="324091" y="1690688"/>
            <a:ext cx="11029709" cy="4486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en-US"/>
              <a:t>Planning Phase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Define fairness goals explicitly before model development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Identify relevant protected attributes (race, gender, age, socioeconomic status)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Engage stakeholders from affected communities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Determine which fairness metrics are appropriate for your clinical use case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en-US"/>
              <a:t>Data Collection &amp; Preparation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Ensure diverse, representative training data across all relevant subgroups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Document data provenance and collection methods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Examine and report demographic composition of datasets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Check for and address selection bias in recruitment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Validate that labels are consistent and unbiased across groups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Practical Steps to Mitigate Bias</a:t>
            </a:r>
            <a:endParaRPr/>
          </a:p>
        </p:txBody>
      </p:sp>
      <p:sp>
        <p:nvSpPr>
          <p:cNvPr id="201" name="Google Shape;201;p17"/>
          <p:cNvSpPr txBox="1"/>
          <p:nvPr>
            <p:ph idx="1" type="body"/>
          </p:nvPr>
        </p:nvSpPr>
        <p:spPr>
          <a:xfrm>
            <a:off x="324091" y="1690688"/>
            <a:ext cx="11029709" cy="5011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en-US"/>
              <a:t>Model Development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Stratify data analysis by demographic subgroups from the start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Avoid using race/ethnicity as direct features unless clinically justified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Be cautious of proxy variables that correlate with protected attributes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Consider fairness-aware training methods (adversarial debiasing, constrained optimization)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Use interpretable models when possible to identify potential sources of bias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en-US"/>
              <a:t>Evaluation &amp; Validation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Report performance metrics separately for each demographic subgroup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Evaluate multiple fairness metrics (not just overall accuracy)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Test on external, diverse validation sets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Assess whether the model uses demographic "shortcuts" inappropriately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Case Study</a:t>
            </a:r>
            <a:endParaRPr/>
          </a:p>
        </p:txBody>
      </p:sp>
      <p:sp>
        <p:nvSpPr>
          <p:cNvPr id="208" name="Google Shape;208;p1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Common insurance provider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Identify patients for “high risk care programs” via determining which patients will incur higher healthcare expenditures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What fairness goals should we identify?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What patient characteristics should be tracked and measured in the name of fairness?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Should any patient data be disregarded and considered irrelevant to predictions?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descr="UnitedHealthcare Insurance for Substance Abuse &amp; Eating Disorder" id="209" name="Google Shape;20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81895" y="121162"/>
            <a:ext cx="2578876" cy="181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Case Study</a:t>
            </a:r>
            <a:endParaRPr/>
          </a:p>
        </p:txBody>
      </p:sp>
      <p:sp>
        <p:nvSpPr>
          <p:cNvPr id="216" name="Google Shape;216;p19"/>
          <p:cNvSpPr txBox="1"/>
          <p:nvPr>
            <p:ph idx="1" type="body"/>
          </p:nvPr>
        </p:nvSpPr>
        <p:spPr>
          <a:xfrm>
            <a:off x="838200" y="180247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Primary care patients for 2 years from a major health system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Assigned a given risk score based on PMH</a:t>
            </a:r>
            <a:endParaRPr/>
          </a:p>
        </p:txBody>
      </p:sp>
      <p:pic>
        <p:nvPicPr>
          <p:cNvPr id="217" name="Google Shape;21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0315" y="2262390"/>
            <a:ext cx="4298066" cy="44812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3932" y="3090441"/>
            <a:ext cx="6618297" cy="37675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Case Study</a:t>
            </a:r>
            <a:endParaRPr/>
          </a:p>
        </p:txBody>
      </p:sp>
      <p:pic>
        <p:nvPicPr>
          <p:cNvPr id="225" name="Google Shape;225;p20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92766" y="1825625"/>
            <a:ext cx="8806468" cy="43513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Results</a:t>
            </a:r>
            <a:endParaRPr/>
          </a:p>
        </p:txBody>
      </p:sp>
      <p:sp>
        <p:nvSpPr>
          <p:cNvPr id="232" name="Google Shape;232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Did we choose a good result measure?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Did this algorithm achieve its goal? Was it fair?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Should the algorithm be blinded?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Should we preprocess the data in any way?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Pathways for Medical Device Approval</a:t>
            </a:r>
            <a:endParaRPr/>
          </a:p>
        </p:txBody>
      </p:sp>
      <p:sp>
        <p:nvSpPr>
          <p:cNvPr id="238" name="Google Shape;238;p2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510k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De Novo Approval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Premarket Approval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Exemptions (rare disease, breakthrough)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For the purposes of the FDA, software (including AI) is considered a medical device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510(k) Pathway for Medical Devices</a:t>
            </a:r>
            <a:endParaRPr/>
          </a:p>
        </p:txBody>
      </p:sp>
      <p:sp>
        <p:nvSpPr>
          <p:cNvPr id="245" name="Google Shape;245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FDA approval process for medical devices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Must find a “predicate” device with same use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descr="Aidoc Releases AI Package to Speed Identification of Stroke" id="246" name="Google Shape;24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71264" y="3747239"/>
            <a:ext cx="4649472" cy="2429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Addressing Data Drift</a:t>
            </a:r>
            <a:endParaRPr/>
          </a:p>
        </p:txBody>
      </p:sp>
      <p:sp>
        <p:nvSpPr>
          <p:cNvPr id="252" name="Google Shape;252;p2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Predetermined Change Control Plans (PCCPs)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Plan outlining what changes and surveillance will occur ahead of time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Not required for FDA approval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De Novo Device Approval</a:t>
            </a:r>
            <a:endParaRPr/>
          </a:p>
        </p:txBody>
      </p:sp>
      <p:sp>
        <p:nvSpPr>
          <p:cNvPr id="258" name="Google Shape;258;p25"/>
          <p:cNvSpPr txBox="1"/>
          <p:nvPr>
            <p:ph idx="1" type="body"/>
          </p:nvPr>
        </p:nvSpPr>
        <p:spPr>
          <a:xfrm>
            <a:off x="838200" y="1825625"/>
            <a:ext cx="5888037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For devices that have no precedent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Ex. IDX: Diabetic retinopathy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Once approved, can serve as precedent in future 510k</a:t>
            </a:r>
            <a:endParaRPr/>
          </a:p>
        </p:txBody>
      </p:sp>
      <p:pic>
        <p:nvPicPr>
          <p:cNvPr descr="resultados deteccion retinopatia diabetica" id="259" name="Google Shape;25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6237" y="0"/>
            <a:ext cx="5465763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FDA Device Classification</a:t>
            </a:r>
            <a:endParaRPr/>
          </a:p>
        </p:txBody>
      </p:sp>
      <p:sp>
        <p:nvSpPr>
          <p:cNvPr id="265" name="Google Shape;265;p26"/>
          <p:cNvSpPr txBox="1"/>
          <p:nvPr>
            <p:ph idx="1" type="body"/>
          </p:nvPr>
        </p:nvSpPr>
        <p:spPr>
          <a:xfrm>
            <a:off x="838200" y="1825625"/>
            <a:ext cx="10515600" cy="18319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Class I: Low risk (e.g., stethoscope) – usually exempt.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Class II: Moderate risk – majority of AI devices fall here.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Class III: High risk – life-supporting or life-sustaining, needs PMA.</a:t>
            </a:r>
            <a:endParaRPr/>
          </a:p>
        </p:txBody>
      </p:sp>
      <p:pic>
        <p:nvPicPr>
          <p:cNvPr descr="FDA Medical Device Classes" id="266" name="Google Shape;26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190" y="3429000"/>
            <a:ext cx="10548484" cy="306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FDA Device Classification</a:t>
            </a:r>
            <a:endParaRPr/>
          </a:p>
        </p:txBody>
      </p:sp>
      <p:sp>
        <p:nvSpPr>
          <p:cNvPr id="272" name="Google Shape;272;p27"/>
          <p:cNvSpPr txBox="1"/>
          <p:nvPr>
            <p:ph idx="1" type="body"/>
          </p:nvPr>
        </p:nvSpPr>
        <p:spPr>
          <a:xfrm>
            <a:off x="838200" y="1825625"/>
            <a:ext cx="10515600" cy="18319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Class I: 510k eligible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Class II: 510k eligible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Class III: Needs pre-market approval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Pre Market Authorization</a:t>
            </a:r>
            <a:endParaRPr/>
          </a:p>
        </p:txBody>
      </p:sp>
      <p:sp>
        <p:nvSpPr>
          <p:cNvPr id="278" name="Google Shape;278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Needed for high risk medical devices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Design a study for use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During the study, obtain an investigational device exemption for the experimental device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Then, FDA reviews data for clinical approval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Next time:</a:t>
            </a:r>
            <a:endParaRPr/>
          </a:p>
        </p:txBody>
      </p:sp>
      <p:sp>
        <p:nvSpPr>
          <p:cNvPr id="284" name="Google Shape;284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Project Intro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Practice by coming up with a clinical question of your own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0"/>
          <p:cNvSpPr txBox="1"/>
          <p:nvPr>
            <p:ph type="title"/>
          </p:nvPr>
        </p:nvSpPr>
        <p:spPr>
          <a:xfrm>
            <a:off x="5097049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Thanks!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2025-10-24T18:11:29Z</dcterms:created>
  <dc:creator>Stephen Lostetter</dc:creator>
</cp:coreProperties>
</file>
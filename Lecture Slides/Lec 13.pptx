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371" r:id="rId5"/>
    <p:sldId id="372" r:id="rId6"/>
    <p:sldId id="388" r:id="rId7"/>
    <p:sldId id="373" r:id="rId8"/>
    <p:sldId id="374" r:id="rId9"/>
    <p:sldId id="376" r:id="rId10"/>
    <p:sldId id="377" r:id="rId11"/>
    <p:sldId id="375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44" r:id="rId22"/>
    <p:sldId id="343" r:id="rId23"/>
    <p:sldId id="345" r:id="rId24"/>
    <p:sldId id="346" r:id="rId25"/>
    <p:sldId id="347" r:id="rId26"/>
    <p:sldId id="348" r:id="rId27"/>
    <p:sldId id="349" r:id="rId28"/>
    <p:sldId id="350" r:id="rId29"/>
    <p:sldId id="35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7749" autoAdjust="0"/>
  </p:normalViewPr>
  <p:slideViewPr>
    <p:cSldViewPr snapToGrid="0">
      <p:cViewPr varScale="1">
        <p:scale>
          <a:sx n="32" d="100"/>
          <a:sy n="32" d="100"/>
        </p:scale>
        <p:origin x="11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96F2B-ECD9-4F5C-BA9C-5562991BB4F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3E1B9-8154-4A86-9AA2-2FC6AB04C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0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.org/doi/10.1126/science.aax2342#core-collateral-R27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cience.org/doi/10.1126/science.aax2342#core-collateral-R28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differences in loan repayment by race. It’s true that it’s in the data, however the social forces that drive that outcome are not easily captured in dataset</a:t>
            </a:r>
          </a:p>
          <a:p>
            <a:r>
              <a:rPr lang="en-US" dirty="0"/>
              <a:t>Bottom: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89E7-7516-4C9B-8675-CAA7CCB358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20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the trachea, portions of the shoulders, and parts of the lungs are the most salient locations for predicting the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17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029F-C859-51D5-7A33-2C1D38F1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B7598-2880-4F0D-A3BD-5823E31D1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97F0E-209C-CD4B-FD64-6293958CD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the trachea, portions of the shoulders, and parts of the lungs are the most salient locations for predicting the classes.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Lecture on interpretability to come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E8245-617C-9E7D-5BC0-2D769191E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04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Ad: train discriminator to predict race, then train model to maximize performance while minimizing performance of discriminator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75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 to identify data collection bias without more info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20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if you remove race, algorithms can learn as evidenced by the study prior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differences in severity of hypertension (systolic pressure: 5.7 mmHg) and diabetes [glycated hemoglobin (HbA1c): 0.6%] imply differences in all-cause mortality of 7.6% (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27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30% (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28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8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vs predicted risk. Equal between races. Is our algorithm biased?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13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programs primarily work to prevent acute health decompensations – leading to catastrophic expenditures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simply predict a measure of health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3E1B9-8154-4A86-9AA2-2FC6AB04C7C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1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made a new intracranial hemorrhage detection algorithm, we could cite </a:t>
            </a:r>
            <a:r>
              <a:rPr lang="en-US" dirty="0" err="1"/>
              <a:t>Aidoc</a:t>
            </a:r>
            <a:r>
              <a:rPr lang="en-US" dirty="0"/>
              <a:t> as 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9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A7E0-A194-D5EF-6094-B69BDBF17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637C3-8663-B6DF-C131-B705C7753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500B6-F0DC-D8E3-0520-1365FCBE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FD6E-82F1-8ADD-720D-902852B3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2F2E0-AE5D-6ADB-63A2-A2C765BA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6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DA20-6221-3ED6-D835-997DEC52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9CB2D-AA59-EAF3-E58F-39E1C747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EBA20-3837-EBA9-EABB-3BB77992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8BED-F7DE-6BBA-D620-6E50C22B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8F47B-7E4B-FEB9-E6A5-14239E71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C35F-FB27-9730-17DF-936B9806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1983B-6940-BE50-0263-0D676FD6E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8BC5D-89D7-5749-72B9-CD23F1A4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48923-D2D2-B8A6-1F6E-E85A6A5F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BF777-6824-0384-DB29-57BD0F3F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1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DF2B-ADB6-DF53-ABFC-9779D82A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4D86-8D36-3F3D-52B9-F28E3BE03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73528-98C7-EDB2-67AB-B17F2D71C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C810E-4958-4137-9031-AB4B0FB4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7D6F3-41FE-8E91-D45A-AB5ECFA6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41EE2-B067-C963-9E72-88668EF2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7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4B8D-DCB0-5C3F-DC00-604F845F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3E77A-D113-69ED-F993-A99BD2C63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A3411-1177-AE8E-1350-5CA1B7273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B28FA-825D-F608-E73D-C13E0B31A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29C06-6941-9915-0E01-766056F27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1A9E5-5A21-3F29-B971-9135F248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2AD02-98A4-F13A-6614-4C9003EF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79268-B534-DB30-3816-8E51EC59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1B6E-D278-D215-FAED-254B266C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A3E03-D8BC-1DA9-CC85-08151284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8F140-2229-529D-E2F2-63F4B28D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EC1A5-FECE-CA8D-0323-2CE888AA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2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A674E-357D-FC34-E444-D0F266AB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70A78-255D-676E-89DF-C91705EE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E1DC0-17EB-02C8-B689-C583B773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2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21D1-0057-8D39-F761-702C14EE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AF208-4DBF-B18F-7ED6-EAFD2888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98825-AE30-14C7-3406-42830FC98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4F906-59B5-A1E1-AE8C-60819A60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EB78F-E3C9-641D-1D6B-96823F0A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8E2C-7B8F-4006-A7F5-561CF659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7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C691-7E20-E370-C918-C3B04729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51ED08-4FB0-2788-237A-B6D36DFE9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54249-5FEB-35B7-DBCF-207F1F9DD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D4C40-C53A-D604-F440-AA3DC9A2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1C77-74F5-2C6A-EC01-AF402FD0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8D021-95EB-4695-0C91-1539D37B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2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CE3C-8B74-2DAC-5D76-524BDAF7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406E1-C63A-E890-DBB3-7ABEEAACC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4B88-1403-1071-2CF4-FF2AB6D0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62706-2D4C-F107-2E13-04AB74E3C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8DC9-9A79-26DD-7D95-E5F248F6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2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3B4D1-1D20-9F5D-FF0A-6513E1CD7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A7EEF-0C07-50CF-1593-9B7218D8C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683D3-B609-05EC-F9B8-252E1F18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5A8C-379F-B855-59B8-0A389A19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30BE2-B85A-E430-1684-D17570A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6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74503-6FDD-7457-A157-338E6D65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6AB5D-18DA-C6EF-B84C-4E75385F9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04A4F-B382-0C66-8BF4-E3FD2397B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11047-8DF9-43E9-AF0A-8899C745CF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A8498-8DCC-3CEC-9CC3-0A99C7813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83D2-FBCB-F798-9587-35A6DDFD0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C3A58-E2BF-45D1-831C-CC151E47F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1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8F3D-107F-1897-2595-4DD51059C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in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46813-B6AA-CE4E-7115-3A55BB3FC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13: Fairness &amp; Bias in Medical AI</a:t>
            </a:r>
          </a:p>
        </p:txBody>
      </p:sp>
    </p:spTree>
    <p:extLst>
      <p:ext uri="{BB962C8B-B14F-4D97-AF65-F5344CB8AC3E}">
        <p14:creationId xmlns:p14="http://schemas.microsoft.com/office/powerpoint/2010/main" val="618585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1ED2-6A33-D9BC-5F5D-D4DBF697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BBF73-2B8E-CF78-0172-742611238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Intro</a:t>
            </a:r>
          </a:p>
          <a:p>
            <a:r>
              <a:rPr lang="en-US" dirty="0"/>
              <a:t>Read over PowerPoint, word doc is streamlined version</a:t>
            </a:r>
          </a:p>
          <a:p>
            <a:r>
              <a:rPr lang="en-US" dirty="0"/>
              <a:t>I will be available for questions after class</a:t>
            </a:r>
          </a:p>
        </p:txBody>
      </p:sp>
    </p:spTree>
    <p:extLst>
      <p:ext uri="{BB962C8B-B14F-4D97-AF65-F5344CB8AC3E}">
        <p14:creationId xmlns:p14="http://schemas.microsoft.com/office/powerpoint/2010/main" val="190615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56B5-6060-9801-37E4-DD9703A5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A841-1A1D-2E63-8E39-2D3A9FAF0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933"/>
            <a:ext cx="10515600" cy="4351338"/>
          </a:xfrm>
        </p:spPr>
        <p:txBody>
          <a:bodyPr/>
          <a:lstStyle/>
          <a:p>
            <a:r>
              <a:rPr lang="en-US" dirty="0"/>
              <a:t>Exploring the ways AI algorithms exhibit bias, harmful and otherwise</a:t>
            </a:r>
          </a:p>
          <a:p>
            <a:r>
              <a:rPr lang="en-US" dirty="0"/>
              <a:t>Recap of bias from other lecture</a:t>
            </a:r>
          </a:p>
          <a:p>
            <a:r>
              <a:rPr lang="en-US" dirty="0"/>
              <a:t>Let what you’ve learned about AI algorithms inform your opinions</a:t>
            </a:r>
          </a:p>
          <a:p>
            <a:r>
              <a:rPr lang="en-US" dirty="0"/>
              <a:t>Lots of discussion! You guys know more than me</a:t>
            </a:r>
          </a:p>
          <a:p>
            <a:r>
              <a:rPr lang="en-US" dirty="0"/>
              <a:t>Topics can be heavy so let’s tackle them with an open mind</a:t>
            </a:r>
          </a:p>
        </p:txBody>
      </p:sp>
      <p:pic>
        <p:nvPicPr>
          <p:cNvPr id="1028" name="Picture 4" descr="Handshake Emoji [Download iPhone Emojis]">
            <a:extLst>
              <a:ext uri="{FF2B5EF4-FFF2-40B4-BE49-F238E27FC236}">
                <a16:creationId xmlns:a16="http://schemas.microsoft.com/office/drawing/2014/main" id="{D432D732-9003-98E3-EFD0-F5ED3AB5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052" y="4784834"/>
            <a:ext cx="2737895" cy="187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08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E38F-1215-1250-CBB6-AA054AA0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Data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E9E2E-FB9C-B029-DD9F-80C5D6678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094"/>
          </a:xfrm>
        </p:spPr>
        <p:txBody>
          <a:bodyPr>
            <a:normAutofit/>
          </a:bodyPr>
          <a:lstStyle/>
          <a:p>
            <a:r>
              <a:rPr lang="en-US" dirty="0"/>
              <a:t>As we attempt to extract patterns from our data we must beware of sources of bias</a:t>
            </a:r>
          </a:p>
          <a:p>
            <a:endParaRPr lang="en-US" dirty="0"/>
          </a:p>
          <a:p>
            <a:r>
              <a:rPr lang="en-US" dirty="0"/>
              <a:t>Bias really falls in one of two buckets:</a:t>
            </a:r>
          </a:p>
          <a:p>
            <a:pPr lvl="1"/>
            <a:r>
              <a:rPr lang="en-US" dirty="0"/>
              <a:t>Our data does contain, but is due to another factor not captured in data</a:t>
            </a:r>
          </a:p>
          <a:p>
            <a:pPr lvl="1"/>
            <a:r>
              <a:rPr lang="en-US" dirty="0"/>
              <a:t>Our data fails to capture</a:t>
            </a:r>
          </a:p>
          <a:p>
            <a:pPr lvl="1"/>
            <a:endParaRPr lang="en-US" dirty="0"/>
          </a:p>
          <a:p>
            <a:r>
              <a:rPr lang="en-US" dirty="0"/>
              <a:t>How we formulate our problem has a massive impact!</a:t>
            </a:r>
          </a:p>
          <a:p>
            <a:pPr lvl="1"/>
            <a:r>
              <a:rPr lang="en-US" dirty="0"/>
              <a:t>What are we hoping to extract from the data</a:t>
            </a:r>
          </a:p>
          <a:p>
            <a:pPr lvl="1"/>
            <a:r>
              <a:rPr lang="en-US" dirty="0"/>
              <a:t>How do we preprocess data to exclude or counterbalance sources of bias</a:t>
            </a:r>
          </a:p>
        </p:txBody>
      </p:sp>
    </p:spTree>
    <p:extLst>
      <p:ext uri="{BB962C8B-B14F-4D97-AF65-F5344CB8AC3E}">
        <p14:creationId xmlns:p14="http://schemas.microsoft.com/office/powerpoint/2010/main" val="191982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E8CF-87F2-0BA9-CC78-3EEA8A55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bias we discussed…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ACD71-1B27-02E0-E7F9-12B3DC50C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085"/>
            <a:ext cx="10515600" cy="5060789"/>
          </a:xfrm>
        </p:spPr>
        <p:txBody>
          <a:bodyPr/>
          <a:lstStyle/>
          <a:p>
            <a:r>
              <a:rPr lang="en-US" dirty="0"/>
              <a:t>Historical Bias</a:t>
            </a:r>
          </a:p>
          <a:p>
            <a:pPr lvl="1"/>
            <a:r>
              <a:rPr lang="en-US" dirty="0"/>
              <a:t>Patterns in data that reflect inequalities that have occurred as a result of some factor not captured in the model</a:t>
            </a:r>
          </a:p>
          <a:p>
            <a:pPr lvl="1"/>
            <a:r>
              <a:rPr lang="en-US" dirty="0"/>
              <a:t>Ex. Amazon hiring</a:t>
            </a:r>
          </a:p>
          <a:p>
            <a:r>
              <a:rPr lang="en-US" dirty="0"/>
              <a:t>Sample Bias</a:t>
            </a:r>
          </a:p>
          <a:p>
            <a:pPr lvl="1"/>
            <a:r>
              <a:rPr lang="en-US" dirty="0"/>
              <a:t>Sample not representative of whole population</a:t>
            </a:r>
          </a:p>
          <a:p>
            <a:pPr lvl="1"/>
            <a:r>
              <a:rPr lang="en-US" dirty="0"/>
              <a:t>Ex. Underinsured patient population not present in rich private hospital</a:t>
            </a:r>
          </a:p>
          <a:p>
            <a:r>
              <a:rPr lang="en-US" dirty="0"/>
              <a:t>Aggregation Bias</a:t>
            </a:r>
          </a:p>
          <a:p>
            <a:pPr lvl="1"/>
            <a:r>
              <a:rPr lang="en-US" dirty="0"/>
              <a:t>Collapsing together clinically meaningful but different subgroups</a:t>
            </a:r>
          </a:p>
          <a:p>
            <a:pPr lvl="1"/>
            <a:r>
              <a:rPr lang="en-US" dirty="0"/>
              <a:t>Thymus read as pathology on pediatric chest x-rays</a:t>
            </a:r>
          </a:p>
          <a:p>
            <a:r>
              <a:rPr lang="en-US" dirty="0"/>
              <a:t>And many more…</a:t>
            </a:r>
          </a:p>
        </p:txBody>
      </p:sp>
    </p:spTree>
    <p:extLst>
      <p:ext uri="{BB962C8B-B14F-4D97-AF65-F5344CB8AC3E}">
        <p14:creationId xmlns:p14="http://schemas.microsoft.com/office/powerpoint/2010/main" val="99298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94A0-A93E-7AD2-AFFF-E8B15ABB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CF51E-BBE3-29B0-940C-DA5B894D4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Biased data leads to biased outcomes</a:t>
            </a:r>
          </a:p>
          <a:p>
            <a:pPr lvl="1"/>
            <a:r>
              <a:rPr lang="en-US" dirty="0"/>
              <a:t>Ex. Regression model – any inequities will be learned and propagated</a:t>
            </a:r>
          </a:p>
          <a:p>
            <a:pPr lvl="1"/>
            <a:r>
              <a:rPr lang="en-US" dirty="0"/>
              <a:t>Data cleaning involves removing these markers from data</a:t>
            </a:r>
          </a:p>
          <a:p>
            <a:r>
              <a:rPr lang="en-US" dirty="0"/>
              <a:t>The decision you want to inform should be in mind when designing model</a:t>
            </a:r>
          </a:p>
          <a:p>
            <a:r>
              <a:rPr lang="en-US" dirty="0"/>
              <a:t>Loss function is critical – what is your outcome metric</a:t>
            </a:r>
          </a:p>
          <a:p>
            <a:pPr lvl="1"/>
            <a:r>
              <a:rPr lang="en-US" dirty="0"/>
              <a:t>Minimizing readmissions will lead to different decisions than minimizing expenditures</a:t>
            </a:r>
          </a:p>
        </p:txBody>
      </p:sp>
    </p:spTree>
    <p:extLst>
      <p:ext uri="{BB962C8B-B14F-4D97-AF65-F5344CB8AC3E}">
        <p14:creationId xmlns:p14="http://schemas.microsoft.com/office/powerpoint/2010/main" val="53345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3324-C0E7-C654-0BDB-738D633B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4714-3119-BAC0-C733-E973832BF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6415"/>
            <a:ext cx="10515600" cy="2160548"/>
          </a:xfrm>
        </p:spPr>
        <p:txBody>
          <a:bodyPr/>
          <a:lstStyle/>
          <a:p>
            <a:r>
              <a:rPr lang="en-US" dirty="0"/>
              <a:t>How does this work?</a:t>
            </a:r>
          </a:p>
          <a:p>
            <a:pPr lvl="1"/>
            <a:r>
              <a:rPr lang="en-US" dirty="0"/>
              <a:t>Input data</a:t>
            </a:r>
          </a:p>
          <a:p>
            <a:pPr lvl="1"/>
            <a:r>
              <a:rPr lang="en-US" dirty="0"/>
              <a:t>Problem type</a:t>
            </a:r>
          </a:p>
          <a:p>
            <a:pPr lvl="1"/>
            <a:r>
              <a:rPr lang="en-US" dirty="0"/>
              <a:t>Training regime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2A5A3-E35A-D165-6674-EB4BD0AEE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9485"/>
            <a:ext cx="10164594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3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B10B-6CF7-9FBE-179B-643245D1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3120-B3EB-63BA-D2DB-E985C977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07536-500F-D188-1A3F-760F460A6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065"/>
            <a:ext cx="10515600" cy="4241898"/>
          </a:xfrm>
        </p:spPr>
        <p:txBody>
          <a:bodyPr/>
          <a:lstStyle/>
          <a:p>
            <a:r>
              <a:rPr lang="en-US" dirty="0"/>
              <a:t>Results: </a:t>
            </a:r>
          </a:p>
          <a:p>
            <a:pPr lvl="1"/>
            <a:r>
              <a:rPr lang="en-US" dirty="0"/>
              <a:t>AUROC = .96-.94 for prediction of race, even when filtered to only show borders of body structures (done to eliminate bone density)</a:t>
            </a:r>
          </a:p>
          <a:p>
            <a:pPr lvl="1"/>
            <a:r>
              <a:rPr lang="en-US" dirty="0"/>
              <a:t>When only using tabular data, AUROC fell to 0.54-0.61</a:t>
            </a:r>
          </a:p>
          <a:p>
            <a:r>
              <a:rPr lang="en-US" dirty="0"/>
              <a:t>What implications does this have for clinical practice?</a:t>
            </a:r>
          </a:p>
          <a:p>
            <a:r>
              <a:rPr lang="en-US" dirty="0"/>
              <a:t>What does this say about what models are learning?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D2B704-F457-6BB2-6A53-2AE37476C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11" y="471389"/>
            <a:ext cx="5724738" cy="1357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14CAA9-741A-A4D2-866D-4CD8D6D3F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60" y="4716683"/>
            <a:ext cx="4416103" cy="205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B886-7478-CC07-AFF7-EE1F884D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8DA6-E612-5905-BD87-9E501555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897"/>
            <a:ext cx="10515600" cy="1325563"/>
          </a:xfrm>
        </p:spPr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7803-3C81-D082-2C44-EF2E9FEEE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005"/>
            <a:ext cx="10515600" cy="4241898"/>
          </a:xfrm>
        </p:spPr>
        <p:txBody>
          <a:bodyPr/>
          <a:lstStyle/>
          <a:p>
            <a:r>
              <a:rPr lang="en-US" dirty="0"/>
              <a:t>How can we learn more about what these models are using to predict?</a:t>
            </a:r>
          </a:p>
          <a:p>
            <a:pPr lvl="1"/>
            <a:r>
              <a:rPr lang="en-US" dirty="0" err="1"/>
              <a:t>GradCam</a:t>
            </a:r>
            <a:r>
              <a:rPr lang="en-US" dirty="0"/>
              <a:t> - &gt; backpropagate which features have large role</a:t>
            </a:r>
          </a:p>
          <a:p>
            <a:pPr lvl="1"/>
            <a:r>
              <a:rPr lang="en-US" dirty="0"/>
              <a:t>Perturb - &gt; find regions, which when removed, change prediction most</a:t>
            </a:r>
          </a:p>
          <a:p>
            <a:pPr lvl="1"/>
            <a:r>
              <a:rPr lang="en-US" dirty="0"/>
              <a:t>Low frequency features:  those features which are subtle and spread throughout image (tissue density, overall brightness/x-ray transparency)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B8E735-6326-DFD5-B4E4-103D7AF08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30" y="164897"/>
            <a:ext cx="5724738" cy="1357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F27A4-EFEE-8DB6-BA3A-8055A58C4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897" y="4531488"/>
            <a:ext cx="4416103" cy="2051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B2F74-2AC4-70AF-5F73-334EE8569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66824"/>
            <a:ext cx="12192000" cy="29911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85D759-9237-3A2E-99BB-4C5E8C834530}"/>
              </a:ext>
            </a:extLst>
          </p:cNvPr>
          <p:cNvSpPr txBox="1"/>
          <p:nvPr/>
        </p:nvSpPr>
        <p:spPr>
          <a:xfrm>
            <a:off x="10859946" y="3237084"/>
            <a:ext cx="129636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https://pmc.ncbi.nlm.nih.gov/articles/PMC11871413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7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56C7-F990-9C8A-EFF4-0CECCB74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BD34-7FD5-F7C7-231F-74DA93E0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897"/>
            <a:ext cx="10515600" cy="1325563"/>
          </a:xfrm>
        </p:spPr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83F2A-0629-EBDB-754A-71B1BD17F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005"/>
            <a:ext cx="10515600" cy="4241898"/>
          </a:xfrm>
        </p:spPr>
        <p:txBody>
          <a:bodyPr/>
          <a:lstStyle/>
          <a:p>
            <a:r>
              <a:rPr lang="en-US" dirty="0"/>
              <a:t>How can we learn more about what these models are using to predict?</a:t>
            </a:r>
          </a:p>
          <a:p>
            <a:pPr lvl="1"/>
            <a:r>
              <a:rPr lang="en-US" dirty="0"/>
              <a:t>Unintended proxies - &gt; certain scanner scans more people of one race, has certain metadata, can be used to predict race</a:t>
            </a:r>
          </a:p>
          <a:p>
            <a:pPr lvl="1"/>
            <a:r>
              <a:rPr lang="en-US" dirty="0"/>
              <a:t>Better logging can help us identify and remove (or at least class balance) these features.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C8F7D-786B-441A-AC75-C116999F5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30" y="164897"/>
            <a:ext cx="5724738" cy="1357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3EFFE0-D2F5-FF4D-297A-F8B5C9DFF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897" y="4531488"/>
            <a:ext cx="4416103" cy="2051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D0D87-0AD7-9682-68A9-895FA6082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66824"/>
            <a:ext cx="12192000" cy="29911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98A87B-BBFB-BB61-4E41-C7C815B7ABDD}"/>
              </a:ext>
            </a:extLst>
          </p:cNvPr>
          <p:cNvSpPr txBox="1"/>
          <p:nvPr/>
        </p:nvSpPr>
        <p:spPr>
          <a:xfrm>
            <a:off x="10859946" y="3237084"/>
            <a:ext cx="129636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https://pmc.ncbi.nlm.nih.gov/articles/PMC11871413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548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82CB-AA2C-CE8B-ED25-72AC56E2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34D3-9341-F4D9-6060-A066E3F76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we fight this?</a:t>
            </a:r>
          </a:p>
          <a:p>
            <a:pPr lvl="1"/>
            <a:r>
              <a:rPr lang="en-US" dirty="0"/>
              <a:t>Is it necessary to remove this information?</a:t>
            </a:r>
          </a:p>
          <a:p>
            <a:pPr lvl="1"/>
            <a:r>
              <a:rPr lang="en-US" dirty="0"/>
              <a:t>What level of accuracy is worth sacrificing for anonymization?</a:t>
            </a:r>
          </a:p>
          <a:p>
            <a:pPr lvl="1"/>
            <a:r>
              <a:rPr lang="en-US" dirty="0"/>
              <a:t>How can we evaluate if the identification of race/other features is causing our model to make predictions which have a clinical impact?</a:t>
            </a:r>
          </a:p>
          <a:p>
            <a:r>
              <a:rPr lang="en-US" dirty="0"/>
              <a:t>If so, how?</a:t>
            </a:r>
          </a:p>
          <a:p>
            <a:pPr lvl="1"/>
            <a:r>
              <a:rPr lang="en-US" dirty="0"/>
              <a:t>Learn what features are important, then remove them</a:t>
            </a:r>
          </a:p>
          <a:p>
            <a:pPr lvl="1"/>
            <a:r>
              <a:rPr lang="en-US" dirty="0"/>
              <a:t>Train models to optimize performance on the </a:t>
            </a:r>
            <a:r>
              <a:rPr lang="en-US" i="1" dirty="0"/>
              <a:t>worst-performing subgroup</a:t>
            </a:r>
          </a:p>
          <a:p>
            <a:pPr lvl="1"/>
            <a:r>
              <a:rPr lang="en-US" dirty="0"/>
              <a:t>Adversarial debiasing</a:t>
            </a:r>
          </a:p>
          <a:p>
            <a:pPr lvl="1"/>
            <a:r>
              <a:rPr lang="en-US" dirty="0"/>
              <a:t>Balance data beforehand</a:t>
            </a:r>
          </a:p>
        </p:txBody>
      </p:sp>
    </p:spTree>
    <p:extLst>
      <p:ext uri="{BB962C8B-B14F-4D97-AF65-F5344CB8AC3E}">
        <p14:creationId xmlns:p14="http://schemas.microsoft.com/office/powerpoint/2010/main" val="3484840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790C-143E-3787-02E3-2D6CE154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of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84C09-A94E-CE17-A62B-DDF758F0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11" y="1825624"/>
            <a:ext cx="11366339" cy="5032375"/>
          </a:xfrm>
        </p:spPr>
        <p:txBody>
          <a:bodyPr/>
          <a:lstStyle/>
          <a:p>
            <a:r>
              <a:rPr lang="en-US" dirty="0"/>
              <a:t>Demographic Parity (Statistical Parity)</a:t>
            </a:r>
          </a:p>
          <a:p>
            <a:pPr lvl="1"/>
            <a:r>
              <a:rPr lang="en-US" dirty="0"/>
              <a:t>The AI system produces the same proportion of positive predictions across different groups</a:t>
            </a:r>
          </a:p>
          <a:p>
            <a:pPr lvl="1"/>
            <a:r>
              <a:rPr lang="en-US" dirty="0"/>
              <a:t>Example: A diagnostic tool flags 15% of patients for follow-up testing regardless of race/gender</a:t>
            </a:r>
          </a:p>
          <a:p>
            <a:pPr lvl="1"/>
            <a:r>
              <a:rPr lang="en-US" i="1" dirty="0"/>
              <a:t>Medical consideration</a:t>
            </a:r>
            <a:r>
              <a:rPr lang="en-US" dirty="0"/>
              <a:t>: This may not be clinically appropriate if disease prevalence actually differs between groups</a:t>
            </a:r>
          </a:p>
          <a:p>
            <a:r>
              <a:rPr lang="en-US" dirty="0"/>
              <a:t>Equalized Odds</a:t>
            </a:r>
          </a:p>
          <a:p>
            <a:pPr lvl="1"/>
            <a:r>
              <a:rPr lang="en-US" dirty="0"/>
              <a:t>True positive rates (sensitivity) AND false positive rates are equal across groups</a:t>
            </a:r>
          </a:p>
          <a:p>
            <a:r>
              <a:rPr lang="en-US" dirty="0"/>
              <a:t>Equal Opportunity (similar to above)</a:t>
            </a:r>
          </a:p>
          <a:p>
            <a:pPr lvl="1"/>
            <a:r>
              <a:rPr lang="en-US" dirty="0"/>
              <a:t>True positive rates (sensitivity) are equal across groups</a:t>
            </a:r>
          </a:p>
        </p:txBody>
      </p:sp>
    </p:spTree>
    <p:extLst>
      <p:ext uri="{BB962C8B-B14F-4D97-AF65-F5344CB8AC3E}">
        <p14:creationId xmlns:p14="http://schemas.microsoft.com/office/powerpoint/2010/main" val="142137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A34C-F688-464D-8CD0-E30302B8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9018-A061-5FF6-9A9E-4181CCE3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of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49EF3-DE20-5872-D3F2-147E43EA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11" y="1825624"/>
            <a:ext cx="11366339" cy="5032375"/>
          </a:xfrm>
        </p:spPr>
        <p:txBody>
          <a:bodyPr/>
          <a:lstStyle/>
          <a:p>
            <a:r>
              <a:rPr lang="en-US" dirty="0"/>
              <a:t>Predictive Parity (Positive Predictive Value)</a:t>
            </a:r>
          </a:p>
          <a:p>
            <a:pPr lvl="1"/>
            <a:r>
              <a:rPr lang="en-US" dirty="0"/>
              <a:t>when the model says "positive," it's equally likely to be correct across groups</a:t>
            </a:r>
          </a:p>
          <a:p>
            <a:pPr lvl="1"/>
            <a:r>
              <a:rPr lang="en-US" dirty="0"/>
              <a:t>Example: When an AI flags a suspicious lesion, it's actually cancer 70% of the time for all groups</a:t>
            </a:r>
          </a:p>
          <a:p>
            <a:pPr lvl="1"/>
            <a:r>
              <a:rPr lang="en-US" i="1" dirty="0"/>
              <a:t>Medical consideration</a:t>
            </a:r>
            <a:r>
              <a:rPr lang="en-US" dirty="0"/>
              <a:t>: Important for resource allocation decisions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999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46CB-925A-2544-90CC-647695B7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Impossibility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75CF2-BE7F-1155-F09A-E0B8121EF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 generally cannot satisfy all fairness metrics simultaneously</a:t>
            </a:r>
            <a:r>
              <a:rPr lang="en-US" dirty="0"/>
              <a:t> when base rates (disease prevalence) differ between groups.</a:t>
            </a:r>
          </a:p>
          <a:p>
            <a:r>
              <a:rPr lang="en-US" dirty="0"/>
              <a:t>This is known as the "fairness impossibility theorem.“</a:t>
            </a:r>
          </a:p>
          <a:p>
            <a:r>
              <a:rPr lang="en-US" dirty="0"/>
              <a:t>For example, if Disease X affects 20% of Group A but only 5% of Group B:</a:t>
            </a:r>
          </a:p>
          <a:p>
            <a:pPr lvl="1"/>
            <a:r>
              <a:rPr lang="en-US" dirty="0"/>
              <a:t>Maintaining equal false positive rates AND equal true positive rates will violate demographic parity</a:t>
            </a:r>
          </a:p>
          <a:p>
            <a:pPr lvl="1"/>
            <a:r>
              <a:rPr lang="en-US" dirty="0"/>
              <a:t>Achieving demographic parity will likely harm calibration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676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AEFCD-70FD-55AF-C2F5-8EF54158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Steps to Mitigate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3406A-0CF4-36FC-CF46-3E8DACF33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690688"/>
            <a:ext cx="11029709" cy="448627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Planning Phase</a:t>
            </a:r>
          </a:p>
          <a:p>
            <a:pPr lvl="1"/>
            <a:r>
              <a:rPr lang="en-US" dirty="0"/>
              <a:t>Define fairness goals explicitly before model development</a:t>
            </a:r>
          </a:p>
          <a:p>
            <a:pPr lvl="1"/>
            <a:r>
              <a:rPr lang="en-US" dirty="0"/>
              <a:t>Identify relevant protected attributes (race, gender, age, socioeconomic status)</a:t>
            </a:r>
          </a:p>
          <a:p>
            <a:pPr lvl="1"/>
            <a:r>
              <a:rPr lang="en-US" dirty="0"/>
              <a:t>Engage stakeholders from affected communities</a:t>
            </a:r>
          </a:p>
          <a:p>
            <a:pPr lvl="1"/>
            <a:r>
              <a:rPr lang="en-US" dirty="0"/>
              <a:t>Determine which fairness metrics are appropriate for your clinical use case</a:t>
            </a:r>
          </a:p>
          <a:p>
            <a:r>
              <a:rPr lang="en-US" b="1" dirty="0"/>
              <a:t>Data Collection &amp; Preparation</a:t>
            </a:r>
          </a:p>
          <a:p>
            <a:pPr lvl="1"/>
            <a:r>
              <a:rPr lang="en-US" dirty="0"/>
              <a:t>Ensure diverse, representative training data across all relevant subgroups</a:t>
            </a:r>
          </a:p>
          <a:p>
            <a:pPr lvl="1"/>
            <a:r>
              <a:rPr lang="en-US" dirty="0"/>
              <a:t>Document data provenance and collection methods</a:t>
            </a:r>
          </a:p>
          <a:p>
            <a:pPr lvl="1"/>
            <a:r>
              <a:rPr lang="en-US" dirty="0"/>
              <a:t>Examine and report demographic composition of datasets</a:t>
            </a:r>
          </a:p>
          <a:p>
            <a:pPr lvl="1"/>
            <a:r>
              <a:rPr lang="en-US" dirty="0"/>
              <a:t>Check for and address selection bias in recruitment</a:t>
            </a:r>
          </a:p>
          <a:p>
            <a:pPr lvl="1"/>
            <a:r>
              <a:rPr lang="en-US" dirty="0"/>
              <a:t>Validate that labels are consistent and unbiased across groups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28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242C-10D9-AAB9-B207-C1DF46C2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FF48-CC2C-D982-33EF-106BFA19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Steps to Mitigate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551D2-FCCC-BE15-25B0-1120DCE3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690688"/>
            <a:ext cx="11029709" cy="5011054"/>
          </a:xfrm>
        </p:spPr>
        <p:txBody>
          <a:bodyPr>
            <a:normAutofit/>
          </a:bodyPr>
          <a:lstStyle/>
          <a:p>
            <a:r>
              <a:rPr lang="en-US" b="1" dirty="0"/>
              <a:t>Model Development</a:t>
            </a:r>
          </a:p>
          <a:p>
            <a:pPr lvl="1"/>
            <a:r>
              <a:rPr lang="en-US" dirty="0"/>
              <a:t>Stratify data analysis by demographic subgroups from the start</a:t>
            </a:r>
          </a:p>
          <a:p>
            <a:pPr lvl="1"/>
            <a:r>
              <a:rPr lang="en-US" dirty="0"/>
              <a:t>Avoid using race/ethnicity as direct features unless clinically justified</a:t>
            </a:r>
          </a:p>
          <a:p>
            <a:pPr lvl="1"/>
            <a:r>
              <a:rPr lang="en-US" dirty="0"/>
              <a:t>Be cautious of proxy variables that correlate with protected attributes</a:t>
            </a:r>
          </a:p>
          <a:p>
            <a:pPr lvl="1"/>
            <a:r>
              <a:rPr lang="en-US" dirty="0"/>
              <a:t>Consider fairness-aware training methods (adversarial debiasing, constrained optimization)</a:t>
            </a:r>
          </a:p>
          <a:p>
            <a:pPr lvl="1"/>
            <a:r>
              <a:rPr lang="en-US" dirty="0"/>
              <a:t>Use interpretable models when possible to identify potential sources of bias</a:t>
            </a:r>
          </a:p>
          <a:p>
            <a:r>
              <a:rPr lang="en-US" b="1" dirty="0"/>
              <a:t>Evaluation &amp; Validation</a:t>
            </a:r>
          </a:p>
          <a:p>
            <a:pPr lvl="1"/>
            <a:r>
              <a:rPr lang="en-US" dirty="0"/>
              <a:t>Report performance metrics separately for each demographic subgroup</a:t>
            </a:r>
          </a:p>
          <a:p>
            <a:pPr lvl="1"/>
            <a:r>
              <a:rPr lang="en-US" dirty="0"/>
              <a:t>Evaluate multiple fairness metrics (not just overall accuracy)</a:t>
            </a:r>
          </a:p>
          <a:p>
            <a:pPr lvl="1"/>
            <a:r>
              <a:rPr lang="en-US" dirty="0"/>
              <a:t>Test on external, diverse validation sets</a:t>
            </a:r>
          </a:p>
          <a:p>
            <a:pPr lvl="1"/>
            <a:r>
              <a:rPr lang="en-US" dirty="0"/>
              <a:t>Assess whether the model uses demographic "shortcuts" inappropriately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20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56E8-C3DC-54A0-DB4F-705D0612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B827-45B2-AF24-7BAC-462979816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insurance provider</a:t>
            </a:r>
          </a:p>
          <a:p>
            <a:r>
              <a:rPr lang="en-US" dirty="0"/>
              <a:t>Identify patients for “high risk care programs” via determining which patients will incur higher healthcare expenditures</a:t>
            </a:r>
          </a:p>
          <a:p>
            <a:r>
              <a:rPr lang="en-US" dirty="0"/>
              <a:t>What fairness goals should we identify?</a:t>
            </a:r>
          </a:p>
          <a:p>
            <a:r>
              <a:rPr lang="en-US" dirty="0"/>
              <a:t>What patient characteristics should be tracked and measured in the name of fairness?</a:t>
            </a:r>
          </a:p>
          <a:p>
            <a:r>
              <a:rPr lang="en-US" dirty="0"/>
              <a:t>Should any patient data be disregarded and considered irrelevant to predictions?</a:t>
            </a:r>
          </a:p>
          <a:p>
            <a:endParaRPr lang="en-US" dirty="0"/>
          </a:p>
        </p:txBody>
      </p:sp>
      <p:pic>
        <p:nvPicPr>
          <p:cNvPr id="4098" name="Picture 2" descr="UnitedHealthcare Insurance for Substance Abuse &amp; Eating Disorder">
            <a:extLst>
              <a:ext uri="{FF2B5EF4-FFF2-40B4-BE49-F238E27FC236}">
                <a16:creationId xmlns:a16="http://schemas.microsoft.com/office/drawing/2014/main" id="{45EA2D90-3E77-6740-F349-F221BCC6A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895" y="121162"/>
            <a:ext cx="2578876" cy="181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04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1FD1-1F86-5297-D4CA-7B543FF4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4CDCD-49B2-B390-007C-A5CC33205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475"/>
            <a:ext cx="10515600" cy="4351338"/>
          </a:xfrm>
        </p:spPr>
        <p:txBody>
          <a:bodyPr/>
          <a:lstStyle/>
          <a:p>
            <a:r>
              <a:rPr lang="en-US" dirty="0"/>
              <a:t>Primary care patients for 2 years from a major health system</a:t>
            </a:r>
          </a:p>
          <a:p>
            <a:r>
              <a:rPr lang="en-US" dirty="0"/>
              <a:t>Assigned a given risk score based on PMH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03C8A-B1C5-A02F-C837-557AF52CF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315" y="2262390"/>
            <a:ext cx="4298066" cy="4481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EA7A19-22A2-A8BD-BCE3-3B5B9C428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32" y="3090441"/>
            <a:ext cx="6618297" cy="376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555F-79DD-FC98-567F-76372F78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578960-B329-108A-0E1C-574D4FB36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2766" y="1825625"/>
            <a:ext cx="88064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56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BF6-7207-33FB-ABC4-40E020F3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3F9A9-6587-2B54-9D7C-006EDE48E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we choose a good result measure?</a:t>
            </a:r>
          </a:p>
          <a:p>
            <a:r>
              <a:rPr lang="en-US" dirty="0"/>
              <a:t>Did this algorithm achieve its goal? Was it fair?</a:t>
            </a:r>
          </a:p>
          <a:p>
            <a:r>
              <a:rPr lang="en-US" dirty="0"/>
              <a:t>Should the algorithm be blinded?</a:t>
            </a:r>
          </a:p>
          <a:p>
            <a:r>
              <a:rPr lang="en-US" dirty="0"/>
              <a:t>Should we preprocess the data in any way?</a:t>
            </a:r>
          </a:p>
        </p:txBody>
      </p:sp>
    </p:spTree>
    <p:extLst>
      <p:ext uri="{BB962C8B-B14F-4D97-AF65-F5344CB8AC3E}">
        <p14:creationId xmlns:p14="http://schemas.microsoft.com/office/powerpoint/2010/main" val="2053923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59A6-E726-873B-4022-16EE8A2C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Pathways for Medical Device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1942-5C83-6E66-3159-58AF34FE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510k </a:t>
            </a:r>
          </a:p>
          <a:p>
            <a:r>
              <a:rPr lang="en-US" dirty="0"/>
              <a:t>De Novo Approval</a:t>
            </a:r>
          </a:p>
          <a:p>
            <a:r>
              <a:rPr lang="en-US" dirty="0"/>
              <a:t>Premarket Approval</a:t>
            </a:r>
          </a:p>
          <a:p>
            <a:r>
              <a:rPr lang="en-US" dirty="0"/>
              <a:t>Exemptions (rare disease, breakthrough)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the purposes of the FDA, software (including AI) is considered a medical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10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8571-50A5-0E26-37DC-B69AFF32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510(k) Pathway for Medical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67E70-B41E-35A3-1A40-EF8F6AF56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FDA approval process for medical devices</a:t>
            </a:r>
          </a:p>
          <a:p>
            <a:r>
              <a:rPr lang="en-US" dirty="0"/>
              <a:t>Must find a “predicate” device with same use</a:t>
            </a:r>
          </a:p>
          <a:p>
            <a:endParaRPr lang="en-US" dirty="0"/>
          </a:p>
        </p:txBody>
      </p:sp>
      <p:pic>
        <p:nvPicPr>
          <p:cNvPr id="3074" name="Picture 2" descr="Aidoc Releases AI Package to Speed Identification of Stroke">
            <a:extLst>
              <a:ext uri="{FF2B5EF4-FFF2-40B4-BE49-F238E27FC236}">
                <a16:creationId xmlns:a16="http://schemas.microsoft.com/office/drawing/2014/main" id="{6C1462FF-1CB5-22C0-8853-447E2C16E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264" y="3747239"/>
            <a:ext cx="4649472" cy="242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075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70A0-97E3-7877-E4BE-EBCD0D32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Data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27A6-67EC-7D50-0EA4-7FCF4A62B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Predetermined Change Control Plans (PCCPs)</a:t>
            </a:r>
          </a:p>
          <a:p>
            <a:r>
              <a:rPr lang="en-US" dirty="0"/>
              <a:t>Plan outlining what changes and surveillance will occur ahead of time</a:t>
            </a:r>
          </a:p>
          <a:p>
            <a:r>
              <a:rPr lang="en-US" dirty="0"/>
              <a:t>Not required for FDA approval</a:t>
            </a:r>
          </a:p>
        </p:txBody>
      </p:sp>
    </p:spTree>
    <p:extLst>
      <p:ext uri="{BB962C8B-B14F-4D97-AF65-F5344CB8AC3E}">
        <p14:creationId xmlns:p14="http://schemas.microsoft.com/office/powerpoint/2010/main" val="1736599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8681-ADE8-4286-ADDE-BEF68D37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Novo Device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DBD5-1CE4-208C-7058-F705B8257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8037" cy="4351338"/>
          </a:xfrm>
        </p:spPr>
        <p:txBody>
          <a:bodyPr/>
          <a:lstStyle/>
          <a:p>
            <a:r>
              <a:rPr lang="en-US" dirty="0"/>
              <a:t>For devices that have no precedent</a:t>
            </a:r>
          </a:p>
          <a:p>
            <a:r>
              <a:rPr lang="en-US" dirty="0"/>
              <a:t>Ex. IDX: Diabetic retinopathy</a:t>
            </a:r>
          </a:p>
          <a:p>
            <a:r>
              <a:rPr lang="en-US" dirty="0"/>
              <a:t>Once approved, can serve as precedent in future 510k</a:t>
            </a:r>
          </a:p>
        </p:txBody>
      </p:sp>
      <p:pic>
        <p:nvPicPr>
          <p:cNvPr id="4098" name="Picture 2" descr="resultados deteccion retinopatia diabetica">
            <a:extLst>
              <a:ext uri="{FF2B5EF4-FFF2-40B4-BE49-F238E27FC236}">
                <a16:creationId xmlns:a16="http://schemas.microsoft.com/office/drawing/2014/main" id="{B7F3C26C-66A3-BD70-6777-DCC3CB09C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237" y="0"/>
            <a:ext cx="5465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158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306A-A8D2-CFD9-8B07-09D28E0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FDA Device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E09-E1B1-622B-E053-0259063F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n-US" dirty="0"/>
              <a:t>Class I: Low risk (e.g., stethoscope) – usually exempt.</a:t>
            </a:r>
          </a:p>
          <a:p>
            <a:r>
              <a:rPr lang="en-US" dirty="0"/>
              <a:t>Class II: Moderate risk – majority of AI devices fall here.</a:t>
            </a:r>
          </a:p>
          <a:p>
            <a:r>
              <a:rPr lang="en-US" dirty="0"/>
              <a:t>Class III: High risk – life-supporting or life-sustaining, needs PMA.</a:t>
            </a:r>
          </a:p>
        </p:txBody>
      </p:sp>
      <p:pic>
        <p:nvPicPr>
          <p:cNvPr id="5123" name="Picture 3" descr="FDA Medical Device Classes">
            <a:extLst>
              <a:ext uri="{FF2B5EF4-FFF2-40B4-BE49-F238E27FC236}">
                <a16:creationId xmlns:a16="http://schemas.microsoft.com/office/drawing/2014/main" id="{43582003-A842-1B7F-3200-EA6663104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90" y="3429000"/>
            <a:ext cx="10548484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148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C7E2-F59B-EAD4-680F-37F1F062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7F0A-3646-22B7-612C-D3722DB0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FDA Device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4BD6-4DC8-E21C-1F42-5ECB7948F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n-US" dirty="0"/>
              <a:t>Class I: 510k eligible </a:t>
            </a:r>
          </a:p>
          <a:p>
            <a:r>
              <a:rPr lang="en-US" dirty="0"/>
              <a:t>Class II: 510k eligible </a:t>
            </a:r>
          </a:p>
          <a:p>
            <a:r>
              <a:rPr lang="en-US" dirty="0"/>
              <a:t>Class III: Needs pre-market approval</a:t>
            </a:r>
          </a:p>
        </p:txBody>
      </p:sp>
    </p:spTree>
    <p:extLst>
      <p:ext uri="{BB962C8B-B14F-4D97-AF65-F5344CB8AC3E}">
        <p14:creationId xmlns:p14="http://schemas.microsoft.com/office/powerpoint/2010/main" val="1833581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C8DA-0396-A071-D32B-4281BE23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 Market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2309-E184-96BF-A241-05AE1E33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Needed for high risk medical devices</a:t>
            </a:r>
          </a:p>
          <a:p>
            <a:r>
              <a:rPr lang="en-US" dirty="0"/>
              <a:t>Design a study for use </a:t>
            </a:r>
          </a:p>
          <a:p>
            <a:r>
              <a:rPr lang="en-US" dirty="0"/>
              <a:t>During the study, obtain an investigational device exemption for the experimental device</a:t>
            </a:r>
          </a:p>
          <a:p>
            <a:r>
              <a:rPr lang="en-US" dirty="0"/>
              <a:t>Then, FDA reviews data for clinical approval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298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A773-992B-635D-859B-1FE977CF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8A80-1858-5CF5-BBAE-6D30DF84B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Intro</a:t>
            </a:r>
          </a:p>
          <a:p>
            <a:r>
              <a:rPr lang="en-US" dirty="0"/>
              <a:t>Practice by coming up with a clinical question of your own</a:t>
            </a:r>
          </a:p>
        </p:txBody>
      </p:sp>
    </p:spTree>
    <p:extLst>
      <p:ext uri="{BB962C8B-B14F-4D97-AF65-F5344CB8AC3E}">
        <p14:creationId xmlns:p14="http://schemas.microsoft.com/office/powerpoint/2010/main" val="2955908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C4D1-9D0F-3C2C-9493-9382242F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049" y="2766218"/>
            <a:ext cx="10515600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49880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</TotalTime>
  <Words>1571</Words>
  <Application>Microsoft Office PowerPoint</Application>
  <PresentationFormat>Widescreen</PresentationFormat>
  <Paragraphs>189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Intro to AI in Medicine</vt:lpstr>
      <vt:lpstr>Last Time</vt:lpstr>
      <vt:lpstr>This Time</vt:lpstr>
      <vt:lpstr>Bias in Data </vt:lpstr>
      <vt:lpstr>Types of bias we discussed…</vt:lpstr>
      <vt:lpstr>Recall</vt:lpstr>
      <vt:lpstr>Case Study</vt:lpstr>
      <vt:lpstr>Case Study</vt:lpstr>
      <vt:lpstr>Case Study</vt:lpstr>
      <vt:lpstr>Case Study</vt:lpstr>
      <vt:lpstr>Case Study </vt:lpstr>
      <vt:lpstr>Definitions of Fairness</vt:lpstr>
      <vt:lpstr>Definitions of Fairness</vt:lpstr>
      <vt:lpstr>The Impossibility Theorem</vt:lpstr>
      <vt:lpstr>Practical Steps to Mitigate Bias</vt:lpstr>
      <vt:lpstr>Practical Steps to Mitigate Bias</vt:lpstr>
      <vt:lpstr>Case Study</vt:lpstr>
      <vt:lpstr>Case Study</vt:lpstr>
      <vt:lpstr>Case Study</vt:lpstr>
      <vt:lpstr>Results</vt:lpstr>
      <vt:lpstr>Pathways for Medical Device Approval</vt:lpstr>
      <vt:lpstr>510(k) Pathway for Medical Devices</vt:lpstr>
      <vt:lpstr>Addressing Data Drift</vt:lpstr>
      <vt:lpstr>De Novo Device Approval</vt:lpstr>
      <vt:lpstr>FDA Device Classification</vt:lpstr>
      <vt:lpstr>FDA Device Classification</vt:lpstr>
      <vt:lpstr>Pre Market Authorization</vt:lpstr>
      <vt:lpstr>Next time: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4</cp:revision>
  <dcterms:created xsi:type="dcterms:W3CDTF">2025-10-24T18:11:29Z</dcterms:created>
  <dcterms:modified xsi:type="dcterms:W3CDTF">2026-07-12T21:14:46Z</dcterms:modified>
</cp:coreProperties>
</file>
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69" r:id="rId5"/>
    <p:sldId id="261" r:id="rId6"/>
    <p:sldId id="259" r:id="rId7"/>
    <p:sldId id="260" r:id="rId8"/>
    <p:sldId id="262" r:id="rId9"/>
    <p:sldId id="263" r:id="rId10"/>
    <p:sldId id="264" r:id="rId11"/>
    <p:sldId id="265" r:id="rId12"/>
    <p:sldId id="266" r:id="rId13"/>
    <p:sldId id="267" r:id="rId14"/>
    <p:sldId id="268"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071" autoAdjust="0"/>
  </p:normalViewPr>
  <p:slideViewPr>
    <p:cSldViewPr snapToGrid="0">
      <p:cViewPr varScale="1">
        <p:scale>
          <a:sx n="47" d="100"/>
          <a:sy n="47" d="100"/>
        </p:scale>
        <p:origin x="14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4E228-1542-431D-A969-74EF74C85870}"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0274D6-D8BB-44E8-A255-8CBF6D77AAF5}" type="slidenum">
              <a:rPr lang="en-US" smtClean="0"/>
              <a:t>‹#›</a:t>
            </a:fld>
            <a:endParaRPr lang="en-US"/>
          </a:p>
        </p:txBody>
      </p:sp>
    </p:spTree>
    <p:extLst>
      <p:ext uri="{BB962C8B-B14F-4D97-AF65-F5344CB8AC3E}">
        <p14:creationId xmlns:p14="http://schemas.microsoft.com/office/powerpoint/2010/main" val="221842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data can cause inaccuracies or propagate bias</a:t>
            </a:r>
          </a:p>
          <a:p>
            <a:r>
              <a:rPr lang="en-US" dirty="0"/>
              <a:t>Data: Could be left out a variable, data </a:t>
            </a:r>
          </a:p>
          <a:p>
            <a:r>
              <a:rPr lang="en-US" dirty="0"/>
              <a:t>Overfit: model too big </a:t>
            </a:r>
          </a:p>
          <a:p>
            <a:endParaRPr lang="en-US" dirty="0"/>
          </a:p>
        </p:txBody>
      </p:sp>
      <p:sp>
        <p:nvSpPr>
          <p:cNvPr id="4" name="Slide Number Placeholder 3"/>
          <p:cNvSpPr>
            <a:spLocks noGrp="1"/>
          </p:cNvSpPr>
          <p:nvPr>
            <p:ph type="sldNum" sz="quarter" idx="5"/>
          </p:nvPr>
        </p:nvSpPr>
        <p:spPr/>
        <p:txBody>
          <a:bodyPr/>
          <a:lstStyle/>
          <a:p>
            <a:fld id="{2C0274D6-D8BB-44E8-A255-8CBF6D77AAF5}" type="slidenum">
              <a:rPr lang="en-US" smtClean="0"/>
              <a:t>6</a:t>
            </a:fld>
            <a:endParaRPr lang="en-US"/>
          </a:p>
        </p:txBody>
      </p:sp>
    </p:spTree>
    <p:extLst>
      <p:ext uri="{BB962C8B-B14F-4D97-AF65-F5344CB8AC3E}">
        <p14:creationId xmlns:p14="http://schemas.microsoft.com/office/powerpoint/2010/main" val="201449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learned all these things for a reason – now we understand how they can cause issues at a macro scale</a:t>
            </a:r>
          </a:p>
        </p:txBody>
      </p:sp>
      <p:sp>
        <p:nvSpPr>
          <p:cNvPr id="4" name="Slide Number Placeholder 3"/>
          <p:cNvSpPr>
            <a:spLocks noGrp="1"/>
          </p:cNvSpPr>
          <p:nvPr>
            <p:ph type="sldNum" sz="quarter" idx="5"/>
          </p:nvPr>
        </p:nvSpPr>
        <p:spPr/>
        <p:txBody>
          <a:bodyPr/>
          <a:lstStyle/>
          <a:p>
            <a:fld id="{2C0274D6-D8BB-44E8-A255-8CBF6D77AAF5}" type="slidenum">
              <a:rPr lang="en-US" smtClean="0"/>
              <a:t>7</a:t>
            </a:fld>
            <a:endParaRPr lang="en-US"/>
          </a:p>
        </p:txBody>
      </p:sp>
    </p:spTree>
    <p:extLst>
      <p:ext uri="{BB962C8B-B14F-4D97-AF65-F5344CB8AC3E}">
        <p14:creationId xmlns:p14="http://schemas.microsoft.com/office/powerpoint/2010/main" val="1259831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Robotics (washing the dishes) – poorly digitizable</a:t>
            </a:r>
          </a:p>
          <a:p>
            <a:r>
              <a:rPr lang="en-US" dirty="0"/>
              <a:t>Next character prediction – very digitizable</a:t>
            </a:r>
          </a:p>
        </p:txBody>
      </p:sp>
      <p:sp>
        <p:nvSpPr>
          <p:cNvPr id="4" name="Slide Number Placeholder 3"/>
          <p:cNvSpPr>
            <a:spLocks noGrp="1"/>
          </p:cNvSpPr>
          <p:nvPr>
            <p:ph type="sldNum" sz="quarter" idx="5"/>
          </p:nvPr>
        </p:nvSpPr>
        <p:spPr/>
        <p:txBody>
          <a:bodyPr/>
          <a:lstStyle/>
          <a:p>
            <a:fld id="{2C0274D6-D8BB-44E8-A255-8CBF6D77AAF5}" type="slidenum">
              <a:rPr lang="en-US" smtClean="0"/>
              <a:t>8</a:t>
            </a:fld>
            <a:endParaRPr lang="en-US"/>
          </a:p>
        </p:txBody>
      </p:sp>
    </p:spTree>
    <p:extLst>
      <p:ext uri="{BB962C8B-B14F-4D97-AF65-F5344CB8AC3E}">
        <p14:creationId xmlns:p14="http://schemas.microsoft.com/office/powerpoint/2010/main" val="1809234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Blots: Imagine you were in a room and someone slid under the door pictures of </a:t>
            </a:r>
            <a:r>
              <a:rPr lang="en-US" dirty="0" err="1"/>
              <a:t>rorshach</a:t>
            </a:r>
            <a:r>
              <a:rPr lang="en-US" dirty="0"/>
              <a:t> blots. You put them in ½ slots. If you miss, you get an electric shock, if you get right, you get food. Over time you learn that darker pictures are more likely to get you the reward. Over more time you learn that darkness in the bottom left gets a reward</a:t>
            </a:r>
          </a:p>
          <a:p>
            <a:r>
              <a:rPr lang="en-US" dirty="0"/>
              <a:t>Same as pneumonia detection</a:t>
            </a:r>
          </a:p>
          <a:p>
            <a:endParaRPr lang="en-US" dirty="0"/>
          </a:p>
          <a:p>
            <a:r>
              <a:rPr lang="en-US" dirty="0"/>
              <a:t>Trees: Imagine if someone slid pictures of trees under the door. You had to return an essay explaining how tree microbiology works. No chance, no matter how much time you have. </a:t>
            </a:r>
          </a:p>
        </p:txBody>
      </p:sp>
      <p:sp>
        <p:nvSpPr>
          <p:cNvPr id="4" name="Slide Number Placeholder 3"/>
          <p:cNvSpPr>
            <a:spLocks noGrp="1"/>
          </p:cNvSpPr>
          <p:nvPr>
            <p:ph type="sldNum" sz="quarter" idx="5"/>
          </p:nvPr>
        </p:nvSpPr>
        <p:spPr/>
        <p:txBody>
          <a:bodyPr/>
          <a:lstStyle/>
          <a:p>
            <a:fld id="{2C0274D6-D8BB-44E8-A255-8CBF6D77AAF5}" type="slidenum">
              <a:rPr lang="en-US" smtClean="0"/>
              <a:t>11</a:t>
            </a:fld>
            <a:endParaRPr lang="en-US"/>
          </a:p>
        </p:txBody>
      </p:sp>
    </p:spTree>
    <p:extLst>
      <p:ext uri="{BB962C8B-B14F-4D97-AF65-F5344CB8AC3E}">
        <p14:creationId xmlns:p14="http://schemas.microsoft.com/office/powerpoint/2010/main" val="1928285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Spreadsheet shuffling, translation, librarian</a:t>
            </a:r>
          </a:p>
          <a:p>
            <a:r>
              <a:rPr lang="en-US" dirty="0"/>
              <a:t>Computer programmer</a:t>
            </a:r>
          </a:p>
          <a:p>
            <a:r>
              <a:rPr lang="en-US" dirty="0"/>
              <a:t>Factory worker</a:t>
            </a:r>
          </a:p>
          <a:p>
            <a:r>
              <a:rPr lang="en-US" dirty="0"/>
              <a:t>Surgeon</a:t>
            </a:r>
          </a:p>
          <a:p>
            <a:endParaRPr lang="en-US" dirty="0"/>
          </a:p>
          <a:p>
            <a:r>
              <a:rPr lang="en-US" dirty="0"/>
              <a:t>How fast can you calculate loss from one datapoint</a:t>
            </a:r>
          </a:p>
        </p:txBody>
      </p:sp>
      <p:sp>
        <p:nvSpPr>
          <p:cNvPr id="4" name="Slide Number Placeholder 3"/>
          <p:cNvSpPr>
            <a:spLocks noGrp="1"/>
          </p:cNvSpPr>
          <p:nvPr>
            <p:ph type="sldNum" sz="quarter" idx="5"/>
          </p:nvPr>
        </p:nvSpPr>
        <p:spPr/>
        <p:txBody>
          <a:bodyPr/>
          <a:lstStyle/>
          <a:p>
            <a:fld id="{2C0274D6-D8BB-44E8-A255-8CBF6D77AAF5}" type="slidenum">
              <a:rPr lang="en-US" smtClean="0"/>
              <a:t>12</a:t>
            </a:fld>
            <a:endParaRPr lang="en-US"/>
          </a:p>
        </p:txBody>
      </p:sp>
    </p:spTree>
    <p:extLst>
      <p:ext uri="{BB962C8B-B14F-4D97-AF65-F5344CB8AC3E}">
        <p14:creationId xmlns:p14="http://schemas.microsoft.com/office/powerpoint/2010/main" val="2979369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6C19-5BD3-94F0-228F-4D60AC3386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D8B2EE-1836-80F2-75CA-C88F2CF908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605090-605E-D169-7D1B-335F7CA5E081}"/>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5" name="Footer Placeholder 4">
            <a:extLst>
              <a:ext uri="{FF2B5EF4-FFF2-40B4-BE49-F238E27FC236}">
                <a16:creationId xmlns:a16="http://schemas.microsoft.com/office/drawing/2014/main" id="{F57D45E7-8F63-A85B-C33F-E118387B7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587D7-9D50-40EE-3109-957D8CD96367}"/>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3995832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7165C-2993-D693-E656-267202E071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1B9A86-2898-8581-A45D-60139B2D41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E86043-549F-4CC3-2179-6AA16FCCDA87}"/>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5" name="Footer Placeholder 4">
            <a:extLst>
              <a:ext uri="{FF2B5EF4-FFF2-40B4-BE49-F238E27FC236}">
                <a16:creationId xmlns:a16="http://schemas.microsoft.com/office/drawing/2014/main" id="{87F82960-0224-B117-614A-74A0F042BF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81C7D-122F-E7D0-3B0B-25EE87627510}"/>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166644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B968-3D4E-1CC5-A39F-C843983602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49396F-F6FD-8689-2DF9-CA0BC06721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C504F2-2AF6-A0EA-3103-83229352D601}"/>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5" name="Footer Placeholder 4">
            <a:extLst>
              <a:ext uri="{FF2B5EF4-FFF2-40B4-BE49-F238E27FC236}">
                <a16:creationId xmlns:a16="http://schemas.microsoft.com/office/drawing/2014/main" id="{E0C7F9A0-3DE3-F48B-EF64-34ABFD637F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CD823-18F3-B32E-C702-BDF0CFA85B7F}"/>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1432757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5644-D3FA-1A71-1405-926C714640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11824B-3887-1E6D-63DE-C66E13150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5FC223-8AD6-7B3E-9445-805CBA65EE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340439-9797-3421-0717-5E04D99D8E1E}"/>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6" name="Footer Placeholder 5">
            <a:extLst>
              <a:ext uri="{FF2B5EF4-FFF2-40B4-BE49-F238E27FC236}">
                <a16:creationId xmlns:a16="http://schemas.microsoft.com/office/drawing/2014/main" id="{7687EB2D-5DA1-59E4-2D85-9A29FD1DD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8D8101-A16A-7663-447D-FDA2757B282F}"/>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123552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7D72A-3BD0-06D2-3C30-A36C29864D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54DD87-E85D-C9D3-2240-81AF4B0B84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06540C-7CD9-0FAD-EC20-68691E785F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60C3C7-657F-FE6E-5C4F-65266376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B35583-8B8D-E363-158B-8CA6FB2395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36A479-ED98-64D2-8C66-BA6BBFDF3988}"/>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8" name="Footer Placeholder 7">
            <a:extLst>
              <a:ext uri="{FF2B5EF4-FFF2-40B4-BE49-F238E27FC236}">
                <a16:creationId xmlns:a16="http://schemas.microsoft.com/office/drawing/2014/main" id="{9E5F2EC6-42AF-A88F-5FFD-A831142C6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F938EB-E077-BC10-5C6E-09C022746DA1}"/>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143999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7430-A273-34F7-DADB-7D2383B966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9C0ACA-9AC5-248F-3CF5-AC02C1B3D4B7}"/>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4" name="Footer Placeholder 3">
            <a:extLst>
              <a:ext uri="{FF2B5EF4-FFF2-40B4-BE49-F238E27FC236}">
                <a16:creationId xmlns:a16="http://schemas.microsoft.com/office/drawing/2014/main" id="{3868C2F0-6B5B-D9D8-4D2E-C3E4B6DFDF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DAC6E5-3625-36D6-70E1-7E90CE7A9E41}"/>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578983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ED4CDC-C598-2C12-C590-CF80771ABC9B}"/>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3" name="Footer Placeholder 2">
            <a:extLst>
              <a:ext uri="{FF2B5EF4-FFF2-40B4-BE49-F238E27FC236}">
                <a16:creationId xmlns:a16="http://schemas.microsoft.com/office/drawing/2014/main" id="{C2FF7316-2178-F97E-906F-21E990488A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43D2F5-0662-CDE3-DAB0-9028AECE9E2F}"/>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196470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1E2DE-C6C2-3DD2-1926-1925A72662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4691A1-A52F-4C73-B075-7194F7C2CF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DE2ADC-75E4-2080-7ADD-A82944B89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014629-C662-C230-8432-E9E26B4893A2}"/>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6" name="Footer Placeholder 5">
            <a:extLst>
              <a:ext uri="{FF2B5EF4-FFF2-40B4-BE49-F238E27FC236}">
                <a16:creationId xmlns:a16="http://schemas.microsoft.com/office/drawing/2014/main" id="{BCF30FA1-36D8-8A10-A41A-63E0CA74FC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1E0C8-6A42-8968-E7AC-FB7E4B751BAD}"/>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1666657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056D-6601-C9DA-62A2-29989211D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24906D-EEAD-E9AE-F52E-8DC1BAEE7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BE3995-EA41-DA14-319F-30E2FC2B9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A49F9A-7F45-6F82-AFE2-34CE9C3B64F8}"/>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6" name="Footer Placeholder 5">
            <a:extLst>
              <a:ext uri="{FF2B5EF4-FFF2-40B4-BE49-F238E27FC236}">
                <a16:creationId xmlns:a16="http://schemas.microsoft.com/office/drawing/2014/main" id="{5E02DE9C-4259-1B16-A45A-73A666C59C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B1AE19-538B-2AE8-4FDA-65AE758EBCFC}"/>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68647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77539-9D21-6E78-ED39-A7BDFC15A8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457996-D0D0-4786-617E-354389FCBE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DCFB7-ADDE-2CF8-FA77-51C61B98D21E}"/>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5" name="Footer Placeholder 4">
            <a:extLst>
              <a:ext uri="{FF2B5EF4-FFF2-40B4-BE49-F238E27FC236}">
                <a16:creationId xmlns:a16="http://schemas.microsoft.com/office/drawing/2014/main" id="{1AEF7057-EF76-A7BD-AEB6-BCDD32777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85730-51C9-4956-4B66-0A0CB4489CF2}"/>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362327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E3D0E7-1F1F-8D03-D1F4-11007D420A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929058-4DBC-A26A-AE14-2F45474EDA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B209C6-EC9F-84C5-4258-265681C9C784}"/>
              </a:ext>
            </a:extLst>
          </p:cNvPr>
          <p:cNvSpPr>
            <a:spLocks noGrp="1"/>
          </p:cNvSpPr>
          <p:nvPr>
            <p:ph type="dt" sz="half" idx="10"/>
          </p:nvPr>
        </p:nvSpPr>
        <p:spPr/>
        <p:txBody>
          <a:bodyPr/>
          <a:lstStyle/>
          <a:p>
            <a:fld id="{421D5B1A-AFAB-4275-9E95-91D07E3D4DAA}" type="datetimeFigureOut">
              <a:rPr lang="en-US" smtClean="0"/>
              <a:t>11/18/2025</a:t>
            </a:fld>
            <a:endParaRPr lang="en-US"/>
          </a:p>
        </p:txBody>
      </p:sp>
      <p:sp>
        <p:nvSpPr>
          <p:cNvPr id="5" name="Footer Placeholder 4">
            <a:extLst>
              <a:ext uri="{FF2B5EF4-FFF2-40B4-BE49-F238E27FC236}">
                <a16:creationId xmlns:a16="http://schemas.microsoft.com/office/drawing/2014/main" id="{1B69EFD3-DFD1-153C-6FC1-A83BEF1F7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C3D2B-0224-D06B-0A82-3505816632D1}"/>
              </a:ext>
            </a:extLst>
          </p:cNvPr>
          <p:cNvSpPr>
            <a:spLocks noGrp="1"/>
          </p:cNvSpPr>
          <p:nvPr>
            <p:ph type="sldNum" sz="quarter" idx="12"/>
          </p:nvPr>
        </p:nvSpPr>
        <p:spPr/>
        <p:txBody>
          <a:bodyPr/>
          <a:lstStyle/>
          <a:p>
            <a:fld id="{7F0BCCCB-B97E-40C3-A1E3-0D0EAE3129FA}" type="slidenum">
              <a:rPr lang="en-US" smtClean="0"/>
              <a:t>‹#›</a:t>
            </a:fld>
            <a:endParaRPr lang="en-US"/>
          </a:p>
        </p:txBody>
      </p:sp>
    </p:spTree>
    <p:extLst>
      <p:ext uri="{BB962C8B-B14F-4D97-AF65-F5344CB8AC3E}">
        <p14:creationId xmlns:p14="http://schemas.microsoft.com/office/powerpoint/2010/main" val="4111053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24B63-B10B-BCF2-5C6F-47017CC52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BBE7A6-6921-BEE3-8E76-96E689E86C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A866DC-D96B-9AA0-5EDD-C3E58D0785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1D5B1A-AFAB-4275-9E95-91D07E3D4DAA}" type="datetimeFigureOut">
              <a:rPr lang="en-US" smtClean="0"/>
              <a:t>11/18/2025</a:t>
            </a:fld>
            <a:endParaRPr lang="en-US"/>
          </a:p>
        </p:txBody>
      </p:sp>
      <p:sp>
        <p:nvSpPr>
          <p:cNvPr id="5" name="Footer Placeholder 4">
            <a:extLst>
              <a:ext uri="{FF2B5EF4-FFF2-40B4-BE49-F238E27FC236}">
                <a16:creationId xmlns:a16="http://schemas.microsoft.com/office/drawing/2014/main" id="{EE1F76FB-6F7E-7276-5A3D-014E027F47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3285E29-2C5E-610B-5CE1-2C5E57595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0BCCCB-B97E-40C3-A1E3-0D0EAE3129FA}" type="slidenum">
              <a:rPr lang="en-US" smtClean="0"/>
              <a:t>‹#›</a:t>
            </a:fld>
            <a:endParaRPr lang="en-US"/>
          </a:p>
        </p:txBody>
      </p:sp>
    </p:spTree>
    <p:extLst>
      <p:ext uri="{BB962C8B-B14F-4D97-AF65-F5344CB8AC3E}">
        <p14:creationId xmlns:p14="http://schemas.microsoft.com/office/powerpoint/2010/main" val="4016784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A6CA8-CC63-6925-25F1-DF57E3F2FD46}"/>
              </a:ext>
            </a:extLst>
          </p:cNvPr>
          <p:cNvSpPr>
            <a:spLocks noGrp="1"/>
          </p:cNvSpPr>
          <p:nvPr>
            <p:ph type="ctrTitle"/>
          </p:nvPr>
        </p:nvSpPr>
        <p:spPr/>
        <p:txBody>
          <a:bodyPr/>
          <a:lstStyle/>
          <a:p>
            <a:r>
              <a:rPr lang="en-US" dirty="0"/>
              <a:t>Intro to AI in Medicine</a:t>
            </a:r>
          </a:p>
        </p:txBody>
      </p:sp>
      <p:sp>
        <p:nvSpPr>
          <p:cNvPr id="3" name="Subtitle 2">
            <a:extLst>
              <a:ext uri="{FF2B5EF4-FFF2-40B4-BE49-F238E27FC236}">
                <a16:creationId xmlns:a16="http://schemas.microsoft.com/office/drawing/2014/main" id="{162D6562-77B8-3915-137B-C8D2427884EC}"/>
              </a:ext>
            </a:extLst>
          </p:cNvPr>
          <p:cNvSpPr>
            <a:spLocks noGrp="1"/>
          </p:cNvSpPr>
          <p:nvPr>
            <p:ph type="subTitle" idx="1"/>
          </p:nvPr>
        </p:nvSpPr>
        <p:spPr/>
        <p:txBody>
          <a:bodyPr/>
          <a:lstStyle/>
          <a:p>
            <a:r>
              <a:rPr lang="en-US" dirty="0" err="1"/>
              <a:t>Lec</a:t>
            </a:r>
            <a:r>
              <a:rPr lang="en-US" dirty="0"/>
              <a:t> 17: When to use AI/Final Lecture</a:t>
            </a:r>
          </a:p>
        </p:txBody>
      </p:sp>
    </p:spTree>
    <p:extLst>
      <p:ext uri="{BB962C8B-B14F-4D97-AF65-F5344CB8AC3E}">
        <p14:creationId xmlns:p14="http://schemas.microsoft.com/office/powerpoint/2010/main" val="273395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1EC90-23B9-DEAA-9482-33EEE1FF07AC}"/>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0CA8791-3A6F-EC9E-2AA8-CD3B593C0876}"/>
              </a:ext>
            </a:extLst>
          </p:cNvPr>
          <p:cNvSpPr>
            <a:spLocks noGrp="1"/>
          </p:cNvSpPr>
          <p:nvPr>
            <p:ph idx="1"/>
          </p:nvPr>
        </p:nvSpPr>
        <p:spPr/>
        <p:txBody>
          <a:bodyPr/>
          <a:lstStyle/>
          <a:p>
            <a:r>
              <a:rPr lang="en-US" dirty="0"/>
              <a:t>Interactive case study</a:t>
            </a:r>
          </a:p>
          <a:p>
            <a:r>
              <a:rPr lang="en-US" dirty="0"/>
              <a:t>Practiced talking to people with different backgrounds, who were experts in different areas and synthesizing recommendations</a:t>
            </a:r>
          </a:p>
          <a:p>
            <a:r>
              <a:rPr lang="en-US" dirty="0"/>
              <a:t>Learned that stakeholders have variable motivations</a:t>
            </a:r>
          </a:p>
          <a:p>
            <a:r>
              <a:rPr lang="en-US" dirty="0"/>
              <a:t>Any thoughts 2 days later?</a:t>
            </a:r>
          </a:p>
        </p:txBody>
      </p:sp>
    </p:spTree>
    <p:extLst>
      <p:ext uri="{BB962C8B-B14F-4D97-AF65-F5344CB8AC3E}">
        <p14:creationId xmlns:p14="http://schemas.microsoft.com/office/powerpoint/2010/main" val="2991911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250B1-B155-0DDE-EA82-4C4F42051B31}"/>
              </a:ext>
            </a:extLst>
          </p:cNvPr>
          <p:cNvSpPr>
            <a:spLocks noGrp="1"/>
          </p:cNvSpPr>
          <p:nvPr>
            <p:ph type="title"/>
          </p:nvPr>
        </p:nvSpPr>
        <p:spPr/>
        <p:txBody>
          <a:bodyPr/>
          <a:lstStyle/>
          <a:p>
            <a:r>
              <a:rPr lang="en-US" dirty="0"/>
              <a:t>This time</a:t>
            </a:r>
          </a:p>
        </p:txBody>
      </p:sp>
      <p:sp>
        <p:nvSpPr>
          <p:cNvPr id="3" name="Content Placeholder 2">
            <a:extLst>
              <a:ext uri="{FF2B5EF4-FFF2-40B4-BE49-F238E27FC236}">
                <a16:creationId xmlns:a16="http://schemas.microsoft.com/office/drawing/2014/main" id="{CE3B4C07-F3AE-7133-9C16-2795D3C231A0}"/>
              </a:ext>
            </a:extLst>
          </p:cNvPr>
          <p:cNvSpPr>
            <a:spLocks noGrp="1"/>
          </p:cNvSpPr>
          <p:nvPr>
            <p:ph idx="1"/>
          </p:nvPr>
        </p:nvSpPr>
        <p:spPr/>
        <p:txBody>
          <a:bodyPr/>
          <a:lstStyle/>
          <a:p>
            <a:r>
              <a:rPr lang="en-US" dirty="0"/>
              <a:t>Last lecture</a:t>
            </a:r>
          </a:p>
          <a:p>
            <a:r>
              <a:rPr lang="en-US" dirty="0"/>
              <a:t>Discussing intuition on AI and when to use it – and when not to</a:t>
            </a:r>
          </a:p>
          <a:p>
            <a:endParaRPr lang="en-US" dirty="0"/>
          </a:p>
        </p:txBody>
      </p:sp>
    </p:spTree>
    <p:extLst>
      <p:ext uri="{BB962C8B-B14F-4D97-AF65-F5344CB8AC3E}">
        <p14:creationId xmlns:p14="http://schemas.microsoft.com/office/powerpoint/2010/main" val="2276186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EF19-F1EC-23C3-CAA0-C5D25CE702EC}"/>
              </a:ext>
            </a:extLst>
          </p:cNvPr>
          <p:cNvSpPr>
            <a:spLocks noGrp="1"/>
          </p:cNvSpPr>
          <p:nvPr>
            <p:ph type="title"/>
          </p:nvPr>
        </p:nvSpPr>
        <p:spPr/>
        <p:txBody>
          <a:bodyPr/>
          <a:lstStyle/>
          <a:p>
            <a:r>
              <a:rPr lang="en-US" dirty="0"/>
              <a:t>Final Project</a:t>
            </a:r>
          </a:p>
        </p:txBody>
      </p:sp>
      <p:sp>
        <p:nvSpPr>
          <p:cNvPr id="3" name="Content Placeholder 2">
            <a:extLst>
              <a:ext uri="{FF2B5EF4-FFF2-40B4-BE49-F238E27FC236}">
                <a16:creationId xmlns:a16="http://schemas.microsoft.com/office/drawing/2014/main" id="{D3418919-2FE9-350A-20ED-95DE718B998B}"/>
              </a:ext>
            </a:extLst>
          </p:cNvPr>
          <p:cNvSpPr>
            <a:spLocks noGrp="1"/>
          </p:cNvSpPr>
          <p:nvPr>
            <p:ph idx="1"/>
          </p:nvPr>
        </p:nvSpPr>
        <p:spPr/>
        <p:txBody>
          <a:bodyPr/>
          <a:lstStyle/>
          <a:p>
            <a:r>
              <a:rPr lang="en-US" dirty="0"/>
              <a:t>Due Sunday 11:59 PM to me over email</a:t>
            </a:r>
          </a:p>
          <a:p>
            <a:r>
              <a:rPr lang="en-US" dirty="0"/>
              <a:t>Will stay today to answer questions</a:t>
            </a:r>
          </a:p>
          <a:p>
            <a:r>
              <a:rPr lang="en-US" dirty="0"/>
              <a:t>No other office hours but will be reachable via email, text, dm</a:t>
            </a:r>
          </a:p>
          <a:p>
            <a:r>
              <a:rPr lang="en-US" dirty="0"/>
              <a:t>If you will have &lt;15 classes attended by next Monday, passing is higher for you than 70%</a:t>
            </a:r>
          </a:p>
        </p:txBody>
      </p:sp>
    </p:spTree>
    <p:extLst>
      <p:ext uri="{BB962C8B-B14F-4D97-AF65-F5344CB8AC3E}">
        <p14:creationId xmlns:p14="http://schemas.microsoft.com/office/powerpoint/2010/main" val="1452701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AE30-4632-8813-C216-C975F0FB1EC3}"/>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1273F803-44DF-C981-4998-85D86E233FE6}"/>
              </a:ext>
            </a:extLst>
          </p:cNvPr>
          <p:cNvSpPr>
            <a:spLocks noGrp="1"/>
          </p:cNvSpPr>
          <p:nvPr>
            <p:ph idx="1"/>
          </p:nvPr>
        </p:nvSpPr>
        <p:spPr/>
        <p:txBody>
          <a:bodyPr/>
          <a:lstStyle/>
          <a:p>
            <a:r>
              <a:rPr lang="en-US" dirty="0"/>
              <a:t>What are some ways this semester we’ve seen AI fail to achieve it’s intended goal?</a:t>
            </a:r>
          </a:p>
          <a:p>
            <a:endParaRPr lang="en-US" dirty="0"/>
          </a:p>
        </p:txBody>
      </p:sp>
    </p:spTree>
    <p:extLst>
      <p:ext uri="{BB962C8B-B14F-4D97-AF65-F5344CB8AC3E}">
        <p14:creationId xmlns:p14="http://schemas.microsoft.com/office/powerpoint/2010/main" val="1681654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DAB47-16F2-1167-C37F-F9CDFF69CA59}"/>
              </a:ext>
            </a:extLst>
          </p:cNvPr>
          <p:cNvSpPr>
            <a:spLocks noGrp="1"/>
          </p:cNvSpPr>
          <p:nvPr>
            <p:ph type="title"/>
          </p:nvPr>
        </p:nvSpPr>
        <p:spPr/>
        <p:txBody>
          <a:bodyPr/>
          <a:lstStyle/>
          <a:p>
            <a:r>
              <a:rPr lang="en-US" dirty="0"/>
              <a:t>AI Failure Modes</a:t>
            </a:r>
          </a:p>
        </p:txBody>
      </p:sp>
      <p:sp>
        <p:nvSpPr>
          <p:cNvPr id="3" name="Content Placeholder 2">
            <a:extLst>
              <a:ext uri="{FF2B5EF4-FFF2-40B4-BE49-F238E27FC236}">
                <a16:creationId xmlns:a16="http://schemas.microsoft.com/office/drawing/2014/main" id="{B70A9CE0-07B2-79FD-21D8-7726046D1EE4}"/>
              </a:ext>
            </a:extLst>
          </p:cNvPr>
          <p:cNvSpPr>
            <a:spLocks noGrp="1"/>
          </p:cNvSpPr>
          <p:nvPr>
            <p:ph idx="1"/>
          </p:nvPr>
        </p:nvSpPr>
        <p:spPr/>
        <p:txBody>
          <a:bodyPr/>
          <a:lstStyle/>
          <a:p>
            <a:r>
              <a:rPr lang="en-US" dirty="0"/>
              <a:t>Low awareness of clinical consequences</a:t>
            </a:r>
          </a:p>
          <a:p>
            <a:r>
              <a:rPr lang="en-US" dirty="0"/>
              <a:t>Data that does not reflect reality</a:t>
            </a:r>
          </a:p>
          <a:p>
            <a:r>
              <a:rPr lang="en-US" dirty="0"/>
              <a:t>Fitting to noise, not signal</a:t>
            </a:r>
          </a:p>
          <a:p>
            <a:r>
              <a:rPr lang="en-US" dirty="0"/>
              <a:t>Imprecision in a well-defined workflow (use what instead?)</a:t>
            </a:r>
          </a:p>
          <a:p>
            <a:r>
              <a:rPr lang="en-US" dirty="0"/>
              <a:t>Goals of AI and humans misaligned</a:t>
            </a:r>
          </a:p>
          <a:p>
            <a:r>
              <a:rPr lang="en-US" dirty="0"/>
              <a:t>Resource intensive</a:t>
            </a:r>
          </a:p>
        </p:txBody>
      </p:sp>
    </p:spTree>
    <p:extLst>
      <p:ext uri="{BB962C8B-B14F-4D97-AF65-F5344CB8AC3E}">
        <p14:creationId xmlns:p14="http://schemas.microsoft.com/office/powerpoint/2010/main" val="3693767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6DDFFCF7-4AEE-4B91-29E3-D35DAF7CFDF1}"/>
              </a:ext>
            </a:extLst>
          </p:cNvPr>
          <p:cNvGraphicFramePr>
            <a:graphicFrameLocks/>
          </p:cNvGraphicFramePr>
          <p:nvPr>
            <p:extLst>
              <p:ext uri="{D42A27DB-BD31-4B8C-83A1-F6EECF244321}">
                <p14:modId xmlns:p14="http://schemas.microsoft.com/office/powerpoint/2010/main" val="1434791014"/>
              </p:ext>
            </p:extLst>
          </p:nvPr>
        </p:nvGraphicFramePr>
        <p:xfrm>
          <a:off x="1576137" y="746481"/>
          <a:ext cx="9039726" cy="5365037"/>
        </p:xfrm>
        <a:graphic>
          <a:graphicData uri="http://schemas.openxmlformats.org/drawingml/2006/table">
            <a:tbl>
              <a:tblPr/>
              <a:tblGrid>
                <a:gridCol w="4519855">
                  <a:extLst>
                    <a:ext uri="{9D8B030D-6E8A-4147-A177-3AD203B41FA5}">
                      <a16:colId xmlns:a16="http://schemas.microsoft.com/office/drawing/2014/main" val="1066187513"/>
                    </a:ext>
                  </a:extLst>
                </a:gridCol>
                <a:gridCol w="4519871">
                  <a:extLst>
                    <a:ext uri="{9D8B030D-6E8A-4147-A177-3AD203B41FA5}">
                      <a16:colId xmlns:a16="http://schemas.microsoft.com/office/drawing/2014/main" val="729878784"/>
                    </a:ext>
                  </a:extLst>
                </a:gridCol>
              </a:tblGrid>
              <a:tr h="515138">
                <a:tc gridSpan="2">
                  <a:txBody>
                    <a:bodyPr/>
                    <a:lstStyle/>
                    <a:p>
                      <a:pPr marR="0" indent="0" algn="ctr" rtl="0">
                        <a:lnSpc>
                          <a:spcPct val="119000"/>
                        </a:lnSpc>
                        <a:spcAft>
                          <a:spcPts val="600"/>
                        </a:spcAft>
                        <a:buNone/>
                      </a:pPr>
                      <a:r>
                        <a:rPr lang="en-US" sz="2000" kern="1400" dirty="0">
                          <a:ln>
                            <a:noFill/>
                          </a:ln>
                          <a:solidFill>
                            <a:srgbClr val="000000"/>
                          </a:solidFill>
                          <a:effectLst/>
                          <a:latin typeface="Calibri" panose="020F0502020204030204" pitchFamily="34" charset="0"/>
                        </a:rPr>
                        <a:t>General Problem Statement</a:t>
                      </a: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w="38100" cap="flat" cmpd="sng" algn="ctr">
                      <a:solidFill>
                        <a:srgbClr val="C5C5C5"/>
                      </a:solidFill>
                      <a:prstDash val="solid"/>
                      <a:round/>
                      <a:headEnd type="none" w="med" len="med"/>
                      <a:tailEnd type="none" w="med" len="med"/>
                    </a:lnT>
                    <a:lnB w="38100" cap="flat" cmpd="sng" algn="ctr">
                      <a:solidFill>
                        <a:srgbClr val="C5C5C5"/>
                      </a:solidFill>
                      <a:prstDash val="solid"/>
                      <a:round/>
                      <a:headEnd type="none" w="med" len="med"/>
                      <a:tailEnd type="none" w="med" len="med"/>
                    </a:lnB>
                    <a:solidFill>
                      <a:srgbClr val="C5C5C5"/>
                    </a:solidFill>
                  </a:tcPr>
                </a:tc>
                <a:tc hMerge="1">
                  <a:txBody>
                    <a:bodyPr/>
                    <a:lstStyle/>
                    <a:p>
                      <a:endParaRPr lang="en-US"/>
                    </a:p>
                  </a:txBody>
                  <a:tcPr/>
                </a:tc>
                <a:extLst>
                  <a:ext uri="{0D108BD9-81ED-4DB2-BD59-A6C34878D82A}">
                    <a16:rowId xmlns:a16="http://schemas.microsoft.com/office/drawing/2014/main" val="1567727053"/>
                  </a:ext>
                </a:extLst>
              </a:tr>
              <a:tr h="515138">
                <a:tc gridSpan="2">
                  <a:txBody>
                    <a:bodyPr/>
                    <a:lstStyle/>
                    <a:p>
                      <a:pPr marR="0" indent="0" algn="ctr" rtl="0">
                        <a:lnSpc>
                          <a:spcPct val="119000"/>
                        </a:lnSpc>
                        <a:spcAft>
                          <a:spcPts val="600"/>
                        </a:spcAft>
                        <a:buNone/>
                      </a:pPr>
                      <a:endParaRPr lang="en-US" sz="2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w="38100" cap="flat" cmpd="sng" algn="ctr">
                      <a:solidFill>
                        <a:srgbClr val="C5C5C5"/>
                      </a:solidFill>
                      <a:prstDash val="solid"/>
                      <a:round/>
                      <a:headEnd type="none" w="med" len="med"/>
                      <a:tailEnd type="none" w="med" len="med"/>
                    </a:lnT>
                    <a:lnB w="38100" cap="flat" cmpd="sng" algn="ctr">
                      <a:solidFill>
                        <a:srgbClr val="C5C5C5"/>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284006767"/>
                  </a:ext>
                </a:extLst>
              </a:tr>
              <a:tr h="515138">
                <a:tc gridSpan="2">
                  <a:txBody>
                    <a:bodyPr/>
                    <a:lstStyle/>
                    <a:p>
                      <a:pPr marR="0" indent="0" algn="ctr" rtl="0">
                        <a:lnSpc>
                          <a:spcPct val="119000"/>
                        </a:lnSpc>
                        <a:spcAft>
                          <a:spcPts val="600"/>
                        </a:spcAft>
                        <a:buNone/>
                      </a:pPr>
                      <a:r>
                        <a:rPr lang="en-US" sz="2000" kern="1400" dirty="0">
                          <a:ln>
                            <a:noFill/>
                          </a:ln>
                          <a:solidFill>
                            <a:srgbClr val="000000"/>
                          </a:solidFill>
                          <a:effectLst/>
                          <a:latin typeface="Calibri" panose="020F0502020204030204" pitchFamily="34" charset="0"/>
                        </a:rPr>
                        <a:t>Technical Problem Statement</a:t>
                      </a: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w="38100" cap="flat" cmpd="sng" algn="ctr">
                      <a:solidFill>
                        <a:srgbClr val="C5C5C5"/>
                      </a:solidFill>
                      <a:prstDash val="solid"/>
                      <a:round/>
                      <a:headEnd type="none" w="med" len="med"/>
                      <a:tailEnd type="none" w="med" len="med"/>
                    </a:lnT>
                    <a:lnB>
                      <a:noFill/>
                    </a:lnB>
                    <a:solidFill>
                      <a:srgbClr val="C5C5C5"/>
                    </a:solidFill>
                  </a:tcPr>
                </a:tc>
                <a:tc hMerge="1">
                  <a:txBody>
                    <a:bodyPr/>
                    <a:lstStyle/>
                    <a:p>
                      <a:endParaRPr lang="en-US"/>
                    </a:p>
                  </a:txBody>
                  <a:tcPr/>
                </a:tc>
                <a:extLst>
                  <a:ext uri="{0D108BD9-81ED-4DB2-BD59-A6C34878D82A}">
                    <a16:rowId xmlns:a16="http://schemas.microsoft.com/office/drawing/2014/main" val="643440160"/>
                  </a:ext>
                </a:extLst>
              </a:tr>
              <a:tr h="515138">
                <a:tc gridSpan="2">
                  <a:txBody>
                    <a:bodyPr/>
                    <a:lstStyle/>
                    <a:p>
                      <a:pPr marR="0" indent="0" algn="ctr" rtl="0">
                        <a:lnSpc>
                          <a:spcPct val="119000"/>
                        </a:lnSpc>
                        <a:spcAft>
                          <a:spcPts val="600"/>
                        </a:spcAft>
                        <a:buNone/>
                      </a:pPr>
                      <a:endParaRPr lang="en-US" sz="2000" kern="1400" dirty="0">
                        <a:ln>
                          <a:noFill/>
                        </a:ln>
                        <a:solidFill>
                          <a:srgbClr val="000000"/>
                        </a:solidFill>
                        <a:effectLst/>
                        <a:latin typeface="Calibri" panose="020F0502020204030204" pitchFamily="34" charset="0"/>
                      </a:endParaRPr>
                    </a:p>
                  </a:txBody>
                  <a:tcPr marL="34883" marR="34883" marT="34883" marB="34883">
                    <a:lnL w="38100" cap="flat" cmpd="sng" algn="ctr">
                      <a:solidFill>
                        <a:srgbClr val="C5C5C5"/>
                      </a:solidFill>
                      <a:prstDash val="solid"/>
                      <a:round/>
                      <a:headEnd type="none" w="med" len="med"/>
                      <a:tailEnd type="none" w="med" len="med"/>
                    </a:lnL>
                    <a:lnR w="38100" cap="flat" cmpd="sng" algn="ctr">
                      <a:solidFill>
                        <a:srgbClr val="C5C5C5"/>
                      </a:solidFill>
                      <a:prstDash val="solid"/>
                      <a:round/>
                      <a:headEnd type="none" w="med" len="med"/>
                      <a:tailEnd type="none" w="med" len="med"/>
                    </a:lnR>
                    <a:lnT>
                      <a:noFill/>
                    </a:lnT>
                    <a:lnB w="38100" cap="flat" cmpd="sng" algn="ctr">
                      <a:solidFill>
                        <a:srgbClr val="C5C5C5"/>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851917909"/>
                  </a:ext>
                </a:extLst>
              </a:tr>
              <a:tr h="515138">
                <a:tc>
                  <a:txBody>
                    <a:bodyPr/>
                    <a:lstStyle/>
                    <a:p>
                      <a:pPr marR="0" indent="0" algn="ctr" rtl="0">
                        <a:lnSpc>
                          <a:spcPct val="119000"/>
                        </a:lnSpc>
                        <a:spcAft>
                          <a:spcPts val="600"/>
                        </a:spcAft>
                        <a:buNone/>
                      </a:pPr>
                      <a:r>
                        <a:rPr lang="en-US" sz="2000" kern="1400">
                          <a:ln>
                            <a:noFill/>
                          </a:ln>
                          <a:solidFill>
                            <a:srgbClr val="000000"/>
                          </a:solidFill>
                          <a:effectLst/>
                          <a:latin typeface="Calibri" panose="020F0502020204030204" pitchFamily="34" charset="0"/>
                        </a:rPr>
                        <a:t>Data</a:t>
                      </a:r>
                    </a:p>
                  </a:txBody>
                  <a:tcPr marL="34883" marR="34883" marT="34883" marB="34883">
                    <a:lnL w="38100" cap="flat" cmpd="sng" algn="ctr">
                      <a:solidFill>
                        <a:srgbClr val="FF5050"/>
                      </a:solidFill>
                      <a:prstDash val="solid"/>
                      <a:round/>
                      <a:headEnd type="none" w="med" len="med"/>
                      <a:tailEnd type="none" w="med" len="med"/>
                    </a:lnL>
                    <a:lnR w="38100" cap="flat" cmpd="sng" algn="ctr">
                      <a:solidFill>
                        <a:srgbClr val="92D050"/>
                      </a:solidFill>
                      <a:prstDash val="solid"/>
                      <a:round/>
                      <a:headEnd type="none" w="med" len="med"/>
                      <a:tailEnd type="none" w="med" len="med"/>
                    </a:lnR>
                    <a:lnT w="38100" cap="flat" cmpd="sng" algn="ctr">
                      <a:solidFill>
                        <a:srgbClr val="C5C5C5"/>
                      </a:solidFill>
                      <a:prstDash val="solid"/>
                      <a:round/>
                      <a:headEnd type="none" w="med" len="med"/>
                      <a:tailEnd type="none" w="med" len="med"/>
                    </a:lnT>
                    <a:lnB>
                      <a:noFill/>
                    </a:lnB>
                    <a:solidFill>
                      <a:srgbClr val="FF5050"/>
                    </a:solidFill>
                  </a:tcPr>
                </a:tc>
                <a:tc>
                  <a:txBody>
                    <a:bodyPr/>
                    <a:lstStyle/>
                    <a:p>
                      <a:pPr marR="0" indent="0" algn="ctr" rtl="0">
                        <a:lnSpc>
                          <a:spcPct val="119000"/>
                        </a:lnSpc>
                        <a:spcAft>
                          <a:spcPts val="600"/>
                        </a:spcAft>
                        <a:buNone/>
                      </a:pPr>
                      <a:r>
                        <a:rPr lang="en-US" sz="2000" kern="1400" dirty="0">
                          <a:ln>
                            <a:noFill/>
                          </a:ln>
                          <a:solidFill>
                            <a:srgbClr val="000000"/>
                          </a:solidFill>
                          <a:effectLst/>
                          <a:latin typeface="Calibri" panose="020F0502020204030204" pitchFamily="34" charset="0"/>
                        </a:rPr>
                        <a:t>Loss</a:t>
                      </a:r>
                    </a:p>
                  </a:txBody>
                  <a:tcPr marL="34883" marR="34883" marT="34883" marB="34883">
                    <a:lnL w="38100" cap="flat" cmpd="sng" algn="ctr">
                      <a:solidFill>
                        <a:srgbClr val="92D050"/>
                      </a:solidFill>
                      <a:prstDash val="solid"/>
                      <a:round/>
                      <a:headEnd type="none" w="med" len="med"/>
                      <a:tailEnd type="none" w="med" len="med"/>
                    </a:lnL>
                    <a:lnR w="38100" cap="flat" cmpd="sng" algn="ctr">
                      <a:solidFill>
                        <a:srgbClr val="92D050"/>
                      </a:solidFill>
                      <a:prstDash val="solid"/>
                      <a:round/>
                      <a:headEnd type="none" w="med" len="med"/>
                      <a:tailEnd type="none" w="med" len="med"/>
                    </a:lnR>
                    <a:lnT w="38100" cap="flat" cmpd="sng" algn="ctr">
                      <a:solidFill>
                        <a:srgbClr val="C5C5C5"/>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2138058476"/>
                  </a:ext>
                </a:extLst>
              </a:tr>
              <a:tr h="1205635">
                <a:tc>
                  <a:txBody>
                    <a:bodyPr/>
                    <a:lstStyle/>
                    <a:p>
                      <a:pPr marR="0" indent="0" algn="l" rtl="0">
                        <a:lnSpc>
                          <a:spcPct val="119000"/>
                        </a:lnSpc>
                        <a:spcAft>
                          <a:spcPts val="600"/>
                        </a:spcAft>
                        <a:buNone/>
                      </a:pPr>
                      <a:r>
                        <a:rPr lang="en-US" sz="2000" kern="1400" dirty="0">
                          <a:ln>
                            <a:noFill/>
                          </a:ln>
                          <a:solidFill>
                            <a:srgbClr val="000000"/>
                          </a:solidFill>
                          <a:effectLst/>
                          <a:latin typeface="Calibri" panose="020F0502020204030204" pitchFamily="34" charset="0"/>
                        </a:rPr>
                        <a:t> </a:t>
                      </a:r>
                    </a:p>
                  </a:txBody>
                  <a:tcPr marL="34883" marR="34883" marT="34883" marB="34883">
                    <a:lnL w="38100" cap="flat" cmpd="sng" algn="ctr">
                      <a:solidFill>
                        <a:srgbClr val="FF5050"/>
                      </a:solidFill>
                      <a:prstDash val="solid"/>
                      <a:round/>
                      <a:headEnd type="none" w="med" len="med"/>
                      <a:tailEnd type="none" w="med" len="med"/>
                    </a:lnL>
                    <a:lnR w="38100" cap="flat" cmpd="sng" algn="ctr">
                      <a:solidFill>
                        <a:srgbClr val="92D050"/>
                      </a:solidFill>
                      <a:prstDash val="solid"/>
                      <a:round/>
                      <a:headEnd type="none" w="med" len="med"/>
                      <a:tailEnd type="none" w="med" len="med"/>
                    </a:lnR>
                    <a:lnT>
                      <a:noFill/>
                    </a:lnT>
                    <a:lnB w="38100" cap="flat" cmpd="sng" algn="ctr">
                      <a:solidFill>
                        <a:srgbClr val="9DC3E6"/>
                      </a:solidFill>
                      <a:prstDash val="solid"/>
                      <a:round/>
                      <a:headEnd type="none" w="med" len="med"/>
                      <a:tailEnd type="none" w="med" len="med"/>
                    </a:lnB>
                    <a:noFill/>
                  </a:tcPr>
                </a:tc>
                <a:tc>
                  <a:txBody>
                    <a:bodyPr/>
                    <a:lstStyle/>
                    <a:p>
                      <a:pPr marR="0" indent="0" algn="l" rtl="0">
                        <a:lnSpc>
                          <a:spcPct val="119000"/>
                        </a:lnSpc>
                        <a:spcAft>
                          <a:spcPts val="600"/>
                        </a:spcAft>
                        <a:buNone/>
                      </a:pPr>
                      <a:endParaRPr lang="en-US" sz="2000" dirty="0"/>
                    </a:p>
                  </a:txBody>
                  <a:tcPr marL="34883" marR="34883" marT="34883" marB="34883">
                    <a:lnL w="38100" cap="flat" cmpd="sng" algn="ctr">
                      <a:solidFill>
                        <a:srgbClr val="92D050"/>
                      </a:solidFill>
                      <a:prstDash val="solid"/>
                      <a:round/>
                      <a:headEnd type="none" w="med" len="med"/>
                      <a:tailEnd type="none" w="med" len="med"/>
                    </a:lnL>
                    <a:lnR w="38100" cap="flat" cmpd="sng" algn="ctr">
                      <a:solidFill>
                        <a:srgbClr val="92D050"/>
                      </a:solidFill>
                      <a:prstDash val="solid"/>
                      <a:round/>
                      <a:headEnd type="none" w="med" len="med"/>
                      <a:tailEnd type="none" w="med" len="med"/>
                    </a:lnR>
                    <a:lnT>
                      <a:noFill/>
                    </a:lnT>
                    <a:lnB w="38100" cap="flat" cmpd="sng" algn="ctr">
                      <a:solidFill>
                        <a:srgbClr val="FFE699"/>
                      </a:solidFill>
                      <a:prstDash val="solid"/>
                      <a:round/>
                      <a:headEnd type="none" w="med" len="med"/>
                      <a:tailEnd type="none" w="med" len="med"/>
                    </a:lnB>
                    <a:noFill/>
                  </a:tcPr>
                </a:tc>
                <a:extLst>
                  <a:ext uri="{0D108BD9-81ED-4DB2-BD59-A6C34878D82A}">
                    <a16:rowId xmlns:a16="http://schemas.microsoft.com/office/drawing/2014/main" val="2414879990"/>
                  </a:ext>
                </a:extLst>
              </a:tr>
              <a:tr h="515138">
                <a:tc>
                  <a:txBody>
                    <a:bodyPr/>
                    <a:lstStyle/>
                    <a:p>
                      <a:pPr marR="0" indent="0" algn="ctr" rtl="0">
                        <a:lnSpc>
                          <a:spcPct val="119000"/>
                        </a:lnSpc>
                        <a:spcAft>
                          <a:spcPts val="600"/>
                        </a:spcAft>
                        <a:buNone/>
                      </a:pPr>
                      <a:r>
                        <a:rPr lang="en-US" sz="2000" kern="1400">
                          <a:ln>
                            <a:noFill/>
                          </a:ln>
                          <a:solidFill>
                            <a:srgbClr val="000000"/>
                          </a:solidFill>
                          <a:effectLst/>
                          <a:latin typeface="Calibri" panose="020F0502020204030204" pitchFamily="34" charset="0"/>
                        </a:rPr>
                        <a:t>Network</a:t>
                      </a:r>
                    </a:p>
                  </a:txBody>
                  <a:tcPr marL="34883" marR="34883" marT="34883" marB="34883">
                    <a:lnL w="38100" cap="flat" cmpd="sng" algn="ctr">
                      <a:solidFill>
                        <a:srgbClr val="9DC3E6"/>
                      </a:solidFill>
                      <a:prstDash val="solid"/>
                      <a:round/>
                      <a:headEnd type="none" w="med" len="med"/>
                      <a:tailEnd type="none" w="med" len="med"/>
                    </a:lnL>
                    <a:lnR w="38100" cap="flat" cmpd="sng" algn="ctr">
                      <a:solidFill>
                        <a:srgbClr val="FFE699"/>
                      </a:solidFill>
                      <a:prstDash val="solid"/>
                      <a:round/>
                      <a:headEnd type="none" w="med" len="med"/>
                      <a:tailEnd type="none" w="med" len="med"/>
                    </a:lnR>
                    <a:lnT w="38100" cap="flat" cmpd="sng" algn="ctr">
                      <a:solidFill>
                        <a:srgbClr val="9DC3E6"/>
                      </a:solidFill>
                      <a:prstDash val="solid"/>
                      <a:round/>
                      <a:headEnd type="none" w="med" len="med"/>
                      <a:tailEnd type="none" w="med" len="med"/>
                    </a:lnT>
                    <a:lnB>
                      <a:noFill/>
                    </a:lnB>
                    <a:solidFill>
                      <a:srgbClr val="9DC3E6"/>
                    </a:solidFill>
                  </a:tcPr>
                </a:tc>
                <a:tc>
                  <a:txBody>
                    <a:bodyPr/>
                    <a:lstStyle/>
                    <a:p>
                      <a:pPr marR="0" indent="0" algn="ctr" rtl="0">
                        <a:lnSpc>
                          <a:spcPct val="119000"/>
                        </a:lnSpc>
                        <a:spcAft>
                          <a:spcPts val="600"/>
                        </a:spcAft>
                        <a:buNone/>
                      </a:pPr>
                      <a:r>
                        <a:rPr lang="en-US" sz="2000" kern="1400">
                          <a:ln>
                            <a:noFill/>
                          </a:ln>
                          <a:solidFill>
                            <a:srgbClr val="000000"/>
                          </a:solidFill>
                          <a:effectLst/>
                          <a:latin typeface="Calibri" panose="020F0502020204030204" pitchFamily="34" charset="0"/>
                        </a:rPr>
                        <a:t>Training</a:t>
                      </a:r>
                    </a:p>
                  </a:txBody>
                  <a:tcPr marL="34883" marR="34883" marT="34883" marB="34883">
                    <a:lnL w="38100" cap="flat" cmpd="sng" algn="ctr">
                      <a:solidFill>
                        <a:srgbClr val="FFE699"/>
                      </a:solidFill>
                      <a:prstDash val="solid"/>
                      <a:round/>
                      <a:headEnd type="none" w="med" len="med"/>
                      <a:tailEnd type="none" w="med" len="med"/>
                    </a:lnL>
                    <a:lnR w="38100" cap="flat" cmpd="sng" algn="ctr">
                      <a:solidFill>
                        <a:srgbClr val="FFE699"/>
                      </a:solidFill>
                      <a:prstDash val="solid"/>
                      <a:round/>
                      <a:headEnd type="none" w="med" len="med"/>
                      <a:tailEnd type="none" w="med" len="med"/>
                    </a:lnR>
                    <a:lnT w="38100" cap="flat" cmpd="sng" algn="ctr">
                      <a:solidFill>
                        <a:srgbClr val="FFE699"/>
                      </a:solidFill>
                      <a:prstDash val="solid"/>
                      <a:round/>
                      <a:headEnd type="none" w="med" len="med"/>
                      <a:tailEnd type="none" w="med" len="med"/>
                    </a:lnT>
                    <a:lnB>
                      <a:noFill/>
                    </a:lnB>
                    <a:solidFill>
                      <a:srgbClr val="FFE699"/>
                    </a:solidFill>
                  </a:tcPr>
                </a:tc>
                <a:extLst>
                  <a:ext uri="{0D108BD9-81ED-4DB2-BD59-A6C34878D82A}">
                    <a16:rowId xmlns:a16="http://schemas.microsoft.com/office/drawing/2014/main" val="1590932619"/>
                  </a:ext>
                </a:extLst>
              </a:tr>
              <a:tr h="1068574">
                <a:tc>
                  <a:txBody>
                    <a:bodyPr/>
                    <a:lstStyle/>
                    <a:p>
                      <a:pPr marR="0" indent="0" algn="l" rtl="0">
                        <a:lnSpc>
                          <a:spcPct val="119000"/>
                        </a:lnSpc>
                        <a:spcAft>
                          <a:spcPts val="600"/>
                        </a:spcAft>
                        <a:buNone/>
                      </a:pPr>
                      <a:r>
                        <a:rPr lang="en-US" sz="2000" kern="1400" dirty="0">
                          <a:ln>
                            <a:noFill/>
                          </a:ln>
                          <a:solidFill>
                            <a:srgbClr val="000000"/>
                          </a:solidFill>
                          <a:effectLst/>
                          <a:latin typeface="Calibri" panose="020F0502020204030204" pitchFamily="34" charset="0"/>
                        </a:rPr>
                        <a:t> </a:t>
                      </a:r>
                    </a:p>
                  </a:txBody>
                  <a:tcPr marL="34883" marR="34883" marT="34883" marB="34883">
                    <a:lnL w="38100" cap="flat" cmpd="sng" algn="ctr">
                      <a:solidFill>
                        <a:srgbClr val="9DC3E6"/>
                      </a:solidFill>
                      <a:prstDash val="solid"/>
                      <a:round/>
                      <a:headEnd type="none" w="med" len="med"/>
                      <a:tailEnd type="none" w="med" len="med"/>
                    </a:lnL>
                    <a:lnR w="38100" cap="flat" cmpd="sng" algn="ctr">
                      <a:solidFill>
                        <a:srgbClr val="FFE699"/>
                      </a:solidFill>
                      <a:prstDash val="solid"/>
                      <a:round/>
                      <a:headEnd type="none" w="med" len="med"/>
                      <a:tailEnd type="none" w="med" len="med"/>
                    </a:lnR>
                    <a:lnT>
                      <a:noFill/>
                    </a:lnT>
                    <a:lnB w="38100" cap="flat" cmpd="sng" algn="ctr">
                      <a:solidFill>
                        <a:srgbClr val="9DC3E6"/>
                      </a:solidFill>
                      <a:prstDash val="solid"/>
                      <a:round/>
                      <a:headEnd type="none" w="med" len="med"/>
                      <a:tailEnd type="none" w="med" len="med"/>
                    </a:lnB>
                    <a:noFill/>
                  </a:tcPr>
                </a:tc>
                <a:tc>
                  <a:txBody>
                    <a:bodyPr/>
                    <a:lstStyle/>
                    <a:p>
                      <a:pPr marR="0" indent="0" algn="l" rtl="0">
                        <a:lnSpc>
                          <a:spcPct val="119000"/>
                        </a:lnSpc>
                        <a:spcAft>
                          <a:spcPts val="600"/>
                        </a:spcAft>
                        <a:buNone/>
                      </a:pPr>
                      <a:r>
                        <a:rPr lang="en-US" sz="2000" kern="1400" dirty="0">
                          <a:ln>
                            <a:noFill/>
                          </a:ln>
                          <a:solidFill>
                            <a:srgbClr val="000000"/>
                          </a:solidFill>
                          <a:effectLst/>
                          <a:latin typeface="Calibri" panose="020F0502020204030204" pitchFamily="34" charset="0"/>
                        </a:rPr>
                        <a:t> </a:t>
                      </a:r>
                    </a:p>
                  </a:txBody>
                  <a:tcPr marL="34883" marR="34883" marT="34883" marB="34883">
                    <a:lnL w="38100" cap="flat" cmpd="sng" algn="ctr">
                      <a:solidFill>
                        <a:srgbClr val="FFE699"/>
                      </a:solidFill>
                      <a:prstDash val="solid"/>
                      <a:round/>
                      <a:headEnd type="none" w="med" len="med"/>
                      <a:tailEnd type="none" w="med" len="med"/>
                    </a:lnL>
                    <a:lnR w="38100" cap="flat" cmpd="sng" algn="ctr">
                      <a:solidFill>
                        <a:srgbClr val="FFE699"/>
                      </a:solidFill>
                      <a:prstDash val="solid"/>
                      <a:round/>
                      <a:headEnd type="none" w="med" len="med"/>
                      <a:tailEnd type="none" w="med" len="med"/>
                    </a:lnR>
                    <a:lnT>
                      <a:noFill/>
                    </a:lnT>
                    <a:lnB w="38100" cap="flat" cmpd="sng" algn="ctr">
                      <a:solidFill>
                        <a:srgbClr val="FFE699"/>
                      </a:solidFill>
                      <a:prstDash val="solid"/>
                      <a:round/>
                      <a:headEnd type="none" w="med" len="med"/>
                      <a:tailEnd type="none" w="med" len="med"/>
                    </a:lnB>
                    <a:noFill/>
                  </a:tcPr>
                </a:tc>
                <a:extLst>
                  <a:ext uri="{0D108BD9-81ED-4DB2-BD59-A6C34878D82A}">
                    <a16:rowId xmlns:a16="http://schemas.microsoft.com/office/drawing/2014/main" val="3023643206"/>
                  </a:ext>
                </a:extLst>
              </a:tr>
            </a:tbl>
          </a:graphicData>
        </a:graphic>
      </p:graphicFrame>
      <p:sp>
        <p:nvSpPr>
          <p:cNvPr id="7" name="TextBox 6">
            <a:extLst>
              <a:ext uri="{FF2B5EF4-FFF2-40B4-BE49-F238E27FC236}">
                <a16:creationId xmlns:a16="http://schemas.microsoft.com/office/drawing/2014/main" id="{564329D7-D991-F3E0-0079-1E3B119E1B9F}"/>
              </a:ext>
            </a:extLst>
          </p:cNvPr>
          <p:cNvSpPr txBox="1"/>
          <p:nvPr/>
        </p:nvSpPr>
        <p:spPr>
          <a:xfrm>
            <a:off x="1576137" y="3272589"/>
            <a:ext cx="4519863" cy="1200329"/>
          </a:xfrm>
          <a:prstGeom prst="rect">
            <a:avLst/>
          </a:prstGeom>
          <a:noFill/>
        </p:spPr>
        <p:txBody>
          <a:bodyPr wrap="square" rtlCol="0">
            <a:spAutoFit/>
          </a:bodyPr>
          <a:lstStyle/>
          <a:p>
            <a:r>
              <a:rPr lang="en-US" sz="2400" dirty="0"/>
              <a:t>Hallucinations</a:t>
            </a:r>
          </a:p>
          <a:p>
            <a:r>
              <a:rPr lang="en-US" sz="2400" dirty="0"/>
              <a:t>Bias</a:t>
            </a:r>
          </a:p>
          <a:p>
            <a:r>
              <a:rPr lang="en-US" sz="2400" dirty="0"/>
              <a:t>Underfit                    Drift</a:t>
            </a:r>
          </a:p>
        </p:txBody>
      </p:sp>
      <p:sp>
        <p:nvSpPr>
          <p:cNvPr id="8" name="TextBox 7">
            <a:extLst>
              <a:ext uri="{FF2B5EF4-FFF2-40B4-BE49-F238E27FC236}">
                <a16:creationId xmlns:a16="http://schemas.microsoft.com/office/drawing/2014/main" id="{C720C51A-5CEF-F2DD-45D7-AA413935FE2D}"/>
              </a:ext>
            </a:extLst>
          </p:cNvPr>
          <p:cNvSpPr txBox="1"/>
          <p:nvPr/>
        </p:nvSpPr>
        <p:spPr>
          <a:xfrm>
            <a:off x="6096000" y="3272589"/>
            <a:ext cx="4519863" cy="1200329"/>
          </a:xfrm>
          <a:prstGeom prst="rect">
            <a:avLst/>
          </a:prstGeom>
          <a:noFill/>
        </p:spPr>
        <p:txBody>
          <a:bodyPr wrap="square" rtlCol="0">
            <a:spAutoFit/>
          </a:bodyPr>
          <a:lstStyle/>
          <a:p>
            <a:r>
              <a:rPr lang="en-US" sz="2400" dirty="0"/>
              <a:t>Alignment</a:t>
            </a:r>
          </a:p>
          <a:p>
            <a:endParaRPr lang="en-US" sz="2400" dirty="0"/>
          </a:p>
          <a:p>
            <a:endParaRPr lang="en-US" sz="2400" dirty="0"/>
          </a:p>
        </p:txBody>
      </p:sp>
      <p:sp>
        <p:nvSpPr>
          <p:cNvPr id="9" name="TextBox 8">
            <a:extLst>
              <a:ext uri="{FF2B5EF4-FFF2-40B4-BE49-F238E27FC236}">
                <a16:creationId xmlns:a16="http://schemas.microsoft.com/office/drawing/2014/main" id="{CFC8B325-C77A-97FA-5CED-126E6D45961C}"/>
              </a:ext>
            </a:extLst>
          </p:cNvPr>
          <p:cNvSpPr txBox="1"/>
          <p:nvPr/>
        </p:nvSpPr>
        <p:spPr>
          <a:xfrm>
            <a:off x="1576137" y="5030608"/>
            <a:ext cx="3934326" cy="523220"/>
          </a:xfrm>
          <a:prstGeom prst="rect">
            <a:avLst/>
          </a:prstGeom>
          <a:noFill/>
        </p:spPr>
        <p:txBody>
          <a:bodyPr wrap="square" rtlCol="0">
            <a:spAutoFit/>
          </a:bodyPr>
          <a:lstStyle/>
          <a:p>
            <a:r>
              <a:rPr lang="en-US" sz="2800" dirty="0"/>
              <a:t>Overfit</a:t>
            </a:r>
          </a:p>
        </p:txBody>
      </p:sp>
      <p:sp>
        <p:nvSpPr>
          <p:cNvPr id="10" name="TextBox 9">
            <a:extLst>
              <a:ext uri="{FF2B5EF4-FFF2-40B4-BE49-F238E27FC236}">
                <a16:creationId xmlns:a16="http://schemas.microsoft.com/office/drawing/2014/main" id="{1E7B40AE-96ED-3B6F-F869-973979BE8085}"/>
              </a:ext>
            </a:extLst>
          </p:cNvPr>
          <p:cNvSpPr txBox="1"/>
          <p:nvPr/>
        </p:nvSpPr>
        <p:spPr>
          <a:xfrm>
            <a:off x="6152147" y="5061385"/>
            <a:ext cx="4407568" cy="830997"/>
          </a:xfrm>
          <a:prstGeom prst="rect">
            <a:avLst/>
          </a:prstGeom>
          <a:noFill/>
        </p:spPr>
        <p:txBody>
          <a:bodyPr wrap="square" rtlCol="0">
            <a:spAutoFit/>
          </a:bodyPr>
          <a:lstStyle/>
          <a:p>
            <a:r>
              <a:rPr lang="en-US" sz="2400" dirty="0"/>
              <a:t>PHI protection</a:t>
            </a:r>
          </a:p>
          <a:p>
            <a:r>
              <a:rPr lang="en-US" sz="2400" dirty="0"/>
              <a:t>Financial/Environmental costs</a:t>
            </a:r>
          </a:p>
        </p:txBody>
      </p:sp>
    </p:spTree>
    <p:extLst>
      <p:ext uri="{BB962C8B-B14F-4D97-AF65-F5344CB8AC3E}">
        <p14:creationId xmlns:p14="http://schemas.microsoft.com/office/powerpoint/2010/main" val="82910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09BF-06FE-7855-9AE0-FCB29CB34C15}"/>
              </a:ext>
            </a:extLst>
          </p:cNvPr>
          <p:cNvSpPr>
            <a:spLocks noGrp="1"/>
          </p:cNvSpPr>
          <p:nvPr>
            <p:ph type="title"/>
          </p:nvPr>
        </p:nvSpPr>
        <p:spPr/>
        <p:txBody>
          <a:bodyPr/>
          <a:lstStyle/>
          <a:p>
            <a:r>
              <a:rPr lang="en-US" dirty="0"/>
              <a:t>When is AI Feasible - Intuition</a:t>
            </a:r>
          </a:p>
        </p:txBody>
      </p:sp>
      <p:sp>
        <p:nvSpPr>
          <p:cNvPr id="3" name="Content Placeholder 2">
            <a:extLst>
              <a:ext uri="{FF2B5EF4-FFF2-40B4-BE49-F238E27FC236}">
                <a16:creationId xmlns:a16="http://schemas.microsoft.com/office/drawing/2014/main" id="{B2A37497-F0D2-3411-63F5-A2EEE39183E4}"/>
              </a:ext>
            </a:extLst>
          </p:cNvPr>
          <p:cNvSpPr>
            <a:spLocks noGrp="1"/>
          </p:cNvSpPr>
          <p:nvPr>
            <p:ph idx="1"/>
          </p:nvPr>
        </p:nvSpPr>
        <p:spPr/>
        <p:txBody>
          <a:bodyPr/>
          <a:lstStyle/>
          <a:p>
            <a:r>
              <a:rPr lang="en-US" dirty="0"/>
              <a:t>Short answer – if you can solve data and loss, the rest is easy</a:t>
            </a:r>
          </a:p>
          <a:p>
            <a:r>
              <a:rPr lang="en-US" dirty="0"/>
              <a:t>Questions to ask yourself:</a:t>
            </a:r>
          </a:p>
          <a:p>
            <a:pPr lvl="1"/>
            <a:r>
              <a:rPr lang="en-US" dirty="0"/>
              <a:t>Can we come up with a mathematical definition of success?</a:t>
            </a:r>
          </a:p>
          <a:p>
            <a:pPr lvl="1"/>
            <a:r>
              <a:rPr lang="en-US" dirty="0"/>
              <a:t>Are there tons of examples of what success and failure are?</a:t>
            </a:r>
          </a:p>
          <a:p>
            <a:pPr lvl="1"/>
            <a:r>
              <a:rPr lang="en-US" dirty="0"/>
              <a:t>Can we do these quickly?</a:t>
            </a:r>
          </a:p>
          <a:p>
            <a:r>
              <a:rPr lang="en-US" dirty="0"/>
              <a:t>This often happens when tasks are </a:t>
            </a:r>
            <a:r>
              <a:rPr lang="en-US" i="1" dirty="0"/>
              <a:t>digitizable</a:t>
            </a:r>
            <a:endParaRPr lang="en-US" dirty="0"/>
          </a:p>
          <a:p>
            <a:r>
              <a:rPr lang="en-US" dirty="0"/>
              <a:t>When is an algorithm better:</a:t>
            </a:r>
          </a:p>
          <a:p>
            <a:pPr lvl="1"/>
            <a:r>
              <a:rPr lang="en-US" dirty="0"/>
              <a:t>You need perfection</a:t>
            </a:r>
          </a:p>
          <a:p>
            <a:pPr lvl="1"/>
            <a:r>
              <a:rPr lang="en-US" dirty="0"/>
              <a:t>You can create a “recipe” of how to get from start to finish</a:t>
            </a:r>
          </a:p>
          <a:p>
            <a:pPr lvl="1"/>
            <a:endParaRPr lang="en-US" dirty="0"/>
          </a:p>
        </p:txBody>
      </p:sp>
    </p:spTree>
    <p:extLst>
      <p:ext uri="{BB962C8B-B14F-4D97-AF65-F5344CB8AC3E}">
        <p14:creationId xmlns:p14="http://schemas.microsoft.com/office/powerpoint/2010/main" val="374133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rtificial Intelligence 101 for Information Professionals: What Is AI?">
            <a:extLst>
              <a:ext uri="{FF2B5EF4-FFF2-40B4-BE49-F238E27FC236}">
                <a16:creationId xmlns:a16="http://schemas.microsoft.com/office/drawing/2014/main" id="{3750B2F0-AE33-B6B5-FF1D-60FEF4B5A4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67336" y="363490"/>
            <a:ext cx="12144977" cy="6131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487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29416-2C39-9B3F-8C5F-7FB0C4E4F698}"/>
              </a:ext>
            </a:extLst>
          </p:cNvPr>
          <p:cNvSpPr>
            <a:spLocks noGrp="1"/>
          </p:cNvSpPr>
          <p:nvPr>
            <p:ph type="title"/>
          </p:nvPr>
        </p:nvSpPr>
        <p:spPr>
          <a:xfrm>
            <a:off x="838200" y="310534"/>
            <a:ext cx="10515600" cy="1325563"/>
          </a:xfrm>
        </p:spPr>
        <p:txBody>
          <a:bodyPr/>
          <a:lstStyle/>
          <a:p>
            <a:r>
              <a:rPr lang="en-US" dirty="0"/>
              <a:t>In More Human Terms…</a:t>
            </a:r>
          </a:p>
        </p:txBody>
      </p:sp>
      <p:sp>
        <p:nvSpPr>
          <p:cNvPr id="3" name="Content Placeholder 2">
            <a:extLst>
              <a:ext uri="{FF2B5EF4-FFF2-40B4-BE49-F238E27FC236}">
                <a16:creationId xmlns:a16="http://schemas.microsoft.com/office/drawing/2014/main" id="{68495AAF-724A-132D-687C-852B8956EC8F}"/>
              </a:ext>
            </a:extLst>
          </p:cNvPr>
          <p:cNvSpPr>
            <a:spLocks noGrp="1"/>
          </p:cNvSpPr>
          <p:nvPr>
            <p:ph idx="1"/>
          </p:nvPr>
        </p:nvSpPr>
        <p:spPr/>
        <p:txBody>
          <a:bodyPr/>
          <a:lstStyle/>
          <a:p>
            <a:r>
              <a:rPr lang="en-US" dirty="0"/>
              <a:t>If a human had:</a:t>
            </a:r>
          </a:p>
          <a:p>
            <a:pPr lvl="1"/>
            <a:r>
              <a:rPr lang="en-US" dirty="0"/>
              <a:t>infinite attention span </a:t>
            </a:r>
          </a:p>
          <a:p>
            <a:pPr lvl="1"/>
            <a:r>
              <a:rPr lang="en-US" dirty="0"/>
              <a:t>Infinite time</a:t>
            </a:r>
          </a:p>
          <a:p>
            <a:r>
              <a:rPr lang="en-US" dirty="0"/>
              <a:t>And their job was:</a:t>
            </a:r>
          </a:p>
          <a:p>
            <a:pPr lvl="1"/>
            <a:r>
              <a:rPr lang="en-US" dirty="0"/>
              <a:t>Give things a score</a:t>
            </a:r>
          </a:p>
          <a:p>
            <a:pPr lvl="1"/>
            <a:r>
              <a:rPr lang="en-US" dirty="0"/>
              <a:t>Place into one of many classes</a:t>
            </a:r>
          </a:p>
          <a:p>
            <a:endParaRPr lang="en-US" dirty="0"/>
          </a:p>
          <a:p>
            <a:r>
              <a:rPr lang="en-US" dirty="0"/>
              <a:t>Then an AI can probably be trained to do it.</a:t>
            </a:r>
          </a:p>
        </p:txBody>
      </p:sp>
    </p:spTree>
    <p:extLst>
      <p:ext uri="{BB962C8B-B14F-4D97-AF65-F5344CB8AC3E}">
        <p14:creationId xmlns:p14="http://schemas.microsoft.com/office/powerpoint/2010/main" val="126302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295F0-7952-7B86-6336-416F74AB79A9}"/>
              </a:ext>
            </a:extLst>
          </p:cNvPr>
          <p:cNvSpPr>
            <a:spLocks noGrp="1"/>
          </p:cNvSpPr>
          <p:nvPr>
            <p:ph type="title"/>
          </p:nvPr>
        </p:nvSpPr>
        <p:spPr/>
        <p:txBody>
          <a:bodyPr/>
          <a:lstStyle/>
          <a:p>
            <a:r>
              <a:rPr lang="en-US" dirty="0"/>
              <a:t>In More Human Terms…</a:t>
            </a:r>
          </a:p>
        </p:txBody>
      </p:sp>
      <p:sp>
        <p:nvSpPr>
          <p:cNvPr id="3" name="Content Placeholder 2">
            <a:extLst>
              <a:ext uri="{FF2B5EF4-FFF2-40B4-BE49-F238E27FC236}">
                <a16:creationId xmlns:a16="http://schemas.microsoft.com/office/drawing/2014/main" id="{AAA3F65E-D315-D5B6-234F-D672FE13C236}"/>
              </a:ext>
            </a:extLst>
          </p:cNvPr>
          <p:cNvSpPr>
            <a:spLocks noGrp="1"/>
          </p:cNvSpPr>
          <p:nvPr>
            <p:ph idx="1"/>
          </p:nvPr>
        </p:nvSpPr>
        <p:spPr/>
        <p:txBody>
          <a:bodyPr/>
          <a:lstStyle/>
          <a:p>
            <a:r>
              <a:rPr lang="en-US" dirty="0"/>
              <a:t>Examples:</a:t>
            </a:r>
          </a:p>
          <a:p>
            <a:pPr lvl="1"/>
            <a:r>
              <a:rPr lang="en-US" dirty="0"/>
              <a:t>Rorschach blots</a:t>
            </a:r>
          </a:p>
          <a:p>
            <a:pPr lvl="1"/>
            <a:r>
              <a:rPr lang="en-US" dirty="0"/>
              <a:t>Pictures of trees</a:t>
            </a:r>
          </a:p>
        </p:txBody>
      </p:sp>
      <p:pic>
        <p:nvPicPr>
          <p:cNvPr id="2050" name="Picture 2" descr="Rorschach test - Wikipedia">
            <a:extLst>
              <a:ext uri="{FF2B5EF4-FFF2-40B4-BE49-F238E27FC236}">
                <a16:creationId xmlns:a16="http://schemas.microsoft.com/office/drawing/2014/main" id="{3EFEDDD7-FF1B-F569-B41F-794DE1F8F8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5648" y="681037"/>
            <a:ext cx="3906364" cy="2558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96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359FF-A1E3-FAAD-B17F-CEB3A1678045}"/>
              </a:ext>
            </a:extLst>
          </p:cNvPr>
          <p:cNvSpPr>
            <a:spLocks noGrp="1"/>
          </p:cNvSpPr>
          <p:nvPr>
            <p:ph type="title"/>
          </p:nvPr>
        </p:nvSpPr>
        <p:spPr/>
        <p:txBody>
          <a:bodyPr/>
          <a:lstStyle/>
          <a:p>
            <a:r>
              <a:rPr lang="en-US" dirty="0"/>
              <a:t>The Future of AI – Who will be replaced?</a:t>
            </a:r>
          </a:p>
        </p:txBody>
      </p:sp>
      <p:sp>
        <p:nvSpPr>
          <p:cNvPr id="3" name="Content Placeholder 2">
            <a:extLst>
              <a:ext uri="{FF2B5EF4-FFF2-40B4-BE49-F238E27FC236}">
                <a16:creationId xmlns:a16="http://schemas.microsoft.com/office/drawing/2014/main" id="{C217CE30-2BAC-0816-1938-F94E2E16D068}"/>
              </a:ext>
            </a:extLst>
          </p:cNvPr>
          <p:cNvSpPr>
            <a:spLocks noGrp="1"/>
          </p:cNvSpPr>
          <p:nvPr>
            <p:ph idx="1"/>
          </p:nvPr>
        </p:nvSpPr>
        <p:spPr>
          <a:xfrm>
            <a:off x="838200" y="1825624"/>
            <a:ext cx="6094863" cy="4841307"/>
          </a:xfrm>
        </p:spPr>
        <p:txBody>
          <a:bodyPr>
            <a:normAutofit/>
          </a:bodyPr>
          <a:lstStyle/>
          <a:p>
            <a:r>
              <a:rPr lang="en-US" dirty="0"/>
              <a:t>Low skill, white collar work</a:t>
            </a:r>
          </a:p>
          <a:p>
            <a:r>
              <a:rPr lang="en-US" dirty="0"/>
              <a:t>High skill, white collar work</a:t>
            </a:r>
          </a:p>
          <a:p>
            <a:r>
              <a:rPr lang="en-US" dirty="0"/>
              <a:t>Low skill, blue collar work</a:t>
            </a:r>
          </a:p>
          <a:p>
            <a:r>
              <a:rPr lang="en-US" dirty="0"/>
              <a:t>High skill, blue collar work</a:t>
            </a:r>
          </a:p>
          <a:p>
            <a:endParaRPr lang="en-US" dirty="0"/>
          </a:p>
          <a:p>
            <a:r>
              <a:rPr lang="en-US" dirty="0"/>
              <a:t>AI rate limiters are data and digitization (corollary to loss)</a:t>
            </a:r>
          </a:p>
          <a:p>
            <a:r>
              <a:rPr lang="en-US" dirty="0"/>
              <a:t>Typically, data moves faster than digitization</a:t>
            </a:r>
          </a:p>
          <a:p>
            <a:pPr lvl="1"/>
            <a:endParaRPr lang="en-US" dirty="0"/>
          </a:p>
        </p:txBody>
      </p:sp>
      <p:pic>
        <p:nvPicPr>
          <p:cNvPr id="3074" name="Picture 2" descr="r/charts - 40 jobs most and least at risk from AI">
            <a:extLst>
              <a:ext uri="{FF2B5EF4-FFF2-40B4-BE49-F238E27FC236}">
                <a16:creationId xmlns:a16="http://schemas.microsoft.com/office/drawing/2014/main" id="{C50A5E12-5698-5595-0EDD-E83A06EDF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9625" y="1392072"/>
            <a:ext cx="5266631" cy="52748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6357402-1E8C-6EE1-D566-AFA8AFFB604F}"/>
              </a:ext>
            </a:extLst>
          </p:cNvPr>
          <p:cNvSpPr txBox="1"/>
          <p:nvPr/>
        </p:nvSpPr>
        <p:spPr>
          <a:xfrm>
            <a:off x="7124131" y="6305266"/>
            <a:ext cx="4476466" cy="369332"/>
          </a:xfrm>
          <a:prstGeom prst="rect">
            <a:avLst/>
          </a:prstGeom>
          <a:noFill/>
        </p:spPr>
        <p:txBody>
          <a:bodyPr wrap="square" rtlCol="0">
            <a:spAutoFit/>
          </a:bodyPr>
          <a:lstStyle/>
          <a:p>
            <a:r>
              <a:rPr lang="en-US" dirty="0"/>
              <a:t>https://arxiv.org/pdf/2507.07935</a:t>
            </a:r>
          </a:p>
        </p:txBody>
      </p:sp>
    </p:spTree>
    <p:extLst>
      <p:ext uri="{BB962C8B-B14F-4D97-AF65-F5344CB8AC3E}">
        <p14:creationId xmlns:p14="http://schemas.microsoft.com/office/powerpoint/2010/main" val="1764743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10 Jobs Most at Risk of AI Replacement in 2025 (And How to Transition)">
            <a:extLst>
              <a:ext uri="{FF2B5EF4-FFF2-40B4-BE49-F238E27FC236}">
                <a16:creationId xmlns:a16="http://schemas.microsoft.com/office/drawing/2014/main" id="{0E285D8F-8123-5288-153E-18D0FBE45A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09492" y="263058"/>
            <a:ext cx="4435628" cy="633188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kai Labs | LinkedIn">
            <a:extLst>
              <a:ext uri="{FF2B5EF4-FFF2-40B4-BE49-F238E27FC236}">
                <a16:creationId xmlns:a16="http://schemas.microsoft.com/office/drawing/2014/main" id="{C720B9D8-B5A1-450D-0F90-C8E1D11BE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20" y="117357"/>
            <a:ext cx="7608761" cy="12883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784D50B-FD58-D03E-E93A-BA926CBB3B82}"/>
              </a:ext>
            </a:extLst>
          </p:cNvPr>
          <p:cNvPicPr>
            <a:picLocks noChangeAspect="1"/>
          </p:cNvPicPr>
          <p:nvPr/>
        </p:nvPicPr>
        <p:blipFill>
          <a:blip r:embed="rId4"/>
          <a:stretch>
            <a:fillRect/>
          </a:stretch>
        </p:blipFill>
        <p:spPr>
          <a:xfrm>
            <a:off x="838306" y="1709763"/>
            <a:ext cx="5890040" cy="4885178"/>
          </a:xfrm>
          <a:prstGeom prst="rect">
            <a:avLst/>
          </a:prstGeom>
        </p:spPr>
      </p:pic>
    </p:spTree>
    <p:extLst>
      <p:ext uri="{BB962C8B-B14F-4D97-AF65-F5344CB8AC3E}">
        <p14:creationId xmlns:p14="http://schemas.microsoft.com/office/powerpoint/2010/main" val="2773766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409E-88BA-D9DB-4678-29E333B1884B}"/>
              </a:ext>
            </a:extLst>
          </p:cNvPr>
          <p:cNvSpPr>
            <a:spLocks noGrp="1"/>
          </p:cNvSpPr>
          <p:nvPr>
            <p:ph type="title"/>
          </p:nvPr>
        </p:nvSpPr>
        <p:spPr/>
        <p:txBody>
          <a:bodyPr/>
          <a:lstStyle/>
          <a:p>
            <a:r>
              <a:rPr lang="en-US" dirty="0"/>
              <a:t>Directions for AI</a:t>
            </a:r>
          </a:p>
        </p:txBody>
      </p:sp>
      <p:sp>
        <p:nvSpPr>
          <p:cNvPr id="3" name="Content Placeholder 2">
            <a:extLst>
              <a:ext uri="{FF2B5EF4-FFF2-40B4-BE49-F238E27FC236}">
                <a16:creationId xmlns:a16="http://schemas.microsoft.com/office/drawing/2014/main" id="{FD67AE03-8BF8-07BA-C52A-154223BB0C53}"/>
              </a:ext>
            </a:extLst>
          </p:cNvPr>
          <p:cNvSpPr>
            <a:spLocks noGrp="1"/>
          </p:cNvSpPr>
          <p:nvPr>
            <p:ph idx="1"/>
          </p:nvPr>
        </p:nvSpPr>
        <p:spPr/>
        <p:txBody>
          <a:bodyPr/>
          <a:lstStyle/>
          <a:p>
            <a:r>
              <a:rPr lang="en-US" dirty="0"/>
              <a:t>Network Architectures</a:t>
            </a:r>
          </a:p>
          <a:p>
            <a:r>
              <a:rPr lang="en-US" dirty="0"/>
              <a:t>Domain specific AI applications</a:t>
            </a:r>
          </a:p>
          <a:p>
            <a:r>
              <a:rPr lang="en-US" dirty="0"/>
              <a:t>AI Domain transfer</a:t>
            </a:r>
          </a:p>
          <a:p>
            <a:r>
              <a:rPr lang="en-US" dirty="0"/>
              <a:t>Alignment</a:t>
            </a:r>
          </a:p>
          <a:p>
            <a:r>
              <a:rPr lang="en-US" dirty="0"/>
              <a:t>Human AI interaction</a:t>
            </a:r>
          </a:p>
          <a:p>
            <a:endParaRPr lang="en-US" dirty="0"/>
          </a:p>
          <a:p>
            <a:r>
              <a:rPr lang="en-US" dirty="0"/>
              <a:t>I hope you all will contribute to these in some way!</a:t>
            </a:r>
          </a:p>
        </p:txBody>
      </p:sp>
    </p:spTree>
    <p:extLst>
      <p:ext uri="{BB962C8B-B14F-4D97-AF65-F5344CB8AC3E}">
        <p14:creationId xmlns:p14="http://schemas.microsoft.com/office/powerpoint/2010/main" val="248651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371D-E54E-6E85-99A0-DCED70B21583}"/>
              </a:ext>
            </a:extLst>
          </p:cNvPr>
          <p:cNvSpPr>
            <a:spLocks noGrp="1"/>
          </p:cNvSpPr>
          <p:nvPr>
            <p:ph type="title"/>
          </p:nvPr>
        </p:nvSpPr>
        <p:spPr/>
        <p:txBody>
          <a:bodyPr/>
          <a:lstStyle/>
          <a:p>
            <a:r>
              <a:rPr lang="en-US" dirty="0"/>
              <a:t>Course Feedback</a:t>
            </a:r>
          </a:p>
        </p:txBody>
      </p:sp>
      <p:sp>
        <p:nvSpPr>
          <p:cNvPr id="3" name="Content Placeholder 2">
            <a:extLst>
              <a:ext uri="{FF2B5EF4-FFF2-40B4-BE49-F238E27FC236}">
                <a16:creationId xmlns:a16="http://schemas.microsoft.com/office/drawing/2014/main" id="{B100139A-1F12-D90B-24DB-B7B88AA98D5E}"/>
              </a:ext>
            </a:extLst>
          </p:cNvPr>
          <p:cNvSpPr>
            <a:spLocks noGrp="1"/>
          </p:cNvSpPr>
          <p:nvPr>
            <p:ph idx="1"/>
          </p:nvPr>
        </p:nvSpPr>
        <p:spPr/>
        <p:txBody>
          <a:bodyPr/>
          <a:lstStyle/>
          <a:p>
            <a:r>
              <a:rPr lang="en-US" dirty="0"/>
              <a:t>What lectures were most memorable? (not including last one)</a:t>
            </a:r>
          </a:p>
          <a:p>
            <a:r>
              <a:rPr lang="en-US" dirty="0"/>
              <a:t>What should have been covered in more depth? What can be skipped?</a:t>
            </a:r>
          </a:p>
          <a:p>
            <a:r>
              <a:rPr lang="en-US" dirty="0"/>
              <a:t>Biggest takeaway from the course?</a:t>
            </a:r>
          </a:p>
          <a:p>
            <a:r>
              <a:rPr lang="en-US" dirty="0"/>
              <a:t>What kind of people would benefit from this class? (career, personal interest)</a:t>
            </a:r>
          </a:p>
          <a:p>
            <a:r>
              <a:rPr lang="en-US" dirty="0"/>
              <a:t>What kind of assignments make sense if this class is a regular college course?</a:t>
            </a:r>
          </a:p>
          <a:p>
            <a:r>
              <a:rPr lang="en-US" dirty="0"/>
              <a:t>Any other comments?</a:t>
            </a:r>
          </a:p>
        </p:txBody>
      </p:sp>
    </p:spTree>
    <p:extLst>
      <p:ext uri="{BB962C8B-B14F-4D97-AF65-F5344CB8AC3E}">
        <p14:creationId xmlns:p14="http://schemas.microsoft.com/office/powerpoint/2010/main" val="111777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F4D61-5D95-7CB6-46C4-F3F59553FEBF}"/>
              </a:ext>
            </a:extLst>
          </p:cNvPr>
          <p:cNvSpPr>
            <a:spLocks noGrp="1"/>
          </p:cNvSpPr>
          <p:nvPr>
            <p:ph type="title"/>
          </p:nvPr>
        </p:nvSpPr>
        <p:spPr>
          <a:xfrm>
            <a:off x="5055359" y="2766218"/>
            <a:ext cx="10515600" cy="1325563"/>
          </a:xfrm>
        </p:spPr>
        <p:txBody>
          <a:bodyPr/>
          <a:lstStyle/>
          <a:p>
            <a:r>
              <a:rPr lang="en-US" dirty="0"/>
              <a:t>Thanks!</a:t>
            </a:r>
          </a:p>
        </p:txBody>
      </p:sp>
    </p:spTree>
    <p:extLst>
      <p:ext uri="{BB962C8B-B14F-4D97-AF65-F5344CB8AC3E}">
        <p14:creationId xmlns:p14="http://schemas.microsoft.com/office/powerpoint/2010/main" val="1770061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541</TotalTime>
  <Words>696</Words>
  <Application>Microsoft Office PowerPoint</Application>
  <PresentationFormat>Widescreen</PresentationFormat>
  <Paragraphs>109</Paragraphs>
  <Slides>16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Intro to AI in Medicine</vt:lpstr>
      <vt:lpstr>Last Time</vt:lpstr>
      <vt:lpstr>This time</vt:lpstr>
      <vt:lpstr>Final Project</vt:lpstr>
      <vt:lpstr>Question</vt:lpstr>
      <vt:lpstr>AI Failure Modes</vt:lpstr>
      <vt:lpstr>PowerPoint Presentation</vt:lpstr>
      <vt:lpstr>When is AI Feasible - Intuition</vt:lpstr>
      <vt:lpstr>PowerPoint Presentation</vt:lpstr>
      <vt:lpstr>In More Human Terms…</vt:lpstr>
      <vt:lpstr>In More Human Terms…</vt:lpstr>
      <vt:lpstr>The Future of AI – Who will be replaced?</vt:lpstr>
      <vt:lpstr>PowerPoint Presentation</vt:lpstr>
      <vt:lpstr>Directions for AI</vt:lpstr>
      <vt:lpstr>Course Feedback</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Lostetter</dc:creator>
  <cp:lastModifiedBy>Stephen Lostetter</cp:lastModifiedBy>
  <cp:revision>1</cp:revision>
  <dcterms:created xsi:type="dcterms:W3CDTF">2025-11-18T19:13:30Z</dcterms:created>
  <dcterms:modified xsi:type="dcterms:W3CDTF">2025-11-19T04:15:12Z</dcterms:modified>
</cp:coreProperties>
</file>
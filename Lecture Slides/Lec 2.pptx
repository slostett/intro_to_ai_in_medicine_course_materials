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292" r:id="rId3"/>
    <p:sldId id="329" r:id="rId4"/>
    <p:sldId id="331" r:id="rId5"/>
    <p:sldId id="332" r:id="rId6"/>
    <p:sldId id="258" r:id="rId7"/>
    <p:sldId id="262" r:id="rId8"/>
    <p:sldId id="263" r:id="rId9"/>
    <p:sldId id="264" r:id="rId10"/>
    <p:sldId id="259" r:id="rId11"/>
    <p:sldId id="260" r:id="rId12"/>
    <p:sldId id="298" r:id="rId13"/>
    <p:sldId id="293" r:id="rId14"/>
    <p:sldId id="297" r:id="rId15"/>
    <p:sldId id="296" r:id="rId16"/>
    <p:sldId id="294" r:id="rId17"/>
    <p:sldId id="295" r:id="rId18"/>
    <p:sldId id="299" r:id="rId19"/>
    <p:sldId id="300" r:id="rId20"/>
    <p:sldId id="301" r:id="rId21"/>
    <p:sldId id="305" r:id="rId22"/>
    <p:sldId id="275" r:id="rId23"/>
    <p:sldId id="302" r:id="rId24"/>
    <p:sldId id="304" r:id="rId25"/>
    <p:sldId id="306" r:id="rId26"/>
    <p:sldId id="309" r:id="rId27"/>
    <p:sldId id="310" r:id="rId28"/>
    <p:sldId id="311" r:id="rId29"/>
    <p:sldId id="312" r:id="rId30"/>
    <p:sldId id="308" r:id="rId31"/>
    <p:sldId id="313" r:id="rId32"/>
    <p:sldId id="320" r:id="rId33"/>
    <p:sldId id="321" r:id="rId34"/>
    <p:sldId id="322" r:id="rId35"/>
    <p:sldId id="323" r:id="rId36"/>
    <p:sldId id="324" r:id="rId37"/>
    <p:sldId id="314" r:id="rId38"/>
    <p:sldId id="315" r:id="rId39"/>
    <p:sldId id="316" r:id="rId40"/>
    <p:sldId id="317" r:id="rId41"/>
    <p:sldId id="318" r:id="rId42"/>
    <p:sldId id="319" r:id="rId43"/>
    <p:sldId id="325" r:id="rId44"/>
    <p:sldId id="330" r:id="rId45"/>
    <p:sldId id="326" r:id="rId46"/>
    <p:sldId id="328" r:id="rId47"/>
    <p:sldId id="32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345" autoAdjust="0"/>
  </p:normalViewPr>
  <p:slideViewPr>
    <p:cSldViewPr snapToGrid="0">
      <p:cViewPr varScale="1">
        <p:scale>
          <a:sx n="50" d="100"/>
          <a:sy n="50" d="100"/>
        </p:scale>
        <p:origin x="12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5F388-9DD8-4A73-B5F9-876DB596B1B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30335-CF4D-4074-A39F-62C4C7BE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2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time we ended here. </a:t>
            </a:r>
          </a:p>
          <a:p>
            <a:endParaRPr lang="en-US" dirty="0"/>
          </a:p>
          <a:p>
            <a:r>
              <a:rPr lang="en-US" dirty="0"/>
              <a:t>We were going thru the history of AI, and wanted something that could</a:t>
            </a:r>
          </a:p>
          <a:p>
            <a:r>
              <a:rPr lang="en-US" dirty="0"/>
              <a:t>1. Could set a goal</a:t>
            </a:r>
          </a:p>
          <a:p>
            <a:r>
              <a:rPr lang="en-US" dirty="0"/>
              <a:t>1. Learn and improve over time toward that 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331C-0961-4650-81D2-244443F2FA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79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bit of a digression from medicine, but I promise it’s important.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need these tools to do good analysis during the rest of the semester.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50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way we define certain concepts mathematically has a massive impact on the outcomes of our system</a:t>
            </a:r>
          </a:p>
          <a:p>
            <a:endParaRPr lang="en-US" dirty="0"/>
          </a:p>
          <a:p>
            <a:r>
              <a:rPr lang="en-US" dirty="0"/>
              <a:t>We are going to blast past a ton of math and get right to what we need for AI</a:t>
            </a:r>
          </a:p>
          <a:p>
            <a:r>
              <a:rPr lang="en-US" dirty="0"/>
              <a:t>This is kind of like the biochemistry lecture in med school, often abstracted past but useful background to have for life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31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 number 3: A magnitude. </a:t>
            </a:r>
          </a:p>
          <a:p>
            <a:r>
              <a:rPr lang="en-US" dirty="0"/>
              <a:t>Sufficient information to answer my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42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you say 3?</a:t>
            </a:r>
          </a:p>
          <a:p>
            <a:r>
              <a:rPr lang="en-US" dirty="0"/>
              <a:t>Need a base, and a scalar. </a:t>
            </a:r>
          </a:p>
          <a:p>
            <a:r>
              <a:rPr lang="en-US" dirty="0"/>
              <a:t>Introduced a new piece of information here.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4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9F1E-2D46-31BF-5207-26A216A7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24611-9850-2B59-5C86-851E53857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60141-F82B-C37F-3D6A-3E000102A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I get to your house?</a:t>
            </a:r>
          </a:p>
          <a:p>
            <a:r>
              <a:rPr lang="en-US" dirty="0"/>
              <a:t>Go 3 blocks east, 1 block north.</a:t>
            </a:r>
          </a:p>
          <a:p>
            <a:r>
              <a:rPr lang="en-US" dirty="0"/>
              <a:t>Added new piece of info, directionality.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95087-EBB1-7B16-229C-9416FDE21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62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Direction: where we point</a:t>
            </a:r>
          </a:p>
          <a:p>
            <a:r>
              <a:rPr lang="en-US" dirty="0"/>
              <a:t>Magnitude: how far we point that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2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 isn’t a vector, but change in temperature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37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96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84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ADE00-33F6-5108-F100-8B9E2E7E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03DC9-EA41-3C36-0088-B2E6AC37A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0C34F-417D-F163-A76A-FAB84F463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we’re changing the magnitude, not the direction.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C82F4-CC30-FEF0-F1A7-5E5615BB3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81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Geometrically, a projection of one vector onto another.</a:t>
            </a:r>
          </a:p>
          <a:p>
            <a:endParaRPr lang="en-US" dirty="0"/>
          </a:p>
          <a:p>
            <a:r>
              <a:rPr lang="en-US" dirty="0"/>
              <a:t>Can tell you how similar your data is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79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matrix has dimension 1, it’s a vector.</a:t>
            </a:r>
          </a:p>
          <a:p>
            <a:r>
              <a:rPr lang="en-US" dirty="0"/>
              <a:t>Each row or column can be thought of as a vector.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45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really have 9 products in C, then</a:t>
            </a:r>
          </a:p>
          <a:p>
            <a:r>
              <a:rPr lang="en-US" dirty="0"/>
              <a:t>By doing this, you’ve applied the dot products in B to A in every possible combination. </a:t>
            </a:r>
          </a:p>
          <a:p>
            <a:endParaRPr lang="en-US" dirty="0"/>
          </a:p>
          <a:p>
            <a:r>
              <a:rPr lang="en-US" dirty="0"/>
              <a:t>Now, we can rejoin our story from last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1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Dendrite, cell body, axon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331C-0961-4650-81D2-244443F2FA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74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Inputs * weights looks a lot like a vector dot product!</a:t>
            </a:r>
          </a:p>
          <a:p>
            <a:endParaRPr lang="en-US" dirty="0"/>
          </a:p>
          <a:p>
            <a:r>
              <a:rPr lang="en-US" dirty="0"/>
              <a:t>X is our inputs, and the </a:t>
            </a:r>
            <a:r>
              <a:rPr lang="en-US" dirty="0" err="1"/>
              <a:t>Ws</a:t>
            </a:r>
            <a:r>
              <a:rPr lang="en-US" dirty="0"/>
              <a:t> are our weights. We’re performing a matrix operation to give our neuron’s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25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every point like a vector, pointing to it. Only one is pictured here.</a:t>
            </a:r>
          </a:p>
          <a:p>
            <a:endParaRPr lang="en-US" dirty="0"/>
          </a:p>
          <a:p>
            <a:r>
              <a:rPr lang="en-US" dirty="0"/>
              <a:t>What I want to do is multiply every vector representing a point by a transformation matrix.</a:t>
            </a:r>
          </a:p>
          <a:p>
            <a:endParaRPr lang="en-US" dirty="0"/>
          </a:p>
          <a:p>
            <a:r>
              <a:rPr lang="en-US" dirty="0"/>
              <a:t>Let’s only do the example for 1,1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41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D0867-58EE-D6F6-516E-72FCBC92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A123C-3A78-E304-1FCD-0985FFF89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746BC-286F-4C12-B04B-733447BBA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every point like a vector, pointing to it. Only one is pictured here.</a:t>
            </a:r>
          </a:p>
          <a:p>
            <a:endParaRPr lang="en-US" dirty="0"/>
          </a:p>
          <a:p>
            <a:r>
              <a:rPr lang="en-US" dirty="0"/>
              <a:t>What I want to do is multiply every vector representing a point by a transformation matrix.</a:t>
            </a:r>
          </a:p>
          <a:p>
            <a:endParaRPr lang="en-US" dirty="0"/>
          </a:p>
          <a:p>
            <a:r>
              <a:rPr lang="en-US" dirty="0"/>
              <a:t>Let’s only do the example for 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94E3D-EE24-547B-2116-CBB625258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4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16D0-145B-BEDA-D6DC-C9A20AA7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5FE45-BA7D-2676-EF35-8CCD0CB3D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96237-CD01-91FA-F772-289B7B573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every point like a vector, pointing to it. Only one is pictured here.</a:t>
            </a:r>
          </a:p>
          <a:p>
            <a:endParaRPr lang="en-US" dirty="0"/>
          </a:p>
          <a:p>
            <a:r>
              <a:rPr lang="en-US" dirty="0"/>
              <a:t>What I want to do is multiply every vector representing a point by a transformation matrix.</a:t>
            </a:r>
          </a:p>
          <a:p>
            <a:endParaRPr lang="en-US" dirty="0"/>
          </a:p>
          <a:p>
            <a:r>
              <a:rPr lang="en-US" dirty="0"/>
              <a:t>Let’s only do the example for 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66D18-E6F7-A7F3-8406-E270B86FB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37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79D57-F831-4BEC-CAAF-A4F8B935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EF5C6-C58E-E24E-07CA-44DB3C269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2EECE-8B7B-7381-7924-9B75DFEA5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every point like a vector, pointing to it. Only one is pictured here.</a:t>
            </a:r>
          </a:p>
          <a:p>
            <a:endParaRPr lang="en-US" dirty="0"/>
          </a:p>
          <a:p>
            <a:r>
              <a:rPr lang="en-US" dirty="0"/>
              <a:t>What I want to do is multiply every vector representing a point by a transformation matrix.</a:t>
            </a:r>
          </a:p>
          <a:p>
            <a:endParaRPr lang="en-US" dirty="0"/>
          </a:p>
          <a:p>
            <a:r>
              <a:rPr lang="en-US" dirty="0"/>
              <a:t>Let’s only do the example for 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63C40-4B7E-09AF-264C-466DD45C3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13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958D-F676-B854-2681-A8663EB9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F9A7D-B329-48E8-23E6-8A4A7A27D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FE278-D501-520B-A56D-4CBA0356E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every point like a vector, pointing to it. Only one is pictured here.</a:t>
            </a:r>
          </a:p>
          <a:p>
            <a:endParaRPr lang="en-US" dirty="0"/>
          </a:p>
          <a:p>
            <a:r>
              <a:rPr lang="en-US" dirty="0"/>
              <a:t>What I want to do is multiply every vector representing a point by a transformation matrix.</a:t>
            </a:r>
          </a:p>
          <a:p>
            <a:endParaRPr lang="en-US" dirty="0"/>
          </a:p>
          <a:p>
            <a:r>
              <a:rPr lang="en-US" dirty="0"/>
              <a:t>Let’s only do the example for 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4B46D-6157-F587-D441-C8B2F1B7B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02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D547-406D-3B90-4777-2A583C83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9E8A3-B161-42B7-4F1B-A577BB551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17E15-3156-4C86-5A04-B020FBA56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every point like a vector, pointing to it. Only one is pictured here.</a:t>
            </a:r>
          </a:p>
          <a:p>
            <a:endParaRPr lang="en-US" dirty="0"/>
          </a:p>
          <a:p>
            <a:r>
              <a:rPr lang="en-US" dirty="0"/>
              <a:t>What I want to do is multiply every vector representing a point by a transformation matrix.</a:t>
            </a:r>
          </a:p>
          <a:p>
            <a:endParaRPr lang="en-US" dirty="0"/>
          </a:p>
          <a:p>
            <a:r>
              <a:rPr lang="en-US" dirty="0"/>
              <a:t>Let’s only do the example for 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EF708-4724-3DD7-5A19-20A07FC0D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03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 flipping around a parallelogram matter?</a:t>
            </a:r>
          </a:p>
          <a:p>
            <a:r>
              <a:rPr lang="en-US" dirty="0"/>
              <a:t>Well, what if the initial point values had meaning? Then, the final position could tell us something. </a:t>
            </a:r>
          </a:p>
          <a:p>
            <a:r>
              <a:rPr lang="en-US" dirty="0"/>
              <a:t>We could say, above a certain threshold, call this a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26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worry, we’ll have a large part of a lecture on how to convert clinical data to forms that play nice with AI.</a:t>
            </a:r>
          </a:p>
          <a:p>
            <a:endParaRPr lang="en-US" dirty="0"/>
          </a:p>
          <a:p>
            <a:r>
              <a:rPr lang="en-US" dirty="0"/>
              <a:t>We’ve just designed a risk stratification algorithm. This process is known as classification, and we’ll have a whole lecture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0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why do multiple steps?</a:t>
            </a:r>
          </a:p>
          <a:p>
            <a:endParaRPr lang="en-US" dirty="0"/>
          </a:p>
          <a:p>
            <a:r>
              <a:rPr lang="en-US" dirty="0"/>
              <a:t>Well, we need another function in between.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011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0F5E-DB5A-8391-D754-7B8AE284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99955-8F14-4DF8-67F5-A292F79EE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17E65-3771-1AC3-AF9D-BF6FC623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Linear functions can only solve linearly separable problems.</a:t>
            </a:r>
            <a:r>
              <a:rPr lang="en-US" dirty="0"/>
              <a:t> This means:</a:t>
            </a:r>
          </a:p>
          <a:p>
            <a:r>
              <a:rPr lang="en-US" dirty="0"/>
              <a:t>✅ If you can’t draw a line through it, you can’t use it to separate anything.</a:t>
            </a:r>
          </a:p>
          <a:p>
            <a:r>
              <a:rPr lang="en-US" dirty="0"/>
              <a:t>❌ They cannot handle curved decision boundaries</a:t>
            </a:r>
          </a:p>
          <a:p>
            <a:r>
              <a:rPr lang="en-US" dirty="0"/>
              <a:t>❌ They cannot solve XOR problems</a:t>
            </a:r>
          </a:p>
          <a:p>
            <a:r>
              <a:rPr lang="en-US" dirty="0"/>
              <a:t>❌ They cannot recognize complex patterns like images, speech, or text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50533-E6A5-6EC1-D7DE-4DEAF8BEE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686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think about it, each column is like one neuron. We can parallelize this by adding more columns to our matrix.</a:t>
            </a:r>
          </a:p>
          <a:p>
            <a:endParaRPr lang="en-US" dirty="0"/>
          </a:p>
          <a:p>
            <a:r>
              <a:rPr lang="en-US" dirty="0"/>
              <a:t>So, one layer is many neurons in 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97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just built the most common form of AI network.</a:t>
            </a:r>
          </a:p>
          <a:p>
            <a:endParaRPr lang="en-US" dirty="0"/>
          </a:p>
          <a:p>
            <a:r>
              <a:rPr lang="en-US" dirty="0"/>
              <a:t>We’ll be exploring variations on this theme from here on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915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DBE2-0B85-B3E3-F832-041ADF3C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4CF56-0F0E-898A-0BB6-8A1B7F16A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03706-C941-3839-0611-4967050F8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just built the most common form of AI network.</a:t>
            </a:r>
          </a:p>
          <a:p>
            <a:endParaRPr lang="en-US" dirty="0"/>
          </a:p>
          <a:p>
            <a:r>
              <a:rPr lang="en-US" dirty="0"/>
              <a:t>We’ll be exploring variations on this theme from here on 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07F5E-F54B-0B64-E52C-E3DA8AAFD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437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know the slope right where my dot is. How do I do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5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 asked you for the slope at this point now?</a:t>
            </a:r>
          </a:p>
          <a:p>
            <a:endParaRPr lang="en-US" dirty="0"/>
          </a:p>
          <a:p>
            <a:r>
              <a:rPr lang="en-US" dirty="0"/>
              <a:t>We need a concept called the gradient to describe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993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something you need to remember how to compute, I include this to better illustrate what’s going on here.</a:t>
            </a:r>
          </a:p>
          <a:p>
            <a:endParaRPr lang="en-US" dirty="0"/>
          </a:p>
          <a:p>
            <a:r>
              <a:rPr lang="en-US" dirty="0"/>
              <a:t>(note to self set f=0, pulled over z and graphed)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059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our function surface in real life?</a:t>
            </a:r>
          </a:p>
          <a:p>
            <a:r>
              <a:rPr lang="en-US" dirty="0"/>
              <a:t>Well, it’s how we define success. That’s the entire subject of next lecture. It’s called our “loss function” and lower means we’ve come closer to our goal, meaning our model has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236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A4BC-7902-463D-5517-F05E5A0A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7BA2-E2B1-E655-95B9-CBA554260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1D70C-58BB-8A22-098B-EFF103656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we’re doing here, as it pertains to the network, is asking ourselves how we can change the numbers inside the matrix to move toward our definition of success.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E809B-E894-BC02-E356-8F7FDDCDA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00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dense slide we’ll run into all semester</a:t>
            </a:r>
          </a:p>
          <a:p>
            <a:r>
              <a:rPr lang="en-US" dirty="0"/>
              <a:t>First, do a forward pass to compute the intermediate outputs between layers, and the final output.</a:t>
            </a:r>
          </a:p>
          <a:p>
            <a:r>
              <a:rPr lang="en-US" dirty="0"/>
              <a:t>From there, we’ll get a score as determined by our loss function.</a:t>
            </a:r>
          </a:p>
          <a:p>
            <a:r>
              <a:rPr lang="en-US" dirty="0"/>
              <a:t>At every layer, we’re asking ourselves what tweak to the weights will decrease our loss function (meaning we did better).</a:t>
            </a:r>
          </a:p>
          <a:p>
            <a:r>
              <a:rPr lang="en-US" dirty="0"/>
              <a:t>Since a change in one layer changes the others, we compute backwards from the end updating our weights.</a:t>
            </a:r>
          </a:p>
          <a:p>
            <a:r>
              <a:rPr lang="en-US" dirty="0"/>
              <a:t>At the end, we have a function that scores better on our data.</a:t>
            </a:r>
          </a:p>
          <a:p>
            <a:endParaRPr lang="en-US" dirty="0"/>
          </a:p>
          <a:p>
            <a:r>
              <a:rPr lang="en-US" dirty="0"/>
              <a:t>How do we define “scores better?”</a:t>
            </a:r>
          </a:p>
          <a:p>
            <a:r>
              <a:rPr lang="en-US" dirty="0"/>
              <a:t>Stick around until next 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41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in this network, we get an output for every number. When you put in a number, you get an output at the end corresponding to the likelihood it’s each number.</a:t>
            </a:r>
          </a:p>
          <a:p>
            <a:r>
              <a:rPr lang="en-US" dirty="0"/>
              <a:t>We can see here that it’s number 9. So, our network predicts number 9.</a:t>
            </a:r>
          </a:p>
          <a:p>
            <a:r>
              <a:rPr lang="en-US" dirty="0"/>
              <a:t>We’ll circle back next time, discuss loss functions in depth and start applying what we learned today to medicine.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83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C309-AFB2-C5ED-6D44-A9D0A1E77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98D51-DAFA-B413-703C-ADF29C66A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3B665-93B3-6415-226F-A5F43670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2A9CA-2310-8523-A003-5F9BC8F4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773F2-E62C-CE18-1992-D26F082B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1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CB76-0BD5-FDA2-2286-05FE4F12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1308E-B981-364F-8AC8-9C211DC46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7B9BD-E0FE-A1A2-13A4-6DCDDAE24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A9820-3B13-FAB3-6DC4-9C90E0BD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E817B-9234-293A-3908-B2403F15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4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3456-C20C-CB61-1E32-BAC17955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5DAEF-B954-B5D5-F7F5-9D65CDC3C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E07C-9BB3-7F1D-6974-5E0B45C43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AFDAB-1A83-13BD-1688-D0D9798B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986F5-D82A-97F6-007C-EEA4B017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2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2A6E-504D-6DD5-8B0F-B226C73F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769E-4128-A62E-9212-2B0BFE44C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E47D9-C443-4CB7-CFCA-11FBB08E9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F8069-EC24-2FB4-421B-82A08506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1198F-BCCE-0A65-18C2-3D3430B1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1EA1A-4B0A-E2BC-7E10-A48B6A7F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7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A111-70D5-2D3E-77B9-88CEBF31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551C5-201E-C122-F557-5BD05EC8C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F50CC-5840-615A-6824-06B1CD6FF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4CD84-DB8E-F307-C1E7-689AB070E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328A5-40D7-224F-14E4-9DAE2C3A8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049C3-869F-EC54-7F5D-06D8DA84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A41D2-21A2-A6A8-02F4-8C2F749E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40C5B-8D8F-4746-E03F-F9927B45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79B8-D635-459A-139D-797F5125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FD447-F5E8-7825-CFE3-19648440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5F2F2-A58A-EB81-CBB0-5009E531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36A27-C362-217C-57FF-AD783189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2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52D81-C226-A339-80CA-C5F85D25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F07D7-846A-0613-9A44-CF036B16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2D355-5DBA-20F2-F4C1-34017876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9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DB0CF-A66F-56C8-EC7A-C75D19232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FEF59-8A66-0B31-088C-C6FBEC77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0F50D-0B89-66F9-4386-923408A86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9F79C-CE10-C456-CA97-E22A6630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26B2C-FEB8-E414-42BE-7FA6D335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D1897-17BE-2198-704F-0BFA1C2E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7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992D-3ECD-65B9-E56B-9BC41467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8946B-1045-9850-C681-D6597D44A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ABA08-C1B8-525E-4880-065558922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D7BF-C1DA-3E14-2E9F-CA0F5979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3BEAB-C89D-42F4-84EF-39B1275E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8069-97C0-3E3A-1F6E-E3EB3C6B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0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EEE2-04BC-D796-1A38-4C6EB208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9C755-5815-57F6-6FC2-B04ED82C2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DBBFF-5D21-4AC7-C67F-AFED82E3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4587-913C-CE6F-3D15-072299B0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61C23-0725-3F2F-80B4-CD710B3D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7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2D7DC-DEA5-8488-45B8-26000313C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A4E1-9509-D48F-34F9-7C342CAE2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BB298-5CFF-8E54-D3A4-76049B10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36F6-19AA-4226-15D0-C416275D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37C7F-45F4-2401-6E53-36B316AF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4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061A5E-B0EE-CFDA-A23E-ED56A220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B6580-C4C5-B80A-140C-FEAFD6494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B2DD7-D87B-7BAC-4644-C9CA3F9B2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D26BE-B63B-4711-AD87-32E5656AC546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09D1E-0A1C-817E-19AA-D0899BB5B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A3E14-9084-E09A-8E9E-354C0C237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81344-D9EE-4CE3-AC16-C1D93AFC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6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E4E5-6574-A66B-DC3B-65FAE22E6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F2CCE-8939-F57F-0CC6-4372D2915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Lec</a:t>
            </a:r>
            <a:r>
              <a:rPr lang="en-US" sz="3200" dirty="0"/>
              <a:t> 2: Math </a:t>
            </a:r>
          </a:p>
        </p:txBody>
      </p:sp>
    </p:spTree>
    <p:extLst>
      <p:ext uri="{BB962C8B-B14F-4D97-AF65-F5344CB8AC3E}">
        <p14:creationId xmlns:p14="http://schemas.microsoft.com/office/powerpoint/2010/main" val="26227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CBA3-22A1-4D11-E9AE-767BF02D1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1980s/1990s: Backpropagation</a:t>
            </a:r>
          </a:p>
        </p:txBody>
      </p:sp>
      <p:pic>
        <p:nvPicPr>
          <p:cNvPr id="3078" name="Picture 6" descr="Neural Networks in 10mins. Simply Explained! | by Sadaf Saleem | Medium">
            <a:extLst>
              <a:ext uri="{FF2B5EF4-FFF2-40B4-BE49-F238E27FC236}">
                <a16:creationId xmlns:a16="http://schemas.microsoft.com/office/drawing/2014/main" id="{EB414CC7-CD3C-E729-9A78-327F2FE92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308" y="1496790"/>
            <a:ext cx="8075384" cy="454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702576-2C87-1934-2217-41AF46523681}"/>
              </a:ext>
            </a:extLst>
          </p:cNvPr>
          <p:cNvSpPr txBox="1"/>
          <p:nvPr/>
        </p:nvSpPr>
        <p:spPr>
          <a:xfrm>
            <a:off x="4858657" y="6152242"/>
            <a:ext cx="6836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Where we left off…</a:t>
            </a:r>
          </a:p>
        </p:txBody>
      </p:sp>
    </p:spTree>
    <p:extLst>
      <p:ext uri="{BB962C8B-B14F-4D97-AF65-F5344CB8AC3E}">
        <p14:creationId xmlns:p14="http://schemas.microsoft.com/office/powerpoint/2010/main" val="42369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B52A-5EB5-1948-A1DD-9FEF5DDA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D75B-CF70-AF5A-8809-368215A2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Tips for success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Scalars, vectors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Matrices and matrix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Tie it back in with the neuron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Gradient descent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89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48C1-BDF4-F41E-E451-BCD7CFFE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1239C-7C98-8CAD-3B0F-66F7A5524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Attendance tracker in the drive – if zoom picked you up I added you</a:t>
            </a:r>
          </a:p>
          <a:p>
            <a:r>
              <a:rPr lang="en-US" dirty="0"/>
              <a:t>Matt will take attendance this lecture</a:t>
            </a:r>
          </a:p>
          <a:p>
            <a:r>
              <a:rPr lang="en-US" dirty="0"/>
              <a:t>If you’re taking for credit and not on there </a:t>
            </a:r>
            <a:r>
              <a:rPr lang="en-US" dirty="0" err="1"/>
              <a:t>lmk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8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5D8F-292F-CD37-0261-511A8A7F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Housekeeping: Python Gang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E3016-1CC8-558E-5008-29B591094878}"/>
              </a:ext>
            </a:extLst>
          </p:cNvPr>
          <p:cNvSpPr txBox="1"/>
          <p:nvPr/>
        </p:nvSpPr>
        <p:spPr>
          <a:xfrm>
            <a:off x="1181100" y="5295900"/>
            <a:ext cx="10045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OH with Matt for python after class,</a:t>
            </a:r>
          </a:p>
          <a:p>
            <a:r>
              <a:rPr lang="en-US" sz="2400" dirty="0"/>
              <a:t>OH with me for AI after class.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E8915-ACED-512E-9D40-E833D7BA6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71" y="1463780"/>
            <a:ext cx="10045700" cy="3673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9FC8F-945A-041F-B310-05E3107A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1516462"/>
            <a:ext cx="5837833" cy="395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8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0196-7E71-0F79-1699-7C99B4E9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8A73-F4E2-0F7E-5B6E-B6ECB83C3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it slow</a:t>
            </a:r>
          </a:p>
          <a:p>
            <a:r>
              <a:rPr lang="en-US" dirty="0"/>
              <a:t>Try to understand how the pieces connect</a:t>
            </a:r>
          </a:p>
          <a:p>
            <a:r>
              <a:rPr lang="en-US" dirty="0"/>
              <a:t>Long-term, not necessary to remember everything about this stuff</a:t>
            </a:r>
          </a:p>
          <a:p>
            <a:pPr lvl="1"/>
            <a:r>
              <a:rPr lang="en-US" dirty="0"/>
              <a:t>We’re just trying to understand where the basic building blocks of ML come from</a:t>
            </a:r>
          </a:p>
          <a:p>
            <a:r>
              <a:rPr lang="en-US" dirty="0"/>
              <a:t>General theme: Math has meaning</a:t>
            </a:r>
          </a:p>
          <a:p>
            <a:pPr lvl="1"/>
            <a:endParaRPr lang="en-US" dirty="0"/>
          </a:p>
          <a:p>
            <a:r>
              <a:rPr lang="en-US" dirty="0"/>
              <a:t>Ask questions!</a:t>
            </a:r>
          </a:p>
        </p:txBody>
      </p:sp>
    </p:spTree>
    <p:extLst>
      <p:ext uri="{BB962C8B-B14F-4D97-AF65-F5344CB8AC3E}">
        <p14:creationId xmlns:p14="http://schemas.microsoft.com/office/powerpoint/2010/main" val="1065121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C5B-9F50-CBC8-592A-AC9F6E84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vs Vector</a:t>
            </a:r>
          </a:p>
        </p:txBody>
      </p:sp>
      <p:pic>
        <p:nvPicPr>
          <p:cNvPr id="5" name="Graphic 4" descr="Apple outline">
            <a:extLst>
              <a:ext uri="{FF2B5EF4-FFF2-40B4-BE49-F238E27FC236}">
                <a16:creationId xmlns:a16="http://schemas.microsoft.com/office/drawing/2014/main" id="{66538B4A-73E9-CBBA-479A-CFD143CB2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7163" y="2514600"/>
            <a:ext cx="2977674" cy="2977674"/>
          </a:xfrm>
          <a:prstGeom prst="rect">
            <a:avLst/>
          </a:prstGeom>
        </p:spPr>
      </p:pic>
      <p:pic>
        <p:nvPicPr>
          <p:cNvPr id="6" name="Graphic 5" descr="Apple outline">
            <a:extLst>
              <a:ext uri="{FF2B5EF4-FFF2-40B4-BE49-F238E27FC236}">
                <a16:creationId xmlns:a16="http://schemas.microsoft.com/office/drawing/2014/main" id="{7E83084F-284F-F4E6-95FD-90D6686EE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5477" y="2514600"/>
            <a:ext cx="2977674" cy="2977674"/>
          </a:xfrm>
          <a:prstGeom prst="rect">
            <a:avLst/>
          </a:prstGeom>
        </p:spPr>
      </p:pic>
      <p:pic>
        <p:nvPicPr>
          <p:cNvPr id="7" name="Graphic 6" descr="Apple outline">
            <a:extLst>
              <a:ext uri="{FF2B5EF4-FFF2-40B4-BE49-F238E27FC236}">
                <a16:creationId xmlns:a16="http://schemas.microsoft.com/office/drawing/2014/main" id="{6596300D-3EC5-E037-63C9-5E0E82A9F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8851" y="2514600"/>
            <a:ext cx="2977674" cy="297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A00C-E7E7-589B-052A-A3800F00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vs Vector</a:t>
            </a:r>
          </a:p>
        </p:txBody>
      </p:sp>
      <p:pic>
        <p:nvPicPr>
          <p:cNvPr id="5" name="Graphic 4" descr="Walk with solid fill">
            <a:extLst>
              <a:ext uri="{FF2B5EF4-FFF2-40B4-BE49-F238E27FC236}">
                <a16:creationId xmlns:a16="http://schemas.microsoft.com/office/drawing/2014/main" id="{3538B8A5-F472-5C54-6FA7-366E28A50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4100" y="3911600"/>
            <a:ext cx="914400" cy="914400"/>
          </a:xfrm>
          <a:prstGeom prst="rect">
            <a:avLst/>
          </a:prstGeom>
        </p:spPr>
      </p:pic>
      <p:pic>
        <p:nvPicPr>
          <p:cNvPr id="7" name="Graphic 6" descr="Home with solid fill">
            <a:extLst>
              <a:ext uri="{FF2B5EF4-FFF2-40B4-BE49-F238E27FC236}">
                <a16:creationId xmlns:a16="http://schemas.microsoft.com/office/drawing/2014/main" id="{D7E03B45-8922-93F8-C712-E444FAB452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0700" y="1886744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72E3D4-36C3-60F2-A2C0-0984BA861EC4}"/>
              </a:ext>
            </a:extLst>
          </p:cNvPr>
          <p:cNvCxnSpPr>
            <a:cxnSpLocks/>
          </p:cNvCxnSpPr>
          <p:nvPr/>
        </p:nvCxnSpPr>
        <p:spPr>
          <a:xfrm flipV="1">
            <a:off x="3644900" y="3759200"/>
            <a:ext cx="1231900" cy="463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4FC045-C40E-20CA-284B-070D34083328}"/>
              </a:ext>
            </a:extLst>
          </p:cNvPr>
          <p:cNvCxnSpPr>
            <a:cxnSpLocks/>
          </p:cNvCxnSpPr>
          <p:nvPr/>
        </p:nvCxnSpPr>
        <p:spPr>
          <a:xfrm flipV="1">
            <a:off x="5156200" y="3197225"/>
            <a:ext cx="1231900" cy="463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377EB4-69C4-1DD0-B60A-AC170F41C8BE}"/>
              </a:ext>
            </a:extLst>
          </p:cNvPr>
          <p:cNvCxnSpPr>
            <a:cxnSpLocks/>
          </p:cNvCxnSpPr>
          <p:nvPr/>
        </p:nvCxnSpPr>
        <p:spPr>
          <a:xfrm flipV="1">
            <a:off x="6667500" y="2635250"/>
            <a:ext cx="1231900" cy="463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7FB224-C506-C4A2-54F5-7F7C51B2FCA6}"/>
              </a:ext>
            </a:extLst>
          </p:cNvPr>
          <p:cNvSpPr txBox="1"/>
          <p:nvPr/>
        </p:nvSpPr>
        <p:spPr>
          <a:xfrm>
            <a:off x="3771900" y="3542268"/>
            <a:ext cx="74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km</a:t>
            </a:r>
          </a:p>
        </p:txBody>
      </p:sp>
    </p:spTree>
    <p:extLst>
      <p:ext uri="{BB962C8B-B14F-4D97-AF65-F5344CB8AC3E}">
        <p14:creationId xmlns:p14="http://schemas.microsoft.com/office/powerpoint/2010/main" val="1370200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A0BB-F732-C7D5-D9DA-F7E216C2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1464-ABDF-6914-D530-A01934B2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vs Vector</a:t>
            </a:r>
          </a:p>
        </p:txBody>
      </p:sp>
      <p:pic>
        <p:nvPicPr>
          <p:cNvPr id="5" name="Graphic 4" descr="Walk with solid fill">
            <a:extLst>
              <a:ext uri="{FF2B5EF4-FFF2-40B4-BE49-F238E27FC236}">
                <a16:creationId xmlns:a16="http://schemas.microsoft.com/office/drawing/2014/main" id="{199D785A-6E5B-1FF2-D35F-99AD70AF2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4100" y="3911600"/>
            <a:ext cx="914400" cy="914400"/>
          </a:xfrm>
          <a:prstGeom prst="rect">
            <a:avLst/>
          </a:prstGeom>
        </p:spPr>
      </p:pic>
      <p:pic>
        <p:nvPicPr>
          <p:cNvPr id="7" name="Graphic 6" descr="Home with solid fill">
            <a:extLst>
              <a:ext uri="{FF2B5EF4-FFF2-40B4-BE49-F238E27FC236}">
                <a16:creationId xmlns:a16="http://schemas.microsoft.com/office/drawing/2014/main" id="{FB569A52-CA7E-9287-0217-CC3443A03E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0700" y="1886744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5C6FCF-48C4-FCAF-48CE-85FD74C1EE74}"/>
              </a:ext>
            </a:extLst>
          </p:cNvPr>
          <p:cNvCxnSpPr>
            <a:cxnSpLocks/>
          </p:cNvCxnSpPr>
          <p:nvPr/>
        </p:nvCxnSpPr>
        <p:spPr>
          <a:xfrm>
            <a:off x="3543300" y="43688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54BDAA-FCA8-3ADA-78EB-C854070E72E4}"/>
              </a:ext>
            </a:extLst>
          </p:cNvPr>
          <p:cNvCxnSpPr>
            <a:cxnSpLocks/>
          </p:cNvCxnSpPr>
          <p:nvPr/>
        </p:nvCxnSpPr>
        <p:spPr>
          <a:xfrm>
            <a:off x="5334000" y="4368800"/>
            <a:ext cx="1346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B90808-3AFA-BDC1-C8C6-A6FB89F5BC09}"/>
              </a:ext>
            </a:extLst>
          </p:cNvPr>
          <p:cNvCxnSpPr>
            <a:cxnSpLocks/>
          </p:cNvCxnSpPr>
          <p:nvPr/>
        </p:nvCxnSpPr>
        <p:spPr>
          <a:xfrm>
            <a:off x="7150100" y="4368800"/>
            <a:ext cx="127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F57895-1F21-731B-5CCC-35976BDD2130}"/>
              </a:ext>
            </a:extLst>
          </p:cNvPr>
          <p:cNvCxnSpPr>
            <a:cxnSpLocks/>
          </p:cNvCxnSpPr>
          <p:nvPr/>
        </p:nvCxnSpPr>
        <p:spPr>
          <a:xfrm flipV="1">
            <a:off x="8597900" y="3098800"/>
            <a:ext cx="0" cy="1168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54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ath mode - column vector without using \bmatrix? - TeX - LaTeX Stack  Exchange">
            <a:extLst>
              <a:ext uri="{FF2B5EF4-FFF2-40B4-BE49-F238E27FC236}">
                <a16:creationId xmlns:a16="http://schemas.microsoft.com/office/drawing/2014/main" id="{D931C13F-02F1-59DD-1272-18795F4C4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4467760"/>
            <a:ext cx="2622347" cy="196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83F559-70CB-8DEF-D7EA-90A7B6FF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02F72-4441-2E62-3027-FFA91E42E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96270" cy="4351338"/>
          </a:xfrm>
        </p:spPr>
        <p:txBody>
          <a:bodyPr/>
          <a:lstStyle/>
          <a:p>
            <a:r>
              <a:rPr lang="en-US" dirty="0"/>
              <a:t>Mathematical object with direction + magnitude</a:t>
            </a:r>
          </a:p>
          <a:p>
            <a:pPr lvl="1"/>
            <a:r>
              <a:rPr lang="en-US" dirty="0"/>
              <a:t>Direction: like slope</a:t>
            </a:r>
          </a:p>
          <a:p>
            <a:pPr lvl="1"/>
            <a:r>
              <a:rPr lang="en-US" dirty="0"/>
              <a:t>Magnitude: length of hypotenuse of triangle w legs x, y</a:t>
            </a:r>
          </a:p>
          <a:p>
            <a:r>
              <a:rPr lang="en-US" dirty="0"/>
              <a:t>If no direction, it’s called a scalar.</a:t>
            </a:r>
          </a:p>
          <a:p>
            <a:r>
              <a:rPr lang="en-US" dirty="0"/>
              <a:t>Can have many dimensions</a:t>
            </a:r>
          </a:p>
          <a:p>
            <a:endParaRPr lang="en-US" dirty="0"/>
          </a:p>
        </p:txBody>
      </p:sp>
      <p:pic>
        <p:nvPicPr>
          <p:cNvPr id="1030" name="Picture 6" descr="Vector notation - Wikipedia">
            <a:extLst>
              <a:ext uri="{FF2B5EF4-FFF2-40B4-BE49-F238E27FC236}">
                <a16:creationId xmlns:a16="http://schemas.microsoft.com/office/drawing/2014/main" id="{4D55A083-7FD1-53CC-1CD9-C139B632E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709" y="729871"/>
            <a:ext cx="3115191" cy="244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7. Vectors in 3-D Space">
            <a:extLst>
              <a:ext uri="{FF2B5EF4-FFF2-40B4-BE49-F238E27FC236}">
                <a16:creationId xmlns:a16="http://schemas.microsoft.com/office/drawing/2014/main" id="{05854D7C-5671-3F19-E13B-8D749B7B7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670" y="3575100"/>
            <a:ext cx="298132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24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0A15-6ABE-1B9C-7C47-B5394212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4B3A4-05FB-F767-E3BE-254DFD15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3200" cy="4351338"/>
          </a:xfrm>
        </p:spPr>
        <p:txBody>
          <a:bodyPr/>
          <a:lstStyle/>
          <a:p>
            <a:r>
              <a:rPr lang="en-US" dirty="0"/>
              <a:t>Anything with direction and magnitude!</a:t>
            </a:r>
          </a:p>
          <a:p>
            <a:pPr lvl="1"/>
            <a:r>
              <a:rPr lang="en-US" dirty="0"/>
              <a:t>Movement, force, velocity, acceleration</a:t>
            </a:r>
          </a:p>
        </p:txBody>
      </p:sp>
      <p:sp>
        <p:nvSpPr>
          <p:cNvPr id="5" name="AutoShape 6" descr="Lake Clipart Images | Free Download | PNG Transparent Background - Pngtree">
            <a:extLst>
              <a:ext uri="{FF2B5EF4-FFF2-40B4-BE49-F238E27FC236}">
                <a16:creationId xmlns:a16="http://schemas.microsoft.com/office/drawing/2014/main" id="{003B3484-6C92-C6A1-24B8-4229792C3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3100" y="3263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Athletes participate in team photo media day at Belk Arena on Thursday, October 25, 2018 in Davidson, North Carolina.">
            <a:extLst>
              <a:ext uri="{FF2B5EF4-FFF2-40B4-BE49-F238E27FC236}">
                <a16:creationId xmlns:a16="http://schemas.microsoft.com/office/drawing/2014/main" id="{BDF69855-9716-A247-3E6A-4583AE16ED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5500" y="3416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6" name="Picture 18" descr="How plane spotting is getting me through the pandemic.">
            <a:extLst>
              <a:ext uri="{FF2B5EF4-FFF2-40B4-BE49-F238E27FC236}">
                <a16:creationId xmlns:a16="http://schemas.microsoft.com/office/drawing/2014/main" id="{44B502DB-D256-1F7A-7FDE-88B546120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02" y="3159786"/>
            <a:ext cx="3738148" cy="249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7356EA-B7F4-EC67-4F80-4259394DC775}"/>
              </a:ext>
            </a:extLst>
          </p:cNvPr>
          <p:cNvCxnSpPr/>
          <p:nvPr/>
        </p:nvCxnSpPr>
        <p:spPr>
          <a:xfrm flipV="1">
            <a:off x="2328276" y="3308350"/>
            <a:ext cx="0" cy="8255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68" name="Picture 20" descr="University of North Carolina - School of Medicine, Roper Hall | Flad  Architects">
            <a:extLst>
              <a:ext uri="{FF2B5EF4-FFF2-40B4-BE49-F238E27FC236}">
                <a16:creationId xmlns:a16="http://schemas.microsoft.com/office/drawing/2014/main" id="{CD26F5B1-17D1-0F37-0034-E5A9FE035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848" y="3159786"/>
            <a:ext cx="3780253" cy="249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5717C5-CC06-741F-2D05-0BF72B42AE2B}"/>
              </a:ext>
            </a:extLst>
          </p:cNvPr>
          <p:cNvCxnSpPr>
            <a:cxnSpLocks/>
          </p:cNvCxnSpPr>
          <p:nvPr/>
        </p:nvCxnSpPr>
        <p:spPr>
          <a:xfrm>
            <a:off x="6760576" y="3919868"/>
            <a:ext cx="0" cy="9715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Acurite 8-Inch Thermometer">
            <a:extLst>
              <a:ext uri="{FF2B5EF4-FFF2-40B4-BE49-F238E27FC236}">
                <a16:creationId xmlns:a16="http://schemas.microsoft.com/office/drawing/2014/main" id="{7EDB9E36-8BB8-3F47-0B17-76E5F8118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866" y="3159785"/>
            <a:ext cx="2491715" cy="249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EC3108-7BC0-71F1-B421-37554BF3DCBD}"/>
              </a:ext>
            </a:extLst>
          </p:cNvPr>
          <p:cNvCxnSpPr/>
          <p:nvPr/>
        </p:nvCxnSpPr>
        <p:spPr>
          <a:xfrm flipV="1">
            <a:off x="10478264" y="3732284"/>
            <a:ext cx="0" cy="8255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768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2D69-6DBD-6A56-D0DE-14683957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Operations: Addition and Subtraction</a:t>
            </a:r>
          </a:p>
        </p:txBody>
      </p:sp>
      <p:pic>
        <p:nvPicPr>
          <p:cNvPr id="6146" name="Picture 2" descr="Online calculator. Addition and subtraction of vectors">
            <a:extLst>
              <a:ext uri="{FF2B5EF4-FFF2-40B4-BE49-F238E27FC236}">
                <a16:creationId xmlns:a16="http://schemas.microsoft.com/office/drawing/2014/main" id="{5465E8FB-4783-ECB1-79AB-012780D77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4" y="2047874"/>
            <a:ext cx="3260725" cy="326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96DCA1E-AB13-9749-E6AE-A2A59E3B0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98" y="2326481"/>
            <a:ext cx="3530602" cy="255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EB4972-A9EF-6B86-AED0-1597D1F0E2EE}"/>
              </a:ext>
            </a:extLst>
          </p:cNvPr>
          <p:cNvSpPr txBox="1"/>
          <p:nvPr/>
        </p:nvSpPr>
        <p:spPr>
          <a:xfrm>
            <a:off x="3270248" y="5516444"/>
            <a:ext cx="585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Never used in AI – we’re blasting past these</a:t>
            </a:r>
          </a:p>
        </p:txBody>
      </p:sp>
    </p:spTree>
    <p:extLst>
      <p:ext uri="{BB962C8B-B14F-4D97-AF65-F5344CB8AC3E}">
        <p14:creationId xmlns:p14="http://schemas.microsoft.com/office/powerpoint/2010/main" val="199849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1CD8-5673-7E79-3747-7487DCF8C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Operations: Computing Magnitude</a:t>
            </a:r>
          </a:p>
        </p:txBody>
      </p:sp>
      <p:pic>
        <p:nvPicPr>
          <p:cNvPr id="2054" name="Picture 6" descr="Magnitude Calculator">
            <a:extLst>
              <a:ext uri="{FF2B5EF4-FFF2-40B4-BE49-F238E27FC236}">
                <a16:creationId xmlns:a16="http://schemas.microsoft.com/office/drawing/2014/main" id="{2D563D52-8DDB-7EB1-7088-BE7BB44E6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73" y="2047165"/>
            <a:ext cx="6080623" cy="211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A8863B-F336-6E80-F69A-9C4799BE6741}"/>
                  </a:ext>
                </a:extLst>
              </p:cNvPr>
              <p:cNvSpPr txBox="1"/>
              <p:nvPr/>
            </p:nvSpPr>
            <p:spPr>
              <a:xfrm>
                <a:off x="7914564" y="2858792"/>
                <a:ext cx="3439236" cy="496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vector &lt;2,2&gt;,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A8863B-F336-6E80-F69A-9C4799BE6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564" y="2858792"/>
                <a:ext cx="3439236" cy="496483"/>
              </a:xfrm>
              <a:prstGeom prst="rect">
                <a:avLst/>
              </a:prstGeom>
              <a:blipFill>
                <a:blip r:embed="rId4"/>
                <a:stretch>
                  <a:fillRect l="-2655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083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07AE7-5453-4EC0-A215-7CAA67C5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559C-1C1B-FC61-FEDF-0F3E7292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Operations: Scalar Product</a:t>
            </a:r>
          </a:p>
        </p:txBody>
      </p:sp>
      <p:pic>
        <p:nvPicPr>
          <p:cNvPr id="5122" name="Picture 2" descr="Scalar multiplication - Wikipedia">
            <a:extLst>
              <a:ext uri="{FF2B5EF4-FFF2-40B4-BE49-F238E27FC236}">
                <a16:creationId xmlns:a16="http://schemas.microsoft.com/office/drawing/2014/main" id="{BEF63DA5-A20C-A25F-8896-26D4CD226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2405664"/>
            <a:ext cx="5140296" cy="285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F2A77A-47EF-7B40-3DA4-069ECE44B6F6}"/>
                  </a:ext>
                </a:extLst>
              </p:cNvPr>
              <p:cNvSpPr txBox="1"/>
              <p:nvPr/>
            </p:nvSpPr>
            <p:spPr>
              <a:xfrm>
                <a:off x="165100" y="2405664"/>
                <a:ext cx="3949700" cy="2471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endParaRPr lang="en-US" sz="2400" b="0" dirty="0"/>
              </a:p>
              <a:p>
                <a:pPr algn="ctr"/>
                <a:r>
                  <a:rPr lang="en-US" sz="2400" dirty="0"/>
                  <a:t>3*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3∗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F2A77A-47EF-7B40-3DA4-069ECE44B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" y="2405664"/>
                <a:ext cx="3949700" cy="24710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910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8BC5-C94A-30AD-3A88-CBBAFAEA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27D5-C02E-A412-3181-3B4BCBD4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Operations: Dot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E9987-9D6A-4331-774B-7EBD4C1C7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694" y="5692663"/>
            <a:ext cx="4305901" cy="800212"/>
          </a:xfrm>
          <a:prstGeom prst="rect">
            <a:avLst/>
          </a:prstGeom>
        </p:spPr>
      </p:pic>
      <p:pic>
        <p:nvPicPr>
          <p:cNvPr id="2050" name="Picture 2" descr="Inner (Dot) product of two Vectors. Applications in Machine Learning">
            <a:extLst>
              <a:ext uri="{FF2B5EF4-FFF2-40B4-BE49-F238E27FC236}">
                <a16:creationId xmlns:a16="http://schemas.microsoft.com/office/drawing/2014/main" id="{015BA6E0-ABE0-C2C8-F611-47A26C29B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90688"/>
            <a:ext cx="8675427" cy="327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75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6C1C-225B-1740-1F7B-475E2389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F863-CC54-D8CE-8B7A-7F16C99D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Operations: Dot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40180-FAC9-1541-A19E-882F2C3D8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590" y="1493700"/>
            <a:ext cx="4305901" cy="800212"/>
          </a:xfrm>
          <a:prstGeom prst="rect">
            <a:avLst/>
          </a:prstGeom>
        </p:spPr>
      </p:pic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AAD2B81C-71C5-EEDB-7DBE-BED6F0989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6715">
            <a:off x="764865" y="1825573"/>
            <a:ext cx="4281488" cy="342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870C4-DA2C-A757-C619-E8640BE30BD9}"/>
                  </a:ext>
                </a:extLst>
              </p:cNvPr>
              <p:cNvSpPr txBox="1"/>
              <p:nvPr/>
            </p:nvSpPr>
            <p:spPr>
              <a:xfrm>
                <a:off x="5354794" y="2821568"/>
                <a:ext cx="5863666" cy="170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•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=4*2 + 2*0 = 8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nor/>
                      </m:rPr>
                      <a:rPr lang="en-US" sz="2400" dirty="0"/>
                      <m:t>∗4∗</m:t>
                    </m:r>
                    <m:r>
                      <m:rPr>
                        <m:nor/>
                      </m:rPr>
                      <a:rPr lang="en-US" sz="2400" dirty="0"/>
                      <m:t>cos</m:t>
                    </m:r>
                    <m:r>
                      <m:rPr>
                        <m:nor/>
                      </m:rPr>
                      <a:rPr lang="en-US" sz="2400" dirty="0"/>
                      <m:t>(45) =2</m:t>
                    </m:r>
                    <m:rad>
                      <m:radPr>
                        <m:deg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∗4∗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=4∗(</m:t>
                    </m:r>
                    <m:rad>
                      <m:radPr>
                        <m:deg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2)</m:t>
                        </m:r>
                      </m:e>
                    </m:ra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^2</m:t>
                    </m:r>
                  </m:oMath>
                </a14:m>
                <a:r>
                  <a:rPr lang="en-US" sz="2400" dirty="0"/>
                  <a:t>=8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870C4-DA2C-A757-C619-E8640BE30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794" y="2821568"/>
                <a:ext cx="5863666" cy="1707455"/>
              </a:xfrm>
              <a:prstGeom prst="rect">
                <a:avLst/>
              </a:prstGeom>
              <a:blipFill>
                <a:blip r:embed="rId5"/>
                <a:stretch>
                  <a:fillRect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2870679-3A65-5E2A-04B8-1AC570194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877" y="5659903"/>
            <a:ext cx="2457751" cy="55497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F397E0-2B3A-CD81-6690-EF0AFEDE1B71}"/>
              </a:ext>
            </a:extLst>
          </p:cNvPr>
          <p:cNvCxnSpPr>
            <a:stCxn id="5" idx="2"/>
            <a:endCxn id="3" idx="0"/>
          </p:cNvCxnSpPr>
          <p:nvPr/>
        </p:nvCxnSpPr>
        <p:spPr>
          <a:xfrm flipH="1">
            <a:off x="8286627" y="2293912"/>
            <a:ext cx="306914" cy="5276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86C32C-FF57-8DCF-DC6A-4C98A1C4EF1B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8286627" y="4529023"/>
            <a:ext cx="406997" cy="8352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34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D682-1BAA-3112-894E-08882122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3184-027F-657E-45E1-9ACA56BF1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77875"/>
          </a:xfrm>
        </p:spPr>
        <p:txBody>
          <a:bodyPr/>
          <a:lstStyle/>
          <a:p>
            <a:r>
              <a:rPr lang="en-US" dirty="0"/>
              <a:t>Extension of vector to 3d</a:t>
            </a:r>
          </a:p>
        </p:txBody>
      </p:sp>
      <p:pic>
        <p:nvPicPr>
          <p:cNvPr id="4098" name="Picture 2" descr="Two tall square brackets with m-many rows each containing n-many subscripted letter 'a' variables. Each letter 'a' is given a row number and column number as its subscript.">
            <a:extLst>
              <a:ext uri="{FF2B5EF4-FFF2-40B4-BE49-F238E27FC236}">
                <a16:creationId xmlns:a16="http://schemas.microsoft.com/office/drawing/2014/main" id="{47B970C0-CBE7-C9D5-B3E6-4E99F2B10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54469"/>
            <a:ext cx="4017963" cy="280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5273F7-BAAE-161A-F312-D84662F1D1CE}"/>
              </a:ext>
            </a:extLst>
          </p:cNvPr>
          <p:cNvSpPr txBox="1"/>
          <p:nvPr/>
        </p:nvSpPr>
        <p:spPr>
          <a:xfrm>
            <a:off x="1955800" y="5892800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 by m matrix 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A78DD1-B8EA-4C6F-9C33-C1BADBE1E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750" y="2971802"/>
            <a:ext cx="5181502" cy="2682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F3008-20AF-C178-C54B-14657D63B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39" y="1058020"/>
            <a:ext cx="4277322" cy="1419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8BBC-D7E1-1BA8-30D6-7E8603ED9A1E}"/>
              </a:ext>
            </a:extLst>
          </p:cNvPr>
          <p:cNvSpPr txBox="1"/>
          <p:nvPr/>
        </p:nvSpPr>
        <p:spPr>
          <a:xfrm>
            <a:off x="7556500" y="668337"/>
            <a:ext cx="275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Bundle of vectors!</a:t>
            </a:r>
          </a:p>
        </p:txBody>
      </p:sp>
    </p:spTree>
    <p:extLst>
      <p:ext uri="{BB962C8B-B14F-4D97-AF65-F5344CB8AC3E}">
        <p14:creationId xmlns:p14="http://schemas.microsoft.com/office/powerpoint/2010/main" val="290568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8D700-7853-7E08-E26E-64A87D42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Visualized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326BB-7094-8069-59AA-1847F248E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01270" cy="4553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FE7DD-DFBA-AD0B-208B-8C3ABABCF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32" y="3162585"/>
            <a:ext cx="3613815" cy="160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93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5C9D-9200-6C60-9D14-E24E6FDC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Notation</a:t>
            </a:r>
          </a:p>
        </p:txBody>
      </p:sp>
      <p:pic>
        <p:nvPicPr>
          <p:cNvPr id="7170" name="Picture 2" descr="RC Cola Cherry Soda Pop, 12 fl oz, 12 Pack Cans - Walmart.com">
            <a:extLst>
              <a:ext uri="{FF2B5EF4-FFF2-40B4-BE49-F238E27FC236}">
                <a16:creationId xmlns:a16="http://schemas.microsoft.com/office/drawing/2014/main" id="{8872AE0E-884F-AA59-2A53-49A661FA1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2044700"/>
            <a:ext cx="3898900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Order of Matrix - GeeksforGeeks">
            <a:extLst>
              <a:ext uri="{FF2B5EF4-FFF2-40B4-BE49-F238E27FC236}">
                <a16:creationId xmlns:a16="http://schemas.microsoft.com/office/drawing/2014/main" id="{A39F423D-FD00-AA90-20D6-2E67A82D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188" y="1451012"/>
            <a:ext cx="6564312" cy="395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8F4629-8B63-FD44-FBFF-B74BE67D4FB1}"/>
              </a:ext>
            </a:extLst>
          </p:cNvPr>
          <p:cNvSpPr/>
          <p:nvPr/>
        </p:nvSpPr>
        <p:spPr>
          <a:xfrm>
            <a:off x="3886200" y="2273300"/>
            <a:ext cx="3733802" cy="367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DE13E2-81C0-C1B7-3BB2-3EC4D27BBAF1}"/>
              </a:ext>
            </a:extLst>
          </p:cNvPr>
          <p:cNvSpPr/>
          <p:nvPr/>
        </p:nvSpPr>
        <p:spPr>
          <a:xfrm>
            <a:off x="7321550" y="-675444"/>
            <a:ext cx="3733802" cy="373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4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8DDB-C979-DF01-EB0E-2AE795E9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p:pic>
        <p:nvPicPr>
          <p:cNvPr id="8194" name="Picture 2" descr="Lock in Emote - Etsy">
            <a:extLst>
              <a:ext uri="{FF2B5EF4-FFF2-40B4-BE49-F238E27FC236}">
                <a16:creationId xmlns:a16="http://schemas.microsoft.com/office/drawing/2014/main" id="{286D4570-2CE7-E2A5-E3E7-41044AD39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137" y="215899"/>
            <a:ext cx="949325" cy="94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B9BDE-E51A-7CEC-BDE9-E579428EE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986" y="5756152"/>
            <a:ext cx="5382376" cy="885949"/>
          </a:xfrm>
          <a:prstGeom prst="rect">
            <a:avLst/>
          </a:prstGeom>
        </p:spPr>
      </p:pic>
      <p:pic>
        <p:nvPicPr>
          <p:cNvPr id="8196" name="Picture 4" descr="Matrix Multiplication-Why is it a big deal? | by Charchithowitzer | Medium">
            <a:extLst>
              <a:ext uri="{FF2B5EF4-FFF2-40B4-BE49-F238E27FC236}">
                <a16:creationId xmlns:a16="http://schemas.microsoft.com/office/drawing/2014/main" id="{0092AD0E-FA44-5D04-B111-878DF965E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64" y="1690688"/>
            <a:ext cx="9288472" cy="313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AE15F-637E-9948-C419-16FF3D7DF082}"/>
              </a:ext>
            </a:extLst>
          </p:cNvPr>
          <p:cNvSpPr txBox="1"/>
          <p:nvPr/>
        </p:nvSpPr>
        <p:spPr>
          <a:xfrm>
            <a:off x="4508500" y="4797980"/>
            <a:ext cx="342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*b</a:t>
            </a:r>
            <a:r>
              <a:rPr lang="en-US" sz="2400" baseline="-25000" dirty="0"/>
              <a:t>1</a:t>
            </a:r>
            <a:r>
              <a:rPr lang="en-US" sz="2400" dirty="0"/>
              <a:t>+ a</a:t>
            </a:r>
            <a:r>
              <a:rPr lang="en-US" sz="2400" baseline="-25000" dirty="0"/>
              <a:t>2</a:t>
            </a:r>
            <a:r>
              <a:rPr lang="en-US" sz="2400" dirty="0"/>
              <a:t>*b</a:t>
            </a:r>
            <a:r>
              <a:rPr lang="en-US" sz="2400" baseline="-25000" dirty="0"/>
              <a:t>4</a:t>
            </a:r>
            <a:r>
              <a:rPr lang="en-US" sz="2400" dirty="0"/>
              <a:t>+ a</a:t>
            </a:r>
            <a:r>
              <a:rPr lang="en-US" sz="2400" baseline="-25000" dirty="0"/>
              <a:t>3</a:t>
            </a:r>
            <a:r>
              <a:rPr lang="en-US" sz="2400" dirty="0"/>
              <a:t>*b</a:t>
            </a:r>
            <a:r>
              <a:rPr lang="en-US" sz="2400" baseline="-25000" dirty="0"/>
              <a:t>7</a:t>
            </a:r>
            <a:r>
              <a:rPr lang="en-US" sz="2400" dirty="0"/>
              <a:t>= c</a:t>
            </a:r>
            <a:r>
              <a:rPr lang="en-US" sz="2400" baseline="-25000" dirty="0"/>
              <a:t>1</a:t>
            </a:r>
            <a:endParaRPr lang="en-US" sz="24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49C4E-6754-BF8D-45CE-0154ADC76111}"/>
              </a:ext>
            </a:extLst>
          </p:cNvPr>
          <p:cNvSpPr txBox="1"/>
          <p:nvPr/>
        </p:nvSpPr>
        <p:spPr>
          <a:xfrm>
            <a:off x="2794000" y="1499394"/>
            <a:ext cx="965200" cy="382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3E5C5-5B1B-47F2-97B9-96F5B91BCE4D}"/>
              </a:ext>
            </a:extLst>
          </p:cNvPr>
          <p:cNvSpPr txBox="1"/>
          <p:nvPr/>
        </p:nvSpPr>
        <p:spPr>
          <a:xfrm>
            <a:off x="5647531" y="1470582"/>
            <a:ext cx="448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F6F1F-9FD2-3352-056D-E4D0CA90CBED}"/>
              </a:ext>
            </a:extLst>
          </p:cNvPr>
          <p:cNvSpPr txBox="1"/>
          <p:nvPr/>
        </p:nvSpPr>
        <p:spPr>
          <a:xfrm>
            <a:off x="9173765" y="1470582"/>
            <a:ext cx="448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46999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2DE7-1248-9D1D-66E4-CB77D67F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 Rules</a:t>
            </a:r>
          </a:p>
        </p:txBody>
      </p:sp>
      <p:pic>
        <p:nvPicPr>
          <p:cNvPr id="11266" name="Picture 2" descr="Matrix Multiplication - 2x2, 3x3 | How to Multiply Matrices?">
            <a:extLst>
              <a:ext uri="{FF2B5EF4-FFF2-40B4-BE49-F238E27FC236}">
                <a16:creationId xmlns:a16="http://schemas.microsoft.com/office/drawing/2014/main" id="{51395851-396C-C6C8-2815-40EC627A2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8" t="25562" r="228" b="-19048"/>
          <a:stretch>
            <a:fillRect/>
          </a:stretch>
        </p:blipFill>
        <p:spPr bwMode="auto">
          <a:xfrm>
            <a:off x="-444500" y="1905000"/>
            <a:ext cx="8610600" cy="511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undefined">
            <a:extLst>
              <a:ext uri="{FF2B5EF4-FFF2-40B4-BE49-F238E27FC236}">
                <a16:creationId xmlns:a16="http://schemas.microsoft.com/office/drawing/2014/main" id="{3A8F0C7E-3417-C347-14BB-8A637FF5F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951" y="2044144"/>
            <a:ext cx="4594649" cy="404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A32EFE-A5E2-6A1B-F4DA-E6C6B3678232}"/>
              </a:ext>
            </a:extLst>
          </p:cNvPr>
          <p:cNvSpPr txBox="1"/>
          <p:nvPr/>
        </p:nvSpPr>
        <p:spPr>
          <a:xfrm>
            <a:off x="7759700" y="3429000"/>
            <a:ext cx="104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25051-DAE8-85C5-7D0D-142BC220FB35}"/>
              </a:ext>
            </a:extLst>
          </p:cNvPr>
          <p:cNvSpPr txBox="1"/>
          <p:nvPr/>
        </p:nvSpPr>
        <p:spPr>
          <a:xfrm>
            <a:off x="9512300" y="1674812"/>
            <a:ext cx="104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2x3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F6810-FCED-D712-652C-BA995C7A9AFC}"/>
              </a:ext>
            </a:extLst>
          </p:cNvPr>
          <p:cNvSpPr txBox="1"/>
          <p:nvPr/>
        </p:nvSpPr>
        <p:spPr>
          <a:xfrm>
            <a:off x="10763250" y="4597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4x3</a:t>
            </a:r>
          </a:p>
        </p:txBody>
      </p:sp>
    </p:spTree>
    <p:extLst>
      <p:ext uri="{BB962C8B-B14F-4D97-AF65-F5344CB8AC3E}">
        <p14:creationId xmlns:p14="http://schemas.microsoft.com/office/powerpoint/2010/main" val="334415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F83C-7F09-53F1-AB7C-9E752F7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Medicine Inspires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85DD5-8823-CCDF-C72C-6909B6FC3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346" y="1825625"/>
            <a:ext cx="6103484" cy="4351338"/>
          </a:xfrm>
        </p:spPr>
        <p:txBody>
          <a:bodyPr/>
          <a:lstStyle/>
          <a:p>
            <a:r>
              <a:rPr lang="en-US" dirty="0"/>
              <a:t>1940s – The neuron cell is discovered</a:t>
            </a:r>
          </a:p>
          <a:p>
            <a:r>
              <a:rPr lang="en-US" dirty="0"/>
              <a:t>Computer scientists wonder – can this be replicated to form the basis of Artificial intelligence?</a:t>
            </a:r>
          </a:p>
        </p:txBody>
      </p:sp>
      <p:pic>
        <p:nvPicPr>
          <p:cNvPr id="9218" name="Picture 2" descr="undefined">
            <a:extLst>
              <a:ext uri="{FF2B5EF4-FFF2-40B4-BE49-F238E27FC236}">
                <a16:creationId xmlns:a16="http://schemas.microsoft.com/office/drawing/2014/main" id="{48133FF2-01AD-8AAF-E616-E6C7B4A8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085" y="365125"/>
            <a:ext cx="5174570" cy="333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rtificial neuron structure">
            <a:extLst>
              <a:ext uri="{FF2B5EF4-FFF2-40B4-BE49-F238E27FC236}">
                <a16:creationId xmlns:a16="http://schemas.microsoft.com/office/drawing/2014/main" id="{21578A35-4483-331C-C183-DF1F2BAA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085" y="3770041"/>
            <a:ext cx="4905829" cy="240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400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7CB6-2FCE-6760-275A-9408B485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the neuron</a:t>
            </a:r>
          </a:p>
        </p:txBody>
      </p:sp>
      <p:pic>
        <p:nvPicPr>
          <p:cNvPr id="4" name="Picture 6" descr="Artificial neuron structure">
            <a:extLst>
              <a:ext uri="{FF2B5EF4-FFF2-40B4-BE49-F238E27FC236}">
                <a16:creationId xmlns:a16="http://schemas.microsoft.com/office/drawing/2014/main" id="{66765ACA-18EF-C2EB-BBC4-020DACC1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093" y="1590580"/>
            <a:ext cx="9399814" cy="461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EFF87-B4A0-8CE6-F61D-CF31F8C812D9}"/>
              </a:ext>
            </a:extLst>
          </p:cNvPr>
          <p:cNvSpPr txBox="1"/>
          <p:nvPr/>
        </p:nvSpPr>
        <p:spPr>
          <a:xfrm>
            <a:off x="1917247" y="6202363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“Dendrites”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778E1-1D14-BEAB-0CA0-F25E4C45D0B4}"/>
              </a:ext>
            </a:extLst>
          </p:cNvPr>
          <p:cNvSpPr txBox="1"/>
          <p:nvPr/>
        </p:nvSpPr>
        <p:spPr>
          <a:xfrm>
            <a:off x="4977947" y="5643563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“Cell body”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016B88-1906-7B00-0940-9FF22D4E4545}"/>
                  </a:ext>
                </a:extLst>
              </p:cNvPr>
              <p:cNvSpPr txBox="1"/>
              <p:nvPr/>
            </p:nvSpPr>
            <p:spPr>
              <a:xfrm>
                <a:off x="5943147" y="901700"/>
                <a:ext cx="4102553" cy="14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xn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wn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016B88-1906-7B00-0940-9FF22D4E4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147" y="901700"/>
                <a:ext cx="4102553" cy="1452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2B3E925-80F8-4278-032B-619BB1DA9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446" y="5915011"/>
            <a:ext cx="4102554" cy="8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9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9D31-C137-E96C-5A52-B5E2F9D2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40951-A7CF-F915-C8AF-52CEA1A8E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00" r="50000"/>
          <a:stretch>
            <a:fillRect/>
          </a:stretch>
        </p:blipFill>
        <p:spPr>
          <a:xfrm>
            <a:off x="2356334" y="2283049"/>
            <a:ext cx="3739666" cy="32158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E6C061-B5FC-1F33-224B-1A8AFD7FF365}"/>
              </a:ext>
            </a:extLst>
          </p:cNvPr>
          <p:cNvSpPr txBox="1"/>
          <p:nvPr/>
        </p:nvSpPr>
        <p:spPr>
          <a:xfrm>
            <a:off x="609600" y="2565400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(1,0)</a:t>
            </a:r>
          </a:p>
          <a:p>
            <a:r>
              <a:rPr lang="en-US" sz="2400" dirty="0"/>
              <a:t>(1,1)</a:t>
            </a:r>
          </a:p>
          <a:p>
            <a:r>
              <a:rPr lang="en-US" sz="2400" dirty="0"/>
              <a:t>(0,1)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E8A776-3708-0B6F-1CCC-4E12300F5D93}"/>
                  </a:ext>
                </a:extLst>
              </p:cNvPr>
              <p:cNvSpPr txBox="1"/>
              <p:nvPr/>
            </p:nvSpPr>
            <p:spPr>
              <a:xfrm>
                <a:off x="7842734" y="1908234"/>
                <a:ext cx="2603500" cy="1118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Transform Matrix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E8A776-3708-0B6F-1CCC-4E12300F5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734" y="1908234"/>
                <a:ext cx="2603500" cy="1118961"/>
              </a:xfrm>
              <a:prstGeom prst="rect">
                <a:avLst/>
              </a:prstGeom>
              <a:blipFill>
                <a:blip r:embed="rId4"/>
                <a:stretch>
                  <a:fillRect l="-3747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BA2A16-D3BD-C504-E1B1-7013CAF70858}"/>
              </a:ext>
            </a:extLst>
          </p:cNvPr>
          <p:cNvCxnSpPr>
            <a:cxnSpLocks/>
          </p:cNvCxnSpPr>
          <p:nvPr/>
        </p:nvCxnSpPr>
        <p:spPr>
          <a:xfrm flipV="1">
            <a:off x="3771900" y="3644900"/>
            <a:ext cx="0" cy="5588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1F8D08-1275-0125-6C59-84B28F9C064F}"/>
                  </a:ext>
                </a:extLst>
              </p:cNvPr>
              <p:cNvSpPr txBox="1"/>
              <p:nvPr/>
            </p:nvSpPr>
            <p:spPr>
              <a:xfrm>
                <a:off x="7232166" y="3549485"/>
                <a:ext cx="260350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1F8D08-1275-0125-6C59-84B28F9C0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166" y="3549485"/>
                <a:ext cx="2603500" cy="749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448F73-4BC1-7601-4B97-4C9F91C4866E}"/>
                  </a:ext>
                </a:extLst>
              </p:cNvPr>
              <p:cNvSpPr txBox="1"/>
              <p:nvPr/>
            </p:nvSpPr>
            <p:spPr>
              <a:xfrm>
                <a:off x="8533916" y="3549485"/>
                <a:ext cx="2603500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448F73-4BC1-7601-4B97-4C9F91C48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916" y="3549485"/>
                <a:ext cx="2603500" cy="7057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3167876-A931-BEE6-86F7-962D2972B843}"/>
              </a:ext>
            </a:extLst>
          </p:cNvPr>
          <p:cNvSpPr txBox="1"/>
          <p:nvPr/>
        </p:nvSpPr>
        <p:spPr>
          <a:xfrm>
            <a:off x="8973034" y="450028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(2,1)</a:t>
            </a:r>
          </a:p>
          <a:p>
            <a:r>
              <a:rPr lang="en-US" sz="2400" dirty="0"/>
              <a:t>(0,1)</a:t>
            </a:r>
          </a:p>
        </p:txBody>
      </p:sp>
    </p:spTree>
    <p:extLst>
      <p:ext uri="{BB962C8B-B14F-4D97-AF65-F5344CB8AC3E}">
        <p14:creationId xmlns:p14="http://schemas.microsoft.com/office/powerpoint/2010/main" val="191213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9DC5-8041-58E9-BB5C-130EB4FC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25B8-0265-6587-A4A2-5DCC99EF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16" y="352405"/>
            <a:ext cx="10515600" cy="1325563"/>
          </a:xfrm>
        </p:spPr>
        <p:txBody>
          <a:bodyPr/>
          <a:lstStyle/>
          <a:p>
            <a:r>
              <a:rPr lang="en-US" dirty="0"/>
              <a:t>Matrices: Multiplication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B724B-DCD8-2ED0-2700-31D50E27C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-3950" r="-2808"/>
          <a:stretch>
            <a:fillRect/>
          </a:stretch>
        </p:blipFill>
        <p:spPr>
          <a:xfrm>
            <a:off x="2251317" y="1677968"/>
            <a:ext cx="7689366" cy="39748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CA35C9-A42F-0420-6A29-769CC9A2E3EF}"/>
              </a:ext>
            </a:extLst>
          </p:cNvPr>
          <p:cNvSpPr txBox="1"/>
          <p:nvPr/>
        </p:nvSpPr>
        <p:spPr>
          <a:xfrm>
            <a:off x="10446718" y="295480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(2,1)</a:t>
            </a:r>
          </a:p>
          <a:p>
            <a:r>
              <a:rPr lang="en-US" sz="2400" dirty="0"/>
              <a:t>(0,1)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76018-612B-05BA-E3AF-C94482E8E108}"/>
              </a:ext>
            </a:extLst>
          </p:cNvPr>
          <p:cNvSpPr txBox="1"/>
          <p:nvPr/>
        </p:nvSpPr>
        <p:spPr>
          <a:xfrm>
            <a:off x="621816" y="3136900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(1,0)</a:t>
            </a:r>
          </a:p>
          <a:p>
            <a:r>
              <a:rPr lang="en-US" sz="2400" dirty="0"/>
              <a:t>(1,1)</a:t>
            </a:r>
          </a:p>
          <a:p>
            <a:r>
              <a:rPr lang="en-US" sz="2400" dirty="0"/>
              <a:t>(0,1)</a:t>
            </a:r>
          </a:p>
        </p:txBody>
      </p:sp>
    </p:spTree>
    <p:extLst>
      <p:ext uri="{BB962C8B-B14F-4D97-AF65-F5344CB8AC3E}">
        <p14:creationId xmlns:p14="http://schemas.microsoft.com/office/powerpoint/2010/main" val="2715639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02F6-3DEB-D40C-6D37-9E968471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55C9-2318-9EAF-6ACE-4F54FD1D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DE7C3F-10D0-C7C3-8FC2-EC4B0F795FEE}"/>
                  </a:ext>
                </a:extLst>
              </p:cNvPr>
              <p:cNvSpPr txBox="1"/>
              <p:nvPr/>
            </p:nvSpPr>
            <p:spPr>
              <a:xfrm>
                <a:off x="7842734" y="1908234"/>
                <a:ext cx="2603500" cy="1118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Transform Matrix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DE7C3F-10D0-C7C3-8FC2-EC4B0F795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734" y="1908234"/>
                <a:ext cx="2603500" cy="1118961"/>
              </a:xfrm>
              <a:prstGeom prst="rect">
                <a:avLst/>
              </a:prstGeom>
              <a:blipFill>
                <a:blip r:embed="rId3"/>
                <a:stretch>
                  <a:fillRect l="-3747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4061CE-5B64-6850-73E3-C03232DE19EF}"/>
                  </a:ext>
                </a:extLst>
              </p:cNvPr>
              <p:cNvSpPr txBox="1"/>
              <p:nvPr/>
            </p:nvSpPr>
            <p:spPr>
              <a:xfrm>
                <a:off x="7232166" y="3549485"/>
                <a:ext cx="260350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4061CE-5B64-6850-73E3-C03232DE1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166" y="3549485"/>
                <a:ext cx="2603500" cy="749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150950-07D5-D8C7-7007-E5CC7AF11BB8}"/>
                  </a:ext>
                </a:extLst>
              </p:cNvPr>
              <p:cNvSpPr txBox="1"/>
              <p:nvPr/>
            </p:nvSpPr>
            <p:spPr>
              <a:xfrm>
                <a:off x="8533916" y="3549485"/>
                <a:ext cx="2603500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150950-07D5-D8C7-7007-E5CC7AF11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916" y="3549485"/>
                <a:ext cx="2603500" cy="7057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DF72BF3-9C14-EB53-BC2A-AE5D14E2037B}"/>
              </a:ext>
            </a:extLst>
          </p:cNvPr>
          <p:cNvSpPr txBox="1"/>
          <p:nvPr/>
        </p:nvSpPr>
        <p:spPr>
          <a:xfrm>
            <a:off x="437666" y="293287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(2,1)</a:t>
            </a:r>
          </a:p>
          <a:p>
            <a:r>
              <a:rPr lang="en-US" sz="2400" dirty="0"/>
              <a:t>(0,1)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757B5-65E0-145D-7208-75D9EF2366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015" r="50000"/>
          <a:stretch>
            <a:fillRect/>
          </a:stretch>
        </p:blipFill>
        <p:spPr>
          <a:xfrm>
            <a:off x="1940893" y="2336800"/>
            <a:ext cx="4434507" cy="3368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F6F7C8-442E-6ACC-F8AC-434916164FE6}"/>
              </a:ext>
            </a:extLst>
          </p:cNvPr>
          <p:cNvSpPr txBox="1"/>
          <p:nvPr/>
        </p:nvSpPr>
        <p:spPr>
          <a:xfrm>
            <a:off x="8737600" y="441877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(3,1)</a:t>
            </a:r>
          </a:p>
          <a:p>
            <a:r>
              <a:rPr lang="en-US" sz="2400" dirty="0"/>
              <a:t>(1,1)</a:t>
            </a:r>
          </a:p>
        </p:txBody>
      </p:sp>
    </p:spTree>
    <p:extLst>
      <p:ext uri="{BB962C8B-B14F-4D97-AF65-F5344CB8AC3E}">
        <p14:creationId xmlns:p14="http://schemas.microsoft.com/office/powerpoint/2010/main" val="33602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72BA-646D-DA50-5922-93C47F8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3962-ED21-376B-025C-4034C77C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A97A5-1EEA-7B1D-603A-BD926A390371}"/>
              </a:ext>
            </a:extLst>
          </p:cNvPr>
          <p:cNvSpPr txBox="1"/>
          <p:nvPr/>
        </p:nvSpPr>
        <p:spPr>
          <a:xfrm>
            <a:off x="336066" y="2932873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(2,1)</a:t>
            </a:r>
          </a:p>
          <a:p>
            <a:r>
              <a:rPr lang="en-US" sz="2400" dirty="0"/>
              <a:t>(0,1)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6385C-8BEC-C0FE-8957-5AA54EEB0E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-4943" r="-12434"/>
          <a:stretch>
            <a:fillRect/>
          </a:stretch>
        </p:blipFill>
        <p:spPr>
          <a:xfrm>
            <a:off x="1382093" y="1371600"/>
            <a:ext cx="9971707" cy="47786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5E2B07-7B0F-AA2F-CE7E-D55C039FCF7B}"/>
              </a:ext>
            </a:extLst>
          </p:cNvPr>
          <p:cNvSpPr txBox="1"/>
          <p:nvPr/>
        </p:nvSpPr>
        <p:spPr>
          <a:xfrm>
            <a:off x="10502900" y="2932873"/>
            <a:ext cx="16891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(3,1)</a:t>
            </a:r>
          </a:p>
          <a:p>
            <a:r>
              <a:rPr lang="en-US" sz="2400" dirty="0"/>
              <a:t>(1,1)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77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2E5A2-9E16-BD5C-8217-DEBE0BA3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8611C-4173-2D45-B8C2-90AAC1B6F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64BBCF-855D-DDBC-FCBD-872408EF089A}"/>
                  </a:ext>
                </a:extLst>
              </p:cNvPr>
              <p:cNvSpPr txBox="1"/>
              <p:nvPr/>
            </p:nvSpPr>
            <p:spPr>
              <a:xfrm>
                <a:off x="7842734" y="1908234"/>
                <a:ext cx="2603500" cy="1118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Transform Matrix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64BBCF-855D-DDBC-FCBD-872408EF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734" y="1908234"/>
                <a:ext cx="2603500" cy="1118961"/>
              </a:xfrm>
              <a:prstGeom prst="rect">
                <a:avLst/>
              </a:prstGeom>
              <a:blipFill>
                <a:blip r:embed="rId3"/>
                <a:stretch>
                  <a:fillRect l="-3747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06BEC9-72D1-9DDF-6384-FC77F401DFD8}"/>
                  </a:ext>
                </a:extLst>
              </p:cNvPr>
              <p:cNvSpPr txBox="1"/>
              <p:nvPr/>
            </p:nvSpPr>
            <p:spPr>
              <a:xfrm>
                <a:off x="7232166" y="3549485"/>
                <a:ext cx="260350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06BEC9-72D1-9DDF-6384-FC77F401D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166" y="3549485"/>
                <a:ext cx="2603500" cy="749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F2ADEF-A370-43AD-2550-C791A1F02668}"/>
                  </a:ext>
                </a:extLst>
              </p:cNvPr>
              <p:cNvSpPr txBox="1"/>
              <p:nvPr/>
            </p:nvSpPr>
            <p:spPr>
              <a:xfrm>
                <a:off x="8533916" y="3549485"/>
                <a:ext cx="260350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F2ADEF-A370-43AD-2550-C791A1F02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916" y="3549485"/>
                <a:ext cx="2603500" cy="749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C4E4322-673C-860D-6C16-8600BE52AA57}"/>
              </a:ext>
            </a:extLst>
          </p:cNvPr>
          <p:cNvSpPr txBox="1"/>
          <p:nvPr/>
        </p:nvSpPr>
        <p:spPr>
          <a:xfrm>
            <a:off x="437666" y="293287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(3,1)</a:t>
            </a:r>
          </a:p>
          <a:p>
            <a:r>
              <a:rPr lang="en-US" sz="2400" dirty="0"/>
              <a:t>(1,1)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17B7D-C01A-3782-8D73-267E08947AD6}"/>
              </a:ext>
            </a:extLst>
          </p:cNvPr>
          <p:cNvSpPr txBox="1"/>
          <p:nvPr/>
        </p:nvSpPr>
        <p:spPr>
          <a:xfrm>
            <a:off x="8737600" y="441877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(3,1)</a:t>
            </a:r>
          </a:p>
          <a:p>
            <a:r>
              <a:rPr lang="en-US" sz="2400" dirty="0"/>
              <a:t>(1,1)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B258D-F2D3-E503-6A62-75B76BD626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248" r="51869"/>
          <a:stretch>
            <a:fillRect/>
          </a:stretch>
        </p:blipFill>
        <p:spPr>
          <a:xfrm>
            <a:off x="1934547" y="2019300"/>
            <a:ext cx="4250354" cy="38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0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BDB5-5F93-A31B-DEB8-EDBD55315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782B-2A42-8D59-D796-1674469B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324547-E97A-BA38-B67F-2C49E70A008C}"/>
              </a:ext>
            </a:extLst>
          </p:cNvPr>
          <p:cNvSpPr txBox="1"/>
          <p:nvPr/>
        </p:nvSpPr>
        <p:spPr>
          <a:xfrm>
            <a:off x="437666" y="293287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(3,1)</a:t>
            </a:r>
          </a:p>
          <a:p>
            <a:r>
              <a:rPr lang="en-US" sz="2400" dirty="0"/>
              <a:t>(1,1)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FD330-E40F-3CFF-D6C4-695FF16190E0}"/>
              </a:ext>
            </a:extLst>
          </p:cNvPr>
          <p:cNvSpPr txBox="1"/>
          <p:nvPr/>
        </p:nvSpPr>
        <p:spPr>
          <a:xfrm>
            <a:off x="10646745" y="2932874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(2,0)</a:t>
            </a:r>
          </a:p>
          <a:p>
            <a:r>
              <a:rPr lang="en-US" sz="2400" dirty="0"/>
              <a:t>(3,1)</a:t>
            </a:r>
          </a:p>
          <a:p>
            <a:r>
              <a:rPr lang="en-US" sz="2400" dirty="0"/>
              <a:t>(1,1)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945336-4D47-74F3-9FB4-C3F373A0F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06" r="-336"/>
          <a:stretch>
            <a:fillRect/>
          </a:stretch>
        </p:blipFill>
        <p:spPr>
          <a:xfrm>
            <a:off x="1665773" y="1690688"/>
            <a:ext cx="8860453" cy="455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56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626F-35F3-2FFD-E56C-13B191CA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313"/>
            <a:ext cx="10515600" cy="1325563"/>
          </a:xfrm>
        </p:spPr>
        <p:txBody>
          <a:bodyPr/>
          <a:lstStyle/>
          <a:p>
            <a:r>
              <a:rPr lang="en-US" dirty="0"/>
              <a:t>Who Cares?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93BEC-A127-F9C6-8ED4-80948184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1"/>
          <a:stretch>
            <a:fillRect/>
          </a:stretch>
        </p:blipFill>
        <p:spPr>
          <a:xfrm>
            <a:off x="3947812" y="1666876"/>
            <a:ext cx="4296375" cy="449961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E9370C-1505-C666-33C4-8755F2712CF4}"/>
              </a:ext>
            </a:extLst>
          </p:cNvPr>
          <p:cNvCxnSpPr/>
          <p:nvPr/>
        </p:nvCxnSpPr>
        <p:spPr>
          <a:xfrm>
            <a:off x="1993900" y="2844800"/>
            <a:ext cx="8255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6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7E47-796B-A0CE-5B9B-D1093FB7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76018-612B-05BA-E3AF-C94482E8E108}"/>
              </a:ext>
            </a:extLst>
          </p:cNvPr>
          <p:cNvSpPr txBox="1"/>
          <p:nvPr/>
        </p:nvSpPr>
        <p:spPr>
          <a:xfrm>
            <a:off x="838200" y="1803400"/>
            <a:ext cx="261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Instead of inputs:</a:t>
            </a:r>
          </a:p>
          <a:p>
            <a:r>
              <a:rPr lang="en-US" sz="2400" dirty="0"/>
              <a:t>(0,0)</a:t>
            </a:r>
          </a:p>
          <a:p>
            <a:r>
              <a:rPr lang="en-US" sz="2400" dirty="0"/>
              <a:t>(1,0)</a:t>
            </a:r>
          </a:p>
          <a:p>
            <a:r>
              <a:rPr lang="en-US" sz="2400" dirty="0"/>
              <a:t>(1,1)</a:t>
            </a:r>
          </a:p>
          <a:p>
            <a:r>
              <a:rPr lang="en-US" sz="2400" dirty="0"/>
              <a:t>(0,1)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9E909-4E26-E56C-155D-89EC18BB61DF}"/>
              </a:ext>
            </a:extLst>
          </p:cNvPr>
          <p:cNvSpPr txBox="1"/>
          <p:nvPr/>
        </p:nvSpPr>
        <p:spPr>
          <a:xfrm>
            <a:off x="838200" y="3855104"/>
            <a:ext cx="543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inputs were:</a:t>
            </a:r>
          </a:p>
          <a:p>
            <a:r>
              <a:rPr lang="en-US" sz="2400" dirty="0"/>
              <a:t>Age: 72</a:t>
            </a:r>
          </a:p>
          <a:p>
            <a:r>
              <a:rPr lang="en-US" sz="2400" dirty="0"/>
              <a:t>Weight: 133 kg</a:t>
            </a:r>
          </a:p>
          <a:p>
            <a:r>
              <a:rPr lang="en-US" sz="2400" dirty="0"/>
              <a:t>Max systolic bp last 24h: 172</a:t>
            </a:r>
          </a:p>
          <a:p>
            <a:r>
              <a:rPr lang="en-US" sz="2400" dirty="0"/>
              <a:t>Family history of atrial fibrillation: yes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EE9380-8063-CBCC-CBD3-B2D0CAFF3B4E}"/>
              </a:ext>
            </a:extLst>
          </p:cNvPr>
          <p:cNvCxnSpPr/>
          <p:nvPr/>
        </p:nvCxnSpPr>
        <p:spPr>
          <a:xfrm>
            <a:off x="5080000" y="4775200"/>
            <a:ext cx="27559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196434-E166-919D-3466-37AB4CC10B07}"/>
              </a:ext>
            </a:extLst>
          </p:cNvPr>
          <p:cNvSpPr txBox="1"/>
          <p:nvPr/>
        </p:nvSpPr>
        <p:spPr>
          <a:xfrm>
            <a:off x="8343900" y="4359701"/>
            <a:ext cx="31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one point is:</a:t>
            </a:r>
          </a:p>
          <a:p>
            <a:r>
              <a:rPr lang="en-US" sz="2400" dirty="0"/>
              <a:t>(72, 133, 172, 1)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7ADA0-8E87-5E1C-7A04-7B9AC1C9D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1"/>
          <a:stretch>
            <a:fillRect/>
          </a:stretch>
        </p:blipFill>
        <p:spPr>
          <a:xfrm>
            <a:off x="5080000" y="714143"/>
            <a:ext cx="2999087" cy="314096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110730-0819-6A51-0A5C-0159A32F4A2A}"/>
              </a:ext>
            </a:extLst>
          </p:cNvPr>
          <p:cNvCxnSpPr>
            <a:cxnSpLocks/>
          </p:cNvCxnSpPr>
          <p:nvPr/>
        </p:nvCxnSpPr>
        <p:spPr>
          <a:xfrm>
            <a:off x="4686605" y="1593341"/>
            <a:ext cx="37858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2A1FCA-4296-7D6B-FFA0-DBB6A252C515}"/>
              </a:ext>
            </a:extLst>
          </p:cNvPr>
          <p:cNvSpPr txBox="1"/>
          <p:nvPr/>
        </p:nvSpPr>
        <p:spPr>
          <a:xfrm>
            <a:off x="8215319" y="1898134"/>
            <a:ext cx="3976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And our red line meant:</a:t>
            </a:r>
          </a:p>
          <a:p>
            <a:r>
              <a:rPr lang="en-US" sz="2400" dirty="0"/>
              <a:t>80% chance of developing </a:t>
            </a:r>
            <a:r>
              <a:rPr lang="en-US" sz="2400" dirty="0" err="1"/>
              <a:t>afib</a:t>
            </a:r>
            <a:r>
              <a:rPr lang="en-US" sz="2400" dirty="0"/>
              <a:t> within 5 years</a:t>
            </a:r>
          </a:p>
        </p:txBody>
      </p:sp>
    </p:spTree>
    <p:extLst>
      <p:ext uri="{BB962C8B-B14F-4D97-AF65-F5344CB8AC3E}">
        <p14:creationId xmlns:p14="http://schemas.microsoft.com/office/powerpoint/2010/main" val="21085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FDAC-42CF-B0FB-2E7C-531E9A93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CA65-3F6F-80DB-3B96-249E2453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53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Combining our matrices from before gives: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why do multiple steps?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136F22-119F-390C-40C9-4827750B9A5D}"/>
                  </a:ext>
                </a:extLst>
              </p:cNvPr>
              <p:cNvSpPr txBox="1"/>
              <p:nvPr/>
            </p:nvSpPr>
            <p:spPr>
              <a:xfrm>
                <a:off x="1003300" y="2348956"/>
                <a:ext cx="6096000" cy="749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136F22-119F-390C-40C9-4827750B9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2348956"/>
                <a:ext cx="6096000" cy="749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6" descr="Artificial neuron structure">
            <a:extLst>
              <a:ext uri="{FF2B5EF4-FFF2-40B4-BE49-F238E27FC236}">
                <a16:creationId xmlns:a16="http://schemas.microsoft.com/office/drawing/2014/main" id="{3F32E358-3FC9-7543-682F-452E17F35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701" y="3591156"/>
            <a:ext cx="5322206" cy="261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461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5CEA-FC6F-41DA-F2DE-7692E919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1AC7-B8D6-BF5C-5128-17BB1992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8BF489-1B13-451B-9DE2-AD877860E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9" y="1859833"/>
            <a:ext cx="3695701" cy="3138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139D8F-F20B-B8A1-9FBA-1CACFC837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0" y="1859832"/>
            <a:ext cx="3710272" cy="3138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96674A-8F6B-94E3-959A-995C4A8F3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472" y="1859832"/>
            <a:ext cx="3710272" cy="3214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8854A1-10AA-719A-83E5-4720FC130DC1}"/>
              </a:ext>
            </a:extLst>
          </p:cNvPr>
          <p:cNvSpPr txBox="1"/>
          <p:nvPr/>
        </p:nvSpPr>
        <p:spPr>
          <a:xfrm>
            <a:off x="3912536" y="5715000"/>
            <a:ext cx="398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Introduce nonlinearity into the system!</a:t>
            </a:r>
          </a:p>
        </p:txBody>
      </p:sp>
    </p:spTree>
    <p:extLst>
      <p:ext uri="{BB962C8B-B14F-4D97-AF65-F5344CB8AC3E}">
        <p14:creationId xmlns:p14="http://schemas.microsoft.com/office/powerpoint/2010/main" val="3694357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96B0-F77B-8628-6786-0DA0643F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753" y="205208"/>
            <a:ext cx="4419600" cy="1325563"/>
          </a:xfrm>
        </p:spPr>
        <p:txBody>
          <a:bodyPr/>
          <a:lstStyle/>
          <a:p>
            <a:r>
              <a:rPr lang="en-US" dirty="0"/>
              <a:t>Building a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11D90-9F51-7DA4-49A0-B055EB90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41" y="2280968"/>
            <a:ext cx="4286439" cy="4543021"/>
          </a:xfrm>
          <a:prstGeom prst="rect">
            <a:avLst/>
          </a:prstGeom>
        </p:spPr>
      </p:pic>
      <p:pic>
        <p:nvPicPr>
          <p:cNvPr id="6" name="Picture 6" descr="Artificial neuron structure">
            <a:extLst>
              <a:ext uri="{FF2B5EF4-FFF2-40B4-BE49-F238E27FC236}">
                <a16:creationId xmlns:a16="http://schemas.microsoft.com/office/drawing/2014/main" id="{C085BF77-9FDF-B30E-20C6-EA60C2B88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93" y="0"/>
            <a:ext cx="4649107" cy="228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D2E96F-7864-1AD4-C76B-44876B708EE7}"/>
                  </a:ext>
                </a:extLst>
              </p:cNvPr>
              <p:cNvSpPr txBox="1"/>
              <p:nvPr/>
            </p:nvSpPr>
            <p:spPr>
              <a:xfrm>
                <a:off x="5372553" y="1284289"/>
                <a:ext cx="6096000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xn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wn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D2E96F-7864-1AD4-C76B-44876B708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553" y="1284289"/>
                <a:ext cx="6096000" cy="1112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BE730B-52B9-FD31-B724-2100ACD15D06}"/>
                  </a:ext>
                </a:extLst>
              </p:cNvPr>
              <p:cNvSpPr txBox="1"/>
              <p:nvPr/>
            </p:nvSpPr>
            <p:spPr>
              <a:xfrm>
                <a:off x="5372553" y="3671108"/>
                <a:ext cx="609600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xn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w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e>
                                  <m:e>
                                    <m: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w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wn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,1</m:t>
                                    </m:r>
                                  </m:e>
                                  <m:e>
                                    <m:r>
                                      <a:rPr lang="en-US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wn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BE730B-52B9-FD31-B724-2100ACD15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553" y="3671108"/>
                <a:ext cx="6096000" cy="972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AD7A73-B760-41A4-E772-011C7351169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420553" y="2397094"/>
            <a:ext cx="0" cy="1031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F7B21A-BC1E-6583-21A8-792A444091DB}"/>
              </a:ext>
            </a:extLst>
          </p:cNvPr>
          <p:cNvCxnSpPr>
            <a:cxnSpLocks/>
          </p:cNvCxnSpPr>
          <p:nvPr/>
        </p:nvCxnSpPr>
        <p:spPr>
          <a:xfrm>
            <a:off x="2756353" y="2028794"/>
            <a:ext cx="0" cy="368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518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97A1-F284-944B-8852-A00401F8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Made It!</a:t>
            </a:r>
          </a:p>
        </p:txBody>
      </p:sp>
      <p:pic>
        <p:nvPicPr>
          <p:cNvPr id="18436" name="Picture 4" descr="Neural Networks - step by step | Lasse Hansen">
            <a:extLst>
              <a:ext uri="{FF2B5EF4-FFF2-40B4-BE49-F238E27FC236}">
                <a16:creationId xmlns:a16="http://schemas.microsoft.com/office/drawing/2014/main" id="{6A729C93-A2F3-2667-EF08-2D2E3595BE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166" y="1690688"/>
            <a:ext cx="59456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506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8FA9-7C02-86E2-D27F-36048AEA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AC7E-8510-AB3B-C85C-988143C4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Made It!</a:t>
            </a:r>
          </a:p>
        </p:txBody>
      </p:sp>
      <p:pic>
        <p:nvPicPr>
          <p:cNvPr id="18434" name="Picture 2" descr="Multiple Layers of Neurons :: Neuron Model and Network Architectures (Neural  Network Toolbox)">
            <a:extLst>
              <a:ext uri="{FF2B5EF4-FFF2-40B4-BE49-F238E27FC236}">
                <a16:creationId xmlns:a16="http://schemas.microsoft.com/office/drawing/2014/main" id="{FBA7A0FF-A386-17B4-1AF1-40B5483AD3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524496"/>
            <a:ext cx="9704494" cy="511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057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3B11-E4D5-F516-3247-B0F47966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77C1-68BB-47AD-4A96-C18DCE1F2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972800" cy="4351338"/>
          </a:xfrm>
        </p:spPr>
        <p:txBody>
          <a:bodyPr>
            <a:normAutofit/>
          </a:bodyPr>
          <a:lstStyle/>
          <a:p>
            <a:r>
              <a:rPr lang="en-US" dirty="0"/>
              <a:t>We just saw how matrices can be used to manipulate data usefully.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do we pick which matrices to use? </a:t>
            </a:r>
          </a:p>
          <a:p>
            <a:r>
              <a:rPr lang="en-US" dirty="0"/>
              <a:t>How does this connect to backpropagation, our modern AI method?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 do that, we need one last idea to bring it all together.</a:t>
            </a:r>
          </a:p>
        </p:txBody>
      </p:sp>
    </p:spTree>
    <p:extLst>
      <p:ext uri="{BB962C8B-B14F-4D97-AF65-F5344CB8AC3E}">
        <p14:creationId xmlns:p14="http://schemas.microsoft.com/office/powerpoint/2010/main" val="816875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CFD86-04E6-F6B2-7376-EC309B482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27188"/>
            <a:ext cx="6302921" cy="4278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11484-235B-E69A-2FA1-EB33A291B173}"/>
                  </a:ext>
                </a:extLst>
              </p:cNvPr>
              <p:cNvSpPr txBox="1"/>
              <p:nvPr/>
            </p:nvSpPr>
            <p:spPr>
              <a:xfrm>
                <a:off x="2552700" y="6121400"/>
                <a:ext cx="30861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11484-235B-E69A-2FA1-EB33A291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6121400"/>
                <a:ext cx="3086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D2B8FD93-D66D-36CA-89E1-A74C5C315C7C}"/>
              </a:ext>
            </a:extLst>
          </p:cNvPr>
          <p:cNvSpPr/>
          <p:nvPr/>
        </p:nvSpPr>
        <p:spPr>
          <a:xfrm>
            <a:off x="5372100" y="2235200"/>
            <a:ext cx="2667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591594-DADC-379F-4728-5298606210FA}"/>
                  </a:ext>
                </a:extLst>
              </p:cNvPr>
              <p:cNvSpPr txBox="1"/>
              <p:nvPr/>
            </p:nvSpPr>
            <p:spPr>
              <a:xfrm>
                <a:off x="7395121" y="1849735"/>
                <a:ext cx="463177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Take the derivative of my function: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slope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591594-DADC-379F-4728-529860621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121" y="1849735"/>
                <a:ext cx="4631779" cy="1938992"/>
              </a:xfrm>
              <a:prstGeom prst="rect">
                <a:avLst/>
              </a:prstGeom>
              <a:blipFill>
                <a:blip r:embed="rId5"/>
                <a:stretch>
                  <a:fillRect l="-1974" t="-2508" r="-1842" b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7459107E-1755-A780-0C75-33D4DA6B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Derivatives and Gradients</a:t>
            </a:r>
          </a:p>
        </p:txBody>
      </p:sp>
    </p:spTree>
    <p:extLst>
      <p:ext uri="{BB962C8B-B14F-4D97-AF65-F5344CB8AC3E}">
        <p14:creationId xmlns:p14="http://schemas.microsoft.com/office/powerpoint/2010/main" val="398416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BC2B-2F65-8E35-572F-B7F44ECF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Derivatives and Gradients</a:t>
            </a:r>
          </a:p>
        </p:txBody>
      </p:sp>
      <p:sp>
        <p:nvSpPr>
          <p:cNvPr id="4" name="AutoShape 2" descr="3D classical sigmoid function f (x,T).  ">
            <a:extLst>
              <a:ext uri="{FF2B5EF4-FFF2-40B4-BE49-F238E27FC236}">
                <a16:creationId xmlns:a16="http://schemas.microsoft.com/office/drawing/2014/main" id="{98BE553D-A4F7-F0E7-0BE8-52DA2DFEEC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5F27E-DA05-E0D7-7823-2F18AFEE9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37013"/>
            <a:ext cx="6109364" cy="42887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FFA508C-8938-84CE-E55D-A8222A62411D}"/>
              </a:ext>
            </a:extLst>
          </p:cNvPr>
          <p:cNvSpPr/>
          <p:nvPr/>
        </p:nvSpPr>
        <p:spPr>
          <a:xfrm>
            <a:off x="3048000" y="327660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BB0A8F-D4A5-D89D-2042-6AE6E9FA2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00" y="3934391"/>
            <a:ext cx="3659333" cy="27570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F45FDB-7597-F1F9-60F7-61220B75ED27}"/>
              </a:ext>
            </a:extLst>
          </p:cNvPr>
          <p:cNvSpPr txBox="1"/>
          <p:nvPr/>
        </p:nvSpPr>
        <p:spPr>
          <a:xfrm>
            <a:off x="6894699" y="1538760"/>
            <a:ext cx="5536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Gradient: direction of greatest change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on graph of any number of dimensions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Vector pointing toward this direction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B41545-6F7F-2EF0-CF59-E359910267AC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743200" y="2819400"/>
            <a:ext cx="349437" cy="5018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08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7B89-CCDE-8345-A7A1-9E858D6A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CD1E-E9C8-772B-407E-A691583C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18989"/>
            <a:ext cx="5257800" cy="4351338"/>
          </a:xfrm>
        </p:spPr>
        <p:txBody>
          <a:bodyPr/>
          <a:lstStyle/>
          <a:p>
            <a:r>
              <a:rPr lang="en-US" dirty="0"/>
              <a:t>Holding other variables as a constant, take a derivative</a:t>
            </a:r>
          </a:p>
          <a:p>
            <a:r>
              <a:rPr lang="en-US" dirty="0"/>
              <a:t>We get a vector style function telling us what the gradient will be at any point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391C61-375C-D826-781C-A8FD97FB1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2" y="2118989"/>
            <a:ext cx="5031353" cy="3310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FA7D1-1F26-35C9-346A-325FCDD4D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37" y="1304530"/>
            <a:ext cx="6630325" cy="514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061600-2973-633F-825D-E7416B996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429" y="4681329"/>
            <a:ext cx="334374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013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18CD-80DC-51C9-A7DA-02834F24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Computing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9E8B6-C059-336A-5B19-DF098F179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so many parameters in these models, near impossible to compute a global gradient function</a:t>
            </a:r>
          </a:p>
          <a:p>
            <a:r>
              <a:rPr lang="en-US" dirty="0"/>
              <a:t>Equations are complex and linear, making solving harder too</a:t>
            </a:r>
          </a:p>
          <a:p>
            <a:endParaRPr lang="en-US" dirty="0"/>
          </a:p>
          <a:p>
            <a:r>
              <a:rPr lang="en-US" dirty="0"/>
              <a:t>Idea: Only compute local gradient, take a step, and repeat</a:t>
            </a:r>
          </a:p>
        </p:txBody>
      </p:sp>
    </p:spTree>
    <p:extLst>
      <p:ext uri="{BB962C8B-B14F-4D97-AF65-F5344CB8AC3E}">
        <p14:creationId xmlns:p14="http://schemas.microsoft.com/office/powerpoint/2010/main" val="773888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FDC8-21C9-A28B-10D7-C1D7DF30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pic>
        <p:nvPicPr>
          <p:cNvPr id="17410" name="Picture 2" descr="Guide to Gradient Descent in 3 Steps and 12 Drawings - Charles Bordet">
            <a:extLst>
              <a:ext uri="{FF2B5EF4-FFF2-40B4-BE49-F238E27FC236}">
                <a16:creationId xmlns:a16="http://schemas.microsoft.com/office/drawing/2014/main" id="{B2661F6B-F5DE-0E4B-4D40-D481B0217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31900"/>
            <a:ext cx="544830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C63DC-EC79-8C3D-2CC9-BDBE7AF09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011" y="6280094"/>
            <a:ext cx="2162477" cy="400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381B52-0435-CAA9-8927-7C6F7EC1BA32}"/>
              </a:ext>
            </a:extLst>
          </p:cNvPr>
          <p:cNvSpPr txBox="1"/>
          <p:nvPr/>
        </p:nvSpPr>
        <p:spPr>
          <a:xfrm>
            <a:off x="6692900" y="1409700"/>
            <a:ext cx="5029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Algorithm: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Find gradient at start point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Move opposite that direction by an amount = gradient magnitude times a constant (learning rate)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Repeat until the value between steps changes less than a set amount (or a fixed number of times)</a:t>
            </a:r>
          </a:p>
        </p:txBody>
      </p:sp>
    </p:spTree>
    <p:extLst>
      <p:ext uri="{BB962C8B-B14F-4D97-AF65-F5344CB8AC3E}">
        <p14:creationId xmlns:p14="http://schemas.microsoft.com/office/powerpoint/2010/main" val="27815697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7F3F-803F-0244-C481-9DF534CF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6" name="Picture 6" descr="Neural Networks in 10mins. Simply Explained! | by Sadaf Saleem | Medium">
            <a:extLst>
              <a:ext uri="{FF2B5EF4-FFF2-40B4-BE49-F238E27FC236}">
                <a16:creationId xmlns:a16="http://schemas.microsoft.com/office/drawing/2014/main" id="{F0B18CD8-096E-B354-58CC-28A8C0510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308" y="1496790"/>
            <a:ext cx="8075384" cy="454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A7425B-1B0D-4310-52CE-EAB3B0AB8E69}"/>
              </a:ext>
            </a:extLst>
          </p:cNvPr>
          <p:cNvSpPr txBox="1"/>
          <p:nvPr/>
        </p:nvSpPr>
        <p:spPr>
          <a:xfrm>
            <a:off x="1435100" y="6131832"/>
            <a:ext cx="991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Backpropagation: Updating each layer to descend our loss </a:t>
            </a:r>
            <a:r>
              <a:rPr lang="en-US" sz="2400" dirty="0" err="1"/>
              <a:t>fn’s</a:t>
            </a:r>
            <a:r>
              <a:rPr lang="en-US" sz="2400" dirty="0"/>
              <a:t> gradient</a:t>
            </a:r>
          </a:p>
        </p:txBody>
      </p:sp>
    </p:spTree>
    <p:extLst>
      <p:ext uri="{BB962C8B-B14F-4D97-AF65-F5344CB8AC3E}">
        <p14:creationId xmlns:p14="http://schemas.microsoft.com/office/powerpoint/2010/main" val="4188542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EA69-155D-879A-53A9-2DA34FAD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 descr="Neural Networks - step by step | Lasse Hansen">
            <a:extLst>
              <a:ext uri="{FF2B5EF4-FFF2-40B4-BE49-F238E27FC236}">
                <a16:creationId xmlns:a16="http://schemas.microsoft.com/office/drawing/2014/main" id="{59679373-0EB1-6170-F015-119A05FF48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166" y="1253331"/>
            <a:ext cx="59456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9701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515BB-8D18-78EC-6372-DCA384FC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10B22-C31E-8D75-EB51-0D7EC6999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065" y="1690688"/>
            <a:ext cx="7665755" cy="1325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F6EA19-EA4F-3749-2BD0-AE961CA3C6F8}"/>
              </a:ext>
            </a:extLst>
          </p:cNvPr>
          <p:cNvSpPr txBox="1"/>
          <p:nvPr/>
        </p:nvSpPr>
        <p:spPr>
          <a:xfrm>
            <a:off x="2141291" y="3133448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output of our network by plugging in an example (forward pass)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7E697-F7A6-4FB3-F7EB-7E92290349AB}"/>
              </a:ext>
            </a:extLst>
          </p:cNvPr>
          <p:cNvSpPr txBox="1"/>
          <p:nvPr/>
        </p:nvSpPr>
        <p:spPr>
          <a:xfrm>
            <a:off x="3152959" y="5180848"/>
            <a:ext cx="737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gradient and update our matrix in each layer.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E5C42C-24E0-8CDB-69CA-CF0D4E720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224" y="3502780"/>
            <a:ext cx="8665435" cy="167806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414206-F504-58E5-857F-013521D221E2}"/>
              </a:ext>
            </a:extLst>
          </p:cNvPr>
          <p:cNvCxnSpPr/>
          <p:nvPr/>
        </p:nvCxnSpPr>
        <p:spPr>
          <a:xfrm flipV="1">
            <a:off x="1866224" y="4940300"/>
            <a:ext cx="1550076" cy="609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057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16BC-A2B1-3D52-40F0-FDD8BBEB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Neural Networks in 10mins. Simply Explained! | by Sadaf Saleem | Medium">
            <a:extLst>
              <a:ext uri="{FF2B5EF4-FFF2-40B4-BE49-F238E27FC236}">
                <a16:creationId xmlns:a16="http://schemas.microsoft.com/office/drawing/2014/main" id="{CB54500E-42D4-80B4-AFA2-C05F7C0F3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308" y="1014190"/>
            <a:ext cx="8075384" cy="454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386DF2-8387-1C8C-60F4-9CB3002510CC}"/>
              </a:ext>
            </a:extLst>
          </p:cNvPr>
          <p:cNvSpPr txBox="1"/>
          <p:nvPr/>
        </p:nvSpPr>
        <p:spPr>
          <a:xfrm>
            <a:off x="3390900" y="5738132"/>
            <a:ext cx="991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we’ve got a functioning neural network!</a:t>
            </a:r>
          </a:p>
        </p:txBody>
      </p:sp>
    </p:spTree>
    <p:extLst>
      <p:ext uri="{BB962C8B-B14F-4D97-AF65-F5344CB8AC3E}">
        <p14:creationId xmlns:p14="http://schemas.microsoft.com/office/powerpoint/2010/main" val="10307007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FEE0-8A1A-353C-0385-95586543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766218"/>
            <a:ext cx="10515600" cy="1325563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707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5049</TotalTime>
  <Words>2180</Words>
  <Application>Microsoft Office PowerPoint</Application>
  <PresentationFormat>Widescreen</PresentationFormat>
  <Paragraphs>369</Paragraphs>
  <Slides>47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Office Theme</vt:lpstr>
      <vt:lpstr>Intro to AI for Medicine</vt:lpstr>
      <vt:lpstr>1980s/1990s: Backpropagation</vt:lpstr>
      <vt:lpstr>Today’s Agenda</vt:lpstr>
      <vt:lpstr>Housekeeping</vt:lpstr>
      <vt:lpstr>Housekeeping: Python Gang</vt:lpstr>
      <vt:lpstr>Tips</vt:lpstr>
      <vt:lpstr>Scalar vs Vector</vt:lpstr>
      <vt:lpstr>Scalar vs Vector</vt:lpstr>
      <vt:lpstr>Scalar vs Vector</vt:lpstr>
      <vt:lpstr>Vectors</vt:lpstr>
      <vt:lpstr>Vector Representations</vt:lpstr>
      <vt:lpstr>Vector Operations: Addition and Subtraction</vt:lpstr>
      <vt:lpstr>Vector Operations: Computing Magnitude</vt:lpstr>
      <vt:lpstr>Vector Operations: Scalar Product</vt:lpstr>
      <vt:lpstr>Vector Operations: Dot Product</vt:lpstr>
      <vt:lpstr>Vector Operations: Dot Product</vt:lpstr>
      <vt:lpstr>Matrices</vt:lpstr>
      <vt:lpstr>Matrices: Visualized</vt:lpstr>
      <vt:lpstr>Matrices: Notation</vt:lpstr>
      <vt:lpstr>Matrices: Multiplication</vt:lpstr>
      <vt:lpstr>Matrices: Multiplication Rules</vt:lpstr>
      <vt:lpstr>Medicine Inspires AI</vt:lpstr>
      <vt:lpstr>Revisiting the neuron</vt:lpstr>
      <vt:lpstr>Matrices: Multiplication</vt:lpstr>
      <vt:lpstr>Matrices: Multiplication</vt:lpstr>
      <vt:lpstr>Matrices: Multiplication</vt:lpstr>
      <vt:lpstr>Matrices: Multiplication</vt:lpstr>
      <vt:lpstr>Matrices: Multiplication</vt:lpstr>
      <vt:lpstr>Matrices: Multiplication</vt:lpstr>
      <vt:lpstr>Who Cares?</vt:lpstr>
      <vt:lpstr>What If…</vt:lpstr>
      <vt:lpstr>Activation</vt:lpstr>
      <vt:lpstr>Activation</vt:lpstr>
      <vt:lpstr>Building a Layer</vt:lpstr>
      <vt:lpstr>We Made It!</vt:lpstr>
      <vt:lpstr>We Made It!</vt:lpstr>
      <vt:lpstr>Open Question</vt:lpstr>
      <vt:lpstr>Derivatives and Gradients</vt:lpstr>
      <vt:lpstr>Derivatives and Gradients</vt:lpstr>
      <vt:lpstr>Gradient example</vt:lpstr>
      <vt:lpstr>Problems With Computing Gradient</vt:lpstr>
      <vt:lpstr>Gradient Descent</vt:lpstr>
      <vt:lpstr>Backpropagation</vt:lpstr>
      <vt:lpstr>PowerPoint Presentation</vt:lpstr>
      <vt:lpstr>Backpropagation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7</cp:revision>
  <dcterms:created xsi:type="dcterms:W3CDTF">2025-08-25T12:04:44Z</dcterms:created>
  <dcterms:modified xsi:type="dcterms:W3CDTF">2026-07-12T21:02:34Z</dcterms:modified>
</cp:coreProperties>
</file>
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7" r:id="rId4"/>
    <p:sldId id="258" r:id="rId5"/>
    <p:sldId id="261" r:id="rId6"/>
    <p:sldId id="260" r:id="rId7"/>
    <p:sldId id="263"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EF1D28-5BE2-4F01-A866-2FD8356A40A5}"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550CD3-E73D-4BBC-8AEE-0565BDE8799B}" type="slidenum">
              <a:rPr lang="en-US" smtClean="0"/>
              <a:t>‹#›</a:t>
            </a:fld>
            <a:endParaRPr lang="en-US"/>
          </a:p>
        </p:txBody>
      </p:sp>
    </p:spTree>
    <p:extLst>
      <p:ext uri="{BB962C8B-B14F-4D97-AF65-F5344CB8AC3E}">
        <p14:creationId xmlns:p14="http://schemas.microsoft.com/office/powerpoint/2010/main" val="3907984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550CD3-E73D-4BBC-8AEE-0565BDE8799B}" type="slidenum">
              <a:rPr lang="en-US" smtClean="0"/>
              <a:t>5</a:t>
            </a:fld>
            <a:endParaRPr lang="en-US"/>
          </a:p>
        </p:txBody>
      </p:sp>
    </p:spTree>
    <p:extLst>
      <p:ext uri="{BB962C8B-B14F-4D97-AF65-F5344CB8AC3E}">
        <p14:creationId xmlns:p14="http://schemas.microsoft.com/office/powerpoint/2010/main" val="206089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image segmentation is classification of individual voxels based on small image patches</a:t>
            </a:r>
          </a:p>
          <a:p>
            <a:r>
              <a:rPr lang="en-US" sz="1200" b="0" i="0" kern="1200" dirty="0">
                <a:solidFill>
                  <a:schemeClr val="tx1"/>
                </a:solidFill>
                <a:effectLst/>
                <a:latin typeface="+mn-lt"/>
                <a:ea typeface="+mn-ea"/>
                <a:cs typeface="+mn-cs"/>
              </a:rPr>
              <a:t>No using existing LLM on a task or prompt engineering</a:t>
            </a:r>
            <a:endParaRPr lang="en-US" dirty="0"/>
          </a:p>
        </p:txBody>
      </p:sp>
      <p:sp>
        <p:nvSpPr>
          <p:cNvPr id="4" name="Slide Number Placeholder 3"/>
          <p:cNvSpPr>
            <a:spLocks noGrp="1"/>
          </p:cNvSpPr>
          <p:nvPr>
            <p:ph type="sldNum" sz="quarter" idx="5"/>
          </p:nvPr>
        </p:nvSpPr>
        <p:spPr/>
        <p:txBody>
          <a:bodyPr/>
          <a:lstStyle/>
          <a:p>
            <a:fld id="{CD550CD3-E73D-4BBC-8AEE-0565BDE8799B}" type="slidenum">
              <a:rPr lang="en-US" smtClean="0"/>
              <a:t>6</a:t>
            </a:fld>
            <a:endParaRPr lang="en-US"/>
          </a:p>
        </p:txBody>
      </p:sp>
    </p:spTree>
    <p:extLst>
      <p:ext uri="{BB962C8B-B14F-4D97-AF65-F5344CB8AC3E}">
        <p14:creationId xmlns:p14="http://schemas.microsoft.com/office/powerpoint/2010/main" val="310241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F5E91-A626-0D1A-EB3D-E3F2465CC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E35D8-35DD-C80B-70F3-E8F5B29AC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0E5F9-A632-04C3-7028-C9047404C58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image segmentation is classification of individual voxels based on small image patches</a:t>
            </a:r>
            <a:endParaRPr lang="en-US" dirty="0"/>
          </a:p>
        </p:txBody>
      </p:sp>
      <p:sp>
        <p:nvSpPr>
          <p:cNvPr id="4" name="Slide Number Placeholder 3">
            <a:extLst>
              <a:ext uri="{FF2B5EF4-FFF2-40B4-BE49-F238E27FC236}">
                <a16:creationId xmlns:a16="http://schemas.microsoft.com/office/drawing/2014/main" id="{39286D7E-7B9F-4FCD-24D0-C981C7D1B84F}"/>
              </a:ext>
            </a:extLst>
          </p:cNvPr>
          <p:cNvSpPr>
            <a:spLocks noGrp="1"/>
          </p:cNvSpPr>
          <p:nvPr>
            <p:ph type="sldNum" sz="quarter" idx="5"/>
          </p:nvPr>
        </p:nvSpPr>
        <p:spPr/>
        <p:txBody>
          <a:bodyPr/>
          <a:lstStyle/>
          <a:p>
            <a:fld id="{CD550CD3-E73D-4BBC-8AEE-0565BDE8799B}" type="slidenum">
              <a:rPr lang="en-US" smtClean="0"/>
              <a:t>7</a:t>
            </a:fld>
            <a:endParaRPr lang="en-US"/>
          </a:p>
        </p:txBody>
      </p:sp>
    </p:spTree>
    <p:extLst>
      <p:ext uri="{BB962C8B-B14F-4D97-AF65-F5344CB8AC3E}">
        <p14:creationId xmlns:p14="http://schemas.microsoft.com/office/powerpoint/2010/main" val="357974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CE81-6A75-D3AE-AD23-D550D3DB09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6327FB-7C96-6AD5-FCEE-AD281815C6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DACDC0-515E-D623-C7D7-EB64782BEB6E}"/>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B0DF8696-CD5E-CE8C-C89F-36D1D3E89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B6A57-E440-138F-2201-6AE76FBAA92B}"/>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110658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94B57-5DAC-F4D1-209A-1CEE6DD71B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F42FF7-2794-1EF7-725A-8FEB729BED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495ED1-B009-0381-5A4E-53FBEDCC2E49}"/>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07341D38-0B5A-3A18-EF4B-D88DE9B2B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92CC0-A879-D7B9-7E3C-7D0688A1B8C5}"/>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2512140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FD7-4B1F-9063-B093-1E557BBF7E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6BAE65-C498-85A3-14F0-47D6DC5538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5A2754-FD65-71D7-AF0A-EEC6154933EF}"/>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A0E8253E-5283-50CB-51B7-D93B52BE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99380-FF6D-0D58-F510-7F45E0252195}"/>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313757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84491-A7E0-CEF0-B216-DEBE346C2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AA80B6-449C-7AD1-4BD5-041B459A7A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391630-D7AE-CCC7-CAE2-2A9B33C537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000E90-123C-BE43-1BEE-1D0ECB0C399D}"/>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6" name="Footer Placeholder 5">
            <a:extLst>
              <a:ext uri="{FF2B5EF4-FFF2-40B4-BE49-F238E27FC236}">
                <a16:creationId xmlns:a16="http://schemas.microsoft.com/office/drawing/2014/main" id="{A29F3C59-C652-15E6-91B7-2881BCBD8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95B9B5-4AB3-32AF-38EC-20283D12E522}"/>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1989997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A1A03-7E52-E5A4-E563-BAF28AE348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C6E435-91BE-A35E-C327-D06D643002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3B06DF-6B04-F3F4-74BB-0D998ACFB4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A6499F-F3B4-253D-F436-E4DA250E3E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452A25-0328-40BC-D7E8-BB086C748C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6ED3CD-B38F-1529-3C8C-3E7E495E085B}"/>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8" name="Footer Placeholder 7">
            <a:extLst>
              <a:ext uri="{FF2B5EF4-FFF2-40B4-BE49-F238E27FC236}">
                <a16:creationId xmlns:a16="http://schemas.microsoft.com/office/drawing/2014/main" id="{80A70335-48BC-E396-DB1C-A188AA8388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635DCD-E760-B84F-45F7-8175BF75AD9B}"/>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117412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B0EF3-251A-46A3-87D9-7115A61EB2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71D33A-F470-5400-096E-703384F0DB00}"/>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4" name="Footer Placeholder 3">
            <a:extLst>
              <a:ext uri="{FF2B5EF4-FFF2-40B4-BE49-F238E27FC236}">
                <a16:creationId xmlns:a16="http://schemas.microsoft.com/office/drawing/2014/main" id="{71E872A4-7A1F-0C1F-FEBF-9E7281E7B2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AA429B-9499-D1D7-6597-5E46FE9B2C2E}"/>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279620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05CAB-4F42-27F7-A28C-9E0904546322}"/>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3" name="Footer Placeholder 2">
            <a:extLst>
              <a:ext uri="{FF2B5EF4-FFF2-40B4-BE49-F238E27FC236}">
                <a16:creationId xmlns:a16="http://schemas.microsoft.com/office/drawing/2014/main" id="{F5237F87-9F3E-3066-AF4D-1275CF62F7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3A84E2-6725-BD75-1BC8-F2C77F004B5A}"/>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49011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B76D6-D439-23D1-DB8F-CC80DE97DC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DC088C-6AA9-A2B4-6E91-446B3AD9F2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47875B-00DE-7FB1-CEBF-3ADD86273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E2DC1-6CAB-C9D3-0657-FE9FAB929004}"/>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6" name="Footer Placeholder 5">
            <a:extLst>
              <a:ext uri="{FF2B5EF4-FFF2-40B4-BE49-F238E27FC236}">
                <a16:creationId xmlns:a16="http://schemas.microsoft.com/office/drawing/2014/main" id="{87067F9B-756D-A4E4-4352-F6EFC68F26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6068BB-87E7-3773-6750-05DE5F16972A}"/>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594879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82A2-496B-F383-20D2-6E51E6B1CC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32F9C5-305E-8688-B82E-98CB161BBC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F093FD-1177-3038-6F18-E933825DD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62E9D3-2DA7-B955-7E7D-A2FD72FF10F9}"/>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6" name="Footer Placeholder 5">
            <a:extLst>
              <a:ext uri="{FF2B5EF4-FFF2-40B4-BE49-F238E27FC236}">
                <a16:creationId xmlns:a16="http://schemas.microsoft.com/office/drawing/2014/main" id="{A6E67667-8D4C-63D2-F586-7999FBED1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1FC3B-3F4F-3466-6956-F9A7B784591D}"/>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2450809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D978E-10AF-AC52-3D5E-545B9915A1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C04238-9DF3-B793-4A98-CA353E5538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72968-3F3D-FF0A-8876-6AB6458C4BAB}"/>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5696AD0A-429C-8A72-0D17-4300FD4CF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24F4B-EBFC-ADC3-289D-D1AC1E7CC447}"/>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1740047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45581D-5208-0EBB-7F74-841008CCAC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003F79-0357-A305-D835-5C07EE5E32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215A42-7061-952B-082A-D9F1DB1C4BA7}"/>
              </a:ext>
            </a:extLst>
          </p:cNvPr>
          <p:cNvSpPr>
            <a:spLocks noGrp="1"/>
          </p:cNvSpPr>
          <p:nvPr>
            <p:ph type="dt" sz="half" idx="10"/>
          </p:nvPr>
        </p:nvSpPr>
        <p:spPr/>
        <p:txBody>
          <a:body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FDEA313E-8F78-64F6-5D93-15CF81E63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EBEC2C-4A88-6D98-01A7-1EB53D8CADA6}"/>
              </a:ext>
            </a:extLst>
          </p:cNvPr>
          <p:cNvSpPr>
            <a:spLocks noGrp="1"/>
          </p:cNvSpPr>
          <p:nvPr>
            <p:ph type="sldNum" sz="quarter" idx="12"/>
          </p:nvPr>
        </p:nvSpPr>
        <p:spPr/>
        <p:txBody>
          <a:bodyPr/>
          <a:lstStyle/>
          <a:p>
            <a:fld id="{7253235A-45B0-416A-A2E4-50D7E2D883F1}" type="slidenum">
              <a:rPr lang="en-US" smtClean="0"/>
              <a:t>‹#›</a:t>
            </a:fld>
            <a:endParaRPr lang="en-US"/>
          </a:p>
        </p:txBody>
      </p:sp>
    </p:spTree>
    <p:extLst>
      <p:ext uri="{BB962C8B-B14F-4D97-AF65-F5344CB8AC3E}">
        <p14:creationId xmlns:p14="http://schemas.microsoft.com/office/powerpoint/2010/main" val="1042386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E9CB87-11F5-81C0-418D-B7405B2539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DD083F-0D50-7A30-E8B2-0B5D213586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683450-11F4-D5A7-F9EC-DBCC52FE0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70A01-3951-4609-B818-A53BF90ACFB9}" type="datetimeFigureOut">
              <a:rPr lang="en-US" smtClean="0"/>
              <a:t>10/22/2025</a:t>
            </a:fld>
            <a:endParaRPr lang="en-US"/>
          </a:p>
        </p:txBody>
      </p:sp>
      <p:sp>
        <p:nvSpPr>
          <p:cNvPr id="5" name="Footer Placeholder 4">
            <a:extLst>
              <a:ext uri="{FF2B5EF4-FFF2-40B4-BE49-F238E27FC236}">
                <a16:creationId xmlns:a16="http://schemas.microsoft.com/office/drawing/2014/main" id="{3CB3F505-CB0F-13EE-5C2B-C444CF90B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F8495A-E7C3-EC05-D5F0-73D33589B0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53235A-45B0-416A-A2E4-50D7E2D883F1}" type="slidenum">
              <a:rPr lang="en-US" smtClean="0"/>
              <a:t>‹#›</a:t>
            </a:fld>
            <a:endParaRPr lang="en-US"/>
          </a:p>
        </p:txBody>
      </p:sp>
    </p:spTree>
    <p:extLst>
      <p:ext uri="{BB962C8B-B14F-4D97-AF65-F5344CB8AC3E}">
        <p14:creationId xmlns:p14="http://schemas.microsoft.com/office/powerpoint/2010/main" val="3642403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8272-88E0-32F4-0D31-CBBD01E58AEC}"/>
              </a:ext>
            </a:extLst>
          </p:cNvPr>
          <p:cNvSpPr>
            <a:spLocks noGrp="1"/>
          </p:cNvSpPr>
          <p:nvPr>
            <p:ph type="ctrTitle"/>
          </p:nvPr>
        </p:nvSpPr>
        <p:spPr/>
        <p:txBody>
          <a:bodyPr/>
          <a:lstStyle/>
          <a:p>
            <a:r>
              <a:rPr lang="en-US" dirty="0"/>
              <a:t>Project Intro</a:t>
            </a:r>
          </a:p>
        </p:txBody>
      </p:sp>
      <p:sp>
        <p:nvSpPr>
          <p:cNvPr id="3" name="Subtitle 2">
            <a:extLst>
              <a:ext uri="{FF2B5EF4-FFF2-40B4-BE49-F238E27FC236}">
                <a16:creationId xmlns:a16="http://schemas.microsoft.com/office/drawing/2014/main" id="{EA270F2D-4F72-274A-DDD3-6E5B8518AED1}"/>
              </a:ext>
            </a:extLst>
          </p:cNvPr>
          <p:cNvSpPr>
            <a:spLocks noGrp="1"/>
          </p:cNvSpPr>
          <p:nvPr>
            <p:ph type="subTitle" idx="1"/>
          </p:nvPr>
        </p:nvSpPr>
        <p:spPr/>
        <p:txBody>
          <a:bodyPr/>
          <a:lstStyle/>
          <a:p>
            <a:r>
              <a:rPr lang="en-US" dirty="0" err="1"/>
              <a:t>Lec</a:t>
            </a:r>
            <a:r>
              <a:rPr lang="en-US" dirty="0"/>
              <a:t> 12</a:t>
            </a:r>
          </a:p>
        </p:txBody>
      </p:sp>
    </p:spTree>
    <p:extLst>
      <p:ext uri="{BB962C8B-B14F-4D97-AF65-F5344CB8AC3E}">
        <p14:creationId xmlns:p14="http://schemas.microsoft.com/office/powerpoint/2010/main" val="3037458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A494-0407-FDC3-C0F0-D8F393C7413C}"/>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A0A258F8-FBBD-AD18-6431-DA1F4DF6AB81}"/>
              </a:ext>
            </a:extLst>
          </p:cNvPr>
          <p:cNvSpPr>
            <a:spLocks noGrp="1"/>
          </p:cNvSpPr>
          <p:nvPr>
            <p:ph idx="1"/>
          </p:nvPr>
        </p:nvSpPr>
        <p:spPr/>
        <p:txBody>
          <a:bodyPr/>
          <a:lstStyle/>
          <a:p>
            <a:r>
              <a:rPr lang="en-US" dirty="0"/>
              <a:t>Discussed how AI interventions are implemented in the clinic</a:t>
            </a:r>
          </a:p>
          <a:p>
            <a:r>
              <a:rPr lang="en-US" dirty="0"/>
              <a:t>Thought through different high-level implementations of ideas</a:t>
            </a:r>
          </a:p>
          <a:p>
            <a:pPr lvl="1"/>
            <a:r>
              <a:rPr lang="en-US" dirty="0"/>
              <a:t>Problem type</a:t>
            </a:r>
          </a:p>
          <a:p>
            <a:pPr lvl="1"/>
            <a:r>
              <a:rPr lang="en-US" dirty="0"/>
              <a:t>Training regime</a:t>
            </a:r>
          </a:p>
          <a:p>
            <a:pPr lvl="1"/>
            <a:r>
              <a:rPr lang="en-US" dirty="0"/>
              <a:t>Input/output data</a:t>
            </a:r>
          </a:p>
          <a:p>
            <a:r>
              <a:rPr lang="en-US" dirty="0"/>
              <a:t>FDA device approval</a:t>
            </a:r>
          </a:p>
        </p:txBody>
      </p:sp>
    </p:spTree>
    <p:extLst>
      <p:ext uri="{BB962C8B-B14F-4D97-AF65-F5344CB8AC3E}">
        <p14:creationId xmlns:p14="http://schemas.microsoft.com/office/powerpoint/2010/main" val="2479005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1A50-94AC-F933-90AD-1F9744FF6DF2}"/>
              </a:ext>
            </a:extLst>
          </p:cNvPr>
          <p:cNvSpPr>
            <a:spLocks noGrp="1"/>
          </p:cNvSpPr>
          <p:nvPr>
            <p:ph type="title"/>
          </p:nvPr>
        </p:nvSpPr>
        <p:spPr/>
        <p:txBody>
          <a:bodyPr/>
          <a:lstStyle/>
          <a:p>
            <a:r>
              <a:rPr lang="en-US" dirty="0"/>
              <a:t>Big Idea</a:t>
            </a:r>
          </a:p>
        </p:txBody>
      </p:sp>
      <p:sp>
        <p:nvSpPr>
          <p:cNvPr id="3" name="Content Placeholder 2">
            <a:extLst>
              <a:ext uri="{FF2B5EF4-FFF2-40B4-BE49-F238E27FC236}">
                <a16:creationId xmlns:a16="http://schemas.microsoft.com/office/drawing/2014/main" id="{EBA165C0-EDE4-C8B5-F6C8-37072E896527}"/>
              </a:ext>
            </a:extLst>
          </p:cNvPr>
          <p:cNvSpPr>
            <a:spLocks noGrp="1"/>
          </p:cNvSpPr>
          <p:nvPr>
            <p:ph idx="1"/>
          </p:nvPr>
        </p:nvSpPr>
        <p:spPr/>
        <p:txBody>
          <a:bodyPr/>
          <a:lstStyle/>
          <a:p>
            <a:r>
              <a:rPr lang="en-US" dirty="0"/>
              <a:t>Come up with an AI intervention of your own creation</a:t>
            </a:r>
          </a:p>
          <a:p>
            <a:r>
              <a:rPr lang="en-US" dirty="0"/>
              <a:t>Based on a clinical question, ideally from your specialty</a:t>
            </a:r>
          </a:p>
          <a:p>
            <a:r>
              <a:rPr lang="en-US" dirty="0"/>
              <a:t>Should be novel and not something already done</a:t>
            </a:r>
          </a:p>
        </p:txBody>
      </p:sp>
    </p:spTree>
    <p:extLst>
      <p:ext uri="{BB962C8B-B14F-4D97-AF65-F5344CB8AC3E}">
        <p14:creationId xmlns:p14="http://schemas.microsoft.com/office/powerpoint/2010/main" val="2005187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99233-3E63-475C-A3DF-70D275EA6F83}"/>
              </a:ext>
            </a:extLst>
          </p:cNvPr>
          <p:cNvSpPr>
            <a:spLocks noGrp="1"/>
          </p:cNvSpPr>
          <p:nvPr>
            <p:ph type="title"/>
          </p:nvPr>
        </p:nvSpPr>
        <p:spPr>
          <a:xfrm>
            <a:off x="838200" y="206829"/>
            <a:ext cx="10515600" cy="1325563"/>
          </a:xfrm>
        </p:spPr>
        <p:txBody>
          <a:bodyPr/>
          <a:lstStyle/>
          <a:p>
            <a:r>
              <a:rPr lang="en-US" dirty="0"/>
              <a:t>Part 1: Problem Formulation</a:t>
            </a:r>
          </a:p>
        </p:txBody>
      </p:sp>
      <p:sp>
        <p:nvSpPr>
          <p:cNvPr id="3" name="Content Placeholder 2">
            <a:extLst>
              <a:ext uri="{FF2B5EF4-FFF2-40B4-BE49-F238E27FC236}">
                <a16:creationId xmlns:a16="http://schemas.microsoft.com/office/drawing/2014/main" id="{CB486F92-1629-FA74-49AB-43233EA1ABB8}"/>
              </a:ext>
            </a:extLst>
          </p:cNvPr>
          <p:cNvSpPr>
            <a:spLocks noGrp="1"/>
          </p:cNvSpPr>
          <p:nvPr>
            <p:ph idx="1"/>
          </p:nvPr>
        </p:nvSpPr>
        <p:spPr>
          <a:xfrm>
            <a:off x="838200" y="1532392"/>
            <a:ext cx="10515600" cy="4825547"/>
          </a:xfrm>
        </p:spPr>
        <p:txBody>
          <a:bodyPr/>
          <a:lstStyle/>
          <a:p>
            <a:r>
              <a:rPr lang="en-US" dirty="0"/>
              <a:t>Think about various workflows in your field. </a:t>
            </a:r>
          </a:p>
          <a:p>
            <a:pPr lvl="1"/>
            <a:r>
              <a:rPr lang="en-US" dirty="0"/>
              <a:t>How are diagnoses made?</a:t>
            </a:r>
          </a:p>
          <a:p>
            <a:pPr lvl="1"/>
            <a:r>
              <a:rPr lang="en-US" dirty="0"/>
              <a:t>Given a diagnosis, how do we decide which treatment is appropriate?</a:t>
            </a:r>
          </a:p>
          <a:p>
            <a:pPr lvl="1"/>
            <a:r>
              <a:rPr lang="en-US" dirty="0"/>
              <a:t>How are patient encounters/histories/diagnoses/treatments documented?</a:t>
            </a:r>
          </a:p>
          <a:p>
            <a:pPr lvl="1"/>
            <a:r>
              <a:rPr lang="en-US" dirty="0"/>
              <a:t>Are there logistic challenges that could be addressed?</a:t>
            </a:r>
          </a:p>
          <a:p>
            <a:r>
              <a:rPr lang="en-US" dirty="0"/>
              <a:t>Develop a clinical question that addresses a challenge in your field</a:t>
            </a:r>
          </a:p>
          <a:p>
            <a:r>
              <a:rPr lang="en-US" dirty="0"/>
              <a:t>Ensure this question is novel</a:t>
            </a:r>
          </a:p>
          <a:p>
            <a:pPr lvl="1"/>
            <a:r>
              <a:rPr lang="en-US" dirty="0"/>
              <a:t>Search </a:t>
            </a:r>
            <a:r>
              <a:rPr lang="en-US" dirty="0" err="1"/>
              <a:t>arxiv</a:t>
            </a:r>
            <a:r>
              <a:rPr lang="en-US" dirty="0"/>
              <a:t> and </a:t>
            </a:r>
            <a:r>
              <a:rPr lang="en-US" dirty="0" err="1"/>
              <a:t>pubmed</a:t>
            </a:r>
            <a:r>
              <a:rPr lang="en-US" dirty="0"/>
              <a:t> to ensure this idea hasn’t been tried before</a:t>
            </a:r>
          </a:p>
          <a:p>
            <a:pPr lvl="1"/>
            <a:r>
              <a:rPr lang="en-US" dirty="0"/>
              <a:t>Note: if implementation is novel enough you can repeat idea</a:t>
            </a:r>
          </a:p>
        </p:txBody>
      </p:sp>
    </p:spTree>
    <p:extLst>
      <p:ext uri="{BB962C8B-B14F-4D97-AF65-F5344CB8AC3E}">
        <p14:creationId xmlns:p14="http://schemas.microsoft.com/office/powerpoint/2010/main" val="347345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64881-7752-CDF0-86C2-80A183C20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3ABD6-6B1A-3942-01DA-E7B43AA016A0}"/>
              </a:ext>
            </a:extLst>
          </p:cNvPr>
          <p:cNvSpPr>
            <a:spLocks noGrp="1"/>
          </p:cNvSpPr>
          <p:nvPr>
            <p:ph type="title"/>
          </p:nvPr>
        </p:nvSpPr>
        <p:spPr>
          <a:xfrm>
            <a:off x="838200" y="206829"/>
            <a:ext cx="10515600" cy="1325563"/>
          </a:xfrm>
        </p:spPr>
        <p:txBody>
          <a:bodyPr/>
          <a:lstStyle/>
          <a:p>
            <a:r>
              <a:rPr lang="en-US" dirty="0"/>
              <a:t>Part 1: Problem Formulation</a:t>
            </a:r>
          </a:p>
        </p:txBody>
      </p:sp>
      <p:sp>
        <p:nvSpPr>
          <p:cNvPr id="3" name="Content Placeholder 2">
            <a:extLst>
              <a:ext uri="{FF2B5EF4-FFF2-40B4-BE49-F238E27FC236}">
                <a16:creationId xmlns:a16="http://schemas.microsoft.com/office/drawing/2014/main" id="{49D0F068-D4E3-B405-DCCB-C93E85C13718}"/>
              </a:ext>
            </a:extLst>
          </p:cNvPr>
          <p:cNvSpPr>
            <a:spLocks noGrp="1"/>
          </p:cNvSpPr>
          <p:nvPr>
            <p:ph idx="1"/>
          </p:nvPr>
        </p:nvSpPr>
        <p:spPr>
          <a:xfrm>
            <a:off x="838200" y="1532392"/>
            <a:ext cx="10515600" cy="5325608"/>
          </a:xfrm>
        </p:spPr>
        <p:txBody>
          <a:bodyPr/>
          <a:lstStyle/>
          <a:p>
            <a:r>
              <a:rPr lang="en-US" dirty="0"/>
              <a:t>Deliverables: </a:t>
            </a:r>
          </a:p>
          <a:p>
            <a:pPr lvl="1"/>
            <a:r>
              <a:rPr lang="en-US" dirty="0"/>
              <a:t>What is the clinical question?</a:t>
            </a:r>
          </a:p>
          <a:p>
            <a:pPr lvl="1"/>
            <a:r>
              <a:rPr lang="en-US" dirty="0"/>
              <a:t>One paragraph on the relevance of this question to your field</a:t>
            </a:r>
          </a:p>
          <a:p>
            <a:pPr lvl="1"/>
            <a:r>
              <a:rPr lang="en-US" dirty="0"/>
              <a:t>Few sentences on related literature and what has thus far been tried, either in related conditions or with similar approaches and why your approach is novel</a:t>
            </a:r>
          </a:p>
          <a:p>
            <a:r>
              <a:rPr lang="en-US" dirty="0"/>
              <a:t>Note: Specific is better, should include input data and outputs</a:t>
            </a:r>
          </a:p>
          <a:p>
            <a:r>
              <a:rPr lang="en-US" dirty="0"/>
              <a:t>Examples: </a:t>
            </a:r>
          </a:p>
          <a:p>
            <a:pPr lvl="1"/>
            <a:r>
              <a:rPr lang="en-US" dirty="0"/>
              <a:t>Can we predict sepsis at any point in emergency room patients based on clinical data collected in the first 24 hours?</a:t>
            </a:r>
          </a:p>
          <a:p>
            <a:pPr lvl="1"/>
            <a:r>
              <a:rPr lang="en-US" dirty="0"/>
              <a:t>Based on vital signs at an outpatient visit, can we predict a patient’s hemoglobin level?</a:t>
            </a:r>
          </a:p>
          <a:p>
            <a:pPr lvl="1"/>
            <a:r>
              <a:rPr lang="en-US" dirty="0"/>
              <a:t>Using patient interview transcripts, can we predict their MOCA score?</a:t>
            </a:r>
          </a:p>
        </p:txBody>
      </p:sp>
    </p:spTree>
    <p:extLst>
      <p:ext uri="{BB962C8B-B14F-4D97-AF65-F5344CB8AC3E}">
        <p14:creationId xmlns:p14="http://schemas.microsoft.com/office/powerpoint/2010/main" val="3420966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0E037-D995-E719-D27A-CAF873C189AE}"/>
              </a:ext>
            </a:extLst>
          </p:cNvPr>
          <p:cNvSpPr>
            <a:spLocks noGrp="1"/>
          </p:cNvSpPr>
          <p:nvPr>
            <p:ph type="title"/>
          </p:nvPr>
        </p:nvSpPr>
        <p:spPr>
          <a:xfrm>
            <a:off x="838200" y="180068"/>
            <a:ext cx="10515600" cy="1325563"/>
          </a:xfrm>
        </p:spPr>
        <p:txBody>
          <a:bodyPr/>
          <a:lstStyle/>
          <a:p>
            <a:r>
              <a:rPr lang="en-US" dirty="0"/>
              <a:t>Part 2: Implementation</a:t>
            </a:r>
          </a:p>
        </p:txBody>
      </p:sp>
      <p:sp>
        <p:nvSpPr>
          <p:cNvPr id="3" name="Content Placeholder 2">
            <a:extLst>
              <a:ext uri="{FF2B5EF4-FFF2-40B4-BE49-F238E27FC236}">
                <a16:creationId xmlns:a16="http://schemas.microsoft.com/office/drawing/2014/main" id="{439DBD42-B07F-6FCC-03E1-3142DFDB99DB}"/>
              </a:ext>
            </a:extLst>
          </p:cNvPr>
          <p:cNvSpPr>
            <a:spLocks noGrp="1"/>
          </p:cNvSpPr>
          <p:nvPr>
            <p:ph idx="1"/>
          </p:nvPr>
        </p:nvSpPr>
        <p:spPr>
          <a:xfrm>
            <a:off x="838200" y="1252682"/>
            <a:ext cx="10515600" cy="5605318"/>
          </a:xfrm>
        </p:spPr>
        <p:txBody>
          <a:bodyPr/>
          <a:lstStyle/>
          <a:p>
            <a:r>
              <a:rPr lang="en-US" dirty="0"/>
              <a:t>What AI approach will be used to address this question?</a:t>
            </a:r>
          </a:p>
          <a:p>
            <a:r>
              <a:rPr lang="en-US" dirty="0"/>
              <a:t>Task:</a:t>
            </a:r>
          </a:p>
          <a:p>
            <a:pPr lvl="1"/>
            <a:r>
              <a:rPr lang="en-US" dirty="0"/>
              <a:t>Classification (multiclass) (multi single class)</a:t>
            </a:r>
          </a:p>
          <a:p>
            <a:pPr lvl="1"/>
            <a:r>
              <a:rPr lang="en-US" dirty="0"/>
              <a:t>Regression </a:t>
            </a:r>
          </a:p>
          <a:p>
            <a:pPr lvl="1"/>
            <a:r>
              <a:rPr lang="en-US" dirty="0"/>
              <a:t>Does your task have a special simplified name? i.e. image segmentation = pixel-based classification </a:t>
            </a:r>
          </a:p>
          <a:p>
            <a:pPr lvl="1"/>
            <a:r>
              <a:rPr lang="en-US" dirty="0"/>
              <a:t>Generative?</a:t>
            </a:r>
          </a:p>
          <a:p>
            <a:pPr lvl="1"/>
            <a:r>
              <a:rPr lang="en-US" dirty="0"/>
              <a:t>Don’t confuse LLM training with prompting</a:t>
            </a:r>
          </a:p>
        </p:txBody>
      </p:sp>
      <p:pic>
        <p:nvPicPr>
          <p:cNvPr id="1026" name="Picture 2" descr="LLMs 101: Prompt eng vs Fine-tuning vs RAG">
            <a:extLst>
              <a:ext uri="{FF2B5EF4-FFF2-40B4-BE49-F238E27FC236}">
                <a16:creationId xmlns:a16="http://schemas.microsoft.com/office/drawing/2014/main" id="{706A28B7-07C0-250E-4751-6B9969BC10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07" r="20168"/>
          <a:stretch>
            <a:fillRect/>
          </a:stretch>
        </p:blipFill>
        <p:spPr bwMode="auto">
          <a:xfrm>
            <a:off x="8066314" y="3470747"/>
            <a:ext cx="3450772" cy="3387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971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8D57B-B94A-8D37-CD92-A05E384D0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FF1E9-7093-02E7-2D0A-E6C5D575C074}"/>
              </a:ext>
            </a:extLst>
          </p:cNvPr>
          <p:cNvSpPr>
            <a:spLocks noGrp="1"/>
          </p:cNvSpPr>
          <p:nvPr>
            <p:ph type="title"/>
          </p:nvPr>
        </p:nvSpPr>
        <p:spPr>
          <a:xfrm>
            <a:off x="838200" y="180068"/>
            <a:ext cx="10515600" cy="1325563"/>
          </a:xfrm>
        </p:spPr>
        <p:txBody>
          <a:bodyPr/>
          <a:lstStyle/>
          <a:p>
            <a:r>
              <a:rPr lang="en-US" dirty="0"/>
              <a:t>Part 2: Implementation</a:t>
            </a:r>
          </a:p>
        </p:txBody>
      </p:sp>
      <p:sp>
        <p:nvSpPr>
          <p:cNvPr id="3" name="Content Placeholder 2">
            <a:extLst>
              <a:ext uri="{FF2B5EF4-FFF2-40B4-BE49-F238E27FC236}">
                <a16:creationId xmlns:a16="http://schemas.microsoft.com/office/drawing/2014/main" id="{BE22E6CC-AEA7-CFD4-D6F7-3FA6CB6F644D}"/>
              </a:ext>
            </a:extLst>
          </p:cNvPr>
          <p:cNvSpPr>
            <a:spLocks noGrp="1"/>
          </p:cNvSpPr>
          <p:nvPr>
            <p:ph idx="1"/>
          </p:nvPr>
        </p:nvSpPr>
        <p:spPr>
          <a:xfrm>
            <a:off x="838200" y="1505631"/>
            <a:ext cx="10515600" cy="5352368"/>
          </a:xfrm>
        </p:spPr>
        <p:txBody>
          <a:bodyPr/>
          <a:lstStyle/>
          <a:p>
            <a:r>
              <a:rPr lang="en-US" dirty="0"/>
              <a:t>Deliverable: What is the technical problem statement?</a:t>
            </a:r>
          </a:p>
          <a:p>
            <a:pPr lvl="1"/>
            <a:r>
              <a:rPr lang="en-US" dirty="0"/>
              <a:t>Deep learning based classification of patients into sepsis and sepsis free groups based on data from first 24 h of admission</a:t>
            </a:r>
          </a:p>
          <a:p>
            <a:pPr lvl="1"/>
            <a:r>
              <a:rPr lang="en-US" dirty="0"/>
              <a:t>Prediction of patient hemoglobin levels using deep learning regression based on vital signs at outpatient visit</a:t>
            </a:r>
          </a:p>
          <a:p>
            <a:pPr lvl="1"/>
            <a:r>
              <a:rPr lang="en-US" dirty="0"/>
              <a:t> Segmentation of soft tissue sarcoma using multimodal CT-MRI-PET data</a:t>
            </a:r>
          </a:p>
          <a:p>
            <a:pPr lvl="1"/>
            <a:r>
              <a:rPr lang="en-US" dirty="0"/>
              <a:t>Prediction of patient MOCA scores using deep learning based regression on language embedding encoded interview transcripts</a:t>
            </a:r>
          </a:p>
          <a:p>
            <a:r>
              <a:rPr lang="en-US" dirty="0"/>
              <a:t>Deliverable: Few sentences on why this approach to implementation makes sense.</a:t>
            </a:r>
          </a:p>
        </p:txBody>
      </p:sp>
    </p:spTree>
    <p:extLst>
      <p:ext uri="{BB962C8B-B14F-4D97-AF65-F5344CB8AC3E}">
        <p14:creationId xmlns:p14="http://schemas.microsoft.com/office/powerpoint/2010/main" val="4261891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F4B4-7B7E-298F-D3E7-F319C85FD9D0}"/>
              </a:ext>
            </a:extLst>
          </p:cNvPr>
          <p:cNvSpPr>
            <a:spLocks noGrp="1"/>
          </p:cNvSpPr>
          <p:nvPr>
            <p:ph type="title"/>
          </p:nvPr>
        </p:nvSpPr>
        <p:spPr/>
        <p:txBody>
          <a:bodyPr/>
          <a:lstStyle/>
          <a:p>
            <a:r>
              <a:rPr lang="en-US" dirty="0"/>
              <a:t>Part 3: Data Sourcing</a:t>
            </a:r>
          </a:p>
        </p:txBody>
      </p:sp>
      <p:sp>
        <p:nvSpPr>
          <p:cNvPr id="3" name="Content Placeholder 2">
            <a:extLst>
              <a:ext uri="{FF2B5EF4-FFF2-40B4-BE49-F238E27FC236}">
                <a16:creationId xmlns:a16="http://schemas.microsoft.com/office/drawing/2014/main" id="{C16D6B13-4C01-4C66-D71F-A4886DAC9A93}"/>
              </a:ext>
            </a:extLst>
          </p:cNvPr>
          <p:cNvSpPr>
            <a:spLocks noGrp="1"/>
          </p:cNvSpPr>
          <p:nvPr>
            <p:ph idx="1"/>
          </p:nvPr>
        </p:nvSpPr>
        <p:spPr/>
        <p:txBody>
          <a:bodyPr/>
          <a:lstStyle/>
          <a:p>
            <a:r>
              <a:rPr lang="en-US" dirty="0"/>
              <a:t>What data will you need and why? Ex. If you are doing prediction of hemoglobin, do you need their IgM level?</a:t>
            </a:r>
          </a:p>
          <a:p>
            <a:r>
              <a:rPr lang="en-US" dirty="0"/>
              <a:t>How will you acquire the data used in this project?</a:t>
            </a:r>
          </a:p>
          <a:p>
            <a:r>
              <a:rPr lang="en-US" dirty="0"/>
              <a:t>Are there any public datasets that can be used? If not, why?</a:t>
            </a:r>
          </a:p>
          <a:p>
            <a:r>
              <a:rPr lang="en-US" dirty="0"/>
              <a:t>Will the data need to be cleaned, standardized or preprocessed at all? Will we remove outliers? Should some part of the input data be discarded? What biases might your approach of data gathering lead to?</a:t>
            </a:r>
          </a:p>
          <a:p>
            <a:r>
              <a:rPr lang="en-US" dirty="0"/>
              <a:t>Deliverable: Answer the above questions in a paragraph</a:t>
            </a:r>
          </a:p>
        </p:txBody>
      </p:sp>
    </p:spTree>
    <p:extLst>
      <p:ext uri="{BB962C8B-B14F-4D97-AF65-F5344CB8AC3E}">
        <p14:creationId xmlns:p14="http://schemas.microsoft.com/office/powerpoint/2010/main" val="1434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9411-F2E9-B5FC-A824-83756E7258F1}"/>
              </a:ext>
            </a:extLst>
          </p:cNvPr>
          <p:cNvSpPr>
            <a:spLocks noGrp="1"/>
          </p:cNvSpPr>
          <p:nvPr>
            <p:ph type="title"/>
          </p:nvPr>
        </p:nvSpPr>
        <p:spPr/>
        <p:txBody>
          <a:bodyPr/>
          <a:lstStyle/>
          <a:p>
            <a:r>
              <a:rPr lang="en-US" dirty="0"/>
              <a:t>Part 4: Additional Technical Dive</a:t>
            </a:r>
          </a:p>
        </p:txBody>
      </p:sp>
      <p:sp>
        <p:nvSpPr>
          <p:cNvPr id="3" name="Content Placeholder 2">
            <a:extLst>
              <a:ext uri="{FF2B5EF4-FFF2-40B4-BE49-F238E27FC236}">
                <a16:creationId xmlns:a16="http://schemas.microsoft.com/office/drawing/2014/main" id="{14CBC3B3-602F-EDE5-0704-A958DCCD2F83}"/>
              </a:ext>
            </a:extLst>
          </p:cNvPr>
          <p:cNvSpPr>
            <a:spLocks noGrp="1"/>
          </p:cNvSpPr>
          <p:nvPr>
            <p:ph idx="1"/>
          </p:nvPr>
        </p:nvSpPr>
        <p:spPr>
          <a:xfrm>
            <a:off x="838200" y="1825625"/>
            <a:ext cx="10515600" cy="895804"/>
          </a:xfrm>
        </p:spPr>
        <p:txBody>
          <a:bodyPr/>
          <a:lstStyle/>
          <a:p>
            <a:r>
              <a:rPr lang="en-US" dirty="0"/>
              <a:t>Deliverable: A paragraph on </a:t>
            </a:r>
            <a:r>
              <a:rPr lang="en-US" b="1" dirty="0"/>
              <a:t>one</a:t>
            </a:r>
            <a:r>
              <a:rPr lang="en-US" dirty="0"/>
              <a:t> of these technical areas and what the considerations will be in your intervention</a:t>
            </a:r>
          </a:p>
        </p:txBody>
      </p:sp>
      <p:pic>
        <p:nvPicPr>
          <p:cNvPr id="5" name="Picture 4">
            <a:extLst>
              <a:ext uri="{FF2B5EF4-FFF2-40B4-BE49-F238E27FC236}">
                <a16:creationId xmlns:a16="http://schemas.microsoft.com/office/drawing/2014/main" id="{8957675F-14BB-A1F6-34CD-E0EB01483EAC}"/>
              </a:ext>
            </a:extLst>
          </p:cNvPr>
          <p:cNvPicPr>
            <a:picLocks noChangeAspect="1"/>
          </p:cNvPicPr>
          <p:nvPr/>
        </p:nvPicPr>
        <p:blipFill>
          <a:blip r:embed="rId2"/>
          <a:srcRect b="32108"/>
          <a:stretch>
            <a:fillRect/>
          </a:stretch>
        </p:blipFill>
        <p:spPr>
          <a:xfrm>
            <a:off x="1743100" y="2721429"/>
            <a:ext cx="8705799" cy="3931857"/>
          </a:xfrm>
          <a:prstGeom prst="rect">
            <a:avLst/>
          </a:prstGeom>
        </p:spPr>
      </p:pic>
    </p:spTree>
    <p:extLst>
      <p:ext uri="{BB962C8B-B14F-4D97-AF65-F5344CB8AC3E}">
        <p14:creationId xmlns:p14="http://schemas.microsoft.com/office/powerpoint/2010/main" val="770365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4DDC8-F1E8-4B11-CC85-DBBE3B3F9A25}"/>
              </a:ext>
            </a:extLst>
          </p:cNvPr>
          <p:cNvSpPr>
            <a:spLocks noGrp="1"/>
          </p:cNvSpPr>
          <p:nvPr>
            <p:ph type="title"/>
          </p:nvPr>
        </p:nvSpPr>
        <p:spPr/>
        <p:txBody>
          <a:bodyPr/>
          <a:lstStyle/>
          <a:p>
            <a:r>
              <a:rPr lang="en-US" dirty="0"/>
              <a:t>Part 5: Deployment and clinical relevance</a:t>
            </a:r>
          </a:p>
        </p:txBody>
      </p:sp>
      <p:sp>
        <p:nvSpPr>
          <p:cNvPr id="3" name="Content Placeholder 2">
            <a:extLst>
              <a:ext uri="{FF2B5EF4-FFF2-40B4-BE49-F238E27FC236}">
                <a16:creationId xmlns:a16="http://schemas.microsoft.com/office/drawing/2014/main" id="{DCAA1B3E-A2AB-5898-6800-6CF4439EFE80}"/>
              </a:ext>
            </a:extLst>
          </p:cNvPr>
          <p:cNvSpPr>
            <a:spLocks noGrp="1"/>
          </p:cNvSpPr>
          <p:nvPr>
            <p:ph idx="1"/>
          </p:nvPr>
        </p:nvSpPr>
        <p:spPr/>
        <p:txBody>
          <a:bodyPr/>
          <a:lstStyle/>
          <a:p>
            <a:r>
              <a:rPr lang="en-US" dirty="0"/>
              <a:t>Deliverable: Few sentences on output metrics that will be tracked to determine and monitor the success of the algorithm</a:t>
            </a:r>
          </a:p>
          <a:p>
            <a:pPr lvl="1"/>
            <a:r>
              <a:rPr lang="en-US" dirty="0"/>
              <a:t>F1, AUROC, Sensitivity, Specificity, PPV, ballpark numbers that would be acceptable</a:t>
            </a:r>
          </a:p>
          <a:p>
            <a:r>
              <a:rPr lang="en-US" dirty="0"/>
              <a:t>Deliverable: Paragraph on potential pitfalls to rollout in the clinic. What would biased results look like in the final model? Could the results slow down workflows in an unexpected way? How will periodic surveillance for data drift be implemented?</a:t>
            </a:r>
          </a:p>
        </p:txBody>
      </p:sp>
    </p:spTree>
    <p:extLst>
      <p:ext uri="{BB962C8B-B14F-4D97-AF65-F5344CB8AC3E}">
        <p14:creationId xmlns:p14="http://schemas.microsoft.com/office/powerpoint/2010/main" val="875142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9F01D-5BA9-8F8A-B2D4-8AB4AE88D13B}"/>
              </a:ext>
            </a:extLst>
          </p:cNvPr>
          <p:cNvSpPr>
            <a:spLocks noGrp="1"/>
          </p:cNvSpPr>
          <p:nvPr>
            <p:ph type="title"/>
          </p:nvPr>
        </p:nvSpPr>
        <p:spPr/>
        <p:txBody>
          <a:bodyPr/>
          <a:lstStyle/>
          <a:p>
            <a:r>
              <a:rPr lang="en-US" dirty="0"/>
              <a:t>Use of AI</a:t>
            </a:r>
          </a:p>
        </p:txBody>
      </p:sp>
      <p:sp>
        <p:nvSpPr>
          <p:cNvPr id="3" name="Content Placeholder 2">
            <a:extLst>
              <a:ext uri="{FF2B5EF4-FFF2-40B4-BE49-F238E27FC236}">
                <a16:creationId xmlns:a16="http://schemas.microsoft.com/office/drawing/2014/main" id="{A9761CFD-E1EC-2F80-4FD1-FFFB1463524E}"/>
              </a:ext>
            </a:extLst>
          </p:cNvPr>
          <p:cNvSpPr>
            <a:spLocks noGrp="1"/>
          </p:cNvSpPr>
          <p:nvPr>
            <p:ph idx="1"/>
          </p:nvPr>
        </p:nvSpPr>
        <p:spPr/>
        <p:txBody>
          <a:bodyPr/>
          <a:lstStyle/>
          <a:p>
            <a:r>
              <a:rPr lang="en-US" dirty="0"/>
              <a:t>Let AI be your assistant, not your replacement</a:t>
            </a:r>
          </a:p>
          <a:p>
            <a:r>
              <a:rPr lang="en-US" dirty="0"/>
              <a:t>Use AI as you see fit, but be ready to explain your choices verbally</a:t>
            </a:r>
          </a:p>
          <a:p>
            <a:r>
              <a:rPr lang="en-US" dirty="0"/>
              <a:t>Any work AI does that you turn in you place your seal of approval on, including errors</a:t>
            </a:r>
          </a:p>
          <a:p>
            <a:r>
              <a:rPr lang="en-US" dirty="0"/>
              <a:t>Last day of class will call on some people randomly to discuss various decisions they’ve made</a:t>
            </a:r>
          </a:p>
          <a:p>
            <a:endParaRPr lang="en-US" dirty="0"/>
          </a:p>
        </p:txBody>
      </p:sp>
    </p:spTree>
    <p:extLst>
      <p:ext uri="{BB962C8B-B14F-4D97-AF65-F5344CB8AC3E}">
        <p14:creationId xmlns:p14="http://schemas.microsoft.com/office/powerpoint/2010/main" val="1742595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58470-EC75-810D-FE4F-94A65698C0EE}"/>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D60B17CD-CDBD-3117-7E09-852BA18595E6}"/>
              </a:ext>
            </a:extLst>
          </p:cNvPr>
          <p:cNvSpPr>
            <a:spLocks noGrp="1"/>
          </p:cNvSpPr>
          <p:nvPr>
            <p:ph idx="1"/>
          </p:nvPr>
        </p:nvSpPr>
        <p:spPr>
          <a:xfrm>
            <a:off x="838200" y="1446834"/>
            <a:ext cx="10515600" cy="5127585"/>
          </a:xfrm>
        </p:spPr>
        <p:txBody>
          <a:bodyPr>
            <a:normAutofit/>
          </a:bodyPr>
          <a:lstStyle/>
          <a:p>
            <a:r>
              <a:rPr lang="en-US" dirty="0"/>
              <a:t>10/10 possible on each section, maximum 50/50</a:t>
            </a:r>
          </a:p>
          <a:p>
            <a:r>
              <a:rPr lang="en-US" dirty="0"/>
              <a:t>Will be graded on correctness, clinical relevance and mastery of technical knowledge </a:t>
            </a:r>
          </a:p>
          <a:p>
            <a:r>
              <a:rPr lang="en-US" dirty="0"/>
              <a:t>Thoughtful responses that show clear effort will definitely pass</a:t>
            </a:r>
          </a:p>
          <a:p>
            <a:r>
              <a:rPr lang="en-US" dirty="0"/>
              <a:t>70% is passing, 50% of overall course grade</a:t>
            </a:r>
          </a:p>
          <a:p>
            <a:r>
              <a:rPr lang="en-US" dirty="0"/>
              <a:t>Will be averaged with attendance percentage to determine final grade</a:t>
            </a:r>
          </a:p>
          <a:p>
            <a:r>
              <a:rPr lang="en-US" dirty="0"/>
              <a:t>Bonus up to 10% if you give a 10-15 min </a:t>
            </a:r>
            <a:r>
              <a:rPr lang="en-US" dirty="0" err="1"/>
              <a:t>powerpoint</a:t>
            </a:r>
            <a:r>
              <a:rPr lang="en-US" dirty="0"/>
              <a:t> presentation to the class on last day</a:t>
            </a:r>
          </a:p>
          <a:p>
            <a:r>
              <a:rPr lang="en-US" dirty="0"/>
              <a:t>Reserve the right to award lower scores on a given section if it is blatantly AI generated with zero edits + cannot explain when asked</a:t>
            </a:r>
          </a:p>
        </p:txBody>
      </p:sp>
    </p:spTree>
    <p:extLst>
      <p:ext uri="{BB962C8B-B14F-4D97-AF65-F5344CB8AC3E}">
        <p14:creationId xmlns:p14="http://schemas.microsoft.com/office/powerpoint/2010/main" val="1111248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B1832-45D1-3096-B260-8AE5028E8ADE}"/>
              </a:ext>
            </a:extLst>
          </p:cNvPr>
          <p:cNvSpPr>
            <a:spLocks noGrp="1"/>
          </p:cNvSpPr>
          <p:nvPr>
            <p:ph type="title"/>
          </p:nvPr>
        </p:nvSpPr>
        <p:spPr/>
        <p:txBody>
          <a:bodyPr/>
          <a:lstStyle/>
          <a:p>
            <a:r>
              <a:rPr lang="en-US" dirty="0"/>
              <a:t>Final Thoughts</a:t>
            </a:r>
          </a:p>
        </p:txBody>
      </p:sp>
      <p:sp>
        <p:nvSpPr>
          <p:cNvPr id="3" name="Content Placeholder 2">
            <a:extLst>
              <a:ext uri="{FF2B5EF4-FFF2-40B4-BE49-F238E27FC236}">
                <a16:creationId xmlns:a16="http://schemas.microsoft.com/office/drawing/2014/main" id="{6786F972-5F4C-9CED-FE27-228DF67C5180}"/>
              </a:ext>
            </a:extLst>
          </p:cNvPr>
          <p:cNvSpPr>
            <a:spLocks noGrp="1"/>
          </p:cNvSpPr>
          <p:nvPr>
            <p:ph idx="1"/>
          </p:nvPr>
        </p:nvSpPr>
        <p:spPr/>
        <p:txBody>
          <a:bodyPr/>
          <a:lstStyle/>
          <a:p>
            <a:r>
              <a:rPr lang="en-US" dirty="0"/>
              <a:t>You get out what you put in</a:t>
            </a:r>
          </a:p>
          <a:p>
            <a:r>
              <a:rPr lang="en-US" dirty="0"/>
              <a:t>Work hard on this and it could become a real research question you attempt to solve!</a:t>
            </a:r>
          </a:p>
          <a:p>
            <a:r>
              <a:rPr lang="en-US" dirty="0"/>
              <a:t>Matthew and myself are available after class for up to 1 hour to answer any questions that come up</a:t>
            </a:r>
          </a:p>
        </p:txBody>
      </p:sp>
    </p:spTree>
    <p:extLst>
      <p:ext uri="{BB962C8B-B14F-4D97-AF65-F5344CB8AC3E}">
        <p14:creationId xmlns:p14="http://schemas.microsoft.com/office/powerpoint/2010/main" val="1816332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868</Words>
  <Application>Microsoft Office PowerPoint</Application>
  <PresentationFormat>Widescreen</PresentationFormat>
  <Paragraphs>83</Paragraphs>
  <Slides>13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Project Intro</vt:lpstr>
      <vt:lpstr>Last Time</vt:lpstr>
      <vt:lpstr>Big Idea</vt:lpstr>
      <vt:lpstr>Part 1: Problem Formulation</vt:lpstr>
      <vt:lpstr>Part 1: Problem Formulation</vt:lpstr>
      <vt:lpstr>Part 2: Implementation</vt:lpstr>
      <vt:lpstr>Part 2: Implementation</vt:lpstr>
      <vt:lpstr>Part 3: Data Sourcing</vt:lpstr>
      <vt:lpstr>Part 4: Additional Technical Dive</vt:lpstr>
      <vt:lpstr>Part 5: Deployment and clinical relevance</vt:lpstr>
      <vt:lpstr>Use of AI</vt:lpstr>
      <vt:lpstr>Grading</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2</cp:revision>
  <dcterms:created xsi:type="dcterms:W3CDTF">2025-10-21T21:36:37Z</dcterms:created>
  <dcterms:modified xsi:type="dcterms:W3CDTF">2025-10-22T21:40:54Z</dcterms:modified>
</cp:coreProperties>
</file>
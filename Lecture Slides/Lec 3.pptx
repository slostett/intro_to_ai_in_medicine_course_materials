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7" r:id="rId2"/>
    <p:sldId id="258" r:id="rId3"/>
    <p:sldId id="362" r:id="rId4"/>
    <p:sldId id="266" r:id="rId5"/>
    <p:sldId id="259" r:id="rId6"/>
    <p:sldId id="270" r:id="rId7"/>
    <p:sldId id="260" r:id="rId8"/>
    <p:sldId id="262" r:id="rId9"/>
    <p:sldId id="267" r:id="rId10"/>
    <p:sldId id="263" r:id="rId11"/>
    <p:sldId id="264" r:id="rId12"/>
    <p:sldId id="268" r:id="rId13"/>
    <p:sldId id="321" r:id="rId14"/>
    <p:sldId id="261" r:id="rId15"/>
    <p:sldId id="271" r:id="rId16"/>
    <p:sldId id="319" r:id="rId17"/>
    <p:sldId id="320" r:id="rId18"/>
    <p:sldId id="265" r:id="rId19"/>
    <p:sldId id="324" r:id="rId20"/>
    <p:sldId id="325" r:id="rId21"/>
    <p:sldId id="323" r:id="rId22"/>
    <p:sldId id="326" r:id="rId23"/>
    <p:sldId id="327" r:id="rId24"/>
    <p:sldId id="337" r:id="rId25"/>
    <p:sldId id="328" r:id="rId26"/>
    <p:sldId id="360" r:id="rId27"/>
    <p:sldId id="329" r:id="rId28"/>
    <p:sldId id="331" r:id="rId29"/>
    <p:sldId id="334" r:id="rId30"/>
    <p:sldId id="335" r:id="rId31"/>
    <p:sldId id="336" r:id="rId32"/>
    <p:sldId id="352" r:id="rId33"/>
    <p:sldId id="332" r:id="rId34"/>
    <p:sldId id="333" r:id="rId35"/>
    <p:sldId id="338" r:id="rId36"/>
    <p:sldId id="339" r:id="rId37"/>
    <p:sldId id="340" r:id="rId38"/>
    <p:sldId id="341" r:id="rId39"/>
    <p:sldId id="342" r:id="rId40"/>
    <p:sldId id="343" r:id="rId41"/>
    <p:sldId id="345" r:id="rId42"/>
    <p:sldId id="346" r:id="rId43"/>
    <p:sldId id="348" r:id="rId44"/>
    <p:sldId id="347" r:id="rId45"/>
    <p:sldId id="349" r:id="rId46"/>
    <p:sldId id="350" r:id="rId47"/>
    <p:sldId id="351" r:id="rId48"/>
    <p:sldId id="353" r:id="rId49"/>
    <p:sldId id="354" r:id="rId50"/>
    <p:sldId id="357" r:id="rId51"/>
    <p:sldId id="358" r:id="rId52"/>
    <p:sldId id="359" r:id="rId53"/>
    <p:sldId id="355" r:id="rId54"/>
    <p:sldId id="356"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048" autoAdjust="0"/>
  </p:normalViewPr>
  <p:slideViewPr>
    <p:cSldViewPr snapToGrid="0">
      <p:cViewPr varScale="1">
        <p:scale>
          <a:sx n="30" d="100"/>
          <a:sy n="30" d="100"/>
        </p:scale>
        <p:origin x="120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4:13.790"/>
    </inkml:context>
    <inkml:brush xml:id="br0">
      <inkml:brushProperty name="width" value="0.035" units="cm"/>
      <inkml:brushProperty name="height" value="0.035" units="cm"/>
    </inkml:brush>
  </inkml:definitions>
  <inkml:trace contextRef="#ctx0" brushRef="#br0">1 0 24575,'0'3742'0,"0"-3734"0,0-1 0,0 0 0,0-1 0,1 1 0,2 12 0,-2-17 0,0 0 0,-1 0 0,1 0 0,0 0 0,1 0 0,-1 0 0,0 0 0,1 0 0,-1 0 0,1 0 0,-1-1 0,1 1 0,0-1 0,0 1 0,-1-1 0,1 0 0,0 0 0,3 2 0,8 2 0,-1-1 0,1-1 0,-1 1 0,1-2 0,0 0 0,14 1 0,86-3 0,-74 0 0,912-8 0,-739-8 0,-52 1 0,412 9 0,-326 8 0,2404-2-1365,-2621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5:44.999"/>
    </inkml:context>
    <inkml:brush xml:id="br0">
      <inkml:brushProperty name="width" value="0.035" units="cm"/>
      <inkml:brushProperty name="height" value="0.035" units="cm"/>
      <inkml:brushProperty name="color" value="#33CCFF"/>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5:49.070"/>
    </inkml:context>
    <inkml:brush xml:id="br0">
      <inkml:brushProperty name="width" value="0.035" units="cm"/>
      <inkml:brushProperty name="height" value="0.035" units="cm"/>
      <inkml:brushProperty name="color" value="#33CCFF"/>
    </inkml:brush>
  </inkml:definitions>
  <inkml:trace contextRef="#ctx0" brushRef="#br0">0 90 24575,'0'-85'0,"0"85"0,0 0 0,0 0 0,0 0 0,0-1 0,0 1 0,0 0 0,0 0 0,0 0 0,0 0 0,0-1 0,0 1 0,0 0 0,0 0 0,0 0 0,0 0 0,1-1 0,-1 1 0,0 0 0,0 0 0,0 0 0,0 0 0,0 0 0,0-1 0,0 1 0,1 0 0,-1 0 0,0 0 0,0 0 0,0 0 0,0 0 0,1 0 0,-1 0 0,0 0 0,0 0 0,0-1 0,0 1 0,1 0 0,-1 0 0,0 0 0,0 0 0,10 4 0,12 11 0,-19-13 0,-1-1 0,-1 0 0,0 0 0,0 0 0,0 0 0,0 0 0,1 0 0,-1 0 0,0 0 0,-1 1 0,1-1 0,0 0 0,0 0 0,-1 1 0,1-1 0,0 1 0,-1-1 0,1 1 0,-1-1 0,0 0 0,0 1 0,1-1 0,-1 1 0,0 0 0,0-1 0,0 1 0,-1-1 0,1 1 0,0-1 0,0 1 0,-1-1 0,0 2 0,-1 7 0,2-9 0,0 0 0,0 0 0,-1 0 0,1 0 0,0 0 0,0 0 0,0 1 0,0-1 0,0 0 0,0 0 0,1 0 0,-1 0 0,0 0 0,0 0 0,1 0 0,-1 0 0,1 0 0,-1 0 0,1 0 0,-1 0 0,1 0 0,0 0 0,-1 0 0,1-1 0,0 1 0,0 0 0,0 0 0,-1-1 0,1 1 0,0-1 0,2 2 0,-2-2 0,0 0 0,0 0 0,0 0 0,0 0 0,0-1 0,0 1 0,0 0 0,0 0 0,0-1 0,0 1 0,0-1 0,0 1 0,0-1 0,0 1 0,0-1 0,0 1 0,0-1 0,-1 0 0,1 1 0,0-1 0,0 0 0,-1 0 0,1 0 0,-1 0 0,1 1 0,-1-1 0,1 0 0,-1 0 0,1 0 0,-1 0 0,0 0 0,1-2 0,0-1 0,0-1 0,0 1 0,0-1 0,-1 1 0,1-1 0,-1 1 0,0-1 0,-1-4 0,1 8 0,0-1 0,0 1 0,-1-1 0,1 1 0,0-1 0,-1 1 0,1-1 0,-1 1 0,1 0 0,-1-1 0,0 1 0,1 0 0,-1 0 0,0-1 0,0 1 0,0 0 0,0 0 0,0 0 0,0 0 0,-1 0 0,1 0 0,0 0 0,0 1 0,-1-1 0,1 0 0,0 1 0,-1-1 0,-1 0 0,2 1 0,1 0 0,-1 0 0,0 0 0,0 0 0,0 0 0,0 0 0,0 0 0,0 0 0,0 1 0,0-1 0,0 0 0,1 1 0,-1-1 0,0 0 0,0 1 0,0-1 0,1 1 0,-1-1 0,0 1 0,1 0 0,-1-1 0,0 1 0,1 0 0,-1-1 0,1 1 0,-1 0 0,1 0 0,-1 0 0,1-1 0,-1 1 0,1 0 0,0 0 0,0 0 0,-1 0 0,1 0 0,0 0 0,0 0 0,0-1 0,0 1 0,0 0 0,0 0 0,0 2 0,0 1 0,1 0 0,-1 0 0,0 0 0,1 0 0,0 0 0,0 0 0,0 0 0,2 4 0,16 16-1365,-11-26-5461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5:51.272"/>
    </inkml:context>
    <inkml:brush xml:id="br0">
      <inkml:brushProperty name="width" value="0.035" units="cm"/>
      <inkml:brushProperty name="height" value="0.035" units="cm"/>
      <inkml:brushProperty name="color" value="#33CCFF"/>
    </inkml:brush>
  </inkml:definitions>
  <inkml:trace contextRef="#ctx0" brushRef="#br0">0 0 24452,'0'77'0,"77"-77"0,-77-77 0,-77 77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5:59.247"/>
    </inkml:context>
    <inkml:brush xml:id="br0">
      <inkml:brushProperty name="width" value="0.035" units="cm"/>
      <inkml:brushProperty name="height" value="0.035" units="cm"/>
      <inkml:brushProperty name="color" value="#33CCFF"/>
    </inkml:brush>
  </inkml:definitions>
  <inkml:trace contextRef="#ctx0" brushRef="#br0">1 0 23892,'0'34'0,"103"-34"0,-103-34 0,-103 34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4:13.790"/>
    </inkml:context>
    <inkml:brush xml:id="br0">
      <inkml:brushProperty name="width" value="0.035" units="cm"/>
      <inkml:brushProperty name="height" value="0.035" units="cm"/>
    </inkml:brush>
  </inkml:definitions>
  <inkml:trace contextRef="#ctx0" brushRef="#br0">1 0 24575,'0'3742'0,"0"-3734"0,0-1 0,0 0 0,0-1 0,1 1 0,2 12 0,-2-17 0,0 0 0,-1 0 0,1 0 0,0 0 0,1 0 0,-1 0 0,0 0 0,1 0 0,-1 0 0,1 0 0,-1-1 0,1 1 0,0-1 0,0 1 0,-1-1 0,1 0 0,0 0 0,3 2 0,8 2 0,-1-1 0,1-1 0,-1 1 0,1-2 0,0 0 0,14 1 0,86-3 0,-74 0 0,912-8 0,-739-8 0,-52 1 0,412 9 0,-326 8 0,2404-2-1365,-2621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5:44.999"/>
    </inkml:context>
    <inkml:brush xml:id="br0">
      <inkml:brushProperty name="width" value="0.035" units="cm"/>
      <inkml:brushProperty name="height" value="0.035" units="cm"/>
      <inkml:brushProperty name="color" value="#33CCFF"/>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5:49.070"/>
    </inkml:context>
    <inkml:brush xml:id="br0">
      <inkml:brushProperty name="width" value="0.035" units="cm"/>
      <inkml:brushProperty name="height" value="0.035" units="cm"/>
      <inkml:brushProperty name="color" value="#33CCFF"/>
    </inkml:brush>
  </inkml:definitions>
  <inkml:trace contextRef="#ctx0" brushRef="#br0">0 90 24575,'0'-85'0,"0"85"0,0 0 0,0 0 0,0 0 0,0-1 0,0 1 0,0 0 0,0 0 0,0 0 0,0 0 0,0-1 0,0 1 0,0 0 0,0 0 0,0 0 0,0 0 0,1-1 0,-1 1 0,0 0 0,0 0 0,0 0 0,0 0 0,0 0 0,0-1 0,0 1 0,1 0 0,-1 0 0,0 0 0,0 0 0,0 0 0,0 0 0,1 0 0,-1 0 0,0 0 0,0 0 0,0-1 0,0 1 0,1 0 0,-1 0 0,0 0 0,0 0 0,10 4 0,12 11 0,-19-13 0,-1-1 0,-1 0 0,0 0 0,0 0 0,0 0 0,0 0 0,1 0 0,-1 0 0,0 0 0,-1 1 0,1-1 0,0 0 0,0 0 0,-1 1 0,1-1 0,0 1 0,-1-1 0,1 1 0,-1-1 0,0 0 0,0 1 0,1-1 0,-1 1 0,0 0 0,0-1 0,0 1 0,-1-1 0,1 1 0,0-1 0,0 1 0,-1-1 0,0 2 0,-1 7 0,2-9 0,0 0 0,0 0 0,-1 0 0,1 0 0,0 0 0,0 0 0,0 1 0,0-1 0,0 0 0,0 0 0,1 0 0,-1 0 0,0 0 0,0 0 0,1 0 0,-1 0 0,1 0 0,-1 0 0,1 0 0,-1 0 0,1 0 0,0 0 0,-1 0 0,1-1 0,0 1 0,0 0 0,0 0 0,-1-1 0,1 1 0,0-1 0,2 2 0,-2-2 0,0 0 0,0 0 0,0 0 0,0 0 0,0-1 0,0 1 0,0 0 0,0 0 0,0-1 0,0 1 0,0-1 0,0 1 0,0-1 0,0 1 0,0-1 0,0 1 0,0-1 0,-1 0 0,1 1 0,0-1 0,0 0 0,-1 0 0,1 0 0,-1 0 0,1 1 0,-1-1 0,1 0 0,-1 0 0,1 0 0,-1 0 0,0 0 0,1-2 0,0-1 0,0-1 0,0 1 0,0-1 0,-1 1 0,1-1 0,-1 1 0,0-1 0,-1-4 0,1 8 0,0-1 0,0 1 0,-1-1 0,1 1 0,0-1 0,-1 1 0,1-1 0,-1 1 0,1 0 0,-1-1 0,0 1 0,1 0 0,-1 0 0,0-1 0,0 1 0,0 0 0,0 0 0,0 0 0,0 0 0,-1 0 0,1 0 0,0 0 0,0 1 0,-1-1 0,1 0 0,0 1 0,-1-1 0,-1 0 0,2 1 0,1 0 0,-1 0 0,0 0 0,0 0 0,0 0 0,0 0 0,0 0 0,0 0 0,0 1 0,0-1 0,0 0 0,1 1 0,-1-1 0,0 0 0,0 1 0,0-1 0,1 1 0,-1-1 0,0 1 0,1 0 0,-1-1 0,0 1 0,1 0 0,-1-1 0,1 1 0,-1 0 0,1 0 0,-1 0 0,1-1 0,-1 1 0,1 0 0,0 0 0,0 0 0,-1 0 0,1 0 0,0 0 0,0 0 0,0-1 0,0 1 0,0 0 0,0 0 0,0 2 0,0 1 0,1 0 0,-1 0 0,0 0 0,1 0 0,0 0 0,0 0 0,0 0 0,2 4 0,16 16-1365,-11-26-5461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5:51.272"/>
    </inkml:context>
    <inkml:brush xml:id="br0">
      <inkml:brushProperty name="width" value="0.035" units="cm"/>
      <inkml:brushProperty name="height" value="0.035" units="cm"/>
      <inkml:brushProperty name="color" value="#33CCFF"/>
    </inkml:brush>
  </inkml:definitions>
  <inkml:trace contextRef="#ctx0" brushRef="#br0">0 0 24452,'0'77'0,"77"-77"0,-77-77 0,-77 77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45:59.247"/>
    </inkml:context>
    <inkml:brush xml:id="br0">
      <inkml:brushProperty name="width" value="0.035" units="cm"/>
      <inkml:brushProperty name="height" value="0.035" units="cm"/>
      <inkml:brushProperty name="color" value="#33CCFF"/>
    </inkml:brush>
  </inkml:definitions>
  <inkml:trace contextRef="#ctx0" brushRef="#br0">1 0 23892,'0'34'0,"103"-34"0,-103-34 0,-103 34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3F4EC4-F286-4FF1-8B00-B0DF119CDE1A}"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086B2-8283-464C-9BD8-D3BC221518F6}" type="slidenum">
              <a:rPr lang="en-US" smtClean="0"/>
              <a:t>‹#›</a:t>
            </a:fld>
            <a:endParaRPr lang="en-US"/>
          </a:p>
        </p:txBody>
      </p:sp>
    </p:spTree>
    <p:extLst>
      <p:ext uri="{BB962C8B-B14F-4D97-AF65-F5344CB8AC3E}">
        <p14:creationId xmlns:p14="http://schemas.microsoft.com/office/powerpoint/2010/main" val="155817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Turns out, there’s a way to cheat linear regression and spit out the answer, so it’s not used in practice.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MSE makes sense in any problem context which has n</a:t>
            </a:r>
          </a:p>
          <a:p>
            <a:endParaRPr lang="en-US" dirty="0"/>
          </a:p>
        </p:txBody>
      </p:sp>
      <p:sp>
        <p:nvSpPr>
          <p:cNvPr id="4" name="Slide Number Placeholder 3"/>
          <p:cNvSpPr>
            <a:spLocks noGrp="1"/>
          </p:cNvSpPr>
          <p:nvPr>
            <p:ph type="sldNum" sz="quarter" idx="5"/>
          </p:nvPr>
        </p:nvSpPr>
        <p:spPr/>
        <p:txBody>
          <a:bodyPr/>
          <a:lstStyle/>
          <a:p>
            <a:fld id="{C33086B2-8283-464C-9BD8-D3BC221518F6}" type="slidenum">
              <a:rPr lang="en-US" smtClean="0"/>
              <a:t>4</a:t>
            </a:fld>
            <a:endParaRPr lang="en-US"/>
          </a:p>
        </p:txBody>
      </p:sp>
    </p:spTree>
    <p:extLst>
      <p:ext uri="{BB962C8B-B14F-4D97-AF65-F5344CB8AC3E}">
        <p14:creationId xmlns:p14="http://schemas.microsoft.com/office/powerpoint/2010/main" val="2424089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this is rarely the case in real life, but a good illustrative example of how we can use gradient descent.</a:t>
            </a:r>
          </a:p>
          <a:p>
            <a:r>
              <a:rPr lang="en-US" dirty="0"/>
              <a:t>Can be 1d or multiple dimensional input.</a:t>
            </a:r>
          </a:p>
          <a:p>
            <a:r>
              <a:rPr lang="en-US" dirty="0"/>
              <a:t>This is 3d case but many dimensional input is possible. That is, many inputs, predict one output variable.</a:t>
            </a:r>
          </a:p>
        </p:txBody>
      </p:sp>
      <p:sp>
        <p:nvSpPr>
          <p:cNvPr id="4" name="Slide Number Placeholder 3"/>
          <p:cNvSpPr>
            <a:spLocks noGrp="1"/>
          </p:cNvSpPr>
          <p:nvPr>
            <p:ph type="sldNum" sz="quarter" idx="5"/>
          </p:nvPr>
        </p:nvSpPr>
        <p:spPr/>
        <p:txBody>
          <a:bodyPr/>
          <a:lstStyle/>
          <a:p>
            <a:fld id="{C33086B2-8283-464C-9BD8-D3BC221518F6}" type="slidenum">
              <a:rPr lang="en-US" smtClean="0"/>
              <a:t>6</a:t>
            </a:fld>
            <a:endParaRPr lang="en-US"/>
          </a:p>
        </p:txBody>
      </p:sp>
    </p:spTree>
    <p:extLst>
      <p:ext uri="{BB962C8B-B14F-4D97-AF65-F5344CB8AC3E}">
        <p14:creationId xmlns:p14="http://schemas.microsoft.com/office/powerpoint/2010/main" val="3202664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is to predict the data that we’re passed in with. </a:t>
            </a:r>
          </a:p>
          <a:p>
            <a:r>
              <a:rPr lang="en-US" dirty="0"/>
              <a:t>What we do is generate hypotheses – and see how we did.</a:t>
            </a:r>
          </a:p>
          <a:p>
            <a:r>
              <a:rPr lang="en-US" dirty="0"/>
              <a:t>Note, this is the 1d case.</a:t>
            </a:r>
          </a:p>
        </p:txBody>
      </p:sp>
      <p:sp>
        <p:nvSpPr>
          <p:cNvPr id="4" name="Slide Number Placeholder 3"/>
          <p:cNvSpPr>
            <a:spLocks noGrp="1"/>
          </p:cNvSpPr>
          <p:nvPr>
            <p:ph type="sldNum" sz="quarter" idx="5"/>
          </p:nvPr>
        </p:nvSpPr>
        <p:spPr/>
        <p:txBody>
          <a:bodyPr/>
          <a:lstStyle/>
          <a:p>
            <a:fld id="{C33086B2-8283-464C-9BD8-D3BC221518F6}" type="slidenum">
              <a:rPr lang="en-US" smtClean="0"/>
              <a:t>7</a:t>
            </a:fld>
            <a:endParaRPr lang="en-US"/>
          </a:p>
        </p:txBody>
      </p:sp>
    </p:spTree>
    <p:extLst>
      <p:ext uri="{BB962C8B-B14F-4D97-AF65-F5344CB8AC3E}">
        <p14:creationId xmlns:p14="http://schemas.microsoft.com/office/powerpoint/2010/main" val="3677794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vein of backpropagation to update weights</a:t>
            </a:r>
          </a:p>
          <a:p>
            <a:r>
              <a:rPr lang="en-US" dirty="0"/>
              <a:t>We’ll see how we did via our loss function</a:t>
            </a:r>
          </a:p>
        </p:txBody>
      </p:sp>
      <p:sp>
        <p:nvSpPr>
          <p:cNvPr id="4" name="Slide Number Placeholder 3"/>
          <p:cNvSpPr>
            <a:spLocks noGrp="1"/>
          </p:cNvSpPr>
          <p:nvPr>
            <p:ph type="sldNum" sz="quarter" idx="5"/>
          </p:nvPr>
        </p:nvSpPr>
        <p:spPr/>
        <p:txBody>
          <a:bodyPr/>
          <a:lstStyle/>
          <a:p>
            <a:fld id="{C33086B2-8283-464C-9BD8-D3BC221518F6}" type="slidenum">
              <a:rPr lang="en-US" smtClean="0"/>
              <a:t>8</a:t>
            </a:fld>
            <a:endParaRPr lang="en-US"/>
          </a:p>
        </p:txBody>
      </p:sp>
    </p:spTree>
    <p:extLst>
      <p:ext uri="{BB962C8B-B14F-4D97-AF65-F5344CB8AC3E}">
        <p14:creationId xmlns:p14="http://schemas.microsoft.com/office/powerpoint/2010/main" val="1428794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anyone tell me how I can describe this line? What equation would I use</a:t>
            </a:r>
          </a:p>
          <a:p>
            <a:endParaRPr lang="en-US" dirty="0"/>
          </a:p>
          <a:p>
            <a:r>
              <a:rPr lang="en-US" dirty="0"/>
              <a:t>We have a weight, and an offset</a:t>
            </a:r>
          </a:p>
        </p:txBody>
      </p:sp>
      <p:sp>
        <p:nvSpPr>
          <p:cNvPr id="4" name="Slide Number Placeholder 3"/>
          <p:cNvSpPr>
            <a:spLocks noGrp="1"/>
          </p:cNvSpPr>
          <p:nvPr>
            <p:ph type="sldNum" sz="quarter" idx="5"/>
          </p:nvPr>
        </p:nvSpPr>
        <p:spPr/>
        <p:txBody>
          <a:bodyPr/>
          <a:lstStyle/>
          <a:p>
            <a:fld id="{C33086B2-8283-464C-9BD8-D3BC221518F6}" type="slidenum">
              <a:rPr lang="en-US" smtClean="0"/>
              <a:t>10</a:t>
            </a:fld>
            <a:endParaRPr lang="en-US" dirty="0"/>
          </a:p>
        </p:txBody>
      </p:sp>
    </p:spTree>
    <p:extLst>
      <p:ext uri="{BB962C8B-B14F-4D97-AF65-F5344CB8AC3E}">
        <p14:creationId xmlns:p14="http://schemas.microsoft.com/office/powerpoint/2010/main" val="2645455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hat next slide</a:t>
            </a:r>
          </a:p>
        </p:txBody>
      </p:sp>
      <p:sp>
        <p:nvSpPr>
          <p:cNvPr id="4" name="Slide Number Placeholder 3"/>
          <p:cNvSpPr>
            <a:spLocks noGrp="1"/>
          </p:cNvSpPr>
          <p:nvPr>
            <p:ph type="sldNum" sz="quarter" idx="5"/>
          </p:nvPr>
        </p:nvSpPr>
        <p:spPr/>
        <p:txBody>
          <a:bodyPr/>
          <a:lstStyle/>
          <a:p>
            <a:fld id="{C33086B2-8283-464C-9BD8-D3BC221518F6}" type="slidenum">
              <a:rPr lang="en-US" smtClean="0"/>
              <a:t>11</a:t>
            </a:fld>
            <a:endParaRPr lang="en-US" dirty="0"/>
          </a:p>
        </p:txBody>
      </p:sp>
    </p:spTree>
    <p:extLst>
      <p:ext uri="{BB962C8B-B14F-4D97-AF65-F5344CB8AC3E}">
        <p14:creationId xmlns:p14="http://schemas.microsoft.com/office/powerpoint/2010/main" val="4057286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loss looks like datapoint by datapoint.</a:t>
            </a:r>
          </a:p>
          <a:p>
            <a:r>
              <a:rPr lang="en-US" dirty="0"/>
              <a:t>It’s the error between our prediction and our actual. </a:t>
            </a:r>
          </a:p>
          <a:p>
            <a:r>
              <a:rPr lang="en-US" dirty="0"/>
              <a:t>This is absolute error</a:t>
            </a:r>
          </a:p>
        </p:txBody>
      </p:sp>
      <p:sp>
        <p:nvSpPr>
          <p:cNvPr id="4" name="Slide Number Placeholder 3"/>
          <p:cNvSpPr>
            <a:spLocks noGrp="1"/>
          </p:cNvSpPr>
          <p:nvPr>
            <p:ph type="sldNum" sz="quarter" idx="5"/>
          </p:nvPr>
        </p:nvSpPr>
        <p:spPr/>
        <p:txBody>
          <a:bodyPr/>
          <a:lstStyle/>
          <a:p>
            <a:fld id="{C33086B2-8283-464C-9BD8-D3BC221518F6}" type="slidenum">
              <a:rPr lang="en-US" smtClean="0"/>
              <a:t>12</a:t>
            </a:fld>
            <a:endParaRPr lang="en-US" dirty="0"/>
          </a:p>
        </p:txBody>
      </p:sp>
    </p:spTree>
    <p:extLst>
      <p:ext uri="{BB962C8B-B14F-4D97-AF65-F5344CB8AC3E}">
        <p14:creationId xmlns:p14="http://schemas.microsoft.com/office/powerpoint/2010/main" val="2751128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02AE8-9360-3F58-7C17-B55CD7F9A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2AAE6-CD79-E3AE-9A3F-DD6DDE9B3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0343B-A5FB-25F9-6F90-44D39C1B814E}"/>
              </a:ext>
            </a:extLst>
          </p:cNvPr>
          <p:cNvSpPr>
            <a:spLocks noGrp="1"/>
          </p:cNvSpPr>
          <p:nvPr>
            <p:ph type="body" idx="1"/>
          </p:nvPr>
        </p:nvSpPr>
        <p:spPr/>
        <p:txBody>
          <a:bodyPr/>
          <a:lstStyle/>
          <a:p>
            <a:r>
              <a:rPr lang="en-US" dirty="0"/>
              <a:t>This is MSE from the homework. Look at the squares, which indicate the amount of error. Far points give us lots of error</a:t>
            </a:r>
          </a:p>
        </p:txBody>
      </p:sp>
      <p:sp>
        <p:nvSpPr>
          <p:cNvPr id="4" name="Slide Number Placeholder 3">
            <a:extLst>
              <a:ext uri="{FF2B5EF4-FFF2-40B4-BE49-F238E27FC236}">
                <a16:creationId xmlns:a16="http://schemas.microsoft.com/office/drawing/2014/main" id="{DE060398-F3E0-621D-2AD6-9BBEDA56E6FF}"/>
              </a:ext>
            </a:extLst>
          </p:cNvPr>
          <p:cNvSpPr>
            <a:spLocks noGrp="1"/>
          </p:cNvSpPr>
          <p:nvPr>
            <p:ph type="sldNum" sz="quarter" idx="5"/>
          </p:nvPr>
        </p:nvSpPr>
        <p:spPr/>
        <p:txBody>
          <a:bodyPr/>
          <a:lstStyle/>
          <a:p>
            <a:fld id="{C33086B2-8283-464C-9BD8-D3BC221518F6}" type="slidenum">
              <a:rPr lang="en-US" smtClean="0"/>
              <a:t>13</a:t>
            </a:fld>
            <a:endParaRPr lang="en-US" dirty="0"/>
          </a:p>
        </p:txBody>
      </p:sp>
    </p:spTree>
    <p:extLst>
      <p:ext uri="{BB962C8B-B14F-4D97-AF65-F5344CB8AC3E}">
        <p14:creationId xmlns:p14="http://schemas.microsoft.com/office/powerpoint/2010/main" val="2522685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dataset. We’re using cigarettes per day during pregnancy to predict birth weight.</a:t>
            </a:r>
          </a:p>
        </p:txBody>
      </p:sp>
      <p:sp>
        <p:nvSpPr>
          <p:cNvPr id="4" name="Slide Number Placeholder 3"/>
          <p:cNvSpPr>
            <a:spLocks noGrp="1"/>
          </p:cNvSpPr>
          <p:nvPr>
            <p:ph type="sldNum" sz="quarter" idx="5"/>
          </p:nvPr>
        </p:nvSpPr>
        <p:spPr/>
        <p:txBody>
          <a:bodyPr/>
          <a:lstStyle/>
          <a:p>
            <a:fld id="{C33086B2-8283-464C-9BD8-D3BC221518F6}" type="slidenum">
              <a:rPr lang="en-US" smtClean="0"/>
              <a:t>14</a:t>
            </a:fld>
            <a:endParaRPr lang="en-US"/>
          </a:p>
        </p:txBody>
      </p:sp>
    </p:spTree>
    <p:extLst>
      <p:ext uri="{BB962C8B-B14F-4D97-AF65-F5344CB8AC3E}">
        <p14:creationId xmlns:p14="http://schemas.microsoft.com/office/powerpoint/2010/main" val="2123816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Func 2. talking points</a:t>
            </a:r>
          </a:p>
          <a:p>
            <a:r>
              <a:rPr lang="en-US" dirty="0"/>
              <a:t>Let’s say our linear regression function chose these to start.</a:t>
            </a:r>
          </a:p>
          <a:p>
            <a:r>
              <a:rPr lang="en-US" dirty="0"/>
              <a:t>Let’s compute our MSE for each data point.</a:t>
            </a:r>
          </a:p>
          <a:p>
            <a:r>
              <a:rPr lang="en-US" dirty="0"/>
              <a:t>We can see loss is </a:t>
            </a:r>
            <a:r>
              <a:rPr lang="en-US" dirty="0" err="1"/>
              <a:t>kinda</a:t>
            </a:r>
            <a:r>
              <a:rPr lang="en-US" dirty="0"/>
              <a:t> like a scoring system – lower is always better</a:t>
            </a:r>
          </a:p>
        </p:txBody>
      </p:sp>
      <p:sp>
        <p:nvSpPr>
          <p:cNvPr id="4" name="Slide Number Placeholder 3"/>
          <p:cNvSpPr>
            <a:spLocks noGrp="1"/>
          </p:cNvSpPr>
          <p:nvPr>
            <p:ph type="sldNum" sz="quarter" idx="5"/>
          </p:nvPr>
        </p:nvSpPr>
        <p:spPr/>
        <p:txBody>
          <a:bodyPr/>
          <a:lstStyle/>
          <a:p>
            <a:fld id="{C33086B2-8283-464C-9BD8-D3BC221518F6}" type="slidenum">
              <a:rPr lang="en-US" smtClean="0"/>
              <a:t>15</a:t>
            </a:fld>
            <a:endParaRPr lang="en-US"/>
          </a:p>
        </p:txBody>
      </p:sp>
    </p:spTree>
    <p:extLst>
      <p:ext uri="{BB962C8B-B14F-4D97-AF65-F5344CB8AC3E}">
        <p14:creationId xmlns:p14="http://schemas.microsoft.com/office/powerpoint/2010/main" val="2765361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our gradient descent function – we’ll update m and b in y=</a:t>
            </a:r>
            <a:r>
              <a:rPr lang="en-US" dirty="0" err="1"/>
              <a:t>mx+b</a:t>
            </a:r>
            <a:r>
              <a:rPr lang="en-US" dirty="0"/>
              <a:t> to be better by updating them in a way that decreases mean squared error. Backpropagation informs us what updates should be made. Now, let’s try again.</a:t>
            </a:r>
          </a:p>
        </p:txBody>
      </p:sp>
      <p:sp>
        <p:nvSpPr>
          <p:cNvPr id="4" name="Slide Number Placeholder 3"/>
          <p:cNvSpPr>
            <a:spLocks noGrp="1"/>
          </p:cNvSpPr>
          <p:nvPr>
            <p:ph type="sldNum" sz="quarter" idx="5"/>
          </p:nvPr>
        </p:nvSpPr>
        <p:spPr/>
        <p:txBody>
          <a:bodyPr/>
          <a:lstStyle/>
          <a:p>
            <a:fld id="{A0830335-CF4D-4074-A39F-62C4C7BE77D5}" type="slidenum">
              <a:rPr lang="en-US" smtClean="0"/>
              <a:t>16</a:t>
            </a:fld>
            <a:endParaRPr lang="en-US"/>
          </a:p>
        </p:txBody>
      </p:sp>
    </p:spTree>
    <p:extLst>
      <p:ext uri="{BB962C8B-B14F-4D97-AF65-F5344CB8AC3E}">
        <p14:creationId xmlns:p14="http://schemas.microsoft.com/office/powerpoint/2010/main" val="3796823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4C27B-F9C0-1838-D016-7A6AD4DAB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FCFBA-5EFE-8347-A3F5-15A5D9061A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A77961-0186-C890-4669-D97EDEF65047}"/>
              </a:ext>
            </a:extLst>
          </p:cNvPr>
          <p:cNvSpPr>
            <a:spLocks noGrp="1"/>
          </p:cNvSpPr>
          <p:nvPr>
            <p:ph type="body" idx="1"/>
          </p:nvPr>
        </p:nvSpPr>
        <p:spPr/>
        <p:txBody>
          <a:bodyPr/>
          <a:lstStyle/>
          <a:p>
            <a:r>
              <a:rPr lang="en-US" dirty="0"/>
              <a:t>So we know lower is better, which fits.</a:t>
            </a:r>
          </a:p>
          <a:p>
            <a:r>
              <a:rPr lang="en-US" dirty="0"/>
              <a:t>Things really far away get a big penalty – really bad predictions aren’t good so this is usually better in practice</a:t>
            </a:r>
          </a:p>
          <a:p>
            <a:r>
              <a:rPr lang="en-US" dirty="0"/>
              <a:t>This is a good aside to say that the way we design our function has a big impact on the way models result. Do we care a lot about things really far off, or not</a:t>
            </a:r>
            <a:r>
              <a:rPr lang="en-US"/>
              <a:t>? Someti</a:t>
            </a:r>
            <a:endParaRPr lang="en-US" dirty="0"/>
          </a:p>
        </p:txBody>
      </p:sp>
      <p:sp>
        <p:nvSpPr>
          <p:cNvPr id="4" name="Slide Number Placeholder 3">
            <a:extLst>
              <a:ext uri="{FF2B5EF4-FFF2-40B4-BE49-F238E27FC236}">
                <a16:creationId xmlns:a16="http://schemas.microsoft.com/office/drawing/2014/main" id="{5E6E259C-B821-149C-9949-7BC88A871573}"/>
              </a:ext>
            </a:extLst>
          </p:cNvPr>
          <p:cNvSpPr>
            <a:spLocks noGrp="1"/>
          </p:cNvSpPr>
          <p:nvPr>
            <p:ph type="sldNum" sz="quarter" idx="5"/>
          </p:nvPr>
        </p:nvSpPr>
        <p:spPr/>
        <p:txBody>
          <a:bodyPr/>
          <a:lstStyle/>
          <a:p>
            <a:fld id="{C33086B2-8283-464C-9BD8-D3BC221518F6}" type="slidenum">
              <a:rPr lang="en-US" smtClean="0"/>
              <a:t>17</a:t>
            </a:fld>
            <a:endParaRPr lang="en-US"/>
          </a:p>
        </p:txBody>
      </p:sp>
    </p:spTree>
    <p:extLst>
      <p:ext uri="{BB962C8B-B14F-4D97-AF65-F5344CB8AC3E}">
        <p14:creationId xmlns:p14="http://schemas.microsoft.com/office/powerpoint/2010/main" val="1204560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axis – cigarettes/day during pregnancy</a:t>
            </a:r>
          </a:p>
          <a:p>
            <a:r>
              <a:rPr lang="en-US" dirty="0"/>
              <a:t>Y birthweight</a:t>
            </a:r>
          </a:p>
          <a:p>
            <a:endParaRPr lang="en-US" dirty="0"/>
          </a:p>
          <a:p>
            <a:r>
              <a:rPr lang="en-US" dirty="0"/>
              <a:t>So our x are the cigarettes from prior tab</a:t>
            </a:r>
          </a:p>
          <a:p>
            <a:r>
              <a:rPr lang="en-US" dirty="0"/>
              <a:t>W is our slope</a:t>
            </a:r>
          </a:p>
          <a:p>
            <a:endParaRPr lang="en-US" dirty="0"/>
          </a:p>
        </p:txBody>
      </p:sp>
      <p:sp>
        <p:nvSpPr>
          <p:cNvPr id="4" name="Slide Number Placeholder 3"/>
          <p:cNvSpPr>
            <a:spLocks noGrp="1"/>
          </p:cNvSpPr>
          <p:nvPr>
            <p:ph type="sldNum" sz="quarter" idx="5"/>
          </p:nvPr>
        </p:nvSpPr>
        <p:spPr/>
        <p:txBody>
          <a:bodyPr/>
          <a:lstStyle/>
          <a:p>
            <a:fld id="{C33086B2-8283-464C-9BD8-D3BC221518F6}" type="slidenum">
              <a:rPr lang="en-US" smtClean="0"/>
              <a:t>18</a:t>
            </a:fld>
            <a:endParaRPr lang="en-US"/>
          </a:p>
        </p:txBody>
      </p:sp>
    </p:spTree>
    <p:extLst>
      <p:ext uri="{BB962C8B-B14F-4D97-AF65-F5344CB8AC3E}">
        <p14:creationId xmlns:p14="http://schemas.microsoft.com/office/powerpoint/2010/main" val="3179936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we see some data – clearly not linear in pattern.</a:t>
            </a:r>
          </a:p>
          <a:p>
            <a:r>
              <a:rPr lang="en-US" dirty="0"/>
              <a:t>If we train a neural network on it, we see the data is transformed to be more linear after one layer. We see one layer after hyperbolic tangent activation.</a:t>
            </a:r>
          </a:p>
          <a:p>
            <a:r>
              <a:rPr lang="en-US" dirty="0"/>
              <a:t>So, on the far right we see the predictions overlaid on our data – not linear!</a:t>
            </a:r>
          </a:p>
          <a:p>
            <a:r>
              <a:rPr lang="en-US" dirty="0"/>
              <a:t>So, the method we used with linear regression was successful when used in tandem with our NN.</a:t>
            </a:r>
          </a:p>
        </p:txBody>
      </p:sp>
      <p:sp>
        <p:nvSpPr>
          <p:cNvPr id="4" name="Slide Number Placeholder 3"/>
          <p:cNvSpPr>
            <a:spLocks noGrp="1"/>
          </p:cNvSpPr>
          <p:nvPr>
            <p:ph type="sldNum" sz="quarter" idx="5"/>
          </p:nvPr>
        </p:nvSpPr>
        <p:spPr/>
        <p:txBody>
          <a:bodyPr/>
          <a:lstStyle/>
          <a:p>
            <a:fld id="{C33086B2-8283-464C-9BD8-D3BC221518F6}" type="slidenum">
              <a:rPr lang="en-US" smtClean="0"/>
              <a:t>20</a:t>
            </a:fld>
            <a:endParaRPr lang="en-US"/>
          </a:p>
        </p:txBody>
      </p:sp>
    </p:spTree>
    <p:extLst>
      <p:ext uri="{BB962C8B-B14F-4D97-AF65-F5344CB8AC3E}">
        <p14:creationId xmlns:p14="http://schemas.microsoft.com/office/powerpoint/2010/main" val="4058725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than before when we wanted a quantitative output.</a:t>
            </a:r>
          </a:p>
          <a:p>
            <a:r>
              <a:rPr lang="en-US" dirty="0"/>
              <a:t>Being disease/no disease</a:t>
            </a:r>
          </a:p>
        </p:txBody>
      </p:sp>
      <p:sp>
        <p:nvSpPr>
          <p:cNvPr id="4" name="Slide Number Placeholder 3"/>
          <p:cNvSpPr>
            <a:spLocks noGrp="1"/>
          </p:cNvSpPr>
          <p:nvPr>
            <p:ph type="sldNum" sz="quarter" idx="5"/>
          </p:nvPr>
        </p:nvSpPr>
        <p:spPr/>
        <p:txBody>
          <a:bodyPr/>
          <a:lstStyle/>
          <a:p>
            <a:fld id="{C33086B2-8283-464C-9BD8-D3BC221518F6}" type="slidenum">
              <a:rPr lang="en-US" smtClean="0"/>
              <a:t>21</a:t>
            </a:fld>
            <a:endParaRPr lang="en-US"/>
          </a:p>
        </p:txBody>
      </p:sp>
    </p:spTree>
    <p:extLst>
      <p:ext uri="{BB962C8B-B14F-4D97-AF65-F5344CB8AC3E}">
        <p14:creationId xmlns:p14="http://schemas.microsoft.com/office/powerpoint/2010/main" val="3390236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we have positives and negatives split by a decision boundary. Above the line we want all our positives, below we want our negatives.</a:t>
            </a:r>
          </a:p>
          <a:p>
            <a:r>
              <a:rPr lang="en-US" dirty="0"/>
              <a:t>What are some ideas for our loss? Binary loss?</a:t>
            </a:r>
          </a:p>
          <a:p>
            <a:r>
              <a:rPr lang="en-US" dirty="0"/>
              <a:t>Why is that a bad idea?</a:t>
            </a:r>
          </a:p>
        </p:txBody>
      </p:sp>
      <p:sp>
        <p:nvSpPr>
          <p:cNvPr id="4" name="Slide Number Placeholder 3"/>
          <p:cNvSpPr>
            <a:spLocks noGrp="1"/>
          </p:cNvSpPr>
          <p:nvPr>
            <p:ph type="sldNum" sz="quarter" idx="5"/>
          </p:nvPr>
        </p:nvSpPr>
        <p:spPr/>
        <p:txBody>
          <a:bodyPr/>
          <a:lstStyle/>
          <a:p>
            <a:fld id="{C33086B2-8283-464C-9BD8-D3BC221518F6}" type="slidenum">
              <a:rPr lang="en-US" smtClean="0"/>
              <a:t>22</a:t>
            </a:fld>
            <a:endParaRPr lang="en-US"/>
          </a:p>
        </p:txBody>
      </p:sp>
    </p:spTree>
    <p:extLst>
      <p:ext uri="{BB962C8B-B14F-4D97-AF65-F5344CB8AC3E}">
        <p14:creationId xmlns:p14="http://schemas.microsoft.com/office/powerpoint/2010/main" val="35618680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the green line is our decision boundary</a:t>
            </a:r>
          </a:p>
          <a:p>
            <a:r>
              <a:rPr lang="en-US" dirty="0"/>
              <a:t>Which of these is better?</a:t>
            </a:r>
          </a:p>
          <a:p>
            <a:r>
              <a:rPr lang="en-US" dirty="0"/>
              <a:t>According to binary loss, what’s our loss in each case?</a:t>
            </a:r>
          </a:p>
        </p:txBody>
      </p:sp>
      <p:sp>
        <p:nvSpPr>
          <p:cNvPr id="4" name="Slide Number Placeholder 3"/>
          <p:cNvSpPr>
            <a:spLocks noGrp="1"/>
          </p:cNvSpPr>
          <p:nvPr>
            <p:ph type="sldNum" sz="quarter" idx="5"/>
          </p:nvPr>
        </p:nvSpPr>
        <p:spPr/>
        <p:txBody>
          <a:bodyPr/>
          <a:lstStyle/>
          <a:p>
            <a:fld id="{C33086B2-8283-464C-9BD8-D3BC221518F6}" type="slidenum">
              <a:rPr lang="en-US" smtClean="0"/>
              <a:t>23</a:t>
            </a:fld>
            <a:endParaRPr lang="en-US"/>
          </a:p>
        </p:txBody>
      </p:sp>
    </p:spTree>
    <p:extLst>
      <p:ext uri="{BB962C8B-B14F-4D97-AF65-F5344CB8AC3E}">
        <p14:creationId xmlns:p14="http://schemas.microsoft.com/office/powerpoint/2010/main" val="14533433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looks like a step function.</a:t>
            </a:r>
          </a:p>
          <a:p>
            <a:r>
              <a:rPr lang="en-US" dirty="0"/>
              <a:t>What’s the issue with this?</a:t>
            </a:r>
          </a:p>
          <a:p>
            <a:r>
              <a:rPr lang="en-US" dirty="0"/>
              <a:t>How can we run gradient descent here? We can’t.</a:t>
            </a:r>
          </a:p>
        </p:txBody>
      </p:sp>
      <p:sp>
        <p:nvSpPr>
          <p:cNvPr id="4" name="Slide Number Placeholder 3"/>
          <p:cNvSpPr>
            <a:spLocks noGrp="1"/>
          </p:cNvSpPr>
          <p:nvPr>
            <p:ph type="sldNum" sz="quarter" idx="5"/>
          </p:nvPr>
        </p:nvSpPr>
        <p:spPr/>
        <p:txBody>
          <a:bodyPr/>
          <a:lstStyle/>
          <a:p>
            <a:fld id="{C33086B2-8283-464C-9BD8-D3BC221518F6}" type="slidenum">
              <a:rPr lang="en-US" smtClean="0"/>
              <a:t>25</a:t>
            </a:fld>
            <a:endParaRPr lang="en-US"/>
          </a:p>
        </p:txBody>
      </p:sp>
    </p:spTree>
    <p:extLst>
      <p:ext uri="{BB962C8B-B14F-4D97-AF65-F5344CB8AC3E}">
        <p14:creationId xmlns:p14="http://schemas.microsoft.com/office/powerpoint/2010/main" val="2202536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start by changing our function’s goal to generating a probability that we’re in the right class. In other words, how sure are we.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we put our output in the sigmoid.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we’re sure it’s in the positive class (above line), we have a bigger z, so e^-z goes to 0 and our denominator goes to 1 and whole thing is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we’re sure it’s in the negative class (below line), then e^-z goes to infinity, denominator goes to infinity and output is 1.</a:t>
            </a:r>
          </a:p>
        </p:txBody>
      </p:sp>
      <p:sp>
        <p:nvSpPr>
          <p:cNvPr id="4" name="Slide Number Placeholder 3"/>
          <p:cNvSpPr>
            <a:spLocks noGrp="1"/>
          </p:cNvSpPr>
          <p:nvPr>
            <p:ph type="sldNum" sz="quarter" idx="5"/>
          </p:nvPr>
        </p:nvSpPr>
        <p:spPr/>
        <p:txBody>
          <a:bodyPr/>
          <a:lstStyle/>
          <a:p>
            <a:fld id="{C33086B2-8283-464C-9BD8-D3BC221518F6}" type="slidenum">
              <a:rPr lang="en-US" smtClean="0"/>
              <a:t>26</a:t>
            </a:fld>
            <a:endParaRPr lang="en-US"/>
          </a:p>
        </p:txBody>
      </p:sp>
    </p:spTree>
    <p:extLst>
      <p:ext uri="{BB962C8B-B14F-4D97-AF65-F5344CB8AC3E}">
        <p14:creationId xmlns:p14="http://schemas.microsoft.com/office/powerpoint/2010/main" val="1071177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low loss if we are very sure and right. Medium loss if we’re </a:t>
            </a:r>
            <a:r>
              <a:rPr lang="en-US" dirty="0" err="1"/>
              <a:t>kinda</a:t>
            </a:r>
            <a:r>
              <a:rPr lang="en-US" dirty="0"/>
              <a:t> sure and right. High loss if we’re wrong with conviction.</a:t>
            </a:r>
          </a:p>
          <a:p>
            <a:r>
              <a:rPr lang="en-US" dirty="0"/>
              <a:t>Case 1: essentially 1*log(1). Aka 0. </a:t>
            </a:r>
          </a:p>
          <a:p>
            <a:r>
              <a:rPr lang="en-US" dirty="0"/>
              <a:t>Don’t forget negative sign in front. Notice how side that isn’t the guess multiplies to zero.</a:t>
            </a:r>
          </a:p>
        </p:txBody>
      </p:sp>
      <p:sp>
        <p:nvSpPr>
          <p:cNvPr id="4" name="Slide Number Placeholder 3"/>
          <p:cNvSpPr>
            <a:spLocks noGrp="1"/>
          </p:cNvSpPr>
          <p:nvPr>
            <p:ph type="sldNum" sz="quarter" idx="5"/>
          </p:nvPr>
        </p:nvSpPr>
        <p:spPr/>
        <p:txBody>
          <a:bodyPr/>
          <a:lstStyle/>
          <a:p>
            <a:fld id="{C33086B2-8283-464C-9BD8-D3BC221518F6}" type="slidenum">
              <a:rPr lang="en-US" smtClean="0"/>
              <a:t>27</a:t>
            </a:fld>
            <a:endParaRPr lang="en-US"/>
          </a:p>
        </p:txBody>
      </p:sp>
    </p:spTree>
    <p:extLst>
      <p:ext uri="{BB962C8B-B14F-4D97-AF65-F5344CB8AC3E}">
        <p14:creationId xmlns:p14="http://schemas.microsoft.com/office/powerpoint/2010/main" val="28069770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67A42-3023-E348-8E47-3211BFDED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C3586-059B-6813-78CD-0CC084FD2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025E7-2E15-0554-AD53-6D5978E62F5C}"/>
              </a:ext>
            </a:extLst>
          </p:cNvPr>
          <p:cNvSpPr>
            <a:spLocks noGrp="1"/>
          </p:cNvSpPr>
          <p:nvPr>
            <p:ph type="body" idx="1"/>
          </p:nvPr>
        </p:nvSpPr>
        <p:spPr/>
        <p:txBody>
          <a:bodyPr/>
          <a:lstStyle/>
          <a:p>
            <a:r>
              <a:rPr lang="en-US" dirty="0"/>
              <a:t>Think about it, our loss mathematically has meaning. What we’re trying to achieve has to be in line with our loss function. So this is why understanding loss is key. It tells you how we define success in our system and has to match our problem statement.</a:t>
            </a:r>
          </a:p>
        </p:txBody>
      </p:sp>
      <p:sp>
        <p:nvSpPr>
          <p:cNvPr id="4" name="Slide Number Placeholder 3">
            <a:extLst>
              <a:ext uri="{FF2B5EF4-FFF2-40B4-BE49-F238E27FC236}">
                <a16:creationId xmlns:a16="http://schemas.microsoft.com/office/drawing/2014/main" id="{C4598953-C58C-EDD3-2803-4736C91D5DCE}"/>
              </a:ext>
            </a:extLst>
          </p:cNvPr>
          <p:cNvSpPr>
            <a:spLocks noGrp="1"/>
          </p:cNvSpPr>
          <p:nvPr>
            <p:ph type="sldNum" sz="quarter" idx="5"/>
          </p:nvPr>
        </p:nvSpPr>
        <p:spPr/>
        <p:txBody>
          <a:bodyPr/>
          <a:lstStyle/>
          <a:p>
            <a:fld id="{C33086B2-8283-464C-9BD8-D3BC221518F6}" type="slidenum">
              <a:rPr lang="en-US" smtClean="0"/>
              <a:t>28</a:t>
            </a:fld>
            <a:endParaRPr lang="en-US"/>
          </a:p>
        </p:txBody>
      </p:sp>
    </p:spTree>
    <p:extLst>
      <p:ext uri="{BB962C8B-B14F-4D97-AF65-F5344CB8AC3E}">
        <p14:creationId xmlns:p14="http://schemas.microsoft.com/office/powerpoint/2010/main" val="1897368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with good memory will recall this is the XOR. The function that set ML back 20 years.</a:t>
            </a:r>
          </a:p>
          <a:p>
            <a:r>
              <a:rPr lang="en-US" dirty="0"/>
              <a:t>The answer is that we may not be able to classify here, but with transformations into a higher dimension, we can.</a:t>
            </a:r>
          </a:p>
        </p:txBody>
      </p:sp>
      <p:sp>
        <p:nvSpPr>
          <p:cNvPr id="4" name="Slide Number Placeholder 3"/>
          <p:cNvSpPr>
            <a:spLocks noGrp="1"/>
          </p:cNvSpPr>
          <p:nvPr>
            <p:ph type="sldNum" sz="quarter" idx="5"/>
          </p:nvPr>
        </p:nvSpPr>
        <p:spPr/>
        <p:txBody>
          <a:bodyPr/>
          <a:lstStyle/>
          <a:p>
            <a:fld id="{C33086B2-8283-464C-9BD8-D3BC221518F6}" type="slidenum">
              <a:rPr lang="en-US" smtClean="0"/>
              <a:t>29</a:t>
            </a:fld>
            <a:endParaRPr lang="en-US"/>
          </a:p>
        </p:txBody>
      </p:sp>
    </p:spTree>
    <p:extLst>
      <p:ext uri="{BB962C8B-B14F-4D97-AF65-F5344CB8AC3E}">
        <p14:creationId xmlns:p14="http://schemas.microsoft.com/office/powerpoint/2010/main" val="2696354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you draw a separator here?</a:t>
            </a:r>
          </a:p>
          <a:p>
            <a:r>
              <a:rPr lang="en-US" dirty="0"/>
              <a:t>So in a higher dimension, we can do it.</a:t>
            </a:r>
          </a:p>
        </p:txBody>
      </p:sp>
      <p:sp>
        <p:nvSpPr>
          <p:cNvPr id="4" name="Slide Number Placeholder 3"/>
          <p:cNvSpPr>
            <a:spLocks noGrp="1"/>
          </p:cNvSpPr>
          <p:nvPr>
            <p:ph type="sldNum" sz="quarter" idx="5"/>
          </p:nvPr>
        </p:nvSpPr>
        <p:spPr/>
        <p:txBody>
          <a:bodyPr/>
          <a:lstStyle/>
          <a:p>
            <a:fld id="{C33086B2-8283-464C-9BD8-D3BC221518F6}" type="slidenum">
              <a:rPr lang="en-US" smtClean="0"/>
              <a:t>30</a:t>
            </a:fld>
            <a:endParaRPr lang="en-US"/>
          </a:p>
        </p:txBody>
      </p:sp>
    </p:spTree>
    <p:extLst>
      <p:ext uri="{BB962C8B-B14F-4D97-AF65-F5344CB8AC3E}">
        <p14:creationId xmlns:p14="http://schemas.microsoft.com/office/powerpoint/2010/main" val="2416063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transformation to a higher dimensional plane looks like.</a:t>
            </a:r>
          </a:p>
          <a:p>
            <a:r>
              <a:rPr lang="en-US" dirty="0"/>
              <a:t>Gray plane is the separator.</a:t>
            </a:r>
          </a:p>
        </p:txBody>
      </p:sp>
      <p:sp>
        <p:nvSpPr>
          <p:cNvPr id="4" name="Slide Number Placeholder 3"/>
          <p:cNvSpPr>
            <a:spLocks noGrp="1"/>
          </p:cNvSpPr>
          <p:nvPr>
            <p:ph type="sldNum" sz="quarter" idx="5"/>
          </p:nvPr>
        </p:nvSpPr>
        <p:spPr/>
        <p:txBody>
          <a:bodyPr/>
          <a:lstStyle/>
          <a:p>
            <a:fld id="{C33086B2-8283-464C-9BD8-D3BC221518F6}" type="slidenum">
              <a:rPr lang="en-US" smtClean="0"/>
              <a:t>31</a:t>
            </a:fld>
            <a:endParaRPr lang="en-US"/>
          </a:p>
        </p:txBody>
      </p:sp>
    </p:spTree>
    <p:extLst>
      <p:ext uri="{BB962C8B-B14F-4D97-AF65-F5344CB8AC3E}">
        <p14:creationId xmlns:p14="http://schemas.microsoft.com/office/powerpoint/2010/main" val="34140624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with gradient descent failed to separate it</a:t>
            </a:r>
          </a:p>
          <a:p>
            <a:r>
              <a:rPr lang="en-US" dirty="0"/>
              <a:t>with a second, third, or fourth-order basis feature representation. Shown below are some</a:t>
            </a:r>
          </a:p>
          <a:p>
            <a:r>
              <a:rPr lang="en-US" dirty="0"/>
              <a:t>results after ∼ 1000 gradient descent iterations (from random starting points) for bases of</a:t>
            </a:r>
          </a:p>
          <a:p>
            <a:r>
              <a:rPr lang="en-US" dirty="0"/>
              <a:t>order 2, 3, 4, and 5.</a:t>
            </a:r>
          </a:p>
        </p:txBody>
      </p:sp>
      <p:sp>
        <p:nvSpPr>
          <p:cNvPr id="4" name="Slide Number Placeholder 3"/>
          <p:cNvSpPr>
            <a:spLocks noGrp="1"/>
          </p:cNvSpPr>
          <p:nvPr>
            <p:ph type="sldNum" sz="quarter" idx="5"/>
          </p:nvPr>
        </p:nvSpPr>
        <p:spPr/>
        <p:txBody>
          <a:bodyPr/>
          <a:lstStyle/>
          <a:p>
            <a:fld id="{C33086B2-8283-464C-9BD8-D3BC221518F6}" type="slidenum">
              <a:rPr lang="en-US" smtClean="0"/>
              <a:t>32</a:t>
            </a:fld>
            <a:endParaRPr lang="en-US"/>
          </a:p>
        </p:txBody>
      </p:sp>
    </p:spTree>
    <p:extLst>
      <p:ext uri="{BB962C8B-B14F-4D97-AF65-F5344CB8AC3E}">
        <p14:creationId xmlns:p14="http://schemas.microsoft.com/office/powerpoint/2010/main" val="10874700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 in progress – subject to change. I feel like all this stuff is obvious, but maybe it’s helpful</a:t>
            </a:r>
          </a:p>
        </p:txBody>
      </p:sp>
      <p:sp>
        <p:nvSpPr>
          <p:cNvPr id="4" name="Slide Number Placeholder 3"/>
          <p:cNvSpPr>
            <a:spLocks noGrp="1"/>
          </p:cNvSpPr>
          <p:nvPr>
            <p:ph type="sldNum" sz="quarter" idx="5"/>
          </p:nvPr>
        </p:nvSpPr>
        <p:spPr/>
        <p:txBody>
          <a:bodyPr/>
          <a:lstStyle/>
          <a:p>
            <a:fld id="{C33086B2-8283-464C-9BD8-D3BC221518F6}" type="slidenum">
              <a:rPr lang="en-US" smtClean="0"/>
              <a:t>34</a:t>
            </a:fld>
            <a:endParaRPr lang="en-US"/>
          </a:p>
        </p:txBody>
      </p:sp>
    </p:spTree>
    <p:extLst>
      <p:ext uri="{BB962C8B-B14F-4D97-AF65-F5344CB8AC3E}">
        <p14:creationId xmlns:p14="http://schemas.microsoft.com/office/powerpoint/2010/main" val="3746085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I’ve been holding back is the train/test split.</a:t>
            </a:r>
          </a:p>
          <a:p>
            <a:r>
              <a:rPr lang="en-US" dirty="0"/>
              <a:t>We want our data to generalize to data – we can’t just see how good we can get it to fit our data.</a:t>
            </a:r>
          </a:p>
        </p:txBody>
      </p:sp>
      <p:sp>
        <p:nvSpPr>
          <p:cNvPr id="4" name="Slide Number Placeholder 3"/>
          <p:cNvSpPr>
            <a:spLocks noGrp="1"/>
          </p:cNvSpPr>
          <p:nvPr>
            <p:ph type="sldNum" sz="quarter" idx="5"/>
          </p:nvPr>
        </p:nvSpPr>
        <p:spPr/>
        <p:txBody>
          <a:bodyPr/>
          <a:lstStyle/>
          <a:p>
            <a:fld id="{C33086B2-8283-464C-9BD8-D3BC221518F6}" type="slidenum">
              <a:rPr lang="en-US" smtClean="0"/>
              <a:t>36</a:t>
            </a:fld>
            <a:endParaRPr lang="en-US"/>
          </a:p>
        </p:txBody>
      </p:sp>
    </p:spTree>
    <p:extLst>
      <p:ext uri="{BB962C8B-B14F-4D97-AF65-F5344CB8AC3E}">
        <p14:creationId xmlns:p14="http://schemas.microsoft.com/office/powerpoint/2010/main" val="2886648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t>
            </a:r>
          </a:p>
        </p:txBody>
      </p:sp>
      <p:sp>
        <p:nvSpPr>
          <p:cNvPr id="4" name="Slide Number Placeholder 3"/>
          <p:cNvSpPr>
            <a:spLocks noGrp="1"/>
          </p:cNvSpPr>
          <p:nvPr>
            <p:ph type="sldNum" sz="quarter" idx="5"/>
          </p:nvPr>
        </p:nvSpPr>
        <p:spPr/>
        <p:txBody>
          <a:bodyPr/>
          <a:lstStyle/>
          <a:p>
            <a:fld id="{C33086B2-8283-464C-9BD8-D3BC221518F6}" type="slidenum">
              <a:rPr lang="en-US" smtClean="0"/>
              <a:t>38</a:t>
            </a:fld>
            <a:endParaRPr lang="en-US"/>
          </a:p>
        </p:txBody>
      </p:sp>
    </p:spTree>
    <p:extLst>
      <p:ext uri="{BB962C8B-B14F-4D97-AF65-F5344CB8AC3E}">
        <p14:creationId xmlns:p14="http://schemas.microsoft.com/office/powerpoint/2010/main" val="42620278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284EB-D4D2-A3D2-1F0C-E2174202F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6B8C83-DFA2-03F9-D176-623D4DCA9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B3681-69D3-5991-2402-4D292410FE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FFA395-C731-898F-5D3A-637948CB48DB}"/>
              </a:ext>
            </a:extLst>
          </p:cNvPr>
          <p:cNvSpPr>
            <a:spLocks noGrp="1"/>
          </p:cNvSpPr>
          <p:nvPr>
            <p:ph type="sldNum" sz="quarter" idx="5"/>
          </p:nvPr>
        </p:nvSpPr>
        <p:spPr/>
        <p:txBody>
          <a:bodyPr/>
          <a:lstStyle/>
          <a:p>
            <a:fld id="{C33086B2-8283-464C-9BD8-D3BC221518F6}" type="slidenum">
              <a:rPr lang="en-US" smtClean="0"/>
              <a:t>39</a:t>
            </a:fld>
            <a:endParaRPr lang="en-US"/>
          </a:p>
        </p:txBody>
      </p:sp>
    </p:spTree>
    <p:extLst>
      <p:ext uri="{BB962C8B-B14F-4D97-AF65-F5344CB8AC3E}">
        <p14:creationId xmlns:p14="http://schemas.microsoft.com/office/powerpoint/2010/main" val="36563854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098A-523E-D851-7872-7CAE9F15B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2C0CC-85E5-BC08-3FFE-85B069848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B729C-7BFB-FC7C-7EAF-7004949A30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AD2B5D-1E4B-A897-F8D6-A8E3E25A3F2C}"/>
              </a:ext>
            </a:extLst>
          </p:cNvPr>
          <p:cNvSpPr>
            <a:spLocks noGrp="1"/>
          </p:cNvSpPr>
          <p:nvPr>
            <p:ph type="sldNum" sz="quarter" idx="5"/>
          </p:nvPr>
        </p:nvSpPr>
        <p:spPr/>
        <p:txBody>
          <a:bodyPr/>
          <a:lstStyle/>
          <a:p>
            <a:fld id="{C33086B2-8283-464C-9BD8-D3BC221518F6}" type="slidenum">
              <a:rPr lang="en-US" smtClean="0"/>
              <a:t>40</a:t>
            </a:fld>
            <a:endParaRPr lang="en-US"/>
          </a:p>
        </p:txBody>
      </p:sp>
    </p:spTree>
    <p:extLst>
      <p:ext uri="{BB962C8B-B14F-4D97-AF65-F5344CB8AC3E}">
        <p14:creationId xmlns:p14="http://schemas.microsoft.com/office/powerpoint/2010/main" val="3750803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4A56-8F3E-8DF2-1842-7980388EA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A9A94-3625-F188-77BC-3C8C85A35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89CD6-A865-A9F8-E612-7B5C9F3B1F53}"/>
              </a:ext>
            </a:extLst>
          </p:cNvPr>
          <p:cNvSpPr>
            <a:spLocks noGrp="1"/>
          </p:cNvSpPr>
          <p:nvPr>
            <p:ph type="body" idx="1"/>
          </p:nvPr>
        </p:nvSpPr>
        <p:spPr/>
        <p:txBody>
          <a:bodyPr/>
          <a:lstStyle/>
          <a:p>
            <a:r>
              <a:rPr lang="en-US" dirty="0"/>
              <a:t>Imagine a doctor ordering tests.</a:t>
            </a:r>
          </a:p>
          <a:p>
            <a:r>
              <a:rPr lang="en-US" dirty="0"/>
              <a:t>If they order </a:t>
            </a:r>
            <a:r>
              <a:rPr lang="en-US" i="1" dirty="0"/>
              <a:t>too many unnecessary tests</a:t>
            </a:r>
            <a:r>
              <a:rPr lang="en-US" dirty="0"/>
              <a:t> (low precision, high recall), they catch most sick patients but waste resources.</a:t>
            </a:r>
          </a:p>
          <a:p>
            <a:r>
              <a:rPr lang="en-US" dirty="0"/>
              <a:t>If they order </a:t>
            </a:r>
            <a:r>
              <a:rPr lang="en-US" i="1" dirty="0"/>
              <a:t>too few tests</a:t>
            </a:r>
            <a:r>
              <a:rPr lang="en-US" dirty="0"/>
              <a:t> (high precision, low recall), they rarely test healthy people, but they miss many sick ones.</a:t>
            </a:r>
          </a:p>
          <a:p>
            <a:r>
              <a:rPr lang="en-US" dirty="0"/>
              <a:t>The </a:t>
            </a:r>
            <a:r>
              <a:rPr lang="en-US" b="1" dirty="0"/>
              <a:t>F1 score balances these extremes</a:t>
            </a:r>
            <a:r>
              <a:rPr lang="en-US" dirty="0"/>
              <a:t> — it rewards a strategy that is both accurate in its positives </a:t>
            </a:r>
            <a:r>
              <a:rPr lang="en-US" i="1" dirty="0"/>
              <a:t>and</a:t>
            </a:r>
            <a:r>
              <a:rPr lang="en-US" dirty="0"/>
              <a:t> thorough in catching true cases.</a:t>
            </a:r>
          </a:p>
          <a:p>
            <a:endParaRPr lang="en-US" dirty="0"/>
          </a:p>
        </p:txBody>
      </p:sp>
      <p:sp>
        <p:nvSpPr>
          <p:cNvPr id="4" name="Slide Number Placeholder 3">
            <a:extLst>
              <a:ext uri="{FF2B5EF4-FFF2-40B4-BE49-F238E27FC236}">
                <a16:creationId xmlns:a16="http://schemas.microsoft.com/office/drawing/2014/main" id="{39658C50-4883-7F1B-0E98-97B34A17CB5C}"/>
              </a:ext>
            </a:extLst>
          </p:cNvPr>
          <p:cNvSpPr>
            <a:spLocks noGrp="1"/>
          </p:cNvSpPr>
          <p:nvPr>
            <p:ph type="sldNum" sz="quarter" idx="5"/>
          </p:nvPr>
        </p:nvSpPr>
        <p:spPr/>
        <p:txBody>
          <a:bodyPr/>
          <a:lstStyle/>
          <a:p>
            <a:fld id="{C33086B2-8283-464C-9BD8-D3BC221518F6}" type="slidenum">
              <a:rPr lang="en-US" smtClean="0"/>
              <a:t>41</a:t>
            </a:fld>
            <a:endParaRPr lang="en-US"/>
          </a:p>
        </p:txBody>
      </p:sp>
    </p:spTree>
    <p:extLst>
      <p:ext uri="{BB962C8B-B14F-4D97-AF65-F5344CB8AC3E}">
        <p14:creationId xmlns:p14="http://schemas.microsoft.com/office/powerpoint/2010/main" val="1546528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Represents tradeoff between true positives and false positives. It’s how sensitive we are to calling things positive. Depends on context exactly what we want to do.</a:t>
            </a:r>
          </a:p>
          <a:p>
            <a:r>
              <a:rPr lang="en-US" dirty="0"/>
              <a:t>Ex. If a disease is life threatening we want to maximize TPR even if we have high FPR. If opposite, only those that are definitely + to minimize cost.</a:t>
            </a:r>
          </a:p>
        </p:txBody>
      </p:sp>
      <p:sp>
        <p:nvSpPr>
          <p:cNvPr id="4" name="Slide Number Placeholder 3"/>
          <p:cNvSpPr>
            <a:spLocks noGrp="1"/>
          </p:cNvSpPr>
          <p:nvPr>
            <p:ph type="sldNum" sz="quarter" idx="5"/>
          </p:nvPr>
        </p:nvSpPr>
        <p:spPr/>
        <p:txBody>
          <a:bodyPr/>
          <a:lstStyle/>
          <a:p>
            <a:fld id="{C33086B2-8283-464C-9BD8-D3BC221518F6}" type="slidenum">
              <a:rPr lang="en-US" smtClean="0"/>
              <a:t>42</a:t>
            </a:fld>
            <a:endParaRPr lang="en-US"/>
          </a:p>
        </p:txBody>
      </p:sp>
    </p:spTree>
    <p:extLst>
      <p:ext uri="{BB962C8B-B14F-4D97-AF65-F5344CB8AC3E}">
        <p14:creationId xmlns:p14="http://schemas.microsoft.com/office/powerpoint/2010/main" val="3024938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D5F9E-18D6-8822-2BEC-78FFB3430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FE7EB-4EA5-755A-8C61-FEDA3D49A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A002C-455D-BF0A-3ED6-959F155913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67E7D7-EEC9-A1A3-D5BB-C95B194AFF5D}"/>
              </a:ext>
            </a:extLst>
          </p:cNvPr>
          <p:cNvSpPr>
            <a:spLocks noGrp="1"/>
          </p:cNvSpPr>
          <p:nvPr>
            <p:ph type="sldNum" sz="quarter" idx="5"/>
          </p:nvPr>
        </p:nvSpPr>
        <p:spPr/>
        <p:txBody>
          <a:bodyPr/>
          <a:lstStyle/>
          <a:p>
            <a:fld id="{C33086B2-8283-464C-9BD8-D3BC221518F6}" type="slidenum">
              <a:rPr lang="en-US" smtClean="0"/>
              <a:t>44</a:t>
            </a:fld>
            <a:endParaRPr lang="en-US"/>
          </a:p>
        </p:txBody>
      </p:sp>
    </p:spTree>
    <p:extLst>
      <p:ext uri="{BB962C8B-B14F-4D97-AF65-F5344CB8AC3E}">
        <p14:creationId xmlns:p14="http://schemas.microsoft.com/office/powerpoint/2010/main" val="7642277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 wins in all categories here.</a:t>
            </a:r>
          </a:p>
        </p:txBody>
      </p:sp>
      <p:sp>
        <p:nvSpPr>
          <p:cNvPr id="4" name="Slide Number Placeholder 3"/>
          <p:cNvSpPr>
            <a:spLocks noGrp="1"/>
          </p:cNvSpPr>
          <p:nvPr>
            <p:ph type="sldNum" sz="quarter" idx="5"/>
          </p:nvPr>
        </p:nvSpPr>
        <p:spPr/>
        <p:txBody>
          <a:bodyPr/>
          <a:lstStyle/>
          <a:p>
            <a:fld id="{C33086B2-8283-464C-9BD8-D3BC221518F6}" type="slidenum">
              <a:rPr lang="en-US" smtClean="0"/>
              <a:t>45</a:t>
            </a:fld>
            <a:endParaRPr lang="en-US"/>
          </a:p>
        </p:txBody>
      </p:sp>
    </p:spTree>
    <p:extLst>
      <p:ext uri="{BB962C8B-B14F-4D97-AF65-F5344CB8AC3E}">
        <p14:creationId xmlns:p14="http://schemas.microsoft.com/office/powerpoint/2010/main" val="18925623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that the model weighted highly when determining the classification – something we’ll discuss more in depth in another class.</a:t>
            </a:r>
          </a:p>
        </p:txBody>
      </p:sp>
      <p:sp>
        <p:nvSpPr>
          <p:cNvPr id="4" name="Slide Number Placeholder 3"/>
          <p:cNvSpPr>
            <a:spLocks noGrp="1"/>
          </p:cNvSpPr>
          <p:nvPr>
            <p:ph type="sldNum" sz="quarter" idx="5"/>
          </p:nvPr>
        </p:nvSpPr>
        <p:spPr/>
        <p:txBody>
          <a:bodyPr/>
          <a:lstStyle/>
          <a:p>
            <a:fld id="{C33086B2-8283-464C-9BD8-D3BC221518F6}" type="slidenum">
              <a:rPr lang="en-US" smtClean="0"/>
              <a:t>46</a:t>
            </a:fld>
            <a:endParaRPr lang="en-US"/>
          </a:p>
        </p:txBody>
      </p:sp>
    </p:spTree>
    <p:extLst>
      <p:ext uri="{BB962C8B-B14F-4D97-AF65-F5344CB8AC3E}">
        <p14:creationId xmlns:p14="http://schemas.microsoft.com/office/powerpoint/2010/main" val="12242058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approach is one vs all. We could train a network to predict “ in class one or not” then another “ in class 2 or not” </a:t>
            </a:r>
            <a:r>
              <a:rPr lang="en-US" dirty="0" err="1"/>
              <a:t>etc</a:t>
            </a:r>
            <a:r>
              <a:rPr lang="en-US" dirty="0"/>
              <a:t> etc. </a:t>
            </a:r>
          </a:p>
        </p:txBody>
      </p:sp>
      <p:sp>
        <p:nvSpPr>
          <p:cNvPr id="4" name="Slide Number Placeholder 3"/>
          <p:cNvSpPr>
            <a:spLocks noGrp="1"/>
          </p:cNvSpPr>
          <p:nvPr>
            <p:ph type="sldNum" sz="quarter" idx="5"/>
          </p:nvPr>
        </p:nvSpPr>
        <p:spPr/>
        <p:txBody>
          <a:bodyPr/>
          <a:lstStyle/>
          <a:p>
            <a:fld id="{C33086B2-8283-464C-9BD8-D3BC221518F6}" type="slidenum">
              <a:rPr lang="en-US" smtClean="0"/>
              <a:t>47</a:t>
            </a:fld>
            <a:endParaRPr lang="en-US"/>
          </a:p>
        </p:txBody>
      </p:sp>
    </p:spTree>
    <p:extLst>
      <p:ext uri="{BB962C8B-B14F-4D97-AF65-F5344CB8AC3E}">
        <p14:creationId xmlns:p14="http://schemas.microsoft.com/office/powerpoint/2010/main" val="3662183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it always adds to one across classes.</a:t>
            </a:r>
          </a:p>
        </p:txBody>
      </p:sp>
      <p:sp>
        <p:nvSpPr>
          <p:cNvPr id="4" name="Slide Number Placeholder 3"/>
          <p:cNvSpPr>
            <a:spLocks noGrp="1"/>
          </p:cNvSpPr>
          <p:nvPr>
            <p:ph type="sldNum" sz="quarter" idx="5"/>
          </p:nvPr>
        </p:nvSpPr>
        <p:spPr/>
        <p:txBody>
          <a:bodyPr/>
          <a:lstStyle/>
          <a:p>
            <a:fld id="{C33086B2-8283-464C-9BD8-D3BC221518F6}" type="slidenum">
              <a:rPr lang="en-US" smtClean="0"/>
              <a:t>48</a:t>
            </a:fld>
            <a:endParaRPr lang="en-US"/>
          </a:p>
        </p:txBody>
      </p:sp>
    </p:spTree>
    <p:extLst>
      <p:ext uri="{BB962C8B-B14F-4D97-AF65-F5344CB8AC3E}">
        <p14:creationId xmlns:p14="http://schemas.microsoft.com/office/powerpoint/2010/main" val="7897501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yourself in the two case example – it’s the same.</a:t>
            </a:r>
          </a:p>
        </p:txBody>
      </p:sp>
      <p:sp>
        <p:nvSpPr>
          <p:cNvPr id="4" name="Slide Number Placeholder 3"/>
          <p:cNvSpPr>
            <a:spLocks noGrp="1"/>
          </p:cNvSpPr>
          <p:nvPr>
            <p:ph type="sldNum" sz="quarter" idx="5"/>
          </p:nvPr>
        </p:nvSpPr>
        <p:spPr/>
        <p:txBody>
          <a:bodyPr/>
          <a:lstStyle/>
          <a:p>
            <a:fld id="{C33086B2-8283-464C-9BD8-D3BC221518F6}" type="slidenum">
              <a:rPr lang="en-US" smtClean="0"/>
              <a:t>49</a:t>
            </a:fld>
            <a:endParaRPr lang="en-US"/>
          </a:p>
        </p:txBody>
      </p:sp>
    </p:spTree>
    <p:extLst>
      <p:ext uri="{BB962C8B-B14F-4D97-AF65-F5344CB8AC3E}">
        <p14:creationId xmlns:p14="http://schemas.microsoft.com/office/powerpoint/2010/main" val="39830188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activation and loss work together to help you determine how decisions are made</a:t>
            </a:r>
          </a:p>
          <a:p>
            <a:r>
              <a:rPr lang="en-US" dirty="0"/>
              <a:t>When we encounter new problems, we may need creative new loss functions to help us score our outputs</a:t>
            </a:r>
          </a:p>
        </p:txBody>
      </p:sp>
      <p:sp>
        <p:nvSpPr>
          <p:cNvPr id="4" name="Slide Number Placeholder 3"/>
          <p:cNvSpPr>
            <a:spLocks noGrp="1"/>
          </p:cNvSpPr>
          <p:nvPr>
            <p:ph type="sldNum" sz="quarter" idx="5"/>
          </p:nvPr>
        </p:nvSpPr>
        <p:spPr/>
        <p:txBody>
          <a:bodyPr/>
          <a:lstStyle/>
          <a:p>
            <a:fld id="{C33086B2-8283-464C-9BD8-D3BC221518F6}" type="slidenum">
              <a:rPr lang="en-US" smtClean="0"/>
              <a:t>50</a:t>
            </a:fld>
            <a:endParaRPr lang="en-US"/>
          </a:p>
        </p:txBody>
      </p:sp>
    </p:spTree>
    <p:extLst>
      <p:ext uri="{BB962C8B-B14F-4D97-AF65-F5344CB8AC3E}">
        <p14:creationId xmlns:p14="http://schemas.microsoft.com/office/powerpoint/2010/main" val="3661678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81515-4387-E1C5-C855-AF0DC061AE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35E79E-5B0B-EB9E-872F-62BEA76B95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D1C7BF-CA3C-7C28-E8DD-C246AC38EC81}"/>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5" name="Footer Placeholder 4">
            <a:extLst>
              <a:ext uri="{FF2B5EF4-FFF2-40B4-BE49-F238E27FC236}">
                <a16:creationId xmlns:a16="http://schemas.microsoft.com/office/drawing/2014/main" id="{51E6BE68-7790-C31B-7EA0-3D3F0DF2BF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071256-4323-2D52-B5D8-0D1D1505AC39}"/>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3216314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03D2-21F7-C3BB-B8C5-CF9C082E1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EB9B9F-34F6-900B-BA76-C86E1F9F56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873BD1-1F21-425E-D63A-91B39D894783}"/>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5" name="Footer Placeholder 4">
            <a:extLst>
              <a:ext uri="{FF2B5EF4-FFF2-40B4-BE49-F238E27FC236}">
                <a16:creationId xmlns:a16="http://schemas.microsoft.com/office/drawing/2014/main" id="{108DC535-4AE0-1D27-AC82-202CBB260A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B8EC1-4D1E-0661-5F6C-ADDEB6F00794}"/>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272004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314E5-2286-65BE-75D1-446C46E2C0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B27044-4AC6-967C-7D6F-7D2C34A8E1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0C0189-D4D8-3456-05D3-8A1D6430E224}"/>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5" name="Footer Placeholder 4">
            <a:extLst>
              <a:ext uri="{FF2B5EF4-FFF2-40B4-BE49-F238E27FC236}">
                <a16:creationId xmlns:a16="http://schemas.microsoft.com/office/drawing/2014/main" id="{9720DB48-355B-E46C-AB03-3BAF77540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9D31E-BD22-1EFC-1E9C-10A30810E43A}"/>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222555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53295-8E91-2A0D-B285-D0F50065FE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158FB5-B28E-7CA9-D9F0-968244AD93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84772D-0133-A358-7705-F058634096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4BB75C-4FB2-5749-EB1D-831673FC8552}"/>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6" name="Footer Placeholder 5">
            <a:extLst>
              <a:ext uri="{FF2B5EF4-FFF2-40B4-BE49-F238E27FC236}">
                <a16:creationId xmlns:a16="http://schemas.microsoft.com/office/drawing/2014/main" id="{77A100C8-2A4C-B33E-DEE7-047688E82A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7DCA06-8861-D2E5-4361-FAC3CC71D234}"/>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2656319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10840-A2FB-876E-E65A-ADCE79D0CD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05EDE0-E914-1357-D3AA-D7EA0A6F5F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8ACEBD-1174-4258-A6F5-AF8F9A206C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F3207-14FB-EB2E-7B73-A2697523D2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DBF666-6331-250C-1C24-AD06BC2F7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765A9C-86C3-CCA2-2E97-B779404584D4}"/>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8" name="Footer Placeholder 7">
            <a:extLst>
              <a:ext uri="{FF2B5EF4-FFF2-40B4-BE49-F238E27FC236}">
                <a16:creationId xmlns:a16="http://schemas.microsoft.com/office/drawing/2014/main" id="{BC7EDE9F-FC34-2C4E-B255-01C9CC3F28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AD4453-2FA4-F740-C5BC-C0FC9665EB97}"/>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3118676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F3A85-923E-86B0-0EB9-119211C93C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082C88-3AFA-6434-6F01-976690DDE28D}"/>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4" name="Footer Placeholder 3">
            <a:extLst>
              <a:ext uri="{FF2B5EF4-FFF2-40B4-BE49-F238E27FC236}">
                <a16:creationId xmlns:a16="http://schemas.microsoft.com/office/drawing/2014/main" id="{44C3561E-1EF2-FA3C-29D9-D755B27544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0054E5-E1B7-00EF-4F14-17AFC7D1DCBF}"/>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1914645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33EDBB-5D55-99FB-564C-677D0B564DE0}"/>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3" name="Footer Placeholder 2">
            <a:extLst>
              <a:ext uri="{FF2B5EF4-FFF2-40B4-BE49-F238E27FC236}">
                <a16:creationId xmlns:a16="http://schemas.microsoft.com/office/drawing/2014/main" id="{2B7297CE-B49C-99F1-3FC7-94406E7EF6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FFE52F-FCF9-4CF7-A0A7-C65B4E5BCFDC}"/>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3871645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A201B-F8A4-FD28-B335-DCEEDA3DF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DC5E40-480D-5DB9-1B04-2D066D032B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3940C9-5F1D-2A23-F874-D0CD5217C6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BAD3DA-F802-B8DF-A146-73714474717C}"/>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6" name="Footer Placeholder 5">
            <a:extLst>
              <a:ext uri="{FF2B5EF4-FFF2-40B4-BE49-F238E27FC236}">
                <a16:creationId xmlns:a16="http://schemas.microsoft.com/office/drawing/2014/main" id="{75F1659C-49C5-708E-0AA9-89E4FFD4B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DB0605-898D-610C-DAFF-66E6B420A0B1}"/>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2077566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CCDCB-2AE9-C853-4FEE-0099F25855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F351E4-9482-1F4C-04DC-2471639915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F4F8EE-B667-6150-9494-6E76E93D8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ACDB7C-DD79-64F0-AA6F-B300A0286494}"/>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6" name="Footer Placeholder 5">
            <a:extLst>
              <a:ext uri="{FF2B5EF4-FFF2-40B4-BE49-F238E27FC236}">
                <a16:creationId xmlns:a16="http://schemas.microsoft.com/office/drawing/2014/main" id="{E5D7236F-1213-3040-7AA9-5808DB3EF3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52CFFB-26CF-BE96-35DD-4A94D9E89C3A}"/>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3509454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A3756-1885-6912-9908-02E7EFAECA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0FD42B-0045-E935-2727-0B27893E4C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C7DCD-020D-5D35-3931-6E5ED34DDD6E}"/>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5" name="Footer Placeholder 4">
            <a:extLst>
              <a:ext uri="{FF2B5EF4-FFF2-40B4-BE49-F238E27FC236}">
                <a16:creationId xmlns:a16="http://schemas.microsoft.com/office/drawing/2014/main" id="{D13B8F80-B01A-DC23-DDF2-7645BA8DF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AD1A7A-7428-7E70-B60B-7FE3B02A694F}"/>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53847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B02EC2-0FA5-8AB2-B6BA-F6E1CBCB3A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AF678C-2B80-2909-9515-78BBFD6142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3A6815-F2A2-5E97-7362-781D1C5C20AA}"/>
              </a:ext>
            </a:extLst>
          </p:cNvPr>
          <p:cNvSpPr>
            <a:spLocks noGrp="1"/>
          </p:cNvSpPr>
          <p:nvPr>
            <p:ph type="dt" sz="half" idx="10"/>
          </p:nvPr>
        </p:nvSpPr>
        <p:spPr/>
        <p:txBody>
          <a:bodyPr/>
          <a:lstStyle/>
          <a:p>
            <a:fld id="{ADE5E7AB-A213-492C-BD83-5DC66A67FFE3}" type="datetimeFigureOut">
              <a:rPr lang="en-US" smtClean="0"/>
              <a:t>7/12/2026</a:t>
            </a:fld>
            <a:endParaRPr lang="en-US"/>
          </a:p>
        </p:txBody>
      </p:sp>
      <p:sp>
        <p:nvSpPr>
          <p:cNvPr id="5" name="Footer Placeholder 4">
            <a:extLst>
              <a:ext uri="{FF2B5EF4-FFF2-40B4-BE49-F238E27FC236}">
                <a16:creationId xmlns:a16="http://schemas.microsoft.com/office/drawing/2014/main" id="{59E6D3FB-078C-18ED-1699-9855F76B95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00828F-9AF2-CA63-4D27-DEEA57BF4E76}"/>
              </a:ext>
            </a:extLst>
          </p:cNvPr>
          <p:cNvSpPr>
            <a:spLocks noGrp="1"/>
          </p:cNvSpPr>
          <p:nvPr>
            <p:ph type="sldNum" sz="quarter" idx="12"/>
          </p:nvPr>
        </p:nvSpPr>
        <p:spPr/>
        <p:txBody>
          <a:bodyPr/>
          <a:lstStyle/>
          <a:p>
            <a:fld id="{0CB3C118-343B-421F-9AE9-AB2FD68C13A9}" type="slidenum">
              <a:rPr lang="en-US" smtClean="0"/>
              <a:t>‹#›</a:t>
            </a:fld>
            <a:endParaRPr lang="en-US"/>
          </a:p>
        </p:txBody>
      </p:sp>
    </p:spTree>
    <p:extLst>
      <p:ext uri="{BB962C8B-B14F-4D97-AF65-F5344CB8AC3E}">
        <p14:creationId xmlns:p14="http://schemas.microsoft.com/office/powerpoint/2010/main" val="1360883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7DDCC9-D34E-DBF2-70C7-ACCF7F8CB6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AE19AE-272F-44B2-E9A3-3A37DC0172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C2571-36B6-B972-5A65-10983AEC3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E5E7AB-A213-492C-BD83-5DC66A67FFE3}" type="datetimeFigureOut">
              <a:rPr lang="en-US" smtClean="0"/>
              <a:t>7/12/2026</a:t>
            </a:fld>
            <a:endParaRPr lang="en-US"/>
          </a:p>
        </p:txBody>
      </p:sp>
      <p:sp>
        <p:nvSpPr>
          <p:cNvPr id="5" name="Footer Placeholder 4">
            <a:extLst>
              <a:ext uri="{FF2B5EF4-FFF2-40B4-BE49-F238E27FC236}">
                <a16:creationId xmlns:a16="http://schemas.microsoft.com/office/drawing/2014/main" id="{01C54442-FF5D-491A-3118-9BE831AF80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6977A3-91D2-5689-6F1E-949AC557CB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B3C118-343B-421F-9AE9-AB2FD68C13A9}" type="slidenum">
              <a:rPr lang="en-US" smtClean="0"/>
              <a:t>‹#›</a:t>
            </a:fld>
            <a:endParaRPr lang="en-US"/>
          </a:p>
        </p:txBody>
      </p:sp>
    </p:spTree>
    <p:extLst>
      <p:ext uri="{BB962C8B-B14F-4D97-AF65-F5344CB8AC3E}">
        <p14:creationId xmlns:p14="http://schemas.microsoft.com/office/powerpoint/2010/main" val="3952769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6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customXml" Target="../ink/ink4.xml"/></Relationships>
</file>

<file path=ppt/slides/_rels/slide1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23.png"/><Relationship Id="rId4" Type="http://schemas.openxmlformats.org/officeDocument/2006/relationships/image" Target="../media/image21.png"/><Relationship Id="rId9" Type="http://schemas.openxmlformats.org/officeDocument/2006/relationships/customXml" Target="../ink/ink9.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90.png"/><Relationship Id="rId5" Type="http://schemas.openxmlformats.org/officeDocument/2006/relationships/image" Target="../media/image380.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8.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9E4E5-6574-A66B-DC3B-65FAE22E61C0}"/>
              </a:ext>
            </a:extLst>
          </p:cNvPr>
          <p:cNvSpPr>
            <a:spLocks noGrp="1"/>
          </p:cNvSpPr>
          <p:nvPr>
            <p:ph type="ctrTitle"/>
          </p:nvPr>
        </p:nvSpPr>
        <p:spPr/>
        <p:txBody>
          <a:bodyPr/>
          <a:lstStyle/>
          <a:p>
            <a:r>
              <a:rPr lang="en-US" dirty="0"/>
              <a:t>Intro to AI for Medicine</a:t>
            </a:r>
          </a:p>
        </p:txBody>
      </p:sp>
      <p:sp>
        <p:nvSpPr>
          <p:cNvPr id="3" name="Subtitle 2">
            <a:extLst>
              <a:ext uri="{FF2B5EF4-FFF2-40B4-BE49-F238E27FC236}">
                <a16:creationId xmlns:a16="http://schemas.microsoft.com/office/drawing/2014/main" id="{1BBF2CCE-8939-F57F-0CC6-4372D291597B}"/>
              </a:ext>
            </a:extLst>
          </p:cNvPr>
          <p:cNvSpPr>
            <a:spLocks noGrp="1"/>
          </p:cNvSpPr>
          <p:nvPr>
            <p:ph type="subTitle" idx="1"/>
          </p:nvPr>
        </p:nvSpPr>
        <p:spPr/>
        <p:txBody>
          <a:bodyPr>
            <a:normAutofit/>
          </a:bodyPr>
          <a:lstStyle/>
          <a:p>
            <a:r>
              <a:rPr lang="en-US" sz="3200" dirty="0" err="1"/>
              <a:t>Lec</a:t>
            </a:r>
            <a:r>
              <a:rPr lang="en-US" sz="3200" dirty="0"/>
              <a:t> 3: Loss Functions </a:t>
            </a:r>
          </a:p>
        </p:txBody>
      </p:sp>
    </p:spTree>
    <p:extLst>
      <p:ext uri="{BB962C8B-B14F-4D97-AF65-F5344CB8AC3E}">
        <p14:creationId xmlns:p14="http://schemas.microsoft.com/office/powerpoint/2010/main" val="262271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81EA5-9BDE-B28F-9B32-23F768F7192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0270B331-16F9-FB39-4A16-360D5D4C946F}"/>
              </a:ext>
            </a:extLst>
          </p:cNvPr>
          <p:cNvSpPr>
            <a:spLocks noGrp="1"/>
          </p:cNvSpPr>
          <p:nvPr>
            <p:ph idx="1"/>
          </p:nvPr>
        </p:nvSpPr>
        <p:spPr>
          <a:xfrm>
            <a:off x="838200" y="1825625"/>
            <a:ext cx="5061857" cy="4351338"/>
          </a:xfrm>
        </p:spPr>
        <p:txBody>
          <a:bodyPr/>
          <a:lstStyle/>
          <a:p>
            <a:r>
              <a:rPr lang="en-US" dirty="0"/>
              <a:t>Learned about matrices</a:t>
            </a:r>
          </a:p>
          <a:p>
            <a:r>
              <a:rPr lang="en-US" dirty="0"/>
              <a:t>Defined the neural net</a:t>
            </a:r>
          </a:p>
          <a:p>
            <a:r>
              <a:rPr lang="en-US" dirty="0"/>
              <a:t>Learned how we use the neural net to update matrices</a:t>
            </a:r>
          </a:p>
          <a:p>
            <a:endParaRPr lang="en-US" dirty="0"/>
          </a:p>
        </p:txBody>
      </p:sp>
      <p:pic>
        <p:nvPicPr>
          <p:cNvPr id="18436" name="Picture 4" descr="Neural Networks - step by step | Lasse Hansen">
            <a:extLst>
              <a:ext uri="{FF2B5EF4-FFF2-40B4-BE49-F238E27FC236}">
                <a16:creationId xmlns:a16="http://schemas.microsoft.com/office/drawing/2014/main" id="{59679373-0EB1-6170-F015-119A05FF48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90688"/>
            <a:ext cx="594566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7882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B50F9-E561-F1CC-0282-708A9D0FD3B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BCB15A1-CBB6-7099-AAE4-56138E67C561}"/>
              </a:ext>
            </a:extLst>
          </p:cNvPr>
          <p:cNvSpPr>
            <a:spLocks noGrp="1"/>
          </p:cNvSpPr>
          <p:nvPr>
            <p:ph idx="1"/>
          </p:nvPr>
        </p:nvSpPr>
        <p:spPr/>
        <p:txBody>
          <a:bodyPr/>
          <a:lstStyle/>
          <a:p>
            <a:r>
              <a:rPr lang="en-US" dirty="0"/>
              <a:t>Define loss function</a:t>
            </a:r>
          </a:p>
          <a:p>
            <a:r>
              <a:rPr lang="en-US" dirty="0"/>
              <a:t>Linear regression</a:t>
            </a:r>
          </a:p>
          <a:p>
            <a:pPr lvl="1"/>
            <a:r>
              <a:rPr lang="en-US" dirty="0"/>
              <a:t>How we change that to multidimensional regression of any function</a:t>
            </a:r>
          </a:p>
          <a:p>
            <a:pPr lvl="1"/>
            <a:r>
              <a:rPr lang="en-US" dirty="0"/>
              <a:t>Mean Squared Error Loss</a:t>
            </a:r>
          </a:p>
          <a:p>
            <a:r>
              <a:rPr lang="en-US" dirty="0"/>
              <a:t>Classification Intro</a:t>
            </a:r>
          </a:p>
          <a:p>
            <a:pPr lvl="1"/>
            <a:r>
              <a:rPr lang="en-US" dirty="0"/>
              <a:t>Log Loss</a:t>
            </a:r>
          </a:p>
          <a:p>
            <a:r>
              <a:rPr lang="en-US" dirty="0"/>
              <a:t>Classification Case Study</a:t>
            </a:r>
          </a:p>
          <a:p>
            <a:pPr lvl="1"/>
            <a:r>
              <a:rPr lang="en-US" dirty="0"/>
              <a:t>ML model evaluation metrics (mostly review)</a:t>
            </a:r>
          </a:p>
          <a:p>
            <a:r>
              <a:rPr lang="en-US" dirty="0"/>
              <a:t>Multi-Class Classification</a:t>
            </a:r>
          </a:p>
          <a:p>
            <a:endParaRPr lang="en-US" dirty="0"/>
          </a:p>
          <a:p>
            <a:endParaRPr lang="en-US" dirty="0"/>
          </a:p>
        </p:txBody>
      </p:sp>
    </p:spTree>
    <p:extLst>
      <p:ext uri="{BB962C8B-B14F-4D97-AF65-F5344CB8AC3E}">
        <p14:creationId xmlns:p14="http://schemas.microsoft.com/office/powerpoint/2010/main" val="3044657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6F4C5-FBCA-E2B7-B3FD-ADD05E4B5EF3}"/>
              </a:ext>
            </a:extLst>
          </p:cNvPr>
          <p:cNvSpPr>
            <a:spLocks noGrp="1"/>
          </p:cNvSpPr>
          <p:nvPr>
            <p:ph type="title"/>
          </p:nvPr>
        </p:nvSpPr>
        <p:spPr/>
        <p:txBody>
          <a:bodyPr/>
          <a:lstStyle/>
          <a:p>
            <a:r>
              <a:rPr lang="en-US" dirty="0"/>
              <a:t>Loss Functions</a:t>
            </a:r>
          </a:p>
        </p:txBody>
      </p:sp>
      <p:sp>
        <p:nvSpPr>
          <p:cNvPr id="3" name="Content Placeholder 2">
            <a:extLst>
              <a:ext uri="{FF2B5EF4-FFF2-40B4-BE49-F238E27FC236}">
                <a16:creationId xmlns:a16="http://schemas.microsoft.com/office/drawing/2014/main" id="{A3E50D06-2941-7620-0F16-4BD7AC2F93DF}"/>
              </a:ext>
            </a:extLst>
          </p:cNvPr>
          <p:cNvSpPr>
            <a:spLocks noGrp="1"/>
          </p:cNvSpPr>
          <p:nvPr>
            <p:ph idx="1"/>
          </p:nvPr>
        </p:nvSpPr>
        <p:spPr/>
        <p:txBody>
          <a:bodyPr/>
          <a:lstStyle/>
          <a:p>
            <a:r>
              <a:rPr lang="en-US" dirty="0"/>
              <a:t>How do we grade our results?</a:t>
            </a:r>
          </a:p>
          <a:p>
            <a:r>
              <a:rPr lang="en-US" dirty="0"/>
              <a:t>Use a loss function!</a:t>
            </a:r>
          </a:p>
          <a:p>
            <a:endParaRPr lang="en-US" dirty="0"/>
          </a:p>
          <a:p>
            <a:r>
              <a:rPr lang="en-US" dirty="0"/>
              <a:t>Loss function: Definition of correctness, which when applied over the data, decreases when the hypotheses are more correct</a:t>
            </a:r>
          </a:p>
          <a:p>
            <a:r>
              <a:rPr lang="en-US" dirty="0"/>
              <a:t>Training error is the sum of loss across all data points.</a:t>
            </a:r>
          </a:p>
          <a:p>
            <a:endParaRPr lang="en-US" dirty="0"/>
          </a:p>
        </p:txBody>
      </p:sp>
      <p:pic>
        <p:nvPicPr>
          <p:cNvPr id="5" name="Picture 4">
            <a:extLst>
              <a:ext uri="{FF2B5EF4-FFF2-40B4-BE49-F238E27FC236}">
                <a16:creationId xmlns:a16="http://schemas.microsoft.com/office/drawing/2014/main" id="{F380D1C8-1AF9-671D-0107-AFC028E9A1D1}"/>
              </a:ext>
            </a:extLst>
          </p:cNvPr>
          <p:cNvPicPr>
            <a:picLocks noChangeAspect="1"/>
          </p:cNvPicPr>
          <p:nvPr/>
        </p:nvPicPr>
        <p:blipFill>
          <a:blip r:embed="rId3"/>
          <a:stretch>
            <a:fillRect/>
          </a:stretch>
        </p:blipFill>
        <p:spPr>
          <a:xfrm>
            <a:off x="7571847" y="5528412"/>
            <a:ext cx="3781953" cy="1124107"/>
          </a:xfrm>
          <a:prstGeom prst="rect">
            <a:avLst/>
          </a:prstGeom>
        </p:spPr>
      </p:pic>
    </p:spTree>
    <p:extLst>
      <p:ext uri="{BB962C8B-B14F-4D97-AF65-F5344CB8AC3E}">
        <p14:creationId xmlns:p14="http://schemas.microsoft.com/office/powerpoint/2010/main" val="1041249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0A076-C5E2-5E87-AC10-1A608FA7DCE5}"/>
              </a:ext>
            </a:extLst>
          </p:cNvPr>
          <p:cNvSpPr>
            <a:spLocks noGrp="1"/>
          </p:cNvSpPr>
          <p:nvPr>
            <p:ph type="title"/>
          </p:nvPr>
        </p:nvSpPr>
        <p:spPr/>
        <p:txBody>
          <a:bodyPr/>
          <a:lstStyle/>
          <a:p>
            <a:r>
              <a:rPr lang="en-US" dirty="0"/>
              <a:t>This time</a:t>
            </a:r>
          </a:p>
        </p:txBody>
      </p:sp>
      <p:sp>
        <p:nvSpPr>
          <p:cNvPr id="3" name="Content Placeholder 2">
            <a:extLst>
              <a:ext uri="{FF2B5EF4-FFF2-40B4-BE49-F238E27FC236}">
                <a16:creationId xmlns:a16="http://schemas.microsoft.com/office/drawing/2014/main" id="{077C0AC9-B3A3-4135-04A3-D403A9CB2E3F}"/>
              </a:ext>
            </a:extLst>
          </p:cNvPr>
          <p:cNvSpPr>
            <a:spLocks noGrp="1"/>
          </p:cNvSpPr>
          <p:nvPr>
            <p:ph idx="1"/>
          </p:nvPr>
        </p:nvSpPr>
        <p:spPr/>
        <p:txBody>
          <a:bodyPr/>
          <a:lstStyle/>
          <a:p>
            <a:r>
              <a:rPr lang="en-US" dirty="0"/>
              <a:t>We learn how to define success via loss functions</a:t>
            </a:r>
          </a:p>
        </p:txBody>
      </p:sp>
      <p:pic>
        <p:nvPicPr>
          <p:cNvPr id="4" name="Picture 3">
            <a:extLst>
              <a:ext uri="{FF2B5EF4-FFF2-40B4-BE49-F238E27FC236}">
                <a16:creationId xmlns:a16="http://schemas.microsoft.com/office/drawing/2014/main" id="{7E37441C-7D5C-1E30-1F48-29BCB2CAC005}"/>
              </a:ext>
            </a:extLst>
          </p:cNvPr>
          <p:cNvPicPr>
            <a:picLocks noChangeAspect="1"/>
          </p:cNvPicPr>
          <p:nvPr/>
        </p:nvPicPr>
        <p:blipFill>
          <a:blip r:embed="rId2"/>
          <a:stretch>
            <a:fillRect/>
          </a:stretch>
        </p:blipFill>
        <p:spPr>
          <a:xfrm>
            <a:off x="926936" y="2314932"/>
            <a:ext cx="6780700" cy="4543068"/>
          </a:xfrm>
          <a:prstGeom prst="rect">
            <a:avLst/>
          </a:prstGeom>
        </p:spPr>
      </p:pic>
      <p:cxnSp>
        <p:nvCxnSpPr>
          <p:cNvPr id="8" name="Straight Arrow Connector 7">
            <a:extLst>
              <a:ext uri="{FF2B5EF4-FFF2-40B4-BE49-F238E27FC236}">
                <a16:creationId xmlns:a16="http://schemas.microsoft.com/office/drawing/2014/main" id="{519D6852-7FDF-F5B8-7FC7-6901D8E9669F}"/>
              </a:ext>
            </a:extLst>
          </p:cNvPr>
          <p:cNvCxnSpPr>
            <a:cxnSpLocks/>
          </p:cNvCxnSpPr>
          <p:nvPr/>
        </p:nvCxnSpPr>
        <p:spPr>
          <a:xfrm flipH="1">
            <a:off x="7968343" y="4397829"/>
            <a:ext cx="28738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723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3085-ABA6-401F-3E2F-5D6A6CEFD498}"/>
              </a:ext>
            </a:extLst>
          </p:cNvPr>
          <p:cNvSpPr>
            <a:spLocks noGrp="1"/>
          </p:cNvSpPr>
          <p:nvPr>
            <p:ph type="title"/>
          </p:nvPr>
        </p:nvSpPr>
        <p:spPr/>
        <p:txBody>
          <a:bodyPr/>
          <a:lstStyle/>
          <a:p>
            <a:r>
              <a:rPr lang="en-US" dirty="0"/>
              <a:t>What is Linear Regression?</a:t>
            </a:r>
          </a:p>
        </p:txBody>
      </p:sp>
      <p:sp>
        <p:nvSpPr>
          <p:cNvPr id="3" name="Content Placeholder 2">
            <a:extLst>
              <a:ext uri="{FF2B5EF4-FFF2-40B4-BE49-F238E27FC236}">
                <a16:creationId xmlns:a16="http://schemas.microsoft.com/office/drawing/2014/main" id="{DCC9DFD7-0626-FAE9-2571-4BD02845EF92}"/>
              </a:ext>
            </a:extLst>
          </p:cNvPr>
          <p:cNvSpPr>
            <a:spLocks noGrp="1"/>
          </p:cNvSpPr>
          <p:nvPr>
            <p:ph idx="1"/>
          </p:nvPr>
        </p:nvSpPr>
        <p:spPr/>
        <p:txBody>
          <a:bodyPr/>
          <a:lstStyle/>
          <a:p>
            <a:r>
              <a:rPr lang="en-US" dirty="0"/>
              <a:t>Find a linear function that best models the relationship between inputs and outputs</a:t>
            </a:r>
          </a:p>
          <a:p>
            <a:pPr marL="0" indent="0">
              <a:buNone/>
            </a:pPr>
            <a:endParaRPr lang="en-US" dirty="0"/>
          </a:p>
        </p:txBody>
      </p:sp>
      <p:pic>
        <p:nvPicPr>
          <p:cNvPr id="3076" name="Picture 4">
            <a:extLst>
              <a:ext uri="{FF2B5EF4-FFF2-40B4-BE49-F238E27FC236}">
                <a16:creationId xmlns:a16="http://schemas.microsoft.com/office/drawing/2014/main" id="{F037745E-97FC-E460-3094-48E501421D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6678" y="3228246"/>
            <a:ext cx="6107315" cy="308365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2EF3FD04-F359-3687-291A-18C32A1728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512" y="3176588"/>
            <a:ext cx="5674536" cy="3316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426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53292-7905-1005-42C7-675C1F6D9534}"/>
              </a:ext>
            </a:extLst>
          </p:cNvPr>
          <p:cNvSpPr>
            <a:spLocks noGrp="1"/>
          </p:cNvSpPr>
          <p:nvPr>
            <p:ph type="title"/>
          </p:nvPr>
        </p:nvSpPr>
        <p:spPr/>
        <p:txBody>
          <a:bodyPr/>
          <a:lstStyle/>
          <a:p>
            <a:r>
              <a:rPr lang="en-US" dirty="0"/>
              <a:t>Linear Regression: Problem</a:t>
            </a:r>
          </a:p>
        </p:txBody>
      </p:sp>
      <p:sp>
        <p:nvSpPr>
          <p:cNvPr id="3" name="Content Placeholder 2">
            <a:extLst>
              <a:ext uri="{FF2B5EF4-FFF2-40B4-BE49-F238E27FC236}">
                <a16:creationId xmlns:a16="http://schemas.microsoft.com/office/drawing/2014/main" id="{CA4955FD-5523-257E-ECE3-6574C5EEA3FD}"/>
              </a:ext>
            </a:extLst>
          </p:cNvPr>
          <p:cNvSpPr>
            <a:spLocks noGrp="1"/>
          </p:cNvSpPr>
          <p:nvPr>
            <p:ph idx="1"/>
          </p:nvPr>
        </p:nvSpPr>
        <p:spPr>
          <a:xfrm>
            <a:off x="838200" y="1825625"/>
            <a:ext cx="10515600" cy="721632"/>
          </a:xfrm>
        </p:spPr>
        <p:txBody>
          <a:bodyPr/>
          <a:lstStyle/>
          <a:p>
            <a:pPr lvl="1"/>
            <a:r>
              <a:rPr lang="en-US" dirty="0"/>
              <a:t>Given an input matrix x, an output matrix y, use x to predict 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EFA1FF-FB94-340C-DF75-7E4A4CAE16BA}"/>
                  </a:ext>
                </a:extLst>
              </p:cNvPr>
              <p:cNvSpPr txBox="1"/>
              <p:nvPr/>
            </p:nvSpPr>
            <p:spPr>
              <a:xfrm>
                <a:off x="2427515" y="2939142"/>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rPr>
                          </m:ctrlPr>
                        </m:dPr>
                        <m:e>
                          <m:m>
                            <m:mPr>
                              <m:mcs>
                                <m:mc>
                                  <m:mcPr>
                                    <m:count m:val="2"/>
                                    <m:mcJc m:val="center"/>
                                  </m:mcPr>
                                </m:mc>
                              </m:mcs>
                              <m:ctrlPr>
                                <a:rPr lang="en-US" sz="1800" i="1" smtClean="0">
                                  <a:latin typeface="Cambria Math" panose="02040503050406030204" pitchFamily="18" charset="0"/>
                                </a:rPr>
                              </m:ctrlPr>
                            </m:mPr>
                            <m:mr>
                              <m:e>
                                <m:m>
                                  <m:mPr>
                                    <m:mcs>
                                      <m:mc>
                                        <m:mcPr>
                                          <m:count m:val="2"/>
                                          <m:mcJc m:val="center"/>
                                        </m:mcPr>
                                      </m:mc>
                                    </m:mcs>
                                    <m:ctrlPr>
                                      <a:rPr lang="en-US" sz="1800" i="1" smtClean="0">
                                        <a:latin typeface="Cambria Math" panose="02040503050406030204" pitchFamily="18" charset="0"/>
                                      </a:rPr>
                                    </m:ctrlPr>
                                  </m:mPr>
                                  <m:mr>
                                    <m:e>
                                      <m:r>
                                        <m:rPr>
                                          <m:sty m:val="p"/>
                                          <m:brk m:alnAt="7"/>
                                        </m:rPr>
                                        <a:rPr lang="en-US" sz="1800" b="0" i="1" smtClean="0">
                                          <a:latin typeface="Cambria Math" panose="02040503050406030204" pitchFamily="18" charset="0"/>
                                        </a:rPr>
                                        <m:t>x</m:t>
                                      </m:r>
                                      <m:r>
                                        <a:rPr lang="en-US" sz="1800" b="0" i="1" smtClean="0">
                                          <a:latin typeface="Cambria Math" panose="02040503050406030204" pitchFamily="18" charset="0"/>
                                        </a:rPr>
                                        <m:t>1</m:t>
                                      </m:r>
                                    </m:e>
                                    <m:e>
                                      <m:r>
                                        <m:rPr>
                                          <m:sty m:val="p"/>
                                        </m:rPr>
                                        <a:rPr lang="en-US" sz="1800" b="0" i="1" smtClean="0">
                                          <a:latin typeface="Cambria Math" panose="02040503050406030204" pitchFamily="18" charset="0"/>
                                        </a:rPr>
                                        <m:t>x</m:t>
                                      </m:r>
                                      <m:r>
                                        <a:rPr lang="en-US" sz="1800" b="0" i="1" smtClean="0">
                                          <a:latin typeface="Cambria Math" panose="02040503050406030204" pitchFamily="18" charset="0"/>
                                        </a:rPr>
                                        <m:t>2</m:t>
                                      </m:r>
                                    </m:e>
                                  </m:mr>
                                </m:m>
                              </m:e>
                              <m:e>
                                <m:m>
                                  <m:mPr>
                                    <m:mcs>
                                      <m:mc>
                                        <m:mcPr>
                                          <m:count m:val="2"/>
                                          <m:mcJc m:val="center"/>
                                        </m:mcPr>
                                      </m:mc>
                                    </m:mcs>
                                    <m:ctrlPr>
                                      <a:rPr lang="en-US" sz="1800" i="1" smtClean="0">
                                        <a:latin typeface="Cambria Math" panose="02040503050406030204" pitchFamily="18" charset="0"/>
                                      </a:rPr>
                                    </m:ctrlPr>
                                  </m:mPr>
                                  <m:mr>
                                    <m:e>
                                      <m:r>
                                        <m:rPr>
                                          <m:brk m:alnAt="7"/>
                                        </m:rPr>
                                        <a:rPr lang="en-US" sz="1800" b="0" i="1" smtClean="0">
                                          <a:latin typeface="Cambria Math" panose="02040503050406030204" pitchFamily="18" charset="0"/>
                                        </a:rPr>
                                        <m:t>.</m:t>
                                      </m:r>
                                      <m:r>
                                        <a:rPr lang="en-US" sz="1800" b="0" i="1" smtClean="0">
                                          <a:latin typeface="Cambria Math" panose="02040503050406030204" pitchFamily="18" charset="0"/>
                                        </a:rPr>
                                        <m:t>..</m:t>
                                      </m:r>
                                    </m:e>
                                    <m:e>
                                      <m:r>
                                        <m:rPr>
                                          <m:sty m:val="p"/>
                                        </m:rPr>
                                        <a:rPr lang="en-US" sz="1800" b="0" i="1" smtClean="0">
                                          <a:latin typeface="Cambria Math" panose="02040503050406030204" pitchFamily="18" charset="0"/>
                                        </a:rPr>
                                        <m:t>xn</m:t>
                                      </m:r>
                                    </m:e>
                                  </m:mr>
                                </m:m>
                              </m:e>
                            </m:mr>
                          </m:m>
                        </m:e>
                      </m:d>
                      <m:r>
                        <a:rPr lang="en-US" sz="1800"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r>
                                        <m:rPr>
                                          <m:sty m:val="p"/>
                                          <m:brk m:alnAt="7"/>
                                        </m:rPr>
                                        <a:rPr lang="en-US" b="0" i="1" smtClean="0">
                                          <a:latin typeface="Cambria Math" panose="02040503050406030204" pitchFamily="18" charset="0"/>
                                        </a:rPr>
                                        <m:t>y</m:t>
                                      </m:r>
                                      <m:r>
                                        <a:rPr lang="en-US" i="1">
                                          <a:latin typeface="Cambria Math" panose="02040503050406030204" pitchFamily="18" charset="0"/>
                                        </a:rPr>
                                        <m:t>1</m:t>
                                      </m:r>
                                    </m:e>
                                    <m:e>
                                      <m:r>
                                        <m:rPr>
                                          <m:sty m:val="p"/>
                                        </m:rPr>
                                        <a:rPr lang="en-US" b="0" i="1" smtClean="0">
                                          <a:latin typeface="Cambria Math" panose="02040503050406030204" pitchFamily="18" charset="0"/>
                                        </a:rPr>
                                        <m:t>y</m:t>
                                      </m:r>
                                      <m:r>
                                        <a:rPr lang="en-US" i="1">
                                          <a:latin typeface="Cambria Math" panose="02040503050406030204" pitchFamily="18" charset="0"/>
                                        </a:rPr>
                                        <m:t>2</m:t>
                                      </m:r>
                                    </m:e>
                                  </m:mr>
                                </m:m>
                              </m:e>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m:t>
                                      </m:r>
                                      <m:r>
                                        <a:rPr lang="en-US" i="1">
                                          <a:latin typeface="Cambria Math" panose="02040503050406030204" pitchFamily="18" charset="0"/>
                                        </a:rPr>
                                        <m:t>..</m:t>
                                      </m:r>
                                    </m:e>
                                    <m:e>
                                      <m:r>
                                        <m:rPr>
                                          <m:sty m:val="p"/>
                                        </m:rPr>
                                        <a:rPr lang="en-US" b="0" i="1" smtClean="0">
                                          <a:latin typeface="Cambria Math" panose="02040503050406030204" pitchFamily="18" charset="0"/>
                                        </a:rPr>
                                        <m:t>y</m:t>
                                      </m:r>
                                      <m:r>
                                        <m:rPr>
                                          <m:sty m:val="p"/>
                                        </m:rPr>
                                        <a:rPr lang="en-US" i="1">
                                          <a:latin typeface="Cambria Math" panose="02040503050406030204" pitchFamily="18" charset="0"/>
                                        </a:rPr>
                                        <m:t>n</m:t>
                                      </m:r>
                                    </m:e>
                                  </m:mr>
                                </m:m>
                              </m:e>
                            </m:mr>
                          </m:m>
                        </m:e>
                      </m:d>
                    </m:oMath>
                  </m:oMathPara>
                </a14:m>
                <a:endParaRPr lang="en-US" dirty="0"/>
              </a:p>
            </p:txBody>
          </p:sp>
        </mc:Choice>
        <mc:Fallback xmlns="">
          <p:sp>
            <p:nvSpPr>
              <p:cNvPr id="6" name="TextBox 5">
                <a:extLst>
                  <a:ext uri="{FF2B5EF4-FFF2-40B4-BE49-F238E27FC236}">
                    <a16:creationId xmlns:a16="http://schemas.microsoft.com/office/drawing/2014/main" id="{0CEFA1FF-FB94-340C-DF75-7E4A4CAE16BA}"/>
                  </a:ext>
                </a:extLst>
              </p:cNvPr>
              <p:cNvSpPr txBox="1">
                <a:spLocks noRot="1" noChangeAspect="1" noMove="1" noResize="1" noEditPoints="1" noAdjustHandles="1" noChangeArrowheads="1" noChangeShapeType="1" noTextEdit="1"/>
              </p:cNvSpPr>
              <p:nvPr/>
            </p:nvSpPr>
            <p:spPr>
              <a:xfrm>
                <a:off x="2427515" y="2939142"/>
                <a:ext cx="6096000" cy="369332"/>
              </a:xfrm>
              <a:prstGeom prst="rect">
                <a:avLst/>
              </a:prstGeom>
              <a:blipFill>
                <a:blip r:embed="rId3"/>
                <a:stretch>
                  <a:fillRect b="-327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1C7900B5-5AAB-A77A-5016-9C4C49215940}"/>
              </a:ext>
            </a:extLst>
          </p:cNvPr>
          <p:cNvSpPr txBox="1"/>
          <p:nvPr/>
        </p:nvSpPr>
        <p:spPr>
          <a:xfrm>
            <a:off x="5127172" y="2569810"/>
            <a:ext cx="1295400" cy="369332"/>
          </a:xfrm>
          <a:prstGeom prst="rect">
            <a:avLst/>
          </a:prstGeom>
          <a:noFill/>
        </p:spPr>
        <p:txBody>
          <a:bodyPr wrap="square" rtlCol="0">
            <a:spAutoFit/>
          </a:bodyPr>
          <a:lstStyle/>
          <a:p>
            <a:r>
              <a:rPr lang="en-US" dirty="0"/>
              <a:t>Goal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A0E96C-0426-C74E-D744-6849D5796DC7}"/>
                  </a:ext>
                </a:extLst>
              </p:cNvPr>
              <p:cNvSpPr txBox="1"/>
              <p:nvPr/>
            </p:nvSpPr>
            <p:spPr>
              <a:xfrm>
                <a:off x="2427515" y="3941412"/>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rPr>
                          </m:ctrlPr>
                        </m:dPr>
                        <m:e>
                          <m:m>
                            <m:mPr>
                              <m:mcs>
                                <m:mc>
                                  <m:mcPr>
                                    <m:count m:val="2"/>
                                    <m:mcJc m:val="center"/>
                                  </m:mcPr>
                                </m:mc>
                              </m:mcs>
                              <m:ctrlPr>
                                <a:rPr lang="en-US" sz="1800" i="1" smtClean="0">
                                  <a:latin typeface="Cambria Math" panose="02040503050406030204" pitchFamily="18" charset="0"/>
                                </a:rPr>
                              </m:ctrlPr>
                            </m:mPr>
                            <m:mr>
                              <m:e>
                                <m:m>
                                  <m:mPr>
                                    <m:mcs>
                                      <m:mc>
                                        <m:mcPr>
                                          <m:count m:val="2"/>
                                          <m:mcJc m:val="center"/>
                                        </m:mcPr>
                                      </m:mc>
                                    </m:mcs>
                                    <m:ctrlPr>
                                      <a:rPr lang="en-US" sz="1800" i="1" smtClean="0">
                                        <a:latin typeface="Cambria Math" panose="02040503050406030204" pitchFamily="18" charset="0"/>
                                      </a:rPr>
                                    </m:ctrlPr>
                                  </m:mPr>
                                  <m:mr>
                                    <m:e>
                                      <m:r>
                                        <m:rPr>
                                          <m:sty m:val="p"/>
                                          <m:brk m:alnAt="7"/>
                                        </m:rPr>
                                        <a:rPr lang="en-US" sz="1800" b="0" i="1" smtClean="0">
                                          <a:latin typeface="Cambria Math" panose="02040503050406030204" pitchFamily="18" charset="0"/>
                                        </a:rPr>
                                        <m:t>x</m:t>
                                      </m:r>
                                      <m:r>
                                        <a:rPr lang="en-US" sz="1800" b="0" i="1" smtClean="0">
                                          <a:latin typeface="Cambria Math" panose="02040503050406030204" pitchFamily="18" charset="0"/>
                                        </a:rPr>
                                        <m:t>1</m:t>
                                      </m:r>
                                    </m:e>
                                    <m:e>
                                      <m:r>
                                        <m:rPr>
                                          <m:sty m:val="p"/>
                                        </m:rPr>
                                        <a:rPr lang="en-US" sz="1800" b="0" i="1" smtClean="0">
                                          <a:latin typeface="Cambria Math" panose="02040503050406030204" pitchFamily="18" charset="0"/>
                                        </a:rPr>
                                        <m:t>x</m:t>
                                      </m:r>
                                      <m:r>
                                        <a:rPr lang="en-US" sz="1800" b="0" i="1" smtClean="0">
                                          <a:latin typeface="Cambria Math" panose="02040503050406030204" pitchFamily="18" charset="0"/>
                                        </a:rPr>
                                        <m:t>2</m:t>
                                      </m:r>
                                    </m:e>
                                  </m:mr>
                                </m:m>
                              </m:e>
                              <m:e>
                                <m:m>
                                  <m:mPr>
                                    <m:mcs>
                                      <m:mc>
                                        <m:mcPr>
                                          <m:count m:val="2"/>
                                          <m:mcJc m:val="center"/>
                                        </m:mcPr>
                                      </m:mc>
                                    </m:mcs>
                                    <m:ctrlPr>
                                      <a:rPr lang="en-US" sz="1800" i="1" smtClean="0">
                                        <a:latin typeface="Cambria Math" panose="02040503050406030204" pitchFamily="18" charset="0"/>
                                      </a:rPr>
                                    </m:ctrlPr>
                                  </m:mPr>
                                  <m:mr>
                                    <m:e>
                                      <m:r>
                                        <m:rPr>
                                          <m:brk m:alnAt="7"/>
                                        </m:rPr>
                                        <a:rPr lang="en-US" sz="1800" b="0" i="1" smtClean="0">
                                          <a:latin typeface="Cambria Math" panose="02040503050406030204" pitchFamily="18" charset="0"/>
                                        </a:rPr>
                                        <m:t>.</m:t>
                                      </m:r>
                                      <m:r>
                                        <a:rPr lang="en-US" sz="1800" b="0" i="1" smtClean="0">
                                          <a:latin typeface="Cambria Math" panose="02040503050406030204" pitchFamily="18" charset="0"/>
                                        </a:rPr>
                                        <m:t>..</m:t>
                                      </m:r>
                                    </m:e>
                                    <m:e>
                                      <m:r>
                                        <m:rPr>
                                          <m:sty m:val="p"/>
                                        </m:rPr>
                                        <a:rPr lang="en-US" sz="1800" b="0" i="1" smtClean="0">
                                          <a:latin typeface="Cambria Math" panose="02040503050406030204" pitchFamily="18" charset="0"/>
                                        </a:rPr>
                                        <m:t>xn</m:t>
                                      </m:r>
                                    </m:e>
                                  </m:mr>
                                </m:m>
                              </m:e>
                            </m:mr>
                          </m:m>
                        </m:e>
                      </m:d>
                      <m:r>
                        <a:rPr lang="en-US" sz="1800"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r>
                                        <m:rPr>
                                          <m:nor/>
                                        </m:rPr>
                                        <a:rPr lang="cy-GB"/>
                                        <m:t>ŷ</m:t>
                                      </m:r>
                                      <m:r>
                                        <a:rPr lang="en-US" i="1">
                                          <a:latin typeface="Cambria Math" panose="02040503050406030204" pitchFamily="18" charset="0"/>
                                        </a:rPr>
                                        <m:t>1</m:t>
                                      </m:r>
                                    </m:e>
                                    <m:e>
                                      <m:r>
                                        <m:rPr>
                                          <m:nor/>
                                        </m:rPr>
                                        <a:rPr lang="cy-GB"/>
                                        <m:t>ŷ</m:t>
                                      </m:r>
                                      <m:r>
                                        <a:rPr lang="en-US" i="1">
                                          <a:latin typeface="Cambria Math" panose="02040503050406030204" pitchFamily="18" charset="0"/>
                                        </a:rPr>
                                        <m:t>2</m:t>
                                      </m:r>
                                    </m:e>
                                  </m:mr>
                                </m:m>
                              </m:e>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m:t>
                                      </m:r>
                                      <m:r>
                                        <a:rPr lang="en-US" i="1">
                                          <a:latin typeface="Cambria Math" panose="02040503050406030204" pitchFamily="18" charset="0"/>
                                        </a:rPr>
                                        <m:t>..</m:t>
                                      </m:r>
                                    </m:e>
                                    <m:e>
                                      <m:r>
                                        <m:rPr>
                                          <m:nor/>
                                        </m:rPr>
                                        <a:rPr lang="cy-GB"/>
                                        <m:t>ŷ</m:t>
                                      </m:r>
                                      <m:r>
                                        <m:rPr>
                                          <m:sty m:val="p"/>
                                        </m:rPr>
                                        <a:rPr lang="en-US" i="1">
                                          <a:latin typeface="Cambria Math" panose="02040503050406030204" pitchFamily="18" charset="0"/>
                                        </a:rPr>
                                        <m:t>n</m:t>
                                      </m:r>
                                    </m:e>
                                  </m:mr>
                                </m:m>
                              </m:e>
                            </m:mr>
                          </m:m>
                        </m:e>
                      </m:d>
                    </m:oMath>
                  </m:oMathPara>
                </a14:m>
                <a:endParaRPr lang="en-US" dirty="0"/>
              </a:p>
            </p:txBody>
          </p:sp>
        </mc:Choice>
        <mc:Fallback xmlns="">
          <p:sp>
            <p:nvSpPr>
              <p:cNvPr id="8" name="TextBox 7">
                <a:extLst>
                  <a:ext uri="{FF2B5EF4-FFF2-40B4-BE49-F238E27FC236}">
                    <a16:creationId xmlns:a16="http://schemas.microsoft.com/office/drawing/2014/main" id="{25A0E96C-0426-C74E-D744-6849D5796DC7}"/>
                  </a:ext>
                </a:extLst>
              </p:cNvPr>
              <p:cNvSpPr txBox="1">
                <a:spLocks noRot="1" noChangeAspect="1" noMove="1" noResize="1" noEditPoints="1" noAdjustHandles="1" noChangeArrowheads="1" noChangeShapeType="1" noTextEdit="1"/>
              </p:cNvSpPr>
              <p:nvPr/>
            </p:nvSpPr>
            <p:spPr>
              <a:xfrm>
                <a:off x="2427515" y="3941412"/>
                <a:ext cx="6096000" cy="369332"/>
              </a:xfrm>
              <a:prstGeom prst="rect">
                <a:avLst/>
              </a:prstGeom>
              <a:blipFill>
                <a:blip r:embed="rId4"/>
                <a:stretch>
                  <a:fillRect b="-10000"/>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F6FEDED3-07E5-F18C-8E3D-EC0ECEFEE387}"/>
              </a:ext>
            </a:extLst>
          </p:cNvPr>
          <p:cNvSpPr txBox="1"/>
          <p:nvPr/>
        </p:nvSpPr>
        <p:spPr>
          <a:xfrm>
            <a:off x="5127172" y="3635829"/>
            <a:ext cx="1110343" cy="369332"/>
          </a:xfrm>
          <a:prstGeom prst="rect">
            <a:avLst/>
          </a:prstGeom>
          <a:noFill/>
        </p:spPr>
        <p:txBody>
          <a:bodyPr wrap="square" rtlCol="0">
            <a:spAutoFit/>
          </a:bodyPr>
          <a:lstStyle/>
          <a:p>
            <a:r>
              <a:rPr lang="en-US" dirty="0"/>
              <a:t>Plan</a:t>
            </a:r>
          </a:p>
        </p:txBody>
      </p:sp>
      <p:pic>
        <p:nvPicPr>
          <p:cNvPr id="11" name="Picture 10">
            <a:extLst>
              <a:ext uri="{FF2B5EF4-FFF2-40B4-BE49-F238E27FC236}">
                <a16:creationId xmlns:a16="http://schemas.microsoft.com/office/drawing/2014/main" id="{B5532D3A-DC32-15E2-A4BE-144C1DB9555A}"/>
              </a:ext>
            </a:extLst>
          </p:cNvPr>
          <p:cNvPicPr>
            <a:picLocks noChangeAspect="1"/>
          </p:cNvPicPr>
          <p:nvPr/>
        </p:nvPicPr>
        <p:blipFill>
          <a:blip r:embed="rId5"/>
          <a:stretch>
            <a:fillRect/>
          </a:stretch>
        </p:blipFill>
        <p:spPr>
          <a:xfrm>
            <a:off x="10420103" y="6202322"/>
            <a:ext cx="1771897" cy="581106"/>
          </a:xfrm>
          <a:prstGeom prst="rect">
            <a:avLst/>
          </a:prstGeom>
        </p:spPr>
      </p:pic>
    </p:spTree>
    <p:extLst>
      <p:ext uri="{BB962C8B-B14F-4D97-AF65-F5344CB8AC3E}">
        <p14:creationId xmlns:p14="http://schemas.microsoft.com/office/powerpoint/2010/main" val="1721693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FFCB4-299E-E8B8-F1DE-8776AF20C08E}"/>
              </a:ext>
            </a:extLst>
          </p:cNvPr>
          <p:cNvSpPr>
            <a:spLocks noGrp="1"/>
          </p:cNvSpPr>
          <p:nvPr>
            <p:ph type="title"/>
          </p:nvPr>
        </p:nvSpPr>
        <p:spPr/>
        <p:txBody>
          <a:bodyPr/>
          <a:lstStyle/>
          <a:p>
            <a:r>
              <a:rPr lang="en-US" dirty="0"/>
              <a:t>Linear Regression: Plan</a:t>
            </a:r>
          </a:p>
        </p:txBody>
      </p:sp>
      <p:sp>
        <p:nvSpPr>
          <p:cNvPr id="3" name="Content Placeholder 2">
            <a:extLst>
              <a:ext uri="{FF2B5EF4-FFF2-40B4-BE49-F238E27FC236}">
                <a16:creationId xmlns:a16="http://schemas.microsoft.com/office/drawing/2014/main" id="{AF5F3133-B113-A2EC-F2D9-F0D308342C7B}"/>
              </a:ext>
            </a:extLst>
          </p:cNvPr>
          <p:cNvSpPr>
            <a:spLocks noGrp="1"/>
          </p:cNvSpPr>
          <p:nvPr>
            <p:ph idx="1"/>
          </p:nvPr>
        </p:nvSpPr>
        <p:spPr/>
        <p:txBody>
          <a:bodyPr/>
          <a:lstStyle/>
          <a:p>
            <a:pPr marL="514350" indent="-514350">
              <a:buFont typeface="+mj-lt"/>
              <a:buAutoNum type="arabicPeriod"/>
            </a:pPr>
            <a:r>
              <a:rPr lang="en-US" dirty="0"/>
              <a:t>Take in an input</a:t>
            </a:r>
          </a:p>
          <a:p>
            <a:pPr marL="514350" indent="-514350">
              <a:buFont typeface="+mj-lt"/>
              <a:buAutoNum type="arabicPeriod"/>
            </a:pPr>
            <a:r>
              <a:rPr lang="en-US" dirty="0"/>
              <a:t>Multiply it by a constant weight</a:t>
            </a:r>
          </a:p>
          <a:p>
            <a:pPr marL="971550" lvl="1" indent="-514350">
              <a:buFont typeface="+mj-lt"/>
              <a:buAutoNum type="arabicPeriod"/>
            </a:pPr>
            <a:r>
              <a:rPr lang="en-US" dirty="0"/>
              <a:t>Or each part of the input by its own weight, if input has multiple parts/dimensions</a:t>
            </a:r>
          </a:p>
          <a:p>
            <a:pPr marL="514350" indent="-514350">
              <a:buFont typeface="+mj-lt"/>
              <a:buAutoNum type="arabicPeriod"/>
            </a:pPr>
            <a:r>
              <a:rPr lang="en-US" dirty="0"/>
              <a:t>See how we did</a:t>
            </a:r>
          </a:p>
          <a:p>
            <a:pPr marL="514350" indent="-514350">
              <a:buFont typeface="+mj-lt"/>
              <a:buAutoNum type="arabicPeriod"/>
            </a:pPr>
            <a:r>
              <a:rPr lang="en-US" dirty="0"/>
              <a:t>Update our weights</a:t>
            </a:r>
          </a:p>
          <a:p>
            <a:pPr marL="514350" indent="-514350">
              <a:buFont typeface="+mj-lt"/>
              <a:buAutoNum type="arabicPeriod"/>
            </a:pPr>
            <a:r>
              <a:rPr lang="en-US" dirty="0"/>
              <a:t>Repeat</a:t>
            </a:r>
          </a:p>
        </p:txBody>
      </p:sp>
    </p:spTree>
    <p:extLst>
      <p:ext uri="{BB962C8B-B14F-4D97-AF65-F5344CB8AC3E}">
        <p14:creationId xmlns:p14="http://schemas.microsoft.com/office/powerpoint/2010/main" val="2038990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A044B-E57A-2A57-E5C5-3F1F7DF8CEC1}"/>
              </a:ext>
            </a:extLst>
          </p:cNvPr>
          <p:cNvSpPr>
            <a:spLocks noGrp="1"/>
          </p:cNvSpPr>
          <p:nvPr>
            <p:ph type="title"/>
          </p:nvPr>
        </p:nvSpPr>
        <p:spPr/>
        <p:txBody>
          <a:bodyPr/>
          <a:lstStyle/>
          <a:p>
            <a:r>
              <a:rPr lang="en-US" dirty="0"/>
              <a:t>Loss Types</a:t>
            </a:r>
          </a:p>
        </p:txBody>
      </p:sp>
      <p:pic>
        <p:nvPicPr>
          <p:cNvPr id="5" name="Content Placeholder 4">
            <a:extLst>
              <a:ext uri="{FF2B5EF4-FFF2-40B4-BE49-F238E27FC236}">
                <a16:creationId xmlns:a16="http://schemas.microsoft.com/office/drawing/2014/main" id="{9550DCC6-EA47-4FA3-9FC2-2AC356DD1B10}"/>
              </a:ext>
            </a:extLst>
          </p:cNvPr>
          <p:cNvPicPr>
            <a:picLocks noGrp="1" noChangeAspect="1"/>
          </p:cNvPicPr>
          <p:nvPr>
            <p:ph idx="1"/>
          </p:nvPr>
        </p:nvPicPr>
        <p:blipFill>
          <a:blip r:embed="rId2"/>
          <a:stretch>
            <a:fillRect/>
          </a:stretch>
        </p:blipFill>
        <p:spPr>
          <a:xfrm>
            <a:off x="838200" y="2199366"/>
            <a:ext cx="10515600" cy="3603855"/>
          </a:xfrm>
          <a:prstGeom prst="rect">
            <a:avLst/>
          </a:prstGeom>
        </p:spPr>
      </p:pic>
    </p:spTree>
    <p:extLst>
      <p:ext uri="{BB962C8B-B14F-4D97-AF65-F5344CB8AC3E}">
        <p14:creationId xmlns:p14="http://schemas.microsoft.com/office/powerpoint/2010/main" val="300300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9FE6-6BD4-0267-0257-76464F858059}"/>
              </a:ext>
            </a:extLst>
          </p:cNvPr>
          <p:cNvSpPr>
            <a:spLocks noGrp="1"/>
          </p:cNvSpPr>
          <p:nvPr>
            <p:ph type="title"/>
          </p:nvPr>
        </p:nvSpPr>
        <p:spPr/>
        <p:txBody>
          <a:bodyPr/>
          <a:lstStyle/>
          <a:p>
            <a:r>
              <a:rPr lang="en-US" dirty="0"/>
              <a:t>1D Input Case</a:t>
            </a:r>
          </a:p>
        </p:txBody>
      </p:sp>
      <p:pic>
        <p:nvPicPr>
          <p:cNvPr id="2050" name="Picture 2" descr="Linear regression - Simple English Wikipedia, the free encyclopedia">
            <a:extLst>
              <a:ext uri="{FF2B5EF4-FFF2-40B4-BE49-F238E27FC236}">
                <a16:creationId xmlns:a16="http://schemas.microsoft.com/office/drawing/2014/main" id="{F994A464-92A6-E148-A455-19427554B9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205" y="1200209"/>
            <a:ext cx="8571814" cy="565779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77CD72-B817-2864-1A6A-0C88823DE63A}"/>
                  </a:ext>
                </a:extLst>
              </p:cNvPr>
              <p:cNvSpPr txBox="1"/>
              <p:nvPr/>
            </p:nvSpPr>
            <p:spPr>
              <a:xfrm>
                <a:off x="5807676" y="4584357"/>
                <a:ext cx="341046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rPr>
                        <m:t>y</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m</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x</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b</m:t>
                      </m:r>
                    </m:oMath>
                  </m:oMathPara>
                </a14:m>
                <a:endParaRPr lang="en-US" sz="2400" dirty="0"/>
              </a:p>
            </p:txBody>
          </p:sp>
        </mc:Choice>
        <mc:Fallback xmlns="">
          <p:sp>
            <p:nvSpPr>
              <p:cNvPr id="4" name="TextBox 3">
                <a:extLst>
                  <a:ext uri="{FF2B5EF4-FFF2-40B4-BE49-F238E27FC236}">
                    <a16:creationId xmlns:a16="http://schemas.microsoft.com/office/drawing/2014/main" id="{9577CD72-B817-2864-1A6A-0C88823DE63A}"/>
                  </a:ext>
                </a:extLst>
              </p:cNvPr>
              <p:cNvSpPr txBox="1">
                <a:spLocks noRot="1" noChangeAspect="1" noMove="1" noResize="1" noEditPoints="1" noAdjustHandles="1" noChangeArrowheads="1" noChangeShapeType="1" noTextEdit="1"/>
              </p:cNvSpPr>
              <p:nvPr/>
            </p:nvSpPr>
            <p:spPr>
              <a:xfrm>
                <a:off x="5807676" y="4584357"/>
                <a:ext cx="3410465" cy="461665"/>
              </a:xfrm>
              <a:prstGeom prst="rect">
                <a:avLst/>
              </a:prstGeom>
              <a:blipFill>
                <a:blip r:embed="rId4"/>
                <a:stretch>
                  <a:fillRect b="-9211"/>
                </a:stretch>
              </a:blipFill>
            </p:spPr>
            <p:txBody>
              <a:bodyPr/>
              <a:lstStyle/>
              <a:p>
                <a:r>
                  <a:rPr lang="en-US">
                    <a:noFill/>
                  </a:rPr>
                  <a:t> </a:t>
                </a:r>
              </a:p>
            </p:txBody>
          </p:sp>
        </mc:Fallback>
      </mc:AlternateContent>
    </p:spTree>
    <p:extLst>
      <p:ext uri="{BB962C8B-B14F-4D97-AF65-F5344CB8AC3E}">
        <p14:creationId xmlns:p14="http://schemas.microsoft.com/office/powerpoint/2010/main" val="159543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7D60-B01D-D28A-B20C-E6F23D616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4AE10-365F-F491-277F-FF088FF5C0C9}"/>
              </a:ext>
            </a:extLst>
          </p:cNvPr>
          <p:cNvSpPr>
            <a:spLocks noGrp="1"/>
          </p:cNvSpPr>
          <p:nvPr>
            <p:ph type="title"/>
          </p:nvPr>
        </p:nvSpPr>
        <p:spPr/>
        <p:txBody>
          <a:bodyPr/>
          <a:lstStyle/>
          <a:p>
            <a:r>
              <a:rPr lang="en-US" dirty="0"/>
              <a:t>1D input Case</a:t>
            </a:r>
          </a:p>
        </p:txBody>
      </p:sp>
      <p:pic>
        <p:nvPicPr>
          <p:cNvPr id="2050" name="Picture 2" descr="Linear regression - Simple English Wikipedia, the free encyclopedia">
            <a:extLst>
              <a:ext uri="{FF2B5EF4-FFF2-40B4-BE49-F238E27FC236}">
                <a16:creationId xmlns:a16="http://schemas.microsoft.com/office/drawing/2014/main" id="{49AB7D6A-96FC-D79E-5949-7996479AA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205" y="1200209"/>
            <a:ext cx="8571814" cy="565779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C67F212-BE03-3E73-4D27-BB33A4636797}"/>
                  </a:ext>
                </a:extLst>
              </p:cNvPr>
              <p:cNvSpPr txBox="1"/>
              <p:nvPr/>
            </p:nvSpPr>
            <p:spPr>
              <a:xfrm>
                <a:off x="5807676" y="4584357"/>
                <a:ext cx="341046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cy-GB" sz="2400" smtClean="0"/>
                        <m:t>ŷ</m:t>
                      </m:r>
                      <m:r>
                        <a:rPr lang="cy-GB" sz="2400" i="1">
                          <a:latin typeface="Cambria Math" panose="02040503050406030204" pitchFamily="18" charset="0"/>
                        </a:rPr>
                        <m:t> </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m</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x</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b</m:t>
                      </m:r>
                    </m:oMath>
                  </m:oMathPara>
                </a14:m>
                <a:endParaRPr lang="en-US" sz="2400" dirty="0"/>
              </a:p>
            </p:txBody>
          </p:sp>
        </mc:Choice>
        <mc:Fallback xmlns="">
          <p:sp>
            <p:nvSpPr>
              <p:cNvPr id="4" name="TextBox 3">
                <a:extLst>
                  <a:ext uri="{FF2B5EF4-FFF2-40B4-BE49-F238E27FC236}">
                    <a16:creationId xmlns:a16="http://schemas.microsoft.com/office/drawing/2014/main" id="{1C67F212-BE03-3E73-4D27-BB33A4636797}"/>
                  </a:ext>
                </a:extLst>
              </p:cNvPr>
              <p:cNvSpPr txBox="1">
                <a:spLocks noRot="1" noChangeAspect="1" noMove="1" noResize="1" noEditPoints="1" noAdjustHandles="1" noChangeArrowheads="1" noChangeShapeType="1" noTextEdit="1"/>
              </p:cNvSpPr>
              <p:nvPr/>
            </p:nvSpPr>
            <p:spPr>
              <a:xfrm>
                <a:off x="5807676" y="4584357"/>
                <a:ext cx="3410465" cy="461665"/>
              </a:xfrm>
              <a:prstGeom prst="rect">
                <a:avLst/>
              </a:prstGeom>
              <a:blipFill>
                <a:blip r:embed="rId4"/>
                <a:stretch>
                  <a:fillRect b="-11842"/>
                </a:stretch>
              </a:blipFill>
            </p:spPr>
            <p:txBody>
              <a:bodyPr/>
              <a:lstStyle/>
              <a:p>
                <a:r>
                  <a:rPr lang="en-US">
                    <a:noFill/>
                  </a:rPr>
                  <a:t> </a:t>
                </a:r>
              </a:p>
            </p:txBody>
          </p:sp>
        </mc:Fallback>
      </mc:AlternateContent>
    </p:spTree>
    <p:extLst>
      <p:ext uri="{BB962C8B-B14F-4D97-AF65-F5344CB8AC3E}">
        <p14:creationId xmlns:p14="http://schemas.microsoft.com/office/powerpoint/2010/main" val="2063850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D7CD-A91D-E9E4-BBA5-49090CF5B4F5}"/>
              </a:ext>
            </a:extLst>
          </p:cNvPr>
          <p:cNvSpPr>
            <a:spLocks noGrp="1"/>
          </p:cNvSpPr>
          <p:nvPr>
            <p:ph type="title"/>
          </p:nvPr>
        </p:nvSpPr>
        <p:spPr/>
        <p:txBody>
          <a:bodyPr/>
          <a:lstStyle/>
          <a:p>
            <a:r>
              <a:rPr lang="en-US" dirty="0"/>
              <a:t>Loss Functions: Visualized</a:t>
            </a:r>
          </a:p>
        </p:txBody>
      </p:sp>
      <p:pic>
        <p:nvPicPr>
          <p:cNvPr id="5" name="Content Placeholder 4">
            <a:extLst>
              <a:ext uri="{FF2B5EF4-FFF2-40B4-BE49-F238E27FC236}">
                <a16:creationId xmlns:a16="http://schemas.microsoft.com/office/drawing/2014/main" id="{0DACA417-917B-FCAD-1E62-4B5C98F7181E}"/>
              </a:ext>
            </a:extLst>
          </p:cNvPr>
          <p:cNvPicPr>
            <a:picLocks noGrp="1" noChangeAspect="1"/>
          </p:cNvPicPr>
          <p:nvPr>
            <p:ph idx="1"/>
          </p:nvPr>
        </p:nvPicPr>
        <p:blipFill>
          <a:blip r:embed="rId3"/>
          <a:stretch>
            <a:fillRect/>
          </a:stretch>
        </p:blipFill>
        <p:spPr>
          <a:xfrm>
            <a:off x="980361" y="2277028"/>
            <a:ext cx="10231278" cy="3448531"/>
          </a:xfrm>
          <a:prstGeom prst="rect">
            <a:avLst/>
          </a:prstGeom>
        </p:spPr>
      </p:pic>
    </p:spTree>
    <p:extLst>
      <p:ext uri="{BB962C8B-B14F-4D97-AF65-F5344CB8AC3E}">
        <p14:creationId xmlns:p14="http://schemas.microsoft.com/office/powerpoint/2010/main" val="3405433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59DD8-BB3C-752B-E334-85752835F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92EC3-D3BA-8B9D-83D4-34A2B11DD033}"/>
              </a:ext>
            </a:extLst>
          </p:cNvPr>
          <p:cNvSpPr>
            <a:spLocks noGrp="1"/>
          </p:cNvSpPr>
          <p:nvPr>
            <p:ph type="title"/>
          </p:nvPr>
        </p:nvSpPr>
        <p:spPr/>
        <p:txBody>
          <a:bodyPr/>
          <a:lstStyle/>
          <a:p>
            <a:r>
              <a:rPr lang="en-US" dirty="0"/>
              <a:t>Loss Functions: Visualized</a:t>
            </a:r>
          </a:p>
        </p:txBody>
      </p:sp>
      <p:pic>
        <p:nvPicPr>
          <p:cNvPr id="9" name="Content Placeholder 8">
            <a:extLst>
              <a:ext uri="{FF2B5EF4-FFF2-40B4-BE49-F238E27FC236}">
                <a16:creationId xmlns:a16="http://schemas.microsoft.com/office/drawing/2014/main" id="{6F572C67-413B-3B18-E364-A0B223A7C240}"/>
              </a:ext>
            </a:extLst>
          </p:cNvPr>
          <p:cNvPicPr>
            <a:picLocks noGrp="1" noChangeAspect="1"/>
          </p:cNvPicPr>
          <p:nvPr>
            <p:ph idx="1"/>
          </p:nvPr>
        </p:nvPicPr>
        <p:blipFill>
          <a:blip r:embed="rId3"/>
          <a:stretch>
            <a:fillRect/>
          </a:stretch>
        </p:blipFill>
        <p:spPr>
          <a:xfrm>
            <a:off x="2533450" y="1825625"/>
            <a:ext cx="7125100" cy="4351338"/>
          </a:xfrm>
          <a:prstGeom prst="rect">
            <a:avLst/>
          </a:prstGeom>
        </p:spPr>
      </p:pic>
    </p:spTree>
    <p:extLst>
      <p:ext uri="{BB962C8B-B14F-4D97-AF65-F5344CB8AC3E}">
        <p14:creationId xmlns:p14="http://schemas.microsoft.com/office/powerpoint/2010/main" val="702117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53D27-264D-C411-6D53-63394E505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3F722-A12E-758D-A71E-F8ACE36FD6F4}"/>
              </a:ext>
            </a:extLst>
          </p:cNvPr>
          <p:cNvSpPr>
            <a:spLocks noGrp="1"/>
          </p:cNvSpPr>
          <p:nvPr>
            <p:ph type="title"/>
          </p:nvPr>
        </p:nvSpPr>
        <p:spPr/>
        <p:txBody>
          <a:bodyPr/>
          <a:lstStyle/>
          <a:p>
            <a:r>
              <a:rPr lang="en-US" dirty="0"/>
              <a:t>Linear Regression: Problem</a:t>
            </a:r>
          </a:p>
        </p:txBody>
      </p:sp>
      <p:graphicFrame>
        <p:nvGraphicFramePr>
          <p:cNvPr id="4" name="Table 3">
            <a:extLst>
              <a:ext uri="{FF2B5EF4-FFF2-40B4-BE49-F238E27FC236}">
                <a16:creationId xmlns:a16="http://schemas.microsoft.com/office/drawing/2014/main" id="{24B35A7B-E2E6-2FBC-9BEE-9924DFBA2C10}"/>
              </a:ext>
            </a:extLst>
          </p:cNvPr>
          <p:cNvGraphicFramePr>
            <a:graphicFrameLocks noGrp="1"/>
          </p:cNvGraphicFramePr>
          <p:nvPr>
            <p:extLst>
              <p:ext uri="{D42A27DB-BD31-4B8C-83A1-F6EECF244321}">
                <p14:modId xmlns:p14="http://schemas.microsoft.com/office/powerpoint/2010/main" val="1795088337"/>
              </p:ext>
            </p:extLst>
          </p:nvPr>
        </p:nvGraphicFramePr>
        <p:xfrm>
          <a:off x="-621956" y="1778845"/>
          <a:ext cx="10515600" cy="4297680"/>
        </p:xfrm>
        <a:graphic>
          <a:graphicData uri="http://schemas.openxmlformats.org/drawingml/2006/table">
            <a:tbl>
              <a:tblPr/>
              <a:tblGrid>
                <a:gridCol w="3505200">
                  <a:extLst>
                    <a:ext uri="{9D8B030D-6E8A-4147-A177-3AD203B41FA5}">
                      <a16:colId xmlns:a16="http://schemas.microsoft.com/office/drawing/2014/main" val="2015490336"/>
                    </a:ext>
                  </a:extLst>
                </a:gridCol>
                <a:gridCol w="3505200">
                  <a:extLst>
                    <a:ext uri="{9D8B030D-6E8A-4147-A177-3AD203B41FA5}">
                      <a16:colId xmlns:a16="http://schemas.microsoft.com/office/drawing/2014/main" val="3743607239"/>
                    </a:ext>
                  </a:extLst>
                </a:gridCol>
                <a:gridCol w="3505200">
                  <a:extLst>
                    <a:ext uri="{9D8B030D-6E8A-4147-A177-3AD203B41FA5}">
                      <a16:colId xmlns:a16="http://schemas.microsoft.com/office/drawing/2014/main" val="2205417317"/>
                    </a:ext>
                  </a:extLst>
                </a:gridCol>
              </a:tblGrid>
              <a:tr h="138924">
                <a:tc>
                  <a:txBody>
                    <a:bodyPr/>
                    <a:lstStyle/>
                    <a:p>
                      <a:pPr algn="r">
                        <a:buNone/>
                      </a:pPr>
                      <a:r>
                        <a:rPr lang="en-US" dirty="0" err="1"/>
                        <a:t>InfantID</a:t>
                      </a:r>
                      <a:endParaRPr lang="en-US" dirty="0"/>
                    </a:p>
                  </a:txBody>
                  <a:tcPr anchor="ctr">
                    <a:lnL>
                      <a:noFill/>
                    </a:lnL>
                    <a:lnR>
                      <a:noFill/>
                    </a:lnR>
                    <a:lnT>
                      <a:noFill/>
                    </a:lnT>
                    <a:lnB>
                      <a:noFill/>
                    </a:lnB>
                    <a:noFill/>
                  </a:tcPr>
                </a:tc>
                <a:tc>
                  <a:txBody>
                    <a:bodyPr/>
                    <a:lstStyle/>
                    <a:p>
                      <a:pPr algn="r">
                        <a:buNone/>
                      </a:pPr>
                      <a:r>
                        <a:rPr lang="en-US"/>
                        <a:t>Cigarettes_per_day (during pregnancy)</a:t>
                      </a:r>
                    </a:p>
                  </a:txBody>
                  <a:tcPr anchor="ctr">
                    <a:lnL>
                      <a:noFill/>
                    </a:lnL>
                    <a:lnR>
                      <a:noFill/>
                    </a:lnR>
                    <a:lnT>
                      <a:noFill/>
                    </a:lnT>
                    <a:lnB>
                      <a:noFill/>
                    </a:lnB>
                    <a:noFill/>
                  </a:tcPr>
                </a:tc>
                <a:tc>
                  <a:txBody>
                    <a:bodyPr/>
                    <a:lstStyle/>
                    <a:p>
                      <a:pPr algn="r">
                        <a:buNone/>
                      </a:pPr>
                      <a:r>
                        <a:rPr lang="en-US"/>
                        <a:t>BirthWeight (grams)</a:t>
                      </a:r>
                    </a:p>
                  </a:txBody>
                  <a:tcPr anchor="ctr">
                    <a:lnL>
                      <a:noFill/>
                    </a:lnL>
                    <a:lnR>
                      <a:noFill/>
                    </a:lnR>
                    <a:lnT>
                      <a:noFill/>
                    </a:lnT>
                    <a:lnB>
                      <a:noFill/>
                    </a:lnB>
                    <a:noFill/>
                  </a:tcPr>
                </a:tc>
                <a:extLst>
                  <a:ext uri="{0D108BD9-81ED-4DB2-BD59-A6C34878D82A}">
                    <a16:rowId xmlns:a16="http://schemas.microsoft.com/office/drawing/2014/main" val="3714373731"/>
                  </a:ext>
                </a:extLst>
              </a:tr>
              <a:tr h="0">
                <a:tc>
                  <a:txBody>
                    <a:bodyPr/>
                    <a:lstStyle/>
                    <a:p>
                      <a:pPr algn="r">
                        <a:buNone/>
                      </a:pPr>
                      <a:r>
                        <a:rPr lang="en-US" dirty="0"/>
                        <a:t>001</a:t>
                      </a:r>
                    </a:p>
                  </a:txBody>
                  <a:tcPr anchor="ctr">
                    <a:lnL>
                      <a:noFill/>
                    </a:lnL>
                    <a:lnR>
                      <a:noFill/>
                    </a:lnR>
                    <a:lnT>
                      <a:noFill/>
                    </a:lnT>
                    <a:lnB>
                      <a:noFill/>
                    </a:lnB>
                    <a:noFill/>
                  </a:tcPr>
                </a:tc>
                <a:tc>
                  <a:txBody>
                    <a:bodyPr/>
                    <a:lstStyle/>
                    <a:p>
                      <a:pPr algn="r">
                        <a:buNone/>
                      </a:pPr>
                      <a:r>
                        <a:rPr lang="en-US" dirty="0"/>
                        <a:t>0</a:t>
                      </a:r>
                    </a:p>
                  </a:txBody>
                  <a:tcPr anchor="ctr">
                    <a:lnL>
                      <a:noFill/>
                    </a:lnL>
                    <a:lnR>
                      <a:noFill/>
                    </a:lnR>
                    <a:lnT>
                      <a:noFill/>
                    </a:lnT>
                    <a:lnB>
                      <a:noFill/>
                    </a:lnB>
                    <a:noFill/>
                  </a:tcPr>
                </a:tc>
                <a:tc>
                  <a:txBody>
                    <a:bodyPr/>
                    <a:lstStyle/>
                    <a:p>
                      <a:pPr algn="r">
                        <a:buNone/>
                      </a:pPr>
                      <a:r>
                        <a:rPr lang="en-US" dirty="0"/>
                        <a:t>3500</a:t>
                      </a:r>
                    </a:p>
                  </a:txBody>
                  <a:tcPr anchor="ctr">
                    <a:lnL>
                      <a:noFill/>
                    </a:lnL>
                    <a:lnR>
                      <a:noFill/>
                    </a:lnR>
                    <a:lnT>
                      <a:noFill/>
                    </a:lnT>
                    <a:lnB>
                      <a:noFill/>
                    </a:lnB>
                    <a:noFill/>
                  </a:tcPr>
                </a:tc>
                <a:extLst>
                  <a:ext uri="{0D108BD9-81ED-4DB2-BD59-A6C34878D82A}">
                    <a16:rowId xmlns:a16="http://schemas.microsoft.com/office/drawing/2014/main" val="534564758"/>
                  </a:ext>
                </a:extLst>
              </a:tr>
              <a:tr h="0">
                <a:tc>
                  <a:txBody>
                    <a:bodyPr/>
                    <a:lstStyle/>
                    <a:p>
                      <a:pPr algn="r">
                        <a:buNone/>
                      </a:pPr>
                      <a:r>
                        <a:rPr lang="en-US"/>
                        <a:t>002</a:t>
                      </a:r>
                    </a:p>
                  </a:txBody>
                  <a:tcPr anchor="ctr">
                    <a:lnL>
                      <a:noFill/>
                    </a:lnL>
                    <a:lnR>
                      <a:noFill/>
                    </a:lnR>
                    <a:lnT>
                      <a:noFill/>
                    </a:lnT>
                    <a:lnB>
                      <a:noFill/>
                    </a:lnB>
                    <a:noFill/>
                  </a:tcPr>
                </a:tc>
                <a:tc>
                  <a:txBody>
                    <a:bodyPr/>
                    <a:lstStyle/>
                    <a:p>
                      <a:pPr algn="r">
                        <a:buNone/>
                      </a:pPr>
                      <a:r>
                        <a:rPr lang="en-US" dirty="0"/>
                        <a:t>5</a:t>
                      </a:r>
                    </a:p>
                  </a:txBody>
                  <a:tcPr anchor="ctr">
                    <a:lnL>
                      <a:noFill/>
                    </a:lnL>
                    <a:lnR>
                      <a:noFill/>
                    </a:lnR>
                    <a:lnT>
                      <a:noFill/>
                    </a:lnT>
                    <a:lnB>
                      <a:noFill/>
                    </a:lnB>
                    <a:noFill/>
                  </a:tcPr>
                </a:tc>
                <a:tc>
                  <a:txBody>
                    <a:bodyPr/>
                    <a:lstStyle/>
                    <a:p>
                      <a:pPr algn="r">
                        <a:buNone/>
                      </a:pPr>
                      <a:r>
                        <a:rPr lang="en-US" dirty="0"/>
                        <a:t>3300</a:t>
                      </a:r>
                    </a:p>
                  </a:txBody>
                  <a:tcPr anchor="ctr">
                    <a:lnL>
                      <a:noFill/>
                    </a:lnL>
                    <a:lnR>
                      <a:noFill/>
                    </a:lnR>
                    <a:lnT>
                      <a:noFill/>
                    </a:lnT>
                    <a:lnB>
                      <a:noFill/>
                    </a:lnB>
                    <a:noFill/>
                  </a:tcPr>
                </a:tc>
                <a:extLst>
                  <a:ext uri="{0D108BD9-81ED-4DB2-BD59-A6C34878D82A}">
                    <a16:rowId xmlns:a16="http://schemas.microsoft.com/office/drawing/2014/main" val="881661699"/>
                  </a:ext>
                </a:extLst>
              </a:tr>
              <a:tr h="0">
                <a:tc>
                  <a:txBody>
                    <a:bodyPr/>
                    <a:lstStyle/>
                    <a:p>
                      <a:pPr algn="r">
                        <a:buNone/>
                      </a:pPr>
                      <a:r>
                        <a:rPr lang="en-US"/>
                        <a:t>003</a:t>
                      </a:r>
                    </a:p>
                  </a:txBody>
                  <a:tcPr anchor="ctr">
                    <a:lnL>
                      <a:noFill/>
                    </a:lnL>
                    <a:lnR>
                      <a:noFill/>
                    </a:lnR>
                    <a:lnT>
                      <a:noFill/>
                    </a:lnT>
                    <a:lnB>
                      <a:noFill/>
                    </a:lnB>
                    <a:noFill/>
                  </a:tcPr>
                </a:tc>
                <a:tc>
                  <a:txBody>
                    <a:bodyPr/>
                    <a:lstStyle/>
                    <a:p>
                      <a:pPr algn="r">
                        <a:buNone/>
                      </a:pPr>
                      <a:r>
                        <a:rPr lang="en-US" dirty="0"/>
                        <a:t>10</a:t>
                      </a:r>
                    </a:p>
                  </a:txBody>
                  <a:tcPr anchor="ctr">
                    <a:lnL>
                      <a:noFill/>
                    </a:lnL>
                    <a:lnR>
                      <a:noFill/>
                    </a:lnR>
                    <a:lnT>
                      <a:noFill/>
                    </a:lnT>
                    <a:lnB>
                      <a:noFill/>
                    </a:lnB>
                    <a:noFill/>
                  </a:tcPr>
                </a:tc>
                <a:tc>
                  <a:txBody>
                    <a:bodyPr/>
                    <a:lstStyle/>
                    <a:p>
                      <a:pPr algn="r">
                        <a:buNone/>
                      </a:pPr>
                      <a:r>
                        <a:rPr lang="en-US" dirty="0"/>
                        <a:t>3150</a:t>
                      </a:r>
                    </a:p>
                  </a:txBody>
                  <a:tcPr anchor="ctr">
                    <a:lnL>
                      <a:noFill/>
                    </a:lnL>
                    <a:lnR>
                      <a:noFill/>
                    </a:lnR>
                    <a:lnT>
                      <a:noFill/>
                    </a:lnT>
                    <a:lnB>
                      <a:noFill/>
                    </a:lnB>
                    <a:noFill/>
                  </a:tcPr>
                </a:tc>
                <a:extLst>
                  <a:ext uri="{0D108BD9-81ED-4DB2-BD59-A6C34878D82A}">
                    <a16:rowId xmlns:a16="http://schemas.microsoft.com/office/drawing/2014/main" val="2188328131"/>
                  </a:ext>
                </a:extLst>
              </a:tr>
              <a:tr h="0">
                <a:tc>
                  <a:txBody>
                    <a:bodyPr/>
                    <a:lstStyle/>
                    <a:p>
                      <a:pPr algn="r">
                        <a:buNone/>
                      </a:pPr>
                      <a:r>
                        <a:rPr lang="en-US"/>
                        <a:t>004</a:t>
                      </a:r>
                    </a:p>
                  </a:txBody>
                  <a:tcPr anchor="ctr">
                    <a:lnL>
                      <a:noFill/>
                    </a:lnL>
                    <a:lnR>
                      <a:noFill/>
                    </a:lnR>
                    <a:lnT>
                      <a:noFill/>
                    </a:lnT>
                    <a:lnB>
                      <a:noFill/>
                    </a:lnB>
                    <a:noFill/>
                  </a:tcPr>
                </a:tc>
                <a:tc>
                  <a:txBody>
                    <a:bodyPr/>
                    <a:lstStyle/>
                    <a:p>
                      <a:pPr algn="r">
                        <a:buNone/>
                      </a:pPr>
                      <a:r>
                        <a:rPr lang="en-US"/>
                        <a:t>0</a:t>
                      </a:r>
                    </a:p>
                  </a:txBody>
                  <a:tcPr anchor="ctr">
                    <a:lnL>
                      <a:noFill/>
                    </a:lnL>
                    <a:lnR>
                      <a:noFill/>
                    </a:lnR>
                    <a:lnT>
                      <a:noFill/>
                    </a:lnT>
                    <a:lnB>
                      <a:noFill/>
                    </a:lnB>
                    <a:noFill/>
                  </a:tcPr>
                </a:tc>
                <a:tc>
                  <a:txBody>
                    <a:bodyPr/>
                    <a:lstStyle/>
                    <a:p>
                      <a:pPr algn="r">
                        <a:buNone/>
                      </a:pPr>
                      <a:r>
                        <a:rPr lang="en-US" dirty="0"/>
                        <a:t>3600</a:t>
                      </a:r>
                    </a:p>
                  </a:txBody>
                  <a:tcPr anchor="ctr">
                    <a:lnL>
                      <a:noFill/>
                    </a:lnL>
                    <a:lnR>
                      <a:noFill/>
                    </a:lnR>
                    <a:lnT>
                      <a:noFill/>
                    </a:lnT>
                    <a:lnB>
                      <a:noFill/>
                    </a:lnB>
                    <a:noFill/>
                  </a:tcPr>
                </a:tc>
                <a:extLst>
                  <a:ext uri="{0D108BD9-81ED-4DB2-BD59-A6C34878D82A}">
                    <a16:rowId xmlns:a16="http://schemas.microsoft.com/office/drawing/2014/main" val="704930150"/>
                  </a:ext>
                </a:extLst>
              </a:tr>
              <a:tr h="0">
                <a:tc>
                  <a:txBody>
                    <a:bodyPr/>
                    <a:lstStyle/>
                    <a:p>
                      <a:pPr algn="r">
                        <a:buNone/>
                      </a:pPr>
                      <a:r>
                        <a:rPr lang="en-US"/>
                        <a:t>005</a:t>
                      </a:r>
                    </a:p>
                  </a:txBody>
                  <a:tcPr anchor="ctr">
                    <a:lnL>
                      <a:noFill/>
                    </a:lnL>
                    <a:lnR>
                      <a:noFill/>
                    </a:lnR>
                    <a:lnT>
                      <a:noFill/>
                    </a:lnT>
                    <a:lnB>
                      <a:noFill/>
                    </a:lnB>
                    <a:noFill/>
                  </a:tcPr>
                </a:tc>
                <a:tc>
                  <a:txBody>
                    <a:bodyPr/>
                    <a:lstStyle/>
                    <a:p>
                      <a:pPr algn="r">
                        <a:buNone/>
                      </a:pPr>
                      <a:r>
                        <a:rPr lang="en-US" dirty="0"/>
                        <a:t>15</a:t>
                      </a:r>
                    </a:p>
                  </a:txBody>
                  <a:tcPr anchor="ctr">
                    <a:lnL>
                      <a:noFill/>
                    </a:lnL>
                    <a:lnR>
                      <a:noFill/>
                    </a:lnR>
                    <a:lnT>
                      <a:noFill/>
                    </a:lnT>
                    <a:lnB>
                      <a:noFill/>
                    </a:lnB>
                    <a:noFill/>
                  </a:tcPr>
                </a:tc>
                <a:tc>
                  <a:txBody>
                    <a:bodyPr/>
                    <a:lstStyle/>
                    <a:p>
                      <a:pPr algn="r">
                        <a:buNone/>
                      </a:pPr>
                      <a:r>
                        <a:rPr lang="en-US" dirty="0"/>
                        <a:t>3000</a:t>
                      </a:r>
                    </a:p>
                  </a:txBody>
                  <a:tcPr anchor="ctr">
                    <a:lnL>
                      <a:noFill/>
                    </a:lnL>
                    <a:lnR>
                      <a:noFill/>
                    </a:lnR>
                    <a:lnT>
                      <a:noFill/>
                    </a:lnT>
                    <a:lnB>
                      <a:noFill/>
                    </a:lnB>
                    <a:noFill/>
                  </a:tcPr>
                </a:tc>
                <a:extLst>
                  <a:ext uri="{0D108BD9-81ED-4DB2-BD59-A6C34878D82A}">
                    <a16:rowId xmlns:a16="http://schemas.microsoft.com/office/drawing/2014/main" val="4108364250"/>
                  </a:ext>
                </a:extLst>
              </a:tr>
              <a:tr h="0">
                <a:tc>
                  <a:txBody>
                    <a:bodyPr/>
                    <a:lstStyle/>
                    <a:p>
                      <a:pPr algn="r">
                        <a:buNone/>
                      </a:pPr>
                      <a:r>
                        <a:rPr lang="en-US"/>
                        <a:t>006</a:t>
                      </a:r>
                    </a:p>
                  </a:txBody>
                  <a:tcPr anchor="ctr">
                    <a:lnL>
                      <a:noFill/>
                    </a:lnL>
                    <a:lnR>
                      <a:noFill/>
                    </a:lnR>
                    <a:lnT>
                      <a:noFill/>
                    </a:lnT>
                    <a:lnB>
                      <a:noFill/>
                    </a:lnB>
                    <a:noFill/>
                  </a:tcPr>
                </a:tc>
                <a:tc>
                  <a:txBody>
                    <a:bodyPr/>
                    <a:lstStyle/>
                    <a:p>
                      <a:pPr algn="r">
                        <a:buNone/>
                      </a:pPr>
                      <a:r>
                        <a:rPr lang="en-US"/>
                        <a:t>20</a:t>
                      </a:r>
                    </a:p>
                  </a:txBody>
                  <a:tcPr anchor="ctr">
                    <a:lnL>
                      <a:noFill/>
                    </a:lnL>
                    <a:lnR>
                      <a:noFill/>
                    </a:lnR>
                    <a:lnT>
                      <a:noFill/>
                    </a:lnT>
                    <a:lnB>
                      <a:noFill/>
                    </a:lnB>
                    <a:noFill/>
                  </a:tcPr>
                </a:tc>
                <a:tc>
                  <a:txBody>
                    <a:bodyPr/>
                    <a:lstStyle/>
                    <a:p>
                      <a:pPr algn="r">
                        <a:buNone/>
                      </a:pPr>
                      <a:r>
                        <a:rPr lang="en-US" dirty="0"/>
                        <a:t>2850</a:t>
                      </a:r>
                    </a:p>
                  </a:txBody>
                  <a:tcPr anchor="ctr">
                    <a:lnL>
                      <a:noFill/>
                    </a:lnL>
                    <a:lnR>
                      <a:noFill/>
                    </a:lnR>
                    <a:lnT>
                      <a:noFill/>
                    </a:lnT>
                    <a:lnB>
                      <a:noFill/>
                    </a:lnB>
                    <a:noFill/>
                  </a:tcPr>
                </a:tc>
                <a:extLst>
                  <a:ext uri="{0D108BD9-81ED-4DB2-BD59-A6C34878D82A}">
                    <a16:rowId xmlns:a16="http://schemas.microsoft.com/office/drawing/2014/main" val="1076030553"/>
                  </a:ext>
                </a:extLst>
              </a:tr>
              <a:tr h="0">
                <a:tc>
                  <a:txBody>
                    <a:bodyPr/>
                    <a:lstStyle/>
                    <a:p>
                      <a:pPr algn="r">
                        <a:buNone/>
                      </a:pPr>
                      <a:r>
                        <a:rPr lang="en-US"/>
                        <a:t>007</a:t>
                      </a:r>
                    </a:p>
                  </a:txBody>
                  <a:tcPr anchor="ctr">
                    <a:lnL>
                      <a:noFill/>
                    </a:lnL>
                    <a:lnR>
                      <a:noFill/>
                    </a:lnR>
                    <a:lnT>
                      <a:noFill/>
                    </a:lnT>
                    <a:lnB>
                      <a:noFill/>
                    </a:lnB>
                    <a:noFill/>
                  </a:tcPr>
                </a:tc>
                <a:tc>
                  <a:txBody>
                    <a:bodyPr/>
                    <a:lstStyle/>
                    <a:p>
                      <a:pPr algn="r">
                        <a:buNone/>
                      </a:pPr>
                      <a:r>
                        <a:rPr lang="en-US"/>
                        <a:t>0</a:t>
                      </a:r>
                    </a:p>
                  </a:txBody>
                  <a:tcPr anchor="ctr">
                    <a:lnL>
                      <a:noFill/>
                    </a:lnL>
                    <a:lnR>
                      <a:noFill/>
                    </a:lnR>
                    <a:lnT>
                      <a:noFill/>
                    </a:lnT>
                    <a:lnB>
                      <a:noFill/>
                    </a:lnB>
                    <a:noFill/>
                  </a:tcPr>
                </a:tc>
                <a:tc>
                  <a:txBody>
                    <a:bodyPr/>
                    <a:lstStyle/>
                    <a:p>
                      <a:pPr algn="r">
                        <a:buNone/>
                      </a:pPr>
                      <a:r>
                        <a:rPr lang="en-US"/>
                        <a:t>3400</a:t>
                      </a:r>
                    </a:p>
                  </a:txBody>
                  <a:tcPr anchor="ctr">
                    <a:lnL>
                      <a:noFill/>
                    </a:lnL>
                    <a:lnR>
                      <a:noFill/>
                    </a:lnR>
                    <a:lnT>
                      <a:noFill/>
                    </a:lnT>
                    <a:lnB>
                      <a:noFill/>
                    </a:lnB>
                    <a:noFill/>
                  </a:tcPr>
                </a:tc>
                <a:extLst>
                  <a:ext uri="{0D108BD9-81ED-4DB2-BD59-A6C34878D82A}">
                    <a16:rowId xmlns:a16="http://schemas.microsoft.com/office/drawing/2014/main" val="1414612194"/>
                  </a:ext>
                </a:extLst>
              </a:tr>
              <a:tr h="0">
                <a:tc>
                  <a:txBody>
                    <a:bodyPr/>
                    <a:lstStyle/>
                    <a:p>
                      <a:pPr algn="r">
                        <a:buNone/>
                      </a:pPr>
                      <a:r>
                        <a:rPr lang="en-US"/>
                        <a:t>008</a:t>
                      </a:r>
                    </a:p>
                  </a:txBody>
                  <a:tcPr anchor="ctr">
                    <a:lnL>
                      <a:noFill/>
                    </a:lnL>
                    <a:lnR>
                      <a:noFill/>
                    </a:lnR>
                    <a:lnT>
                      <a:noFill/>
                    </a:lnT>
                    <a:lnB>
                      <a:noFill/>
                    </a:lnB>
                    <a:noFill/>
                  </a:tcPr>
                </a:tc>
                <a:tc>
                  <a:txBody>
                    <a:bodyPr/>
                    <a:lstStyle/>
                    <a:p>
                      <a:pPr algn="r">
                        <a:buNone/>
                      </a:pPr>
                      <a:r>
                        <a:rPr lang="en-US" dirty="0"/>
                        <a:t>25</a:t>
                      </a:r>
                    </a:p>
                  </a:txBody>
                  <a:tcPr anchor="ctr">
                    <a:lnL>
                      <a:noFill/>
                    </a:lnL>
                    <a:lnR>
                      <a:noFill/>
                    </a:lnR>
                    <a:lnT>
                      <a:noFill/>
                    </a:lnT>
                    <a:lnB>
                      <a:noFill/>
                    </a:lnB>
                    <a:noFill/>
                  </a:tcPr>
                </a:tc>
                <a:tc>
                  <a:txBody>
                    <a:bodyPr/>
                    <a:lstStyle/>
                    <a:p>
                      <a:pPr algn="r">
                        <a:buNone/>
                      </a:pPr>
                      <a:r>
                        <a:rPr lang="en-US" dirty="0"/>
                        <a:t>2750</a:t>
                      </a:r>
                    </a:p>
                  </a:txBody>
                  <a:tcPr anchor="ctr">
                    <a:lnL>
                      <a:noFill/>
                    </a:lnL>
                    <a:lnR>
                      <a:noFill/>
                    </a:lnR>
                    <a:lnT>
                      <a:noFill/>
                    </a:lnT>
                    <a:lnB>
                      <a:noFill/>
                    </a:lnB>
                    <a:noFill/>
                  </a:tcPr>
                </a:tc>
                <a:extLst>
                  <a:ext uri="{0D108BD9-81ED-4DB2-BD59-A6C34878D82A}">
                    <a16:rowId xmlns:a16="http://schemas.microsoft.com/office/drawing/2014/main" val="1613700462"/>
                  </a:ext>
                </a:extLst>
              </a:tr>
              <a:tr h="0">
                <a:tc>
                  <a:txBody>
                    <a:bodyPr/>
                    <a:lstStyle/>
                    <a:p>
                      <a:pPr algn="r">
                        <a:buNone/>
                      </a:pPr>
                      <a:r>
                        <a:rPr lang="en-US"/>
                        <a:t>009</a:t>
                      </a:r>
                    </a:p>
                  </a:txBody>
                  <a:tcPr anchor="ctr">
                    <a:lnL>
                      <a:noFill/>
                    </a:lnL>
                    <a:lnR>
                      <a:noFill/>
                    </a:lnR>
                    <a:lnT>
                      <a:noFill/>
                    </a:lnT>
                    <a:lnB>
                      <a:noFill/>
                    </a:lnB>
                    <a:noFill/>
                  </a:tcPr>
                </a:tc>
                <a:tc>
                  <a:txBody>
                    <a:bodyPr/>
                    <a:lstStyle/>
                    <a:p>
                      <a:pPr algn="r">
                        <a:buNone/>
                      </a:pPr>
                      <a:r>
                        <a:rPr lang="en-US"/>
                        <a:t>12</a:t>
                      </a:r>
                    </a:p>
                  </a:txBody>
                  <a:tcPr anchor="ctr">
                    <a:lnL>
                      <a:noFill/>
                    </a:lnL>
                    <a:lnR>
                      <a:noFill/>
                    </a:lnR>
                    <a:lnT>
                      <a:noFill/>
                    </a:lnT>
                    <a:lnB>
                      <a:noFill/>
                    </a:lnB>
                    <a:noFill/>
                  </a:tcPr>
                </a:tc>
                <a:tc>
                  <a:txBody>
                    <a:bodyPr/>
                    <a:lstStyle/>
                    <a:p>
                      <a:pPr algn="r">
                        <a:buNone/>
                      </a:pPr>
                      <a:r>
                        <a:rPr lang="en-US" dirty="0"/>
                        <a:t>3100</a:t>
                      </a:r>
                    </a:p>
                  </a:txBody>
                  <a:tcPr anchor="ctr">
                    <a:lnL>
                      <a:noFill/>
                    </a:lnL>
                    <a:lnR>
                      <a:noFill/>
                    </a:lnR>
                    <a:lnT>
                      <a:noFill/>
                    </a:lnT>
                    <a:lnB>
                      <a:noFill/>
                    </a:lnB>
                    <a:noFill/>
                  </a:tcPr>
                </a:tc>
                <a:extLst>
                  <a:ext uri="{0D108BD9-81ED-4DB2-BD59-A6C34878D82A}">
                    <a16:rowId xmlns:a16="http://schemas.microsoft.com/office/drawing/2014/main" val="3137110922"/>
                  </a:ext>
                </a:extLst>
              </a:tr>
              <a:tr h="0">
                <a:tc>
                  <a:txBody>
                    <a:bodyPr/>
                    <a:lstStyle/>
                    <a:p>
                      <a:pPr algn="r">
                        <a:buNone/>
                      </a:pPr>
                      <a:r>
                        <a:rPr lang="en-US"/>
                        <a:t>010</a:t>
                      </a:r>
                    </a:p>
                  </a:txBody>
                  <a:tcPr anchor="ctr">
                    <a:lnL>
                      <a:noFill/>
                    </a:lnL>
                    <a:lnR>
                      <a:noFill/>
                    </a:lnR>
                    <a:lnT>
                      <a:noFill/>
                    </a:lnT>
                    <a:lnB>
                      <a:noFill/>
                    </a:lnB>
                    <a:noFill/>
                  </a:tcPr>
                </a:tc>
                <a:tc>
                  <a:txBody>
                    <a:bodyPr/>
                    <a:lstStyle/>
                    <a:p>
                      <a:pPr algn="r">
                        <a:buNone/>
                      </a:pPr>
                      <a:r>
                        <a:rPr lang="en-US" dirty="0"/>
                        <a:t>0</a:t>
                      </a:r>
                    </a:p>
                  </a:txBody>
                  <a:tcPr anchor="ctr">
                    <a:lnL>
                      <a:noFill/>
                    </a:lnL>
                    <a:lnR>
                      <a:noFill/>
                    </a:lnR>
                    <a:lnT>
                      <a:noFill/>
                    </a:lnT>
                    <a:lnB>
                      <a:noFill/>
                    </a:lnB>
                    <a:noFill/>
                  </a:tcPr>
                </a:tc>
                <a:tc>
                  <a:txBody>
                    <a:bodyPr/>
                    <a:lstStyle/>
                    <a:p>
                      <a:pPr algn="r">
                        <a:buNone/>
                      </a:pPr>
                      <a:r>
                        <a:rPr lang="en-US" dirty="0"/>
                        <a:t>3550</a:t>
                      </a:r>
                    </a:p>
                  </a:txBody>
                  <a:tcPr anchor="ctr">
                    <a:lnL>
                      <a:noFill/>
                    </a:lnL>
                    <a:lnR>
                      <a:noFill/>
                    </a:lnR>
                    <a:lnT>
                      <a:noFill/>
                    </a:lnT>
                    <a:lnB>
                      <a:noFill/>
                    </a:lnB>
                    <a:noFill/>
                  </a:tcPr>
                </a:tc>
                <a:extLst>
                  <a:ext uri="{0D108BD9-81ED-4DB2-BD59-A6C34878D82A}">
                    <a16:rowId xmlns:a16="http://schemas.microsoft.com/office/drawing/2014/main" val="3526228489"/>
                  </a:ext>
                </a:extLst>
              </a:tr>
            </a:tbl>
          </a:graphicData>
        </a:graphic>
      </p:graphicFrame>
    </p:spTree>
    <p:extLst>
      <p:ext uri="{BB962C8B-B14F-4D97-AF65-F5344CB8AC3E}">
        <p14:creationId xmlns:p14="http://schemas.microsoft.com/office/powerpoint/2010/main" val="1929367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84A81-7695-6CDA-6544-8252EBF2EE7C}"/>
              </a:ext>
            </a:extLst>
          </p:cNvPr>
          <p:cNvSpPr>
            <a:spLocks noGrp="1"/>
          </p:cNvSpPr>
          <p:nvPr>
            <p:ph type="title"/>
          </p:nvPr>
        </p:nvSpPr>
        <p:spPr/>
        <p:txBody>
          <a:bodyPr/>
          <a:lstStyle/>
          <a:p>
            <a:r>
              <a:rPr lang="en-US" dirty="0"/>
              <a:t>Linear Regression: Intuition</a:t>
            </a:r>
          </a:p>
        </p:txBody>
      </p:sp>
      <p:graphicFrame>
        <p:nvGraphicFramePr>
          <p:cNvPr id="4" name="Table 3">
            <a:extLst>
              <a:ext uri="{FF2B5EF4-FFF2-40B4-BE49-F238E27FC236}">
                <a16:creationId xmlns:a16="http://schemas.microsoft.com/office/drawing/2014/main" id="{96FC61A3-7743-8C43-699B-0008BB83ED91}"/>
              </a:ext>
            </a:extLst>
          </p:cNvPr>
          <p:cNvGraphicFramePr>
            <a:graphicFrameLocks noGrp="1"/>
          </p:cNvGraphicFramePr>
          <p:nvPr>
            <p:extLst>
              <p:ext uri="{D42A27DB-BD31-4B8C-83A1-F6EECF244321}">
                <p14:modId xmlns:p14="http://schemas.microsoft.com/office/powerpoint/2010/main" val="4145460925"/>
              </p:ext>
            </p:extLst>
          </p:nvPr>
        </p:nvGraphicFramePr>
        <p:xfrm>
          <a:off x="0" y="1499703"/>
          <a:ext cx="11862486" cy="2103120"/>
        </p:xfrm>
        <a:graphic>
          <a:graphicData uri="http://schemas.openxmlformats.org/drawingml/2006/table">
            <a:tbl>
              <a:tblPr/>
              <a:tblGrid>
                <a:gridCol w="1695065">
                  <a:extLst>
                    <a:ext uri="{9D8B030D-6E8A-4147-A177-3AD203B41FA5}">
                      <a16:colId xmlns:a16="http://schemas.microsoft.com/office/drawing/2014/main" val="376593629"/>
                    </a:ext>
                  </a:extLst>
                </a:gridCol>
                <a:gridCol w="3496824">
                  <a:extLst>
                    <a:ext uri="{9D8B030D-6E8A-4147-A177-3AD203B41FA5}">
                      <a16:colId xmlns:a16="http://schemas.microsoft.com/office/drawing/2014/main" val="322708735"/>
                    </a:ext>
                  </a:extLst>
                </a:gridCol>
                <a:gridCol w="2563492">
                  <a:extLst>
                    <a:ext uri="{9D8B030D-6E8A-4147-A177-3AD203B41FA5}">
                      <a16:colId xmlns:a16="http://schemas.microsoft.com/office/drawing/2014/main" val="614634182"/>
                    </a:ext>
                  </a:extLst>
                </a:gridCol>
                <a:gridCol w="1336599">
                  <a:extLst>
                    <a:ext uri="{9D8B030D-6E8A-4147-A177-3AD203B41FA5}">
                      <a16:colId xmlns:a16="http://schemas.microsoft.com/office/drawing/2014/main" val="1134123278"/>
                    </a:ext>
                  </a:extLst>
                </a:gridCol>
                <a:gridCol w="1225912">
                  <a:extLst>
                    <a:ext uri="{9D8B030D-6E8A-4147-A177-3AD203B41FA5}">
                      <a16:colId xmlns:a16="http://schemas.microsoft.com/office/drawing/2014/main" val="3125967425"/>
                    </a:ext>
                  </a:extLst>
                </a:gridCol>
                <a:gridCol w="1544594">
                  <a:extLst>
                    <a:ext uri="{9D8B030D-6E8A-4147-A177-3AD203B41FA5}">
                      <a16:colId xmlns:a16="http://schemas.microsoft.com/office/drawing/2014/main" val="2296446417"/>
                    </a:ext>
                  </a:extLst>
                </a:gridCol>
              </a:tblGrid>
              <a:tr h="119856">
                <a:tc>
                  <a:txBody>
                    <a:bodyPr/>
                    <a:lstStyle/>
                    <a:p>
                      <a:pPr algn="r">
                        <a:buNone/>
                      </a:pPr>
                      <a:r>
                        <a:rPr lang="en-US" dirty="0" err="1"/>
                        <a:t>InfantID</a:t>
                      </a:r>
                      <a:endParaRPr lang="en-US" dirty="0"/>
                    </a:p>
                  </a:txBody>
                  <a:tcPr anchor="ctr">
                    <a:lnL>
                      <a:noFill/>
                    </a:lnL>
                    <a:lnR>
                      <a:noFill/>
                    </a:lnR>
                    <a:lnT>
                      <a:noFill/>
                    </a:lnT>
                    <a:lnB>
                      <a:noFill/>
                    </a:lnB>
                    <a:noFill/>
                  </a:tcPr>
                </a:tc>
                <a:tc>
                  <a:txBody>
                    <a:bodyPr/>
                    <a:lstStyle/>
                    <a:p>
                      <a:pPr algn="r">
                        <a:buNone/>
                      </a:pPr>
                      <a:r>
                        <a:rPr lang="en-US"/>
                        <a:t>Cigarettes_per_day (during pregnancy)</a:t>
                      </a:r>
                    </a:p>
                  </a:txBody>
                  <a:tcPr anchor="ctr">
                    <a:lnL>
                      <a:noFill/>
                    </a:lnL>
                    <a:lnR>
                      <a:noFill/>
                    </a:lnR>
                    <a:lnT>
                      <a:noFill/>
                    </a:lnT>
                    <a:lnB>
                      <a:noFill/>
                    </a:lnB>
                    <a:noFill/>
                  </a:tcPr>
                </a:tc>
                <a:tc>
                  <a:txBody>
                    <a:bodyPr/>
                    <a:lstStyle/>
                    <a:p>
                      <a:pPr algn="r">
                        <a:buNone/>
                      </a:pPr>
                      <a:r>
                        <a:rPr lang="en-US" dirty="0" err="1"/>
                        <a:t>BirthWeight</a:t>
                      </a:r>
                      <a:r>
                        <a:rPr lang="en-US" dirty="0"/>
                        <a:t> (grams)</a:t>
                      </a:r>
                    </a:p>
                  </a:txBody>
                  <a:tcPr anchor="ctr">
                    <a:lnL>
                      <a:noFill/>
                    </a:lnL>
                    <a:lnR>
                      <a:noFill/>
                    </a:lnR>
                    <a:lnT>
                      <a:noFill/>
                    </a:lnT>
                    <a:lnB>
                      <a:noFill/>
                    </a:lnB>
                    <a:noFill/>
                  </a:tcPr>
                </a:tc>
                <a:tc>
                  <a:txBody>
                    <a:bodyPr/>
                    <a:lstStyle/>
                    <a:p>
                      <a:r>
                        <a:rPr lang="en-US" dirty="0"/>
                        <a:t>Predictions</a:t>
                      </a:r>
                    </a:p>
                  </a:txBody>
                  <a:tcPr>
                    <a:lnL>
                      <a:noFill/>
                    </a:lnL>
                    <a:lnR>
                      <a:noFill/>
                    </a:lnR>
                    <a:lnT>
                      <a:noFill/>
                    </a:lnT>
                    <a:lnB>
                      <a:noFill/>
                    </a:lnB>
                    <a:noFill/>
                  </a:tcPr>
                </a:tc>
                <a:tc>
                  <a:txBody>
                    <a:bodyPr/>
                    <a:lstStyle/>
                    <a:p>
                      <a:pPr algn="r">
                        <a:buNone/>
                      </a:pPr>
                      <a:r>
                        <a:rPr lang="en-US" dirty="0"/>
                        <a:t>Difference</a:t>
                      </a:r>
                    </a:p>
                  </a:txBody>
                  <a:tcPr anchor="ctr">
                    <a:lnL>
                      <a:noFill/>
                    </a:lnL>
                    <a:lnR>
                      <a:noFill/>
                    </a:lnR>
                    <a:lnT>
                      <a:noFill/>
                    </a:lnT>
                    <a:lnB>
                      <a:noFill/>
                    </a:lnB>
                    <a:noFill/>
                  </a:tcPr>
                </a:tc>
                <a:tc>
                  <a:txBody>
                    <a:bodyPr/>
                    <a:lstStyle/>
                    <a:p>
                      <a:pPr algn="r">
                        <a:buNone/>
                      </a:pPr>
                      <a:r>
                        <a:rPr lang="en-US" dirty="0"/>
                        <a:t>Squared Error</a:t>
                      </a:r>
                    </a:p>
                  </a:txBody>
                  <a:tcPr anchor="ctr">
                    <a:lnL>
                      <a:noFill/>
                    </a:lnL>
                    <a:lnR>
                      <a:noFill/>
                    </a:lnR>
                    <a:lnT>
                      <a:noFill/>
                    </a:lnT>
                    <a:lnB>
                      <a:noFill/>
                    </a:lnB>
                    <a:noFill/>
                  </a:tcPr>
                </a:tc>
                <a:extLst>
                  <a:ext uri="{0D108BD9-81ED-4DB2-BD59-A6C34878D82A}">
                    <a16:rowId xmlns:a16="http://schemas.microsoft.com/office/drawing/2014/main" val="1931386186"/>
                  </a:ext>
                </a:extLst>
              </a:tr>
              <a:tr h="0">
                <a:tc>
                  <a:txBody>
                    <a:bodyPr/>
                    <a:lstStyle/>
                    <a:p>
                      <a:pPr algn="r">
                        <a:buNone/>
                      </a:pPr>
                      <a:r>
                        <a:rPr lang="en-US" dirty="0"/>
                        <a:t>001</a:t>
                      </a:r>
                    </a:p>
                  </a:txBody>
                  <a:tcPr anchor="ctr">
                    <a:lnL>
                      <a:noFill/>
                    </a:lnL>
                    <a:lnR>
                      <a:noFill/>
                    </a:lnR>
                    <a:lnT>
                      <a:noFill/>
                    </a:lnT>
                    <a:lnB>
                      <a:noFill/>
                    </a:lnB>
                    <a:noFill/>
                  </a:tcPr>
                </a:tc>
                <a:tc>
                  <a:txBody>
                    <a:bodyPr/>
                    <a:lstStyle/>
                    <a:p>
                      <a:pPr algn="r">
                        <a:buNone/>
                      </a:pPr>
                      <a:r>
                        <a:rPr lang="en-US" dirty="0"/>
                        <a:t>0</a:t>
                      </a:r>
                    </a:p>
                  </a:txBody>
                  <a:tcPr anchor="ctr">
                    <a:lnL>
                      <a:noFill/>
                    </a:lnL>
                    <a:lnR>
                      <a:noFill/>
                    </a:lnR>
                    <a:lnT>
                      <a:noFill/>
                    </a:lnT>
                    <a:lnB>
                      <a:noFill/>
                    </a:lnB>
                    <a:noFill/>
                  </a:tcPr>
                </a:tc>
                <a:tc>
                  <a:txBody>
                    <a:bodyPr/>
                    <a:lstStyle/>
                    <a:p>
                      <a:pPr algn="r">
                        <a:buNone/>
                      </a:pPr>
                      <a:r>
                        <a:rPr lang="en-US" dirty="0"/>
                        <a:t>3500</a:t>
                      </a:r>
                    </a:p>
                  </a:txBody>
                  <a:tcPr anchor="ctr">
                    <a:lnL>
                      <a:noFill/>
                    </a:lnL>
                    <a:lnR>
                      <a:noFill/>
                    </a:lnR>
                    <a:lnT>
                      <a:noFill/>
                    </a:lnT>
                    <a:lnB>
                      <a:noFill/>
                    </a:lnB>
                    <a:noFill/>
                  </a:tcPr>
                </a:tc>
                <a:tc>
                  <a:txBody>
                    <a:bodyPr/>
                    <a:lstStyle/>
                    <a:p>
                      <a:r>
                        <a:rPr lang="en-US" dirty="0"/>
                        <a:t>3000</a:t>
                      </a:r>
                    </a:p>
                  </a:txBody>
                  <a:tcPr>
                    <a:lnL>
                      <a:noFill/>
                    </a:lnL>
                    <a:lnR>
                      <a:noFill/>
                    </a:lnR>
                    <a:lnT>
                      <a:noFill/>
                    </a:lnT>
                    <a:lnB>
                      <a:noFill/>
                    </a:lnB>
                    <a:noFill/>
                  </a:tcPr>
                </a:tc>
                <a:tc>
                  <a:txBody>
                    <a:bodyPr/>
                    <a:lstStyle/>
                    <a:p>
                      <a:pPr algn="r">
                        <a:buNone/>
                      </a:pPr>
                      <a:r>
                        <a:rPr lang="en-US" dirty="0"/>
                        <a:t>500</a:t>
                      </a:r>
                    </a:p>
                  </a:txBody>
                  <a:tcPr anchor="ctr">
                    <a:lnL>
                      <a:noFill/>
                    </a:lnL>
                    <a:lnR>
                      <a:noFill/>
                    </a:lnR>
                    <a:lnT>
                      <a:noFill/>
                    </a:lnT>
                    <a:lnB>
                      <a:noFill/>
                    </a:lnB>
                    <a:noFill/>
                  </a:tcPr>
                </a:tc>
                <a:tc>
                  <a:txBody>
                    <a:bodyPr/>
                    <a:lstStyle/>
                    <a:p>
                      <a:pPr algn="r">
                        <a:buNone/>
                      </a:pPr>
                      <a:r>
                        <a:rPr lang="en-US" dirty="0"/>
                        <a:t>250000</a:t>
                      </a:r>
                    </a:p>
                  </a:txBody>
                  <a:tcPr anchor="ctr">
                    <a:lnL>
                      <a:noFill/>
                    </a:lnL>
                    <a:lnR>
                      <a:noFill/>
                    </a:lnR>
                    <a:lnT>
                      <a:noFill/>
                    </a:lnT>
                    <a:lnB>
                      <a:noFill/>
                    </a:lnB>
                    <a:noFill/>
                  </a:tcPr>
                </a:tc>
                <a:extLst>
                  <a:ext uri="{0D108BD9-81ED-4DB2-BD59-A6C34878D82A}">
                    <a16:rowId xmlns:a16="http://schemas.microsoft.com/office/drawing/2014/main" val="3137976939"/>
                  </a:ext>
                </a:extLst>
              </a:tr>
              <a:tr h="0">
                <a:tc>
                  <a:txBody>
                    <a:bodyPr/>
                    <a:lstStyle/>
                    <a:p>
                      <a:pPr algn="r">
                        <a:buNone/>
                      </a:pPr>
                      <a:r>
                        <a:rPr lang="en-US"/>
                        <a:t>002</a:t>
                      </a:r>
                    </a:p>
                  </a:txBody>
                  <a:tcPr anchor="ctr">
                    <a:lnL>
                      <a:noFill/>
                    </a:lnL>
                    <a:lnR>
                      <a:noFill/>
                    </a:lnR>
                    <a:lnT>
                      <a:noFill/>
                    </a:lnT>
                    <a:lnB>
                      <a:noFill/>
                    </a:lnB>
                    <a:noFill/>
                  </a:tcPr>
                </a:tc>
                <a:tc>
                  <a:txBody>
                    <a:bodyPr/>
                    <a:lstStyle/>
                    <a:p>
                      <a:pPr algn="r">
                        <a:buNone/>
                      </a:pPr>
                      <a:r>
                        <a:rPr lang="en-US" dirty="0"/>
                        <a:t>5</a:t>
                      </a:r>
                    </a:p>
                  </a:txBody>
                  <a:tcPr anchor="ctr">
                    <a:lnL>
                      <a:noFill/>
                    </a:lnL>
                    <a:lnR>
                      <a:noFill/>
                    </a:lnR>
                    <a:lnT>
                      <a:noFill/>
                    </a:lnT>
                    <a:lnB>
                      <a:noFill/>
                    </a:lnB>
                    <a:noFill/>
                  </a:tcPr>
                </a:tc>
                <a:tc>
                  <a:txBody>
                    <a:bodyPr/>
                    <a:lstStyle/>
                    <a:p>
                      <a:pPr algn="r">
                        <a:buNone/>
                      </a:pPr>
                      <a:r>
                        <a:rPr lang="en-US" dirty="0"/>
                        <a:t>3300</a:t>
                      </a:r>
                    </a:p>
                  </a:txBody>
                  <a:tcPr anchor="ctr">
                    <a:lnL>
                      <a:noFill/>
                    </a:lnL>
                    <a:lnR>
                      <a:noFill/>
                    </a:lnR>
                    <a:lnT>
                      <a:noFill/>
                    </a:lnT>
                    <a:lnB>
                      <a:noFill/>
                    </a:lnB>
                    <a:noFill/>
                  </a:tcPr>
                </a:tc>
                <a:tc>
                  <a:txBody>
                    <a:bodyPr/>
                    <a:lstStyle/>
                    <a:p>
                      <a:r>
                        <a:rPr lang="en-US" dirty="0"/>
                        <a:t>3250</a:t>
                      </a:r>
                    </a:p>
                  </a:txBody>
                  <a:tcPr>
                    <a:lnL>
                      <a:noFill/>
                    </a:lnL>
                    <a:lnR>
                      <a:noFill/>
                    </a:lnR>
                    <a:lnT>
                      <a:noFill/>
                    </a:lnT>
                    <a:lnB>
                      <a:noFill/>
                    </a:lnB>
                    <a:noFill/>
                  </a:tcPr>
                </a:tc>
                <a:tc>
                  <a:txBody>
                    <a:bodyPr/>
                    <a:lstStyle/>
                    <a:p>
                      <a:pPr algn="r">
                        <a:buNone/>
                      </a:pPr>
                      <a:r>
                        <a:rPr lang="en-US" dirty="0"/>
                        <a:t>50</a:t>
                      </a:r>
                    </a:p>
                  </a:txBody>
                  <a:tcPr anchor="ctr">
                    <a:lnL>
                      <a:noFill/>
                    </a:lnL>
                    <a:lnR>
                      <a:noFill/>
                    </a:lnR>
                    <a:lnT>
                      <a:noFill/>
                    </a:lnT>
                    <a:lnB>
                      <a:noFill/>
                    </a:lnB>
                    <a:noFill/>
                  </a:tcPr>
                </a:tc>
                <a:tc>
                  <a:txBody>
                    <a:bodyPr/>
                    <a:lstStyle/>
                    <a:p>
                      <a:pPr algn="r">
                        <a:buNone/>
                      </a:pPr>
                      <a:r>
                        <a:rPr lang="en-US" dirty="0"/>
                        <a:t>2500</a:t>
                      </a:r>
                    </a:p>
                  </a:txBody>
                  <a:tcPr anchor="ctr">
                    <a:lnL>
                      <a:noFill/>
                    </a:lnL>
                    <a:lnR>
                      <a:noFill/>
                    </a:lnR>
                    <a:lnT>
                      <a:noFill/>
                    </a:lnT>
                    <a:lnB>
                      <a:noFill/>
                    </a:lnB>
                    <a:noFill/>
                  </a:tcPr>
                </a:tc>
                <a:extLst>
                  <a:ext uri="{0D108BD9-81ED-4DB2-BD59-A6C34878D82A}">
                    <a16:rowId xmlns:a16="http://schemas.microsoft.com/office/drawing/2014/main" val="674661517"/>
                  </a:ext>
                </a:extLst>
              </a:tr>
              <a:tr h="0">
                <a:tc>
                  <a:txBody>
                    <a:bodyPr/>
                    <a:lstStyle/>
                    <a:p>
                      <a:pPr algn="r">
                        <a:buNone/>
                      </a:pPr>
                      <a:r>
                        <a:rPr lang="en-US"/>
                        <a:t>003</a:t>
                      </a:r>
                    </a:p>
                  </a:txBody>
                  <a:tcPr anchor="ctr">
                    <a:lnL>
                      <a:noFill/>
                    </a:lnL>
                    <a:lnR>
                      <a:noFill/>
                    </a:lnR>
                    <a:lnT>
                      <a:noFill/>
                    </a:lnT>
                    <a:lnB>
                      <a:noFill/>
                    </a:lnB>
                    <a:noFill/>
                  </a:tcPr>
                </a:tc>
                <a:tc>
                  <a:txBody>
                    <a:bodyPr/>
                    <a:lstStyle/>
                    <a:p>
                      <a:pPr algn="r">
                        <a:buNone/>
                      </a:pPr>
                      <a:r>
                        <a:rPr lang="en-US" dirty="0"/>
                        <a:t>10</a:t>
                      </a:r>
                    </a:p>
                  </a:txBody>
                  <a:tcPr anchor="ctr">
                    <a:lnL>
                      <a:noFill/>
                    </a:lnL>
                    <a:lnR>
                      <a:noFill/>
                    </a:lnR>
                    <a:lnT>
                      <a:noFill/>
                    </a:lnT>
                    <a:lnB>
                      <a:noFill/>
                    </a:lnB>
                    <a:noFill/>
                  </a:tcPr>
                </a:tc>
                <a:tc>
                  <a:txBody>
                    <a:bodyPr/>
                    <a:lstStyle/>
                    <a:p>
                      <a:pPr algn="r">
                        <a:buNone/>
                      </a:pPr>
                      <a:r>
                        <a:rPr lang="en-US" dirty="0"/>
                        <a:t>3150</a:t>
                      </a:r>
                    </a:p>
                  </a:txBody>
                  <a:tcPr anchor="ctr">
                    <a:lnL>
                      <a:noFill/>
                    </a:lnL>
                    <a:lnR>
                      <a:noFill/>
                    </a:lnR>
                    <a:lnT>
                      <a:noFill/>
                    </a:lnT>
                    <a:lnB>
                      <a:noFill/>
                    </a:lnB>
                    <a:noFill/>
                  </a:tcPr>
                </a:tc>
                <a:tc>
                  <a:txBody>
                    <a:bodyPr/>
                    <a:lstStyle/>
                    <a:p>
                      <a:r>
                        <a:rPr lang="en-US" dirty="0"/>
                        <a:t>3500</a:t>
                      </a:r>
                    </a:p>
                  </a:txBody>
                  <a:tcPr>
                    <a:lnL>
                      <a:noFill/>
                    </a:lnL>
                    <a:lnR>
                      <a:noFill/>
                    </a:lnR>
                    <a:lnT>
                      <a:noFill/>
                    </a:lnT>
                    <a:lnB>
                      <a:noFill/>
                    </a:lnB>
                    <a:noFill/>
                  </a:tcPr>
                </a:tc>
                <a:tc>
                  <a:txBody>
                    <a:bodyPr/>
                    <a:lstStyle/>
                    <a:p>
                      <a:pPr algn="r">
                        <a:buNone/>
                      </a:pPr>
                      <a:r>
                        <a:rPr lang="en-US" dirty="0"/>
                        <a:t>-350</a:t>
                      </a:r>
                    </a:p>
                  </a:txBody>
                  <a:tcPr anchor="ctr">
                    <a:lnL>
                      <a:noFill/>
                    </a:lnL>
                    <a:lnR>
                      <a:noFill/>
                    </a:lnR>
                    <a:lnT>
                      <a:noFill/>
                    </a:lnT>
                    <a:lnB>
                      <a:noFill/>
                    </a:lnB>
                    <a:noFill/>
                  </a:tcPr>
                </a:tc>
                <a:tc>
                  <a:txBody>
                    <a:bodyPr/>
                    <a:lstStyle/>
                    <a:p>
                      <a:pPr algn="r">
                        <a:buNone/>
                      </a:pPr>
                      <a:r>
                        <a:rPr lang="en-US" dirty="0"/>
                        <a:t>122500</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9562285"/>
                  </a:ext>
                </a:extLst>
              </a:tr>
              <a:tr h="0">
                <a:tc>
                  <a:txBody>
                    <a:bodyPr/>
                    <a:lstStyle/>
                    <a:p>
                      <a:pPr algn="r">
                        <a:buNone/>
                      </a:pPr>
                      <a:endParaRPr lang="en-US"/>
                    </a:p>
                  </a:txBody>
                  <a:tcPr anchor="ctr">
                    <a:lnL>
                      <a:noFill/>
                    </a:lnL>
                    <a:lnR>
                      <a:noFill/>
                    </a:lnR>
                    <a:lnT>
                      <a:noFill/>
                    </a:lnT>
                    <a:lnB>
                      <a:noFill/>
                    </a:lnB>
                    <a:noFill/>
                  </a:tcPr>
                </a:tc>
                <a:tc>
                  <a:txBody>
                    <a:bodyPr/>
                    <a:lstStyle/>
                    <a:p>
                      <a:pPr algn="r">
                        <a:buNone/>
                      </a:pPr>
                      <a:endParaRPr lang="en-US" dirty="0"/>
                    </a:p>
                  </a:txBody>
                  <a:tcPr anchor="ctr">
                    <a:lnL>
                      <a:noFill/>
                    </a:lnL>
                    <a:lnR>
                      <a:noFill/>
                    </a:lnR>
                    <a:lnT>
                      <a:noFill/>
                    </a:lnT>
                    <a:lnB>
                      <a:noFill/>
                    </a:lnB>
                    <a:noFill/>
                  </a:tcPr>
                </a:tc>
                <a:tc>
                  <a:txBody>
                    <a:bodyPr/>
                    <a:lstStyle/>
                    <a:p>
                      <a:pPr algn="r">
                        <a:buNone/>
                      </a:pPr>
                      <a:endParaRPr lang="en-US" dirty="0"/>
                    </a:p>
                  </a:txBody>
                  <a:tcPr anchor="ctr">
                    <a:lnL>
                      <a:noFill/>
                    </a:lnL>
                    <a:lnR>
                      <a:noFill/>
                    </a:lnR>
                    <a:lnT>
                      <a:noFill/>
                    </a:lnT>
                    <a:lnB>
                      <a:noFill/>
                    </a:lnB>
                    <a:noFill/>
                  </a:tcPr>
                </a:tc>
                <a:tc>
                  <a:txBody>
                    <a:bodyPr/>
                    <a:lstStyle/>
                    <a:p>
                      <a:endParaRPr lang="en-US" dirty="0"/>
                    </a:p>
                  </a:txBody>
                  <a:tcPr>
                    <a:lnL>
                      <a:noFill/>
                    </a:lnL>
                    <a:lnR>
                      <a:noFill/>
                    </a:lnR>
                    <a:lnT>
                      <a:noFill/>
                    </a:lnT>
                    <a:lnB>
                      <a:noFill/>
                    </a:lnB>
                    <a:noFill/>
                  </a:tcPr>
                </a:tc>
                <a:tc>
                  <a:txBody>
                    <a:bodyPr/>
                    <a:lstStyle/>
                    <a:p>
                      <a:pPr algn="r">
                        <a:buNone/>
                      </a:pPr>
                      <a:endParaRPr lang="en-US" dirty="0"/>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r">
                        <a:buNone/>
                      </a:pPr>
                      <a:r>
                        <a:rPr lang="en-US" dirty="0"/>
                        <a:t>385000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9851155"/>
                  </a:ext>
                </a:extLst>
              </a:tr>
            </a:tbl>
          </a:graphicData>
        </a:graphic>
      </p:graphicFrame>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CF362F5C-5352-3C11-2F01-5D68C7440619}"/>
                  </a:ext>
                </a:extLst>
              </p14:cNvPr>
              <p14:cNvContentPartPr/>
              <p14:nvPr/>
            </p14:nvContentPartPr>
            <p14:xfrm>
              <a:off x="1406310" y="4868562"/>
              <a:ext cx="1839600" cy="1387440"/>
            </p14:xfrm>
          </p:contentPart>
        </mc:Choice>
        <mc:Fallback xmlns="">
          <p:pic>
            <p:nvPicPr>
              <p:cNvPr id="8" name="Ink 7">
                <a:extLst>
                  <a:ext uri="{FF2B5EF4-FFF2-40B4-BE49-F238E27FC236}">
                    <a16:creationId xmlns:a16="http://schemas.microsoft.com/office/drawing/2014/main" id="{CF362F5C-5352-3C11-2F01-5D68C7440619}"/>
                  </a:ext>
                </a:extLst>
              </p:cNvPr>
              <p:cNvPicPr/>
              <p:nvPr/>
            </p:nvPicPr>
            <p:blipFill>
              <a:blip r:embed="rId4"/>
              <a:stretch>
                <a:fillRect/>
              </a:stretch>
            </p:blipFill>
            <p:spPr>
              <a:xfrm>
                <a:off x="1400190" y="4862442"/>
                <a:ext cx="1851840" cy="1399680"/>
              </a:xfrm>
              <a:prstGeom prst="rect">
                <a:avLst/>
              </a:prstGeom>
            </p:spPr>
          </p:pic>
        </mc:Fallback>
      </mc:AlternateContent>
      <p:cxnSp>
        <p:nvCxnSpPr>
          <p:cNvPr id="13" name="Straight Connector 12">
            <a:extLst>
              <a:ext uri="{FF2B5EF4-FFF2-40B4-BE49-F238E27FC236}">
                <a16:creationId xmlns:a16="http://schemas.microsoft.com/office/drawing/2014/main" id="{67105A22-BDB6-7D33-2B75-74461C780D0E}"/>
              </a:ext>
            </a:extLst>
          </p:cNvPr>
          <p:cNvCxnSpPr>
            <a:cxnSpLocks/>
          </p:cNvCxnSpPr>
          <p:nvPr/>
        </p:nvCxnSpPr>
        <p:spPr>
          <a:xfrm flipH="1">
            <a:off x="1406310" y="5177481"/>
            <a:ext cx="1643516" cy="49427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CB98E2C2-B9F0-AF2F-7E0C-9E71CA240913}"/>
                  </a:ext>
                </a:extLst>
              </p14:cNvPr>
              <p14:cNvContentPartPr/>
              <p14:nvPr/>
            </p14:nvContentPartPr>
            <p14:xfrm>
              <a:off x="1431150" y="5276082"/>
              <a:ext cx="360" cy="360"/>
            </p14:xfrm>
          </p:contentPart>
        </mc:Choice>
        <mc:Fallback xmlns="">
          <p:pic>
            <p:nvPicPr>
              <p:cNvPr id="15" name="Ink 14">
                <a:extLst>
                  <a:ext uri="{FF2B5EF4-FFF2-40B4-BE49-F238E27FC236}">
                    <a16:creationId xmlns:a16="http://schemas.microsoft.com/office/drawing/2014/main" id="{CB98E2C2-B9F0-AF2F-7E0C-9E71CA240913}"/>
                  </a:ext>
                </a:extLst>
              </p:cNvPr>
              <p:cNvPicPr/>
              <p:nvPr/>
            </p:nvPicPr>
            <p:blipFill>
              <a:blip r:embed="rId6"/>
              <a:stretch>
                <a:fillRect/>
              </a:stretch>
            </p:blipFill>
            <p:spPr>
              <a:xfrm>
                <a:off x="1425030" y="526996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D137BDEF-CD5A-531C-C835-EF66BC315C07}"/>
                  </a:ext>
                </a:extLst>
              </p14:cNvPr>
              <p14:cNvContentPartPr/>
              <p14:nvPr/>
            </p14:nvContentPartPr>
            <p14:xfrm>
              <a:off x="1431150" y="5268522"/>
              <a:ext cx="35280" cy="38160"/>
            </p14:xfrm>
          </p:contentPart>
        </mc:Choice>
        <mc:Fallback xmlns="">
          <p:pic>
            <p:nvPicPr>
              <p:cNvPr id="16" name="Ink 15">
                <a:extLst>
                  <a:ext uri="{FF2B5EF4-FFF2-40B4-BE49-F238E27FC236}">
                    <a16:creationId xmlns:a16="http://schemas.microsoft.com/office/drawing/2014/main" id="{D137BDEF-CD5A-531C-C835-EF66BC315C07}"/>
                  </a:ext>
                </a:extLst>
              </p:cNvPr>
              <p:cNvPicPr/>
              <p:nvPr/>
            </p:nvPicPr>
            <p:blipFill>
              <a:blip r:embed="rId8"/>
              <a:stretch>
                <a:fillRect/>
              </a:stretch>
            </p:blipFill>
            <p:spPr>
              <a:xfrm>
                <a:off x="1425030" y="5262402"/>
                <a:ext cx="475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D1E0B37A-D38E-FE86-BB18-76CC32391BE1}"/>
                  </a:ext>
                </a:extLst>
              </p14:cNvPr>
              <p14:cNvContentPartPr/>
              <p14:nvPr/>
            </p14:nvContentPartPr>
            <p14:xfrm>
              <a:off x="1751700" y="5579352"/>
              <a:ext cx="27780" cy="27780"/>
            </p14:xfrm>
          </p:contentPart>
        </mc:Choice>
        <mc:Fallback xmlns="">
          <p:pic>
            <p:nvPicPr>
              <p:cNvPr id="18" name="Ink 17">
                <a:extLst>
                  <a:ext uri="{FF2B5EF4-FFF2-40B4-BE49-F238E27FC236}">
                    <a16:creationId xmlns:a16="http://schemas.microsoft.com/office/drawing/2014/main" id="{D1E0B37A-D38E-FE86-BB18-76CC32391BE1}"/>
                  </a:ext>
                </a:extLst>
              </p:cNvPr>
              <p:cNvPicPr/>
              <p:nvPr/>
            </p:nvPicPr>
            <p:blipFill>
              <a:blip r:embed="rId10"/>
              <a:stretch>
                <a:fillRect/>
              </a:stretch>
            </p:blipFill>
            <p:spPr>
              <a:xfrm>
                <a:off x="1745645" y="5573297"/>
                <a:ext cx="39889" cy="3988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D59B8624-3724-2778-18AF-F5602B1A352B}"/>
                  </a:ext>
                </a:extLst>
              </p14:cNvPr>
              <p14:cNvContentPartPr/>
              <p14:nvPr/>
            </p14:nvContentPartPr>
            <p14:xfrm>
              <a:off x="2172030" y="5906442"/>
              <a:ext cx="37440" cy="12240"/>
            </p14:xfrm>
          </p:contentPart>
        </mc:Choice>
        <mc:Fallback xmlns="">
          <p:pic>
            <p:nvPicPr>
              <p:cNvPr id="21" name="Ink 20">
                <a:extLst>
                  <a:ext uri="{FF2B5EF4-FFF2-40B4-BE49-F238E27FC236}">
                    <a16:creationId xmlns:a16="http://schemas.microsoft.com/office/drawing/2014/main" id="{D59B8624-3724-2778-18AF-F5602B1A352B}"/>
                  </a:ext>
                </a:extLst>
              </p:cNvPr>
              <p:cNvPicPr/>
              <p:nvPr/>
            </p:nvPicPr>
            <p:blipFill>
              <a:blip r:embed="rId12"/>
              <a:stretch>
                <a:fillRect/>
              </a:stretch>
            </p:blipFill>
            <p:spPr>
              <a:xfrm>
                <a:off x="2165910" y="5900322"/>
                <a:ext cx="49680" cy="24480"/>
              </a:xfrm>
              <a:prstGeom prst="rect">
                <a:avLst/>
              </a:prstGeom>
            </p:spPr>
          </p:pic>
        </mc:Fallback>
      </mc:AlternateContent>
      <p:sp>
        <p:nvSpPr>
          <p:cNvPr id="22" name="TextBox 21">
            <a:extLst>
              <a:ext uri="{FF2B5EF4-FFF2-40B4-BE49-F238E27FC236}">
                <a16:creationId xmlns:a16="http://schemas.microsoft.com/office/drawing/2014/main" id="{77B15C59-78E9-CFC7-47E2-121895000516}"/>
              </a:ext>
            </a:extLst>
          </p:cNvPr>
          <p:cNvSpPr txBox="1"/>
          <p:nvPr/>
        </p:nvSpPr>
        <p:spPr>
          <a:xfrm>
            <a:off x="1604647" y="6363461"/>
            <a:ext cx="1779480" cy="369332"/>
          </a:xfrm>
          <a:prstGeom prst="rect">
            <a:avLst/>
          </a:prstGeom>
          <a:noFill/>
        </p:spPr>
        <p:txBody>
          <a:bodyPr wrap="square" rtlCol="0">
            <a:spAutoFit/>
          </a:bodyPr>
          <a:lstStyle/>
          <a:p>
            <a:r>
              <a:rPr lang="en-US" dirty="0"/>
              <a:t>Cigarettes</a:t>
            </a:r>
          </a:p>
        </p:txBody>
      </p:sp>
      <p:sp>
        <p:nvSpPr>
          <p:cNvPr id="23" name="TextBox 22">
            <a:extLst>
              <a:ext uri="{FF2B5EF4-FFF2-40B4-BE49-F238E27FC236}">
                <a16:creationId xmlns:a16="http://schemas.microsoft.com/office/drawing/2014/main" id="{63C665A9-E9A5-3D1C-AA10-B32C99EC2183}"/>
              </a:ext>
            </a:extLst>
          </p:cNvPr>
          <p:cNvSpPr txBox="1"/>
          <p:nvPr/>
        </p:nvSpPr>
        <p:spPr>
          <a:xfrm>
            <a:off x="0" y="5193751"/>
            <a:ext cx="1779480" cy="369332"/>
          </a:xfrm>
          <a:prstGeom prst="rect">
            <a:avLst/>
          </a:prstGeom>
          <a:noFill/>
        </p:spPr>
        <p:txBody>
          <a:bodyPr wrap="square" rtlCol="0">
            <a:spAutoFit/>
          </a:bodyPr>
          <a:lstStyle/>
          <a:p>
            <a:r>
              <a:rPr lang="en-US" dirty="0"/>
              <a:t>Weight</a:t>
            </a:r>
          </a:p>
        </p:txBody>
      </p:sp>
      <p:sp>
        <p:nvSpPr>
          <p:cNvPr id="24" name="TextBox 23">
            <a:extLst>
              <a:ext uri="{FF2B5EF4-FFF2-40B4-BE49-F238E27FC236}">
                <a16:creationId xmlns:a16="http://schemas.microsoft.com/office/drawing/2014/main" id="{29509CFB-AD05-0194-3F2F-EE06C6112729}"/>
              </a:ext>
            </a:extLst>
          </p:cNvPr>
          <p:cNvSpPr txBox="1"/>
          <p:nvPr/>
        </p:nvSpPr>
        <p:spPr>
          <a:xfrm>
            <a:off x="3978876" y="3977152"/>
            <a:ext cx="7772400"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Imagine if our prediction was exact – error contribution for that point is 0</a:t>
            </a:r>
          </a:p>
          <a:p>
            <a:pPr marL="342900" indent="-342900">
              <a:buFont typeface="Arial" panose="020B0604020202020204" pitchFamily="34" charset="0"/>
              <a:buChar char="•"/>
            </a:pPr>
            <a:r>
              <a:rPr lang="en-US" sz="2400" dirty="0"/>
              <a:t>So, lower is better which matches gradient descent objective.</a:t>
            </a:r>
          </a:p>
        </p:txBody>
      </p:sp>
      <p:sp>
        <p:nvSpPr>
          <p:cNvPr id="25" name="TextBox 24">
            <a:extLst>
              <a:ext uri="{FF2B5EF4-FFF2-40B4-BE49-F238E27FC236}">
                <a16:creationId xmlns:a16="http://schemas.microsoft.com/office/drawing/2014/main" id="{C3A30C1B-51BA-E01E-7BA6-F7C364199410}"/>
              </a:ext>
            </a:extLst>
          </p:cNvPr>
          <p:cNvSpPr txBox="1"/>
          <p:nvPr/>
        </p:nvSpPr>
        <p:spPr>
          <a:xfrm>
            <a:off x="440724" y="4099645"/>
            <a:ext cx="3788376" cy="369332"/>
          </a:xfrm>
          <a:prstGeom prst="rect">
            <a:avLst/>
          </a:prstGeom>
          <a:noFill/>
        </p:spPr>
        <p:txBody>
          <a:bodyPr wrap="square" rtlCol="0">
            <a:spAutoFit/>
          </a:bodyPr>
          <a:lstStyle/>
          <a:p>
            <a:r>
              <a:rPr lang="en-US" dirty="0"/>
              <a:t>Weight=250*cigarettes+3000</a:t>
            </a:r>
          </a:p>
        </p:txBody>
      </p:sp>
      <p:sp>
        <p:nvSpPr>
          <p:cNvPr id="3" name="Rectangle 2">
            <a:extLst>
              <a:ext uri="{FF2B5EF4-FFF2-40B4-BE49-F238E27FC236}">
                <a16:creationId xmlns:a16="http://schemas.microsoft.com/office/drawing/2014/main" id="{B3BF1FDC-F47B-8A3E-145B-1045E4AA1D14}"/>
              </a:ext>
            </a:extLst>
          </p:cNvPr>
          <p:cNvSpPr/>
          <p:nvPr/>
        </p:nvSpPr>
        <p:spPr>
          <a:xfrm>
            <a:off x="7772400" y="1964724"/>
            <a:ext cx="753762" cy="1464276"/>
          </a:xfrm>
          <a:prstGeom prst="rect">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155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FDC8-21C9-A28B-10D7-C1D7DF301148}"/>
              </a:ext>
            </a:extLst>
          </p:cNvPr>
          <p:cNvSpPr>
            <a:spLocks noGrp="1"/>
          </p:cNvSpPr>
          <p:nvPr>
            <p:ph type="title"/>
          </p:nvPr>
        </p:nvSpPr>
        <p:spPr/>
        <p:txBody>
          <a:bodyPr/>
          <a:lstStyle/>
          <a:p>
            <a:r>
              <a:rPr lang="en-US" dirty="0"/>
              <a:t>Gradient Descent</a:t>
            </a:r>
          </a:p>
        </p:txBody>
      </p:sp>
      <p:pic>
        <p:nvPicPr>
          <p:cNvPr id="17410" name="Picture 2" descr="Guide to Gradient Descent in 3 Steps and 12 Drawings - Charles Bordet">
            <a:extLst>
              <a:ext uri="{FF2B5EF4-FFF2-40B4-BE49-F238E27FC236}">
                <a16:creationId xmlns:a16="http://schemas.microsoft.com/office/drawing/2014/main" id="{B2661F6B-F5DE-0E4B-4D40-D481B0217F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31900"/>
            <a:ext cx="5448300" cy="54483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17C63DC-EC79-8C3D-2CC9-BDBE7AF09175}"/>
              </a:ext>
            </a:extLst>
          </p:cNvPr>
          <p:cNvPicPr>
            <a:picLocks noChangeAspect="1"/>
          </p:cNvPicPr>
          <p:nvPr/>
        </p:nvPicPr>
        <p:blipFill>
          <a:blip r:embed="rId4"/>
          <a:stretch>
            <a:fillRect/>
          </a:stretch>
        </p:blipFill>
        <p:spPr>
          <a:xfrm>
            <a:off x="9936011" y="6280094"/>
            <a:ext cx="2162477" cy="400106"/>
          </a:xfrm>
          <a:prstGeom prst="rect">
            <a:avLst/>
          </a:prstGeom>
        </p:spPr>
      </p:pic>
      <p:sp>
        <p:nvSpPr>
          <p:cNvPr id="6" name="TextBox 5">
            <a:extLst>
              <a:ext uri="{FF2B5EF4-FFF2-40B4-BE49-F238E27FC236}">
                <a16:creationId xmlns:a16="http://schemas.microsoft.com/office/drawing/2014/main" id="{C1381B52-0435-CAA9-8927-7C6F7EC1BA32}"/>
              </a:ext>
            </a:extLst>
          </p:cNvPr>
          <p:cNvSpPr txBox="1"/>
          <p:nvPr/>
        </p:nvSpPr>
        <p:spPr>
          <a:xfrm>
            <a:off x="6692900" y="1409700"/>
            <a:ext cx="5029200" cy="3785652"/>
          </a:xfrm>
          <a:prstGeom prst="rect">
            <a:avLst/>
          </a:prstGeom>
          <a:noFill/>
        </p:spPr>
        <p:txBody>
          <a:bodyPr wrap="square" rtlCol="0">
            <a:spAutoFit/>
          </a:bodyPr>
          <a:lstStyle/>
          <a:p>
            <a:r>
              <a:rPr lang="en-US" sz="2400" dirty="0"/>
              <a:t>Algorithm:</a:t>
            </a:r>
          </a:p>
          <a:p>
            <a:endParaRPr lang="en-US" sz="2400" dirty="0"/>
          </a:p>
          <a:p>
            <a:pPr marL="457200" indent="-457200">
              <a:buFont typeface="+mj-lt"/>
              <a:buAutoNum type="arabicPeriod"/>
            </a:pPr>
            <a:r>
              <a:rPr lang="en-US" sz="2400" dirty="0"/>
              <a:t>Find gradient at start point</a:t>
            </a:r>
          </a:p>
          <a:p>
            <a:pPr marL="457200" indent="-457200">
              <a:buFont typeface="+mj-lt"/>
              <a:buAutoNum type="arabicPeriod"/>
            </a:pPr>
            <a:r>
              <a:rPr lang="en-US" sz="2400" dirty="0"/>
              <a:t>Move opposite that direction by an amount = gradient magnitude times a constant (learning rate)</a:t>
            </a:r>
          </a:p>
          <a:p>
            <a:pPr marL="457200" indent="-457200">
              <a:buFont typeface="+mj-lt"/>
              <a:buAutoNum type="arabicPeriod"/>
            </a:pPr>
            <a:r>
              <a:rPr lang="en-US" sz="2400" dirty="0"/>
              <a:t>Repeat until the value between steps changes less than a set amount (or a fixed number of times)</a:t>
            </a:r>
          </a:p>
        </p:txBody>
      </p:sp>
    </p:spTree>
    <p:extLst>
      <p:ext uri="{BB962C8B-B14F-4D97-AF65-F5344CB8AC3E}">
        <p14:creationId xmlns:p14="http://schemas.microsoft.com/office/powerpoint/2010/main" val="2781569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1EBEB-13CF-5817-8D75-513FFEA52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24CDB-903F-6806-F70F-E38775137AFA}"/>
              </a:ext>
            </a:extLst>
          </p:cNvPr>
          <p:cNvSpPr>
            <a:spLocks noGrp="1"/>
          </p:cNvSpPr>
          <p:nvPr>
            <p:ph type="title"/>
          </p:nvPr>
        </p:nvSpPr>
        <p:spPr/>
        <p:txBody>
          <a:bodyPr/>
          <a:lstStyle/>
          <a:p>
            <a:r>
              <a:rPr lang="en-US" dirty="0"/>
              <a:t>Linear Regression: Intuition</a:t>
            </a:r>
          </a:p>
        </p:txBody>
      </p:sp>
      <p:graphicFrame>
        <p:nvGraphicFramePr>
          <p:cNvPr id="4" name="Table 3">
            <a:extLst>
              <a:ext uri="{FF2B5EF4-FFF2-40B4-BE49-F238E27FC236}">
                <a16:creationId xmlns:a16="http://schemas.microsoft.com/office/drawing/2014/main" id="{35CC47FD-BE0C-EFEE-9833-F670BB003338}"/>
              </a:ext>
            </a:extLst>
          </p:cNvPr>
          <p:cNvGraphicFramePr>
            <a:graphicFrameLocks noGrp="1"/>
          </p:cNvGraphicFramePr>
          <p:nvPr>
            <p:extLst>
              <p:ext uri="{D42A27DB-BD31-4B8C-83A1-F6EECF244321}">
                <p14:modId xmlns:p14="http://schemas.microsoft.com/office/powerpoint/2010/main" val="21672491"/>
              </p:ext>
            </p:extLst>
          </p:nvPr>
        </p:nvGraphicFramePr>
        <p:xfrm>
          <a:off x="0" y="1499703"/>
          <a:ext cx="11862486" cy="2103120"/>
        </p:xfrm>
        <a:graphic>
          <a:graphicData uri="http://schemas.openxmlformats.org/drawingml/2006/table">
            <a:tbl>
              <a:tblPr/>
              <a:tblGrid>
                <a:gridCol w="1695065">
                  <a:extLst>
                    <a:ext uri="{9D8B030D-6E8A-4147-A177-3AD203B41FA5}">
                      <a16:colId xmlns:a16="http://schemas.microsoft.com/office/drawing/2014/main" val="376593629"/>
                    </a:ext>
                  </a:extLst>
                </a:gridCol>
                <a:gridCol w="3496824">
                  <a:extLst>
                    <a:ext uri="{9D8B030D-6E8A-4147-A177-3AD203B41FA5}">
                      <a16:colId xmlns:a16="http://schemas.microsoft.com/office/drawing/2014/main" val="322708735"/>
                    </a:ext>
                  </a:extLst>
                </a:gridCol>
                <a:gridCol w="2563492">
                  <a:extLst>
                    <a:ext uri="{9D8B030D-6E8A-4147-A177-3AD203B41FA5}">
                      <a16:colId xmlns:a16="http://schemas.microsoft.com/office/drawing/2014/main" val="614634182"/>
                    </a:ext>
                  </a:extLst>
                </a:gridCol>
                <a:gridCol w="1336599">
                  <a:extLst>
                    <a:ext uri="{9D8B030D-6E8A-4147-A177-3AD203B41FA5}">
                      <a16:colId xmlns:a16="http://schemas.microsoft.com/office/drawing/2014/main" val="1134123278"/>
                    </a:ext>
                  </a:extLst>
                </a:gridCol>
                <a:gridCol w="1225912">
                  <a:extLst>
                    <a:ext uri="{9D8B030D-6E8A-4147-A177-3AD203B41FA5}">
                      <a16:colId xmlns:a16="http://schemas.microsoft.com/office/drawing/2014/main" val="3125967425"/>
                    </a:ext>
                  </a:extLst>
                </a:gridCol>
                <a:gridCol w="1544594">
                  <a:extLst>
                    <a:ext uri="{9D8B030D-6E8A-4147-A177-3AD203B41FA5}">
                      <a16:colId xmlns:a16="http://schemas.microsoft.com/office/drawing/2014/main" val="2296446417"/>
                    </a:ext>
                  </a:extLst>
                </a:gridCol>
              </a:tblGrid>
              <a:tr h="119856">
                <a:tc>
                  <a:txBody>
                    <a:bodyPr/>
                    <a:lstStyle/>
                    <a:p>
                      <a:pPr algn="r">
                        <a:buNone/>
                      </a:pPr>
                      <a:r>
                        <a:rPr lang="en-US" dirty="0" err="1"/>
                        <a:t>InfantID</a:t>
                      </a:r>
                      <a:endParaRPr lang="en-US" dirty="0"/>
                    </a:p>
                  </a:txBody>
                  <a:tcPr anchor="ctr">
                    <a:lnL>
                      <a:noFill/>
                    </a:lnL>
                    <a:lnR>
                      <a:noFill/>
                    </a:lnR>
                    <a:lnT>
                      <a:noFill/>
                    </a:lnT>
                    <a:lnB>
                      <a:noFill/>
                    </a:lnB>
                    <a:noFill/>
                  </a:tcPr>
                </a:tc>
                <a:tc>
                  <a:txBody>
                    <a:bodyPr/>
                    <a:lstStyle/>
                    <a:p>
                      <a:pPr algn="r">
                        <a:buNone/>
                      </a:pPr>
                      <a:r>
                        <a:rPr lang="en-US"/>
                        <a:t>Cigarettes_per_day (during pregnancy)</a:t>
                      </a:r>
                    </a:p>
                  </a:txBody>
                  <a:tcPr anchor="ctr">
                    <a:lnL>
                      <a:noFill/>
                    </a:lnL>
                    <a:lnR>
                      <a:noFill/>
                    </a:lnR>
                    <a:lnT>
                      <a:noFill/>
                    </a:lnT>
                    <a:lnB>
                      <a:noFill/>
                    </a:lnB>
                    <a:noFill/>
                  </a:tcPr>
                </a:tc>
                <a:tc>
                  <a:txBody>
                    <a:bodyPr/>
                    <a:lstStyle/>
                    <a:p>
                      <a:pPr algn="r">
                        <a:buNone/>
                      </a:pPr>
                      <a:r>
                        <a:rPr lang="en-US" dirty="0" err="1"/>
                        <a:t>BirthWeight</a:t>
                      </a:r>
                      <a:r>
                        <a:rPr lang="en-US" dirty="0"/>
                        <a:t> (grams)</a:t>
                      </a:r>
                    </a:p>
                  </a:txBody>
                  <a:tcPr anchor="ctr">
                    <a:lnL>
                      <a:noFill/>
                    </a:lnL>
                    <a:lnR>
                      <a:noFill/>
                    </a:lnR>
                    <a:lnT>
                      <a:noFill/>
                    </a:lnT>
                    <a:lnB>
                      <a:noFill/>
                    </a:lnB>
                    <a:noFill/>
                  </a:tcPr>
                </a:tc>
                <a:tc>
                  <a:txBody>
                    <a:bodyPr/>
                    <a:lstStyle/>
                    <a:p>
                      <a:r>
                        <a:rPr lang="en-US" dirty="0"/>
                        <a:t>Predictions</a:t>
                      </a:r>
                    </a:p>
                  </a:txBody>
                  <a:tcPr>
                    <a:lnL>
                      <a:noFill/>
                    </a:lnL>
                    <a:lnR>
                      <a:noFill/>
                    </a:lnR>
                    <a:lnT>
                      <a:noFill/>
                    </a:lnT>
                    <a:lnB>
                      <a:noFill/>
                    </a:lnB>
                    <a:noFill/>
                  </a:tcPr>
                </a:tc>
                <a:tc>
                  <a:txBody>
                    <a:bodyPr/>
                    <a:lstStyle/>
                    <a:p>
                      <a:pPr algn="r">
                        <a:buNone/>
                      </a:pPr>
                      <a:r>
                        <a:rPr lang="en-US" dirty="0"/>
                        <a:t>Difference</a:t>
                      </a:r>
                    </a:p>
                  </a:txBody>
                  <a:tcPr anchor="ctr">
                    <a:lnL>
                      <a:noFill/>
                    </a:lnL>
                    <a:lnR>
                      <a:noFill/>
                    </a:lnR>
                    <a:lnT>
                      <a:noFill/>
                    </a:lnT>
                    <a:lnB>
                      <a:noFill/>
                    </a:lnB>
                    <a:noFill/>
                  </a:tcPr>
                </a:tc>
                <a:tc>
                  <a:txBody>
                    <a:bodyPr/>
                    <a:lstStyle/>
                    <a:p>
                      <a:pPr algn="r">
                        <a:buNone/>
                      </a:pPr>
                      <a:r>
                        <a:rPr lang="en-US" dirty="0"/>
                        <a:t>Squared Error</a:t>
                      </a:r>
                    </a:p>
                  </a:txBody>
                  <a:tcPr anchor="ctr">
                    <a:lnL>
                      <a:noFill/>
                    </a:lnL>
                    <a:lnR>
                      <a:noFill/>
                    </a:lnR>
                    <a:lnT>
                      <a:noFill/>
                    </a:lnT>
                    <a:lnB>
                      <a:noFill/>
                    </a:lnB>
                    <a:noFill/>
                  </a:tcPr>
                </a:tc>
                <a:extLst>
                  <a:ext uri="{0D108BD9-81ED-4DB2-BD59-A6C34878D82A}">
                    <a16:rowId xmlns:a16="http://schemas.microsoft.com/office/drawing/2014/main" val="1931386186"/>
                  </a:ext>
                </a:extLst>
              </a:tr>
              <a:tr h="0">
                <a:tc>
                  <a:txBody>
                    <a:bodyPr/>
                    <a:lstStyle/>
                    <a:p>
                      <a:pPr algn="r">
                        <a:buNone/>
                      </a:pPr>
                      <a:r>
                        <a:rPr lang="en-US" dirty="0"/>
                        <a:t>001</a:t>
                      </a:r>
                    </a:p>
                  </a:txBody>
                  <a:tcPr anchor="ctr">
                    <a:lnL>
                      <a:noFill/>
                    </a:lnL>
                    <a:lnR>
                      <a:noFill/>
                    </a:lnR>
                    <a:lnT>
                      <a:noFill/>
                    </a:lnT>
                    <a:lnB>
                      <a:noFill/>
                    </a:lnB>
                    <a:noFill/>
                  </a:tcPr>
                </a:tc>
                <a:tc>
                  <a:txBody>
                    <a:bodyPr/>
                    <a:lstStyle/>
                    <a:p>
                      <a:pPr algn="r">
                        <a:buNone/>
                      </a:pPr>
                      <a:r>
                        <a:rPr lang="en-US" dirty="0"/>
                        <a:t>0</a:t>
                      </a:r>
                    </a:p>
                  </a:txBody>
                  <a:tcPr anchor="ctr">
                    <a:lnL>
                      <a:noFill/>
                    </a:lnL>
                    <a:lnR>
                      <a:noFill/>
                    </a:lnR>
                    <a:lnT>
                      <a:noFill/>
                    </a:lnT>
                    <a:lnB>
                      <a:noFill/>
                    </a:lnB>
                    <a:noFill/>
                  </a:tcPr>
                </a:tc>
                <a:tc>
                  <a:txBody>
                    <a:bodyPr/>
                    <a:lstStyle/>
                    <a:p>
                      <a:pPr algn="r">
                        <a:buNone/>
                      </a:pPr>
                      <a:r>
                        <a:rPr lang="en-US" dirty="0"/>
                        <a:t>3500</a:t>
                      </a:r>
                    </a:p>
                  </a:txBody>
                  <a:tcPr anchor="ctr">
                    <a:lnL>
                      <a:noFill/>
                    </a:lnL>
                    <a:lnR>
                      <a:noFill/>
                    </a:lnR>
                    <a:lnT>
                      <a:noFill/>
                    </a:lnT>
                    <a:lnB>
                      <a:noFill/>
                    </a:lnB>
                    <a:noFill/>
                  </a:tcPr>
                </a:tc>
                <a:tc>
                  <a:txBody>
                    <a:bodyPr/>
                    <a:lstStyle/>
                    <a:p>
                      <a:r>
                        <a:rPr lang="en-US" dirty="0"/>
                        <a:t>3250</a:t>
                      </a:r>
                    </a:p>
                  </a:txBody>
                  <a:tcPr>
                    <a:lnL>
                      <a:noFill/>
                    </a:lnL>
                    <a:lnR>
                      <a:noFill/>
                    </a:lnR>
                    <a:lnT>
                      <a:noFill/>
                    </a:lnT>
                    <a:lnB>
                      <a:noFill/>
                    </a:lnB>
                    <a:noFill/>
                  </a:tcPr>
                </a:tc>
                <a:tc>
                  <a:txBody>
                    <a:bodyPr/>
                    <a:lstStyle/>
                    <a:p>
                      <a:pPr algn="r">
                        <a:buNone/>
                      </a:pPr>
                      <a:r>
                        <a:rPr lang="en-US" dirty="0"/>
                        <a:t>250</a:t>
                      </a:r>
                    </a:p>
                  </a:txBody>
                  <a:tcPr anchor="ctr">
                    <a:lnL>
                      <a:noFill/>
                    </a:lnL>
                    <a:lnR>
                      <a:noFill/>
                    </a:lnR>
                    <a:lnT>
                      <a:noFill/>
                    </a:lnT>
                    <a:lnB>
                      <a:noFill/>
                    </a:lnB>
                    <a:noFill/>
                  </a:tcPr>
                </a:tc>
                <a:tc>
                  <a:txBody>
                    <a:bodyPr/>
                    <a:lstStyle/>
                    <a:p>
                      <a:pPr algn="r">
                        <a:buNone/>
                      </a:pPr>
                      <a:r>
                        <a:rPr lang="en-US" dirty="0"/>
                        <a:t>62500</a:t>
                      </a:r>
                    </a:p>
                  </a:txBody>
                  <a:tcPr anchor="ctr">
                    <a:lnL>
                      <a:noFill/>
                    </a:lnL>
                    <a:lnR>
                      <a:noFill/>
                    </a:lnR>
                    <a:lnT>
                      <a:noFill/>
                    </a:lnT>
                    <a:lnB>
                      <a:noFill/>
                    </a:lnB>
                    <a:noFill/>
                  </a:tcPr>
                </a:tc>
                <a:extLst>
                  <a:ext uri="{0D108BD9-81ED-4DB2-BD59-A6C34878D82A}">
                    <a16:rowId xmlns:a16="http://schemas.microsoft.com/office/drawing/2014/main" val="3137976939"/>
                  </a:ext>
                </a:extLst>
              </a:tr>
              <a:tr h="0">
                <a:tc>
                  <a:txBody>
                    <a:bodyPr/>
                    <a:lstStyle/>
                    <a:p>
                      <a:pPr algn="r">
                        <a:buNone/>
                      </a:pPr>
                      <a:r>
                        <a:rPr lang="en-US"/>
                        <a:t>002</a:t>
                      </a:r>
                    </a:p>
                  </a:txBody>
                  <a:tcPr anchor="ctr">
                    <a:lnL>
                      <a:noFill/>
                    </a:lnL>
                    <a:lnR>
                      <a:noFill/>
                    </a:lnR>
                    <a:lnT>
                      <a:noFill/>
                    </a:lnT>
                    <a:lnB>
                      <a:noFill/>
                    </a:lnB>
                    <a:noFill/>
                  </a:tcPr>
                </a:tc>
                <a:tc>
                  <a:txBody>
                    <a:bodyPr/>
                    <a:lstStyle/>
                    <a:p>
                      <a:pPr algn="r">
                        <a:buNone/>
                      </a:pPr>
                      <a:r>
                        <a:rPr lang="en-US" dirty="0"/>
                        <a:t>5</a:t>
                      </a:r>
                    </a:p>
                  </a:txBody>
                  <a:tcPr anchor="ctr">
                    <a:lnL>
                      <a:noFill/>
                    </a:lnL>
                    <a:lnR>
                      <a:noFill/>
                    </a:lnR>
                    <a:lnT>
                      <a:noFill/>
                    </a:lnT>
                    <a:lnB>
                      <a:noFill/>
                    </a:lnB>
                    <a:noFill/>
                  </a:tcPr>
                </a:tc>
                <a:tc>
                  <a:txBody>
                    <a:bodyPr/>
                    <a:lstStyle/>
                    <a:p>
                      <a:pPr algn="r">
                        <a:buNone/>
                      </a:pPr>
                      <a:r>
                        <a:rPr lang="en-US" dirty="0"/>
                        <a:t>3300</a:t>
                      </a:r>
                    </a:p>
                  </a:txBody>
                  <a:tcPr anchor="ctr">
                    <a:lnL>
                      <a:noFill/>
                    </a:lnL>
                    <a:lnR>
                      <a:noFill/>
                    </a:lnR>
                    <a:lnT>
                      <a:noFill/>
                    </a:lnT>
                    <a:lnB>
                      <a:noFill/>
                    </a:lnB>
                    <a:noFill/>
                  </a:tcPr>
                </a:tc>
                <a:tc>
                  <a:txBody>
                    <a:bodyPr/>
                    <a:lstStyle/>
                    <a:p>
                      <a:r>
                        <a:rPr lang="en-US" dirty="0"/>
                        <a:t>3250</a:t>
                      </a:r>
                    </a:p>
                  </a:txBody>
                  <a:tcPr>
                    <a:lnL>
                      <a:noFill/>
                    </a:lnL>
                    <a:lnR>
                      <a:noFill/>
                    </a:lnR>
                    <a:lnT>
                      <a:noFill/>
                    </a:lnT>
                    <a:lnB>
                      <a:noFill/>
                    </a:lnB>
                    <a:noFill/>
                  </a:tcPr>
                </a:tc>
                <a:tc>
                  <a:txBody>
                    <a:bodyPr/>
                    <a:lstStyle/>
                    <a:p>
                      <a:pPr algn="r">
                        <a:buNone/>
                      </a:pPr>
                      <a:r>
                        <a:rPr lang="en-US" dirty="0"/>
                        <a:t>50</a:t>
                      </a:r>
                    </a:p>
                  </a:txBody>
                  <a:tcPr anchor="ctr">
                    <a:lnL>
                      <a:noFill/>
                    </a:lnL>
                    <a:lnR>
                      <a:noFill/>
                    </a:lnR>
                    <a:lnT>
                      <a:noFill/>
                    </a:lnT>
                    <a:lnB>
                      <a:noFill/>
                    </a:lnB>
                    <a:noFill/>
                  </a:tcPr>
                </a:tc>
                <a:tc>
                  <a:txBody>
                    <a:bodyPr/>
                    <a:lstStyle/>
                    <a:p>
                      <a:pPr algn="r">
                        <a:buNone/>
                      </a:pPr>
                      <a:r>
                        <a:rPr lang="en-US" dirty="0"/>
                        <a:t>2500</a:t>
                      </a:r>
                    </a:p>
                  </a:txBody>
                  <a:tcPr anchor="ctr">
                    <a:lnL>
                      <a:noFill/>
                    </a:lnL>
                    <a:lnR>
                      <a:noFill/>
                    </a:lnR>
                    <a:lnT>
                      <a:noFill/>
                    </a:lnT>
                    <a:lnB>
                      <a:noFill/>
                    </a:lnB>
                    <a:noFill/>
                  </a:tcPr>
                </a:tc>
                <a:extLst>
                  <a:ext uri="{0D108BD9-81ED-4DB2-BD59-A6C34878D82A}">
                    <a16:rowId xmlns:a16="http://schemas.microsoft.com/office/drawing/2014/main" val="674661517"/>
                  </a:ext>
                </a:extLst>
              </a:tr>
              <a:tr h="0">
                <a:tc>
                  <a:txBody>
                    <a:bodyPr/>
                    <a:lstStyle/>
                    <a:p>
                      <a:pPr algn="r">
                        <a:buNone/>
                      </a:pPr>
                      <a:r>
                        <a:rPr lang="en-US"/>
                        <a:t>003</a:t>
                      </a:r>
                    </a:p>
                  </a:txBody>
                  <a:tcPr anchor="ctr">
                    <a:lnL>
                      <a:noFill/>
                    </a:lnL>
                    <a:lnR>
                      <a:noFill/>
                    </a:lnR>
                    <a:lnT>
                      <a:noFill/>
                    </a:lnT>
                    <a:lnB>
                      <a:noFill/>
                    </a:lnB>
                    <a:noFill/>
                  </a:tcPr>
                </a:tc>
                <a:tc>
                  <a:txBody>
                    <a:bodyPr/>
                    <a:lstStyle/>
                    <a:p>
                      <a:pPr algn="r">
                        <a:buNone/>
                      </a:pPr>
                      <a:r>
                        <a:rPr lang="en-US" dirty="0"/>
                        <a:t>10</a:t>
                      </a:r>
                    </a:p>
                  </a:txBody>
                  <a:tcPr anchor="ctr">
                    <a:lnL>
                      <a:noFill/>
                    </a:lnL>
                    <a:lnR>
                      <a:noFill/>
                    </a:lnR>
                    <a:lnT>
                      <a:noFill/>
                    </a:lnT>
                    <a:lnB>
                      <a:noFill/>
                    </a:lnB>
                    <a:noFill/>
                  </a:tcPr>
                </a:tc>
                <a:tc>
                  <a:txBody>
                    <a:bodyPr/>
                    <a:lstStyle/>
                    <a:p>
                      <a:pPr algn="r">
                        <a:buNone/>
                      </a:pPr>
                      <a:r>
                        <a:rPr lang="en-US" dirty="0"/>
                        <a:t>3150</a:t>
                      </a:r>
                    </a:p>
                  </a:txBody>
                  <a:tcPr anchor="ctr">
                    <a:lnL>
                      <a:noFill/>
                    </a:lnL>
                    <a:lnR>
                      <a:noFill/>
                    </a:lnR>
                    <a:lnT>
                      <a:noFill/>
                    </a:lnT>
                    <a:lnB>
                      <a:noFill/>
                    </a:lnB>
                    <a:noFill/>
                  </a:tcPr>
                </a:tc>
                <a:tc>
                  <a:txBody>
                    <a:bodyPr/>
                    <a:lstStyle/>
                    <a:p>
                      <a:r>
                        <a:rPr lang="en-US" dirty="0"/>
                        <a:t>3250</a:t>
                      </a:r>
                    </a:p>
                  </a:txBody>
                  <a:tcPr>
                    <a:lnL>
                      <a:noFill/>
                    </a:lnL>
                    <a:lnR>
                      <a:noFill/>
                    </a:lnR>
                    <a:lnT>
                      <a:noFill/>
                    </a:lnT>
                    <a:lnB>
                      <a:noFill/>
                    </a:lnB>
                    <a:noFill/>
                  </a:tcPr>
                </a:tc>
                <a:tc>
                  <a:txBody>
                    <a:bodyPr/>
                    <a:lstStyle/>
                    <a:p>
                      <a:pPr algn="r">
                        <a:buNone/>
                      </a:pPr>
                      <a:r>
                        <a:rPr lang="en-US" dirty="0"/>
                        <a:t>-350</a:t>
                      </a:r>
                    </a:p>
                  </a:txBody>
                  <a:tcPr anchor="ctr">
                    <a:lnL>
                      <a:noFill/>
                    </a:lnL>
                    <a:lnR>
                      <a:noFill/>
                    </a:lnR>
                    <a:lnT>
                      <a:noFill/>
                    </a:lnT>
                    <a:lnB>
                      <a:noFill/>
                    </a:lnB>
                    <a:noFill/>
                  </a:tcPr>
                </a:tc>
                <a:tc>
                  <a:txBody>
                    <a:bodyPr/>
                    <a:lstStyle/>
                    <a:p>
                      <a:pPr algn="r">
                        <a:buNone/>
                      </a:pPr>
                      <a:r>
                        <a:rPr lang="en-US" dirty="0"/>
                        <a:t>10000</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9562285"/>
                  </a:ext>
                </a:extLst>
              </a:tr>
              <a:tr h="0">
                <a:tc>
                  <a:txBody>
                    <a:bodyPr/>
                    <a:lstStyle/>
                    <a:p>
                      <a:pPr algn="r">
                        <a:buNone/>
                      </a:pPr>
                      <a:endParaRPr lang="en-US"/>
                    </a:p>
                  </a:txBody>
                  <a:tcPr anchor="ctr">
                    <a:lnL>
                      <a:noFill/>
                    </a:lnL>
                    <a:lnR>
                      <a:noFill/>
                    </a:lnR>
                    <a:lnT>
                      <a:noFill/>
                    </a:lnT>
                    <a:lnB>
                      <a:noFill/>
                    </a:lnB>
                    <a:noFill/>
                  </a:tcPr>
                </a:tc>
                <a:tc>
                  <a:txBody>
                    <a:bodyPr/>
                    <a:lstStyle/>
                    <a:p>
                      <a:pPr algn="r">
                        <a:buNone/>
                      </a:pPr>
                      <a:endParaRPr lang="en-US" dirty="0"/>
                    </a:p>
                  </a:txBody>
                  <a:tcPr anchor="ctr">
                    <a:lnL>
                      <a:noFill/>
                    </a:lnL>
                    <a:lnR>
                      <a:noFill/>
                    </a:lnR>
                    <a:lnT>
                      <a:noFill/>
                    </a:lnT>
                    <a:lnB>
                      <a:noFill/>
                    </a:lnB>
                    <a:noFill/>
                  </a:tcPr>
                </a:tc>
                <a:tc>
                  <a:txBody>
                    <a:bodyPr/>
                    <a:lstStyle/>
                    <a:p>
                      <a:pPr algn="r">
                        <a:buNone/>
                      </a:pPr>
                      <a:endParaRPr lang="en-US" dirty="0"/>
                    </a:p>
                  </a:txBody>
                  <a:tcPr anchor="ctr">
                    <a:lnL>
                      <a:noFill/>
                    </a:lnL>
                    <a:lnR>
                      <a:noFill/>
                    </a:lnR>
                    <a:lnT>
                      <a:noFill/>
                    </a:lnT>
                    <a:lnB>
                      <a:noFill/>
                    </a:lnB>
                    <a:noFill/>
                  </a:tcPr>
                </a:tc>
                <a:tc>
                  <a:txBody>
                    <a:bodyPr/>
                    <a:lstStyle/>
                    <a:p>
                      <a:endParaRPr lang="en-US" dirty="0"/>
                    </a:p>
                  </a:txBody>
                  <a:tcPr>
                    <a:lnL>
                      <a:noFill/>
                    </a:lnL>
                    <a:lnR>
                      <a:noFill/>
                    </a:lnR>
                    <a:lnT>
                      <a:noFill/>
                    </a:lnT>
                    <a:lnB>
                      <a:noFill/>
                    </a:lnB>
                    <a:noFill/>
                  </a:tcPr>
                </a:tc>
                <a:tc>
                  <a:txBody>
                    <a:bodyPr/>
                    <a:lstStyle/>
                    <a:p>
                      <a:pPr algn="r">
                        <a:buNone/>
                      </a:pPr>
                      <a:endParaRPr lang="en-US" dirty="0"/>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r">
                        <a:buNone/>
                      </a:pPr>
                      <a:r>
                        <a:rPr lang="en-US"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9851155"/>
                  </a:ext>
                </a:extLst>
              </a:tr>
            </a:tbl>
          </a:graphicData>
        </a:graphic>
      </p:graphicFrame>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E65EFC64-234A-BAF6-B5DC-00A33EA4151D}"/>
                  </a:ext>
                </a:extLst>
              </p14:cNvPr>
              <p14:cNvContentPartPr/>
              <p14:nvPr/>
            </p14:nvContentPartPr>
            <p14:xfrm>
              <a:off x="1406310" y="4868562"/>
              <a:ext cx="1839600" cy="1387440"/>
            </p14:xfrm>
          </p:contentPart>
        </mc:Choice>
        <mc:Fallback xmlns="">
          <p:pic>
            <p:nvPicPr>
              <p:cNvPr id="8" name="Ink 7">
                <a:extLst>
                  <a:ext uri="{FF2B5EF4-FFF2-40B4-BE49-F238E27FC236}">
                    <a16:creationId xmlns:a16="http://schemas.microsoft.com/office/drawing/2014/main" id="{E65EFC64-234A-BAF6-B5DC-00A33EA4151D}"/>
                  </a:ext>
                </a:extLst>
              </p:cNvPr>
              <p:cNvPicPr/>
              <p:nvPr/>
            </p:nvPicPr>
            <p:blipFill>
              <a:blip r:embed="rId4"/>
              <a:stretch>
                <a:fillRect/>
              </a:stretch>
            </p:blipFill>
            <p:spPr>
              <a:xfrm>
                <a:off x="1400190" y="4862442"/>
                <a:ext cx="1851840" cy="1399680"/>
              </a:xfrm>
              <a:prstGeom prst="rect">
                <a:avLst/>
              </a:prstGeom>
            </p:spPr>
          </p:pic>
        </mc:Fallback>
      </mc:AlternateContent>
      <p:cxnSp>
        <p:nvCxnSpPr>
          <p:cNvPr id="13" name="Straight Connector 12">
            <a:extLst>
              <a:ext uri="{FF2B5EF4-FFF2-40B4-BE49-F238E27FC236}">
                <a16:creationId xmlns:a16="http://schemas.microsoft.com/office/drawing/2014/main" id="{9DE3ABD8-DBE3-3C84-FACD-0F8E99125832}"/>
              </a:ext>
            </a:extLst>
          </p:cNvPr>
          <p:cNvCxnSpPr>
            <a:cxnSpLocks/>
          </p:cNvCxnSpPr>
          <p:nvPr/>
        </p:nvCxnSpPr>
        <p:spPr>
          <a:xfrm flipH="1">
            <a:off x="1406310" y="5607132"/>
            <a:ext cx="167979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5577841F-04DE-A61C-B930-37B43B0E7F51}"/>
                  </a:ext>
                </a:extLst>
              </p14:cNvPr>
              <p14:cNvContentPartPr/>
              <p14:nvPr/>
            </p14:nvContentPartPr>
            <p14:xfrm>
              <a:off x="1431150" y="5276082"/>
              <a:ext cx="360" cy="360"/>
            </p14:xfrm>
          </p:contentPart>
        </mc:Choice>
        <mc:Fallback xmlns="">
          <p:pic>
            <p:nvPicPr>
              <p:cNvPr id="15" name="Ink 14">
                <a:extLst>
                  <a:ext uri="{FF2B5EF4-FFF2-40B4-BE49-F238E27FC236}">
                    <a16:creationId xmlns:a16="http://schemas.microsoft.com/office/drawing/2014/main" id="{5577841F-04DE-A61C-B930-37B43B0E7F51}"/>
                  </a:ext>
                </a:extLst>
              </p:cNvPr>
              <p:cNvPicPr/>
              <p:nvPr/>
            </p:nvPicPr>
            <p:blipFill>
              <a:blip r:embed="rId6"/>
              <a:stretch>
                <a:fillRect/>
              </a:stretch>
            </p:blipFill>
            <p:spPr>
              <a:xfrm>
                <a:off x="1425030" y="526996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33290E15-B2EF-C5BC-5A1E-86CA26AB51AD}"/>
                  </a:ext>
                </a:extLst>
              </p14:cNvPr>
              <p14:cNvContentPartPr/>
              <p14:nvPr/>
            </p14:nvContentPartPr>
            <p14:xfrm>
              <a:off x="1431150" y="5268522"/>
              <a:ext cx="35280" cy="38160"/>
            </p14:xfrm>
          </p:contentPart>
        </mc:Choice>
        <mc:Fallback xmlns="">
          <p:pic>
            <p:nvPicPr>
              <p:cNvPr id="16" name="Ink 15">
                <a:extLst>
                  <a:ext uri="{FF2B5EF4-FFF2-40B4-BE49-F238E27FC236}">
                    <a16:creationId xmlns:a16="http://schemas.microsoft.com/office/drawing/2014/main" id="{33290E15-B2EF-C5BC-5A1E-86CA26AB51AD}"/>
                  </a:ext>
                </a:extLst>
              </p:cNvPr>
              <p:cNvPicPr/>
              <p:nvPr/>
            </p:nvPicPr>
            <p:blipFill>
              <a:blip r:embed="rId8"/>
              <a:stretch>
                <a:fillRect/>
              </a:stretch>
            </p:blipFill>
            <p:spPr>
              <a:xfrm>
                <a:off x="1425030" y="5262459"/>
                <a:ext cx="47520" cy="5028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4BA73CAB-68DB-9564-62FB-72D59A993A0D}"/>
                  </a:ext>
                </a:extLst>
              </p14:cNvPr>
              <p14:cNvContentPartPr/>
              <p14:nvPr/>
            </p14:nvContentPartPr>
            <p14:xfrm>
              <a:off x="1751700" y="5579352"/>
              <a:ext cx="27780" cy="27780"/>
            </p14:xfrm>
          </p:contentPart>
        </mc:Choice>
        <mc:Fallback xmlns="">
          <p:pic>
            <p:nvPicPr>
              <p:cNvPr id="18" name="Ink 17">
                <a:extLst>
                  <a:ext uri="{FF2B5EF4-FFF2-40B4-BE49-F238E27FC236}">
                    <a16:creationId xmlns:a16="http://schemas.microsoft.com/office/drawing/2014/main" id="{4BA73CAB-68DB-9564-62FB-72D59A993A0D}"/>
                  </a:ext>
                </a:extLst>
              </p:cNvPr>
              <p:cNvPicPr/>
              <p:nvPr/>
            </p:nvPicPr>
            <p:blipFill>
              <a:blip r:embed="rId10"/>
              <a:stretch>
                <a:fillRect/>
              </a:stretch>
            </p:blipFill>
            <p:spPr>
              <a:xfrm>
                <a:off x="1745645" y="5573297"/>
                <a:ext cx="39889" cy="3988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592F831D-B3F5-1942-E9A2-3428C793B18D}"/>
                  </a:ext>
                </a:extLst>
              </p14:cNvPr>
              <p14:cNvContentPartPr/>
              <p14:nvPr/>
            </p14:nvContentPartPr>
            <p14:xfrm>
              <a:off x="2172030" y="5906442"/>
              <a:ext cx="37440" cy="12240"/>
            </p14:xfrm>
          </p:contentPart>
        </mc:Choice>
        <mc:Fallback xmlns="">
          <p:pic>
            <p:nvPicPr>
              <p:cNvPr id="21" name="Ink 20">
                <a:extLst>
                  <a:ext uri="{FF2B5EF4-FFF2-40B4-BE49-F238E27FC236}">
                    <a16:creationId xmlns:a16="http://schemas.microsoft.com/office/drawing/2014/main" id="{592F831D-B3F5-1942-E9A2-3428C793B18D}"/>
                  </a:ext>
                </a:extLst>
              </p:cNvPr>
              <p:cNvPicPr/>
              <p:nvPr/>
            </p:nvPicPr>
            <p:blipFill>
              <a:blip r:embed="rId12"/>
              <a:stretch>
                <a:fillRect/>
              </a:stretch>
            </p:blipFill>
            <p:spPr>
              <a:xfrm>
                <a:off x="2165910" y="5900497"/>
                <a:ext cx="49680" cy="24130"/>
              </a:xfrm>
              <a:prstGeom prst="rect">
                <a:avLst/>
              </a:prstGeom>
            </p:spPr>
          </p:pic>
        </mc:Fallback>
      </mc:AlternateContent>
      <p:sp>
        <p:nvSpPr>
          <p:cNvPr id="22" name="TextBox 21">
            <a:extLst>
              <a:ext uri="{FF2B5EF4-FFF2-40B4-BE49-F238E27FC236}">
                <a16:creationId xmlns:a16="http://schemas.microsoft.com/office/drawing/2014/main" id="{9E70B614-61C6-E10D-4DD5-C4F772A5A85D}"/>
              </a:ext>
            </a:extLst>
          </p:cNvPr>
          <p:cNvSpPr txBox="1"/>
          <p:nvPr/>
        </p:nvSpPr>
        <p:spPr>
          <a:xfrm>
            <a:off x="1604647" y="6363461"/>
            <a:ext cx="1779480" cy="369332"/>
          </a:xfrm>
          <a:prstGeom prst="rect">
            <a:avLst/>
          </a:prstGeom>
          <a:noFill/>
        </p:spPr>
        <p:txBody>
          <a:bodyPr wrap="square" rtlCol="0">
            <a:spAutoFit/>
          </a:bodyPr>
          <a:lstStyle/>
          <a:p>
            <a:r>
              <a:rPr lang="en-US" dirty="0"/>
              <a:t>Cigarettes</a:t>
            </a:r>
          </a:p>
        </p:txBody>
      </p:sp>
      <p:sp>
        <p:nvSpPr>
          <p:cNvPr id="23" name="TextBox 22">
            <a:extLst>
              <a:ext uri="{FF2B5EF4-FFF2-40B4-BE49-F238E27FC236}">
                <a16:creationId xmlns:a16="http://schemas.microsoft.com/office/drawing/2014/main" id="{3F577279-B673-85BC-2209-7440EEDA2E74}"/>
              </a:ext>
            </a:extLst>
          </p:cNvPr>
          <p:cNvSpPr txBox="1"/>
          <p:nvPr/>
        </p:nvSpPr>
        <p:spPr>
          <a:xfrm>
            <a:off x="0" y="5193751"/>
            <a:ext cx="1779480" cy="369332"/>
          </a:xfrm>
          <a:prstGeom prst="rect">
            <a:avLst/>
          </a:prstGeom>
          <a:noFill/>
        </p:spPr>
        <p:txBody>
          <a:bodyPr wrap="square" rtlCol="0">
            <a:spAutoFit/>
          </a:bodyPr>
          <a:lstStyle/>
          <a:p>
            <a:r>
              <a:rPr lang="en-US" dirty="0"/>
              <a:t>Weight</a:t>
            </a:r>
          </a:p>
        </p:txBody>
      </p:sp>
      <p:sp>
        <p:nvSpPr>
          <p:cNvPr id="5" name="TextBox 4">
            <a:extLst>
              <a:ext uri="{FF2B5EF4-FFF2-40B4-BE49-F238E27FC236}">
                <a16:creationId xmlns:a16="http://schemas.microsoft.com/office/drawing/2014/main" id="{EF1516CC-7212-EE5D-06FB-4AC650624B16}"/>
              </a:ext>
            </a:extLst>
          </p:cNvPr>
          <p:cNvSpPr txBox="1"/>
          <p:nvPr/>
        </p:nvSpPr>
        <p:spPr>
          <a:xfrm>
            <a:off x="486234" y="4161910"/>
            <a:ext cx="3788376" cy="369332"/>
          </a:xfrm>
          <a:prstGeom prst="rect">
            <a:avLst/>
          </a:prstGeom>
          <a:noFill/>
        </p:spPr>
        <p:txBody>
          <a:bodyPr wrap="square" rtlCol="0">
            <a:spAutoFit/>
          </a:bodyPr>
          <a:lstStyle/>
          <a:p>
            <a:r>
              <a:rPr lang="en-US" dirty="0"/>
              <a:t>Weight=0*cigarettes+3000</a:t>
            </a:r>
          </a:p>
        </p:txBody>
      </p:sp>
    </p:spTree>
    <p:extLst>
      <p:ext uri="{BB962C8B-B14F-4D97-AF65-F5344CB8AC3E}">
        <p14:creationId xmlns:p14="http://schemas.microsoft.com/office/powerpoint/2010/main" val="3734321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AD97-C0F6-6B5A-0D7E-0B0FA67DC508}"/>
              </a:ext>
            </a:extLst>
          </p:cNvPr>
          <p:cNvSpPr>
            <a:spLocks noGrp="1"/>
          </p:cNvSpPr>
          <p:nvPr>
            <p:ph type="title"/>
          </p:nvPr>
        </p:nvSpPr>
        <p:spPr/>
        <p:txBody>
          <a:bodyPr/>
          <a:lstStyle/>
          <a:p>
            <a:r>
              <a:rPr lang="en-US" dirty="0"/>
              <a:t>Linear Regression</a:t>
            </a:r>
          </a:p>
        </p:txBody>
      </p:sp>
      <p:pic>
        <p:nvPicPr>
          <p:cNvPr id="5" name="Content Placeholder 4">
            <a:extLst>
              <a:ext uri="{FF2B5EF4-FFF2-40B4-BE49-F238E27FC236}">
                <a16:creationId xmlns:a16="http://schemas.microsoft.com/office/drawing/2014/main" id="{E9D84C2C-41D7-FA02-F06E-7FFD54BEF674}"/>
              </a:ext>
            </a:extLst>
          </p:cNvPr>
          <p:cNvPicPr>
            <a:picLocks noGrp="1" noChangeAspect="1"/>
          </p:cNvPicPr>
          <p:nvPr>
            <p:ph idx="1"/>
          </p:nvPr>
        </p:nvPicPr>
        <p:blipFill>
          <a:blip r:embed="rId3"/>
          <a:stretch>
            <a:fillRect/>
          </a:stretch>
        </p:blipFill>
        <p:spPr>
          <a:xfrm>
            <a:off x="986638" y="1961550"/>
            <a:ext cx="6412841" cy="4351338"/>
          </a:xfrm>
          <a:prstGeom prst="rect">
            <a:avLst/>
          </a:prstGeom>
        </p:spPr>
      </p:pic>
      <p:pic>
        <p:nvPicPr>
          <p:cNvPr id="7" name="Picture 6">
            <a:extLst>
              <a:ext uri="{FF2B5EF4-FFF2-40B4-BE49-F238E27FC236}">
                <a16:creationId xmlns:a16="http://schemas.microsoft.com/office/drawing/2014/main" id="{3C0C2173-3DA5-8B09-7DA2-68AC123BFAB5}"/>
              </a:ext>
            </a:extLst>
          </p:cNvPr>
          <p:cNvPicPr>
            <a:picLocks noChangeAspect="1"/>
          </p:cNvPicPr>
          <p:nvPr/>
        </p:nvPicPr>
        <p:blipFill>
          <a:blip r:embed="rId4"/>
          <a:stretch>
            <a:fillRect/>
          </a:stretch>
        </p:blipFill>
        <p:spPr>
          <a:xfrm>
            <a:off x="5306791" y="1091314"/>
            <a:ext cx="6249272" cy="1333686"/>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B54A1E-DEA2-437B-1594-00248F028BD6}"/>
                  </a:ext>
                </a:extLst>
              </p:cNvPr>
              <p:cNvSpPr txBox="1"/>
              <p:nvPr/>
            </p:nvSpPr>
            <p:spPr>
              <a:xfrm>
                <a:off x="7696043" y="2804983"/>
                <a:ext cx="3509319" cy="14685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r>
                                        <m:rPr>
                                          <m:sty m:val="p"/>
                                          <m:brk m:alnAt="7"/>
                                        </m:rPr>
                                        <a:rPr lang="en-US" sz="2400" b="0" i="1" smtClean="0">
                                          <a:latin typeface="Cambria Math" panose="02040503050406030204" pitchFamily="18" charset="0"/>
                                          <a:ea typeface="Cambria Math" panose="02040503050406030204" pitchFamily="18" charset="0"/>
                                        </a:rPr>
                                        <m:t>x</m:t>
                                      </m:r>
                                      <m:r>
                                        <a:rPr lang="en-US" sz="2400" b="0" i="1" smtClean="0">
                                          <a:latin typeface="Cambria Math" panose="02040503050406030204" pitchFamily="18" charset="0"/>
                                          <a:ea typeface="Cambria Math" panose="02040503050406030204" pitchFamily="18" charset="0"/>
                                        </a:rPr>
                                        <m:t>1</m:t>
                                      </m:r>
                                    </m:e>
                                  </m:mr>
                                  <m:mr>
                                    <m:e>
                                      <m:r>
                                        <m:rPr>
                                          <m:sty m:val="p"/>
                                        </m:rPr>
                                        <a:rPr lang="en-US" sz="2400" b="0" i="1" smtClean="0">
                                          <a:latin typeface="Cambria Math" panose="02040503050406030204" pitchFamily="18" charset="0"/>
                                          <a:ea typeface="Cambria Math" panose="02040503050406030204" pitchFamily="18" charset="0"/>
                                        </a:rPr>
                                        <m:t>x</m:t>
                                      </m:r>
                                      <m:r>
                                        <a:rPr lang="en-US" sz="2400" b="0" i="1" smtClean="0">
                                          <a:latin typeface="Cambria Math" panose="02040503050406030204" pitchFamily="18" charset="0"/>
                                          <a:ea typeface="Cambria Math" panose="02040503050406030204" pitchFamily="18" charset="0"/>
                                        </a:rPr>
                                        <m:t>2</m:t>
                                      </m:r>
                                    </m:e>
                                  </m:mr>
                                </m:m>
                              </m:e>
                            </m:mr>
                            <m:mr>
                              <m:e>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r>
                                        <m:rPr>
                                          <m:brk m:alnAt="7"/>
                                        </m:rPr>
                                        <a:rPr lang="en-US" sz="2400" i="1" smtClean="0">
                                          <a:latin typeface="Cambria Math" panose="02040503050406030204" pitchFamily="18" charset="0"/>
                                          <a:ea typeface="Cambria Math" panose="02040503050406030204" pitchFamily="18" charset="0"/>
                                        </a:rPr>
                                        <m:t>⋮</m:t>
                                      </m:r>
                                    </m:e>
                                  </m:mr>
                                  <m:mr>
                                    <m:e>
                                      <m:r>
                                        <m:rPr>
                                          <m:sty m:val="p"/>
                                        </m:rPr>
                                        <a:rPr lang="en-US" sz="2400" b="0" i="1" smtClean="0">
                                          <a:latin typeface="Cambria Math" panose="02040503050406030204" pitchFamily="18" charset="0"/>
                                          <a:ea typeface="Cambria Math" panose="02040503050406030204" pitchFamily="18" charset="0"/>
                                        </a:rPr>
                                        <m:t>xn</m:t>
                                      </m:r>
                                    </m:e>
                                  </m:mr>
                                </m:m>
                              </m:e>
                            </m:mr>
                          </m:m>
                        </m:e>
                      </m:d>
                      <m:r>
                        <a:rPr lang="en-US" sz="2400" b="0" i="1" smtClean="0">
                          <a:latin typeface="Cambria Math" panose="02040503050406030204" pitchFamily="18" charset="0"/>
                          <a:ea typeface="Cambria Math" panose="02040503050406030204" pitchFamily="18" charset="0"/>
                        </a:rPr>
                        <m:t>∗</m:t>
                      </m:r>
                      <m:d>
                        <m:dPr>
                          <m:begChr m:val="["/>
                          <m:endChr m:val="]"/>
                          <m:ctrlPr>
                            <a:rPr lang="en-US" sz="2400" b="0" i="1" smtClean="0">
                              <a:latin typeface="Cambria Math" panose="02040503050406030204" pitchFamily="18" charset="0"/>
                              <a:ea typeface="Cambria Math" panose="02040503050406030204" pitchFamily="18" charset="0"/>
                            </a:rPr>
                          </m:ctrlPr>
                        </m:dPr>
                        <m:e>
                          <m:r>
                            <m:rPr>
                              <m:sty m:val="p"/>
                            </m:rPr>
                            <a:rPr lang="en-US" sz="2400" b="0" i="1" smtClean="0">
                              <a:latin typeface="Cambria Math" panose="02040503050406030204" pitchFamily="18" charset="0"/>
                              <a:ea typeface="Cambria Math" panose="02040503050406030204" pitchFamily="18" charset="0"/>
                            </a:rPr>
                            <m:t>w</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nor/>
                                        </m:rPr>
                                        <a:rPr lang="cy-GB" sz="2400" smtClean="0"/>
                                        <m:t>ŷ</m:t>
                                      </m:r>
                                      <m:r>
                                        <a:rPr lang="en-US" sz="2400" i="1">
                                          <a:latin typeface="Cambria Math" panose="02040503050406030204" pitchFamily="18" charset="0"/>
                                          <a:ea typeface="Cambria Math" panose="02040503050406030204" pitchFamily="18" charset="0"/>
                                        </a:rPr>
                                        <m:t>1</m:t>
                                      </m:r>
                                    </m:e>
                                  </m:mr>
                                  <m:mr>
                                    <m:e>
                                      <m:r>
                                        <m:rPr>
                                          <m:nor/>
                                        </m:rPr>
                                        <a:rPr lang="cy-GB" sz="2400" smtClean="0"/>
                                        <m:t>ŷ</m:t>
                                      </m:r>
                                      <m:r>
                                        <a:rPr lang="en-US" sz="2400" i="1">
                                          <a:latin typeface="Cambria Math" panose="02040503050406030204" pitchFamily="18" charset="0"/>
                                          <a:ea typeface="Cambria Math" panose="02040503050406030204" pitchFamily="18" charset="0"/>
                                        </a:rPr>
                                        <m:t>2</m:t>
                                      </m:r>
                                    </m:e>
                                  </m:mr>
                                </m:m>
                              </m:e>
                            </m:mr>
                            <m:m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m:t>
                                      </m:r>
                                    </m:e>
                                  </m:mr>
                                  <m:mr>
                                    <m:e>
                                      <m:r>
                                        <m:rPr>
                                          <m:nor/>
                                        </m:rPr>
                                        <a:rPr lang="cy-GB" sz="2400" smtClean="0"/>
                                        <m:t>ŷ</m:t>
                                      </m:r>
                                      <m:r>
                                        <m:rPr>
                                          <m:sty m:val="p"/>
                                        </m:rPr>
                                        <a:rPr lang="en-US" sz="2400" i="1">
                                          <a:latin typeface="Cambria Math" panose="02040503050406030204" pitchFamily="18" charset="0"/>
                                          <a:ea typeface="Cambria Math" panose="02040503050406030204" pitchFamily="18" charset="0"/>
                                        </a:rPr>
                                        <m:t>n</m:t>
                                      </m:r>
                                    </m:e>
                                  </m:mr>
                                </m:m>
                              </m:e>
                            </m:mr>
                          </m:m>
                        </m:e>
                      </m:d>
                    </m:oMath>
                  </m:oMathPara>
                </a14:m>
                <a:endParaRPr lang="en-US" sz="2400" dirty="0"/>
              </a:p>
            </p:txBody>
          </p:sp>
        </mc:Choice>
        <mc:Fallback xmlns="">
          <p:sp>
            <p:nvSpPr>
              <p:cNvPr id="8" name="TextBox 7">
                <a:extLst>
                  <a:ext uri="{FF2B5EF4-FFF2-40B4-BE49-F238E27FC236}">
                    <a16:creationId xmlns:a16="http://schemas.microsoft.com/office/drawing/2014/main" id="{FFB54A1E-DEA2-437B-1594-00248F028BD6}"/>
                  </a:ext>
                </a:extLst>
              </p:cNvPr>
              <p:cNvSpPr txBox="1">
                <a:spLocks noRot="1" noChangeAspect="1" noMove="1" noResize="1" noEditPoints="1" noAdjustHandles="1" noChangeArrowheads="1" noChangeShapeType="1" noTextEdit="1"/>
              </p:cNvSpPr>
              <p:nvPr/>
            </p:nvSpPr>
            <p:spPr>
              <a:xfrm>
                <a:off x="7696043" y="2804983"/>
                <a:ext cx="3509319" cy="1468544"/>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61303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9251A-8C48-BCA7-B2AB-56A4D3832FE0}"/>
              </a:ext>
            </a:extLst>
          </p:cNvPr>
          <p:cNvSpPr>
            <a:spLocks noGrp="1"/>
          </p:cNvSpPr>
          <p:nvPr>
            <p:ph type="title"/>
          </p:nvPr>
        </p:nvSpPr>
        <p:spPr/>
        <p:txBody>
          <a:bodyPr/>
          <a:lstStyle/>
          <a:p>
            <a:r>
              <a:rPr lang="en-US" dirty="0"/>
              <a:t>Regression Summary</a:t>
            </a:r>
          </a:p>
        </p:txBody>
      </p:sp>
      <p:sp>
        <p:nvSpPr>
          <p:cNvPr id="3" name="Content Placeholder 2">
            <a:extLst>
              <a:ext uri="{FF2B5EF4-FFF2-40B4-BE49-F238E27FC236}">
                <a16:creationId xmlns:a16="http://schemas.microsoft.com/office/drawing/2014/main" id="{48265C82-9D28-72B2-1374-03D890AB8FAE}"/>
              </a:ext>
            </a:extLst>
          </p:cNvPr>
          <p:cNvSpPr>
            <a:spLocks noGrp="1"/>
          </p:cNvSpPr>
          <p:nvPr>
            <p:ph idx="1"/>
          </p:nvPr>
        </p:nvSpPr>
        <p:spPr/>
        <p:txBody>
          <a:bodyPr/>
          <a:lstStyle/>
          <a:p>
            <a:r>
              <a:rPr lang="en-US" dirty="0"/>
              <a:t>Solvable using ML</a:t>
            </a:r>
          </a:p>
          <a:p>
            <a:r>
              <a:rPr lang="en-US" dirty="0"/>
              <a:t>Mean squared error loss makes most sense for these problems</a:t>
            </a:r>
          </a:p>
          <a:p>
            <a:pPr lvl="1"/>
            <a:r>
              <a:rPr lang="en-US" dirty="0"/>
              <a:t>Numerical input and output</a:t>
            </a:r>
          </a:p>
          <a:p>
            <a:pPr lvl="1"/>
            <a:r>
              <a:rPr lang="en-US" dirty="0"/>
              <a:t>Big outliers are bad</a:t>
            </a:r>
          </a:p>
        </p:txBody>
      </p:sp>
    </p:spTree>
    <p:extLst>
      <p:ext uri="{BB962C8B-B14F-4D97-AF65-F5344CB8AC3E}">
        <p14:creationId xmlns:p14="http://schemas.microsoft.com/office/powerpoint/2010/main" val="1593728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FE03F-1607-15AB-63A6-3FAB972E6198}"/>
              </a:ext>
            </a:extLst>
          </p:cNvPr>
          <p:cNvSpPr>
            <a:spLocks noGrp="1"/>
          </p:cNvSpPr>
          <p:nvPr>
            <p:ph type="title"/>
          </p:nvPr>
        </p:nvSpPr>
        <p:spPr/>
        <p:txBody>
          <a:bodyPr/>
          <a:lstStyle/>
          <a:p>
            <a:r>
              <a:rPr lang="en-US" dirty="0"/>
              <a:t>What if It’s Nonlinear?</a:t>
            </a:r>
          </a:p>
        </p:txBody>
      </p:sp>
      <p:pic>
        <p:nvPicPr>
          <p:cNvPr id="7" name="Content Placeholder 6">
            <a:extLst>
              <a:ext uri="{FF2B5EF4-FFF2-40B4-BE49-F238E27FC236}">
                <a16:creationId xmlns:a16="http://schemas.microsoft.com/office/drawing/2014/main" id="{DD7DA2F0-9B41-194E-2AFE-DE48FBD3359B}"/>
              </a:ext>
            </a:extLst>
          </p:cNvPr>
          <p:cNvPicPr>
            <a:picLocks noGrp="1" noChangeAspect="1"/>
          </p:cNvPicPr>
          <p:nvPr>
            <p:ph idx="1"/>
          </p:nvPr>
        </p:nvPicPr>
        <p:blipFill>
          <a:blip r:embed="rId3"/>
          <a:stretch>
            <a:fillRect/>
          </a:stretch>
        </p:blipFill>
        <p:spPr bwMode="auto">
          <a:xfrm>
            <a:off x="91996" y="2069756"/>
            <a:ext cx="12008008" cy="307065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916625D3-D5D0-BF67-418C-D2A26AE7C517}"/>
              </a:ext>
            </a:extLst>
          </p:cNvPr>
          <p:cNvCxnSpPr>
            <a:cxnSpLocks/>
          </p:cNvCxnSpPr>
          <p:nvPr/>
        </p:nvCxnSpPr>
        <p:spPr>
          <a:xfrm flipV="1">
            <a:off x="4658497" y="2928551"/>
            <a:ext cx="3410465" cy="153223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0014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CCB5B-0A51-A168-5A83-93B20571D89B}"/>
              </a:ext>
            </a:extLst>
          </p:cNvPr>
          <p:cNvSpPr>
            <a:spLocks noGrp="1"/>
          </p:cNvSpPr>
          <p:nvPr>
            <p:ph type="title"/>
          </p:nvPr>
        </p:nvSpPr>
        <p:spPr/>
        <p:txBody>
          <a:bodyPr/>
          <a:lstStyle/>
          <a:p>
            <a:r>
              <a:rPr lang="en-US" dirty="0"/>
              <a:t>A New Problem Statement</a:t>
            </a:r>
          </a:p>
        </p:txBody>
      </p:sp>
      <p:sp>
        <p:nvSpPr>
          <p:cNvPr id="3" name="Content Placeholder 2">
            <a:extLst>
              <a:ext uri="{FF2B5EF4-FFF2-40B4-BE49-F238E27FC236}">
                <a16:creationId xmlns:a16="http://schemas.microsoft.com/office/drawing/2014/main" id="{71A33CFF-F7B9-6D50-D060-1D859212D232}"/>
              </a:ext>
            </a:extLst>
          </p:cNvPr>
          <p:cNvSpPr>
            <a:spLocks noGrp="1"/>
          </p:cNvSpPr>
          <p:nvPr>
            <p:ph idx="1"/>
          </p:nvPr>
        </p:nvSpPr>
        <p:spPr>
          <a:xfrm>
            <a:off x="838200" y="1825625"/>
            <a:ext cx="10418805" cy="4351338"/>
          </a:xfrm>
        </p:spPr>
        <p:txBody>
          <a:bodyPr/>
          <a:lstStyle/>
          <a:p>
            <a:r>
              <a:rPr lang="en-US" dirty="0"/>
              <a:t>Let’s say we want to predict probability a patient has a disease.</a:t>
            </a:r>
          </a:p>
          <a:p>
            <a:r>
              <a:rPr lang="en-US" dirty="0"/>
              <a:t>We want to “classify” them into one of two categories.</a:t>
            </a:r>
          </a:p>
          <a:p>
            <a:r>
              <a:rPr lang="en-US" dirty="0"/>
              <a:t>So instead of a regression problem, we have a classification problem.</a:t>
            </a:r>
          </a:p>
          <a:p>
            <a:endParaRPr lang="en-US" dirty="0"/>
          </a:p>
          <a:p>
            <a:endParaRPr lang="en-US" dirty="0"/>
          </a:p>
        </p:txBody>
      </p:sp>
      <p:pic>
        <p:nvPicPr>
          <p:cNvPr id="11" name="Picture 10">
            <a:extLst>
              <a:ext uri="{FF2B5EF4-FFF2-40B4-BE49-F238E27FC236}">
                <a16:creationId xmlns:a16="http://schemas.microsoft.com/office/drawing/2014/main" id="{13E29A2E-3AE3-6570-961A-A3317C2EB178}"/>
              </a:ext>
            </a:extLst>
          </p:cNvPr>
          <p:cNvPicPr>
            <a:picLocks noChangeAspect="1"/>
          </p:cNvPicPr>
          <p:nvPr/>
        </p:nvPicPr>
        <p:blipFill>
          <a:blip r:embed="rId3"/>
          <a:stretch>
            <a:fillRect/>
          </a:stretch>
        </p:blipFill>
        <p:spPr>
          <a:xfrm>
            <a:off x="7962238" y="5786383"/>
            <a:ext cx="3953427" cy="781159"/>
          </a:xfrm>
          <a:prstGeom prst="rect">
            <a:avLst/>
          </a:prstGeom>
        </p:spPr>
      </p:pic>
    </p:spTree>
    <p:extLst>
      <p:ext uri="{BB962C8B-B14F-4D97-AF65-F5344CB8AC3E}">
        <p14:creationId xmlns:p14="http://schemas.microsoft.com/office/powerpoint/2010/main" val="2133962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36A2D-D745-9843-FB62-CCF996F709CF}"/>
              </a:ext>
            </a:extLst>
          </p:cNvPr>
          <p:cNvSpPr>
            <a:spLocks noGrp="1"/>
          </p:cNvSpPr>
          <p:nvPr>
            <p:ph type="title"/>
          </p:nvPr>
        </p:nvSpPr>
        <p:spPr/>
        <p:txBody>
          <a:bodyPr/>
          <a:lstStyle/>
          <a:p>
            <a:r>
              <a:rPr lang="en-US" dirty="0"/>
              <a:t>What Loss Function?</a:t>
            </a:r>
          </a:p>
        </p:txBody>
      </p:sp>
      <p:pic>
        <p:nvPicPr>
          <p:cNvPr id="5" name="Content Placeholder 4">
            <a:extLst>
              <a:ext uri="{FF2B5EF4-FFF2-40B4-BE49-F238E27FC236}">
                <a16:creationId xmlns:a16="http://schemas.microsoft.com/office/drawing/2014/main" id="{8D977F54-930D-F370-3491-216798C5F997}"/>
              </a:ext>
            </a:extLst>
          </p:cNvPr>
          <p:cNvPicPr>
            <a:picLocks noGrp="1" noChangeAspect="1"/>
          </p:cNvPicPr>
          <p:nvPr>
            <p:ph idx="1"/>
          </p:nvPr>
        </p:nvPicPr>
        <p:blipFill>
          <a:blip r:embed="rId3"/>
          <a:stretch>
            <a:fillRect/>
          </a:stretch>
        </p:blipFill>
        <p:spPr>
          <a:xfrm>
            <a:off x="1420471" y="1315620"/>
            <a:ext cx="5273327" cy="5357029"/>
          </a:xfrm>
          <a:prstGeom prst="rect">
            <a:avLst/>
          </a:prstGeom>
        </p:spPr>
      </p:pic>
      <p:sp>
        <p:nvSpPr>
          <p:cNvPr id="6" name="TextBox 5">
            <a:extLst>
              <a:ext uri="{FF2B5EF4-FFF2-40B4-BE49-F238E27FC236}">
                <a16:creationId xmlns:a16="http://schemas.microsoft.com/office/drawing/2014/main" id="{D03137A0-8492-FF7B-888A-1FF99C925F08}"/>
              </a:ext>
            </a:extLst>
          </p:cNvPr>
          <p:cNvSpPr txBox="1"/>
          <p:nvPr/>
        </p:nvSpPr>
        <p:spPr>
          <a:xfrm>
            <a:off x="7339914" y="1421027"/>
            <a:ext cx="4300151" cy="1200329"/>
          </a:xfrm>
          <a:prstGeom prst="rect">
            <a:avLst/>
          </a:prstGeom>
          <a:noFill/>
        </p:spPr>
        <p:txBody>
          <a:bodyPr wrap="square" rtlCol="0">
            <a:spAutoFit/>
          </a:bodyPr>
          <a:lstStyle/>
          <a:p>
            <a:r>
              <a:rPr lang="en-US" sz="2400" dirty="0"/>
              <a:t>Binary Loss:</a:t>
            </a:r>
          </a:p>
          <a:p>
            <a:r>
              <a:rPr lang="en-US" sz="2400" dirty="0"/>
              <a:t>If on the correct side, 0</a:t>
            </a:r>
          </a:p>
          <a:p>
            <a:r>
              <a:rPr lang="en-US" sz="2400" dirty="0"/>
              <a:t>If on the wrong side, 1</a:t>
            </a:r>
          </a:p>
        </p:txBody>
      </p:sp>
    </p:spTree>
    <p:extLst>
      <p:ext uri="{BB962C8B-B14F-4D97-AF65-F5344CB8AC3E}">
        <p14:creationId xmlns:p14="http://schemas.microsoft.com/office/powerpoint/2010/main" val="206948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9E70D-618E-FF7A-FFA0-74E4A2F9209F}"/>
              </a:ext>
            </a:extLst>
          </p:cNvPr>
          <p:cNvSpPr>
            <a:spLocks noGrp="1"/>
          </p:cNvSpPr>
          <p:nvPr>
            <p:ph type="title"/>
          </p:nvPr>
        </p:nvSpPr>
        <p:spPr/>
        <p:txBody>
          <a:bodyPr/>
          <a:lstStyle/>
          <a:p>
            <a:r>
              <a:rPr lang="en-US" dirty="0"/>
              <a:t>Binary Loss:</a:t>
            </a:r>
          </a:p>
        </p:txBody>
      </p:sp>
      <p:sp>
        <p:nvSpPr>
          <p:cNvPr id="4" name="TextBox 3">
            <a:extLst>
              <a:ext uri="{FF2B5EF4-FFF2-40B4-BE49-F238E27FC236}">
                <a16:creationId xmlns:a16="http://schemas.microsoft.com/office/drawing/2014/main" id="{AF8CA434-D2C8-47F3-2A83-7C0E1185064B}"/>
              </a:ext>
            </a:extLst>
          </p:cNvPr>
          <p:cNvSpPr txBox="1"/>
          <p:nvPr/>
        </p:nvSpPr>
        <p:spPr>
          <a:xfrm>
            <a:off x="6895071" y="490359"/>
            <a:ext cx="4300151" cy="1200329"/>
          </a:xfrm>
          <a:prstGeom prst="rect">
            <a:avLst/>
          </a:prstGeom>
          <a:noFill/>
        </p:spPr>
        <p:txBody>
          <a:bodyPr wrap="square" rtlCol="0">
            <a:spAutoFit/>
          </a:bodyPr>
          <a:lstStyle/>
          <a:p>
            <a:r>
              <a:rPr lang="en-US" sz="2400" dirty="0"/>
              <a:t>Binary Loss:</a:t>
            </a:r>
          </a:p>
          <a:p>
            <a:r>
              <a:rPr lang="en-US" sz="2400" dirty="0"/>
              <a:t>If on the correct side, 0</a:t>
            </a:r>
          </a:p>
          <a:p>
            <a:r>
              <a:rPr lang="en-US" sz="2400" dirty="0"/>
              <a:t>If on the wrong side, 1</a:t>
            </a:r>
          </a:p>
        </p:txBody>
      </p:sp>
      <p:cxnSp>
        <p:nvCxnSpPr>
          <p:cNvPr id="6" name="Straight Connector 5">
            <a:extLst>
              <a:ext uri="{FF2B5EF4-FFF2-40B4-BE49-F238E27FC236}">
                <a16:creationId xmlns:a16="http://schemas.microsoft.com/office/drawing/2014/main" id="{53D0F394-558B-1955-9745-1B5383741D14}"/>
              </a:ext>
            </a:extLst>
          </p:cNvPr>
          <p:cNvCxnSpPr>
            <a:cxnSpLocks/>
          </p:cNvCxnSpPr>
          <p:nvPr/>
        </p:nvCxnSpPr>
        <p:spPr>
          <a:xfrm>
            <a:off x="1799968" y="3719383"/>
            <a:ext cx="0" cy="2520779"/>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39F0E56-69A1-D2A8-36BC-65FF07F5476D}"/>
              </a:ext>
            </a:extLst>
          </p:cNvPr>
          <p:cNvCxnSpPr>
            <a:cxnSpLocks/>
          </p:cNvCxnSpPr>
          <p:nvPr/>
        </p:nvCxnSpPr>
        <p:spPr>
          <a:xfrm>
            <a:off x="601363" y="4955059"/>
            <a:ext cx="2545492"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1E6E5164-61E6-D0AA-F901-D932ACC234A9}"/>
              </a:ext>
            </a:extLst>
          </p:cNvPr>
          <p:cNvSpPr/>
          <p:nvPr/>
        </p:nvSpPr>
        <p:spPr>
          <a:xfrm>
            <a:off x="1367482" y="4127156"/>
            <a:ext cx="148281" cy="135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432334-0B36-D4EC-B73A-F4B481A7F955}"/>
              </a:ext>
            </a:extLst>
          </p:cNvPr>
          <p:cNvSpPr/>
          <p:nvPr/>
        </p:nvSpPr>
        <p:spPr>
          <a:xfrm>
            <a:off x="1935893" y="3991233"/>
            <a:ext cx="148281" cy="135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F061A2D-D598-AF76-5D4D-4EF71769A3ED}"/>
              </a:ext>
            </a:extLst>
          </p:cNvPr>
          <p:cNvSpPr/>
          <p:nvPr/>
        </p:nvSpPr>
        <p:spPr>
          <a:xfrm>
            <a:off x="885568" y="3923271"/>
            <a:ext cx="148281" cy="135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30FBE7E-AA4E-783D-16E3-6C1DCF74FE2F}"/>
              </a:ext>
            </a:extLst>
          </p:cNvPr>
          <p:cNvSpPr/>
          <p:nvPr/>
        </p:nvSpPr>
        <p:spPr>
          <a:xfrm>
            <a:off x="2850293" y="5393726"/>
            <a:ext cx="148281" cy="135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86B0EF2-1BEE-8145-CEF9-55280B1DCE3F}"/>
              </a:ext>
            </a:extLst>
          </p:cNvPr>
          <p:cNvSpPr/>
          <p:nvPr/>
        </p:nvSpPr>
        <p:spPr>
          <a:xfrm>
            <a:off x="1126525" y="6054813"/>
            <a:ext cx="148281" cy="13592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0184D00-80A8-3842-1493-51EF6150FB1C}"/>
              </a:ext>
            </a:extLst>
          </p:cNvPr>
          <p:cNvSpPr/>
          <p:nvPr/>
        </p:nvSpPr>
        <p:spPr>
          <a:xfrm>
            <a:off x="885567" y="5715001"/>
            <a:ext cx="148281" cy="13592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DFC22CD-21D7-508D-F1D3-EC4706BAB951}"/>
              </a:ext>
            </a:extLst>
          </p:cNvPr>
          <p:cNvSpPr/>
          <p:nvPr/>
        </p:nvSpPr>
        <p:spPr>
          <a:xfrm>
            <a:off x="2084172" y="5579078"/>
            <a:ext cx="148281" cy="13592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1614261-A66F-0120-645F-A158D302A043}"/>
              </a:ext>
            </a:extLst>
          </p:cNvPr>
          <p:cNvCxnSpPr>
            <a:cxnSpLocks/>
          </p:cNvCxnSpPr>
          <p:nvPr/>
        </p:nvCxnSpPr>
        <p:spPr>
          <a:xfrm>
            <a:off x="247135" y="4423719"/>
            <a:ext cx="3690552" cy="222421"/>
          </a:xfrm>
          <a:prstGeom prst="straightConnector1">
            <a:avLst/>
          </a:prstGeom>
          <a:ln>
            <a:solidFill>
              <a:srgbClr val="00B05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C34AD4D-96DB-7DAE-A63B-F4FC5536DCE2}"/>
              </a:ext>
            </a:extLst>
          </p:cNvPr>
          <p:cNvCxnSpPr>
            <a:cxnSpLocks/>
          </p:cNvCxnSpPr>
          <p:nvPr/>
        </p:nvCxnSpPr>
        <p:spPr>
          <a:xfrm>
            <a:off x="7203990" y="3768809"/>
            <a:ext cx="0" cy="2520779"/>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EBC4409-3A76-E06D-7DE3-2D541CCD17F8}"/>
              </a:ext>
            </a:extLst>
          </p:cNvPr>
          <p:cNvCxnSpPr>
            <a:cxnSpLocks/>
          </p:cNvCxnSpPr>
          <p:nvPr/>
        </p:nvCxnSpPr>
        <p:spPr>
          <a:xfrm>
            <a:off x="6005385" y="5004485"/>
            <a:ext cx="2545492" cy="0"/>
          </a:xfrm>
          <a:prstGeom prst="line">
            <a:avLst/>
          </a:prstGeom>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D9BDBB16-AC5C-274E-A632-03162900B83A}"/>
              </a:ext>
            </a:extLst>
          </p:cNvPr>
          <p:cNvSpPr/>
          <p:nvPr/>
        </p:nvSpPr>
        <p:spPr>
          <a:xfrm>
            <a:off x="6771504" y="4176582"/>
            <a:ext cx="148281" cy="135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E4B4AF6-B917-38EA-39C1-EBDF2FC9BC9E}"/>
              </a:ext>
            </a:extLst>
          </p:cNvPr>
          <p:cNvSpPr/>
          <p:nvPr/>
        </p:nvSpPr>
        <p:spPr>
          <a:xfrm>
            <a:off x="7339915" y="4040659"/>
            <a:ext cx="148281" cy="135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BE7FC67-DAC7-AEFA-891A-0D62C28E2137}"/>
              </a:ext>
            </a:extLst>
          </p:cNvPr>
          <p:cNvSpPr/>
          <p:nvPr/>
        </p:nvSpPr>
        <p:spPr>
          <a:xfrm>
            <a:off x="6289590" y="3972697"/>
            <a:ext cx="148281" cy="135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E0C601D-788A-A749-C19E-CEC2B4448E0E}"/>
              </a:ext>
            </a:extLst>
          </p:cNvPr>
          <p:cNvSpPr/>
          <p:nvPr/>
        </p:nvSpPr>
        <p:spPr>
          <a:xfrm>
            <a:off x="8254315" y="5443152"/>
            <a:ext cx="148281" cy="135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1D4AE72-66F0-1F35-D54F-FBAB0226C733}"/>
              </a:ext>
            </a:extLst>
          </p:cNvPr>
          <p:cNvSpPr/>
          <p:nvPr/>
        </p:nvSpPr>
        <p:spPr>
          <a:xfrm>
            <a:off x="6530547" y="6104239"/>
            <a:ext cx="148281" cy="13592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7A3D0A8-10F2-0A8F-AC32-99AF201C6CA1}"/>
              </a:ext>
            </a:extLst>
          </p:cNvPr>
          <p:cNvSpPr/>
          <p:nvPr/>
        </p:nvSpPr>
        <p:spPr>
          <a:xfrm>
            <a:off x="6289589" y="5764427"/>
            <a:ext cx="148281" cy="13592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C9924BA-7285-253B-12E9-BC68D36E6789}"/>
              </a:ext>
            </a:extLst>
          </p:cNvPr>
          <p:cNvSpPr/>
          <p:nvPr/>
        </p:nvSpPr>
        <p:spPr>
          <a:xfrm>
            <a:off x="7488194" y="5628504"/>
            <a:ext cx="148281" cy="13592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61BAA538-6C96-4AB9-5699-1ADC79A1988D}"/>
              </a:ext>
            </a:extLst>
          </p:cNvPr>
          <p:cNvCxnSpPr>
            <a:cxnSpLocks/>
          </p:cNvCxnSpPr>
          <p:nvPr/>
        </p:nvCxnSpPr>
        <p:spPr>
          <a:xfrm>
            <a:off x="5395784" y="3972697"/>
            <a:ext cx="3945923" cy="1878227"/>
          </a:xfrm>
          <a:prstGeom prst="straightConnector1">
            <a:avLst/>
          </a:prstGeom>
          <a:ln>
            <a:solidFill>
              <a:srgbClr val="00B05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820E56D-1100-A9D3-5FBB-5CF3DCDCC696}"/>
              </a:ext>
            </a:extLst>
          </p:cNvPr>
          <p:cNvSpPr txBox="1"/>
          <p:nvPr/>
        </p:nvSpPr>
        <p:spPr>
          <a:xfrm>
            <a:off x="1301581" y="3151657"/>
            <a:ext cx="2636106" cy="369332"/>
          </a:xfrm>
          <a:prstGeom prst="rect">
            <a:avLst/>
          </a:prstGeom>
          <a:noFill/>
        </p:spPr>
        <p:txBody>
          <a:bodyPr wrap="square" rtlCol="0">
            <a:spAutoFit/>
          </a:bodyPr>
          <a:lstStyle/>
          <a:p>
            <a:r>
              <a:rPr lang="en-US" dirty="0"/>
              <a:t>Loss = 1</a:t>
            </a:r>
          </a:p>
        </p:txBody>
      </p:sp>
      <p:sp>
        <p:nvSpPr>
          <p:cNvPr id="46" name="TextBox 45">
            <a:extLst>
              <a:ext uri="{FF2B5EF4-FFF2-40B4-BE49-F238E27FC236}">
                <a16:creationId xmlns:a16="http://schemas.microsoft.com/office/drawing/2014/main" id="{DF38882B-EBBF-F69E-0566-FC0A9739FCB0}"/>
              </a:ext>
            </a:extLst>
          </p:cNvPr>
          <p:cNvSpPr txBox="1"/>
          <p:nvPr/>
        </p:nvSpPr>
        <p:spPr>
          <a:xfrm>
            <a:off x="6771504" y="3194221"/>
            <a:ext cx="2636106" cy="369332"/>
          </a:xfrm>
          <a:prstGeom prst="rect">
            <a:avLst/>
          </a:prstGeom>
          <a:noFill/>
        </p:spPr>
        <p:txBody>
          <a:bodyPr wrap="square" rtlCol="0">
            <a:spAutoFit/>
          </a:bodyPr>
          <a:lstStyle/>
          <a:p>
            <a:r>
              <a:rPr lang="en-US" dirty="0"/>
              <a:t>Loss = 1</a:t>
            </a:r>
          </a:p>
        </p:txBody>
      </p:sp>
    </p:spTree>
    <p:extLst>
      <p:ext uri="{BB962C8B-B14F-4D97-AF65-F5344CB8AC3E}">
        <p14:creationId xmlns:p14="http://schemas.microsoft.com/office/powerpoint/2010/main" val="210964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45" grpId="0"/>
      <p:bldP spid="4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0C720-02E0-F789-1721-840B710607A1}"/>
              </a:ext>
            </a:extLst>
          </p:cNvPr>
          <p:cNvSpPr>
            <a:spLocks noGrp="1"/>
          </p:cNvSpPr>
          <p:nvPr>
            <p:ph type="title"/>
          </p:nvPr>
        </p:nvSpPr>
        <p:spPr/>
        <p:txBody>
          <a:bodyPr/>
          <a:lstStyle/>
          <a:p>
            <a:r>
              <a:rPr lang="en-US" dirty="0"/>
              <a:t>We already know this!</a:t>
            </a:r>
          </a:p>
        </p:txBody>
      </p:sp>
      <p:pic>
        <p:nvPicPr>
          <p:cNvPr id="5" name="Content Placeholder 4">
            <a:extLst>
              <a:ext uri="{FF2B5EF4-FFF2-40B4-BE49-F238E27FC236}">
                <a16:creationId xmlns:a16="http://schemas.microsoft.com/office/drawing/2014/main" id="{14E182E0-40AA-F20F-F121-CE47EEED45C0}"/>
              </a:ext>
            </a:extLst>
          </p:cNvPr>
          <p:cNvPicPr>
            <a:picLocks noGrp="1" noChangeAspect="1"/>
          </p:cNvPicPr>
          <p:nvPr>
            <p:ph idx="1"/>
          </p:nvPr>
        </p:nvPicPr>
        <p:blipFill>
          <a:blip r:embed="rId2"/>
          <a:stretch>
            <a:fillRect/>
          </a:stretch>
        </p:blipFill>
        <p:spPr>
          <a:xfrm>
            <a:off x="838200" y="2662543"/>
            <a:ext cx="10515600" cy="2677501"/>
          </a:xfrm>
          <a:prstGeom prst="rect">
            <a:avLst/>
          </a:prstGeom>
        </p:spPr>
      </p:pic>
      <p:sp>
        <p:nvSpPr>
          <p:cNvPr id="6" name="TextBox 5">
            <a:extLst>
              <a:ext uri="{FF2B5EF4-FFF2-40B4-BE49-F238E27FC236}">
                <a16:creationId xmlns:a16="http://schemas.microsoft.com/office/drawing/2014/main" id="{1F73E57C-2AF4-85B5-4BFA-BB8353B86A61}"/>
              </a:ext>
            </a:extLst>
          </p:cNvPr>
          <p:cNvSpPr txBox="1"/>
          <p:nvPr/>
        </p:nvSpPr>
        <p:spPr>
          <a:xfrm>
            <a:off x="5857103" y="2248929"/>
            <a:ext cx="4559644" cy="369332"/>
          </a:xfrm>
          <a:prstGeom prst="rect">
            <a:avLst/>
          </a:prstGeom>
          <a:noFill/>
        </p:spPr>
        <p:txBody>
          <a:bodyPr wrap="square" rtlCol="0">
            <a:spAutoFit/>
          </a:bodyPr>
          <a:lstStyle/>
          <a:p>
            <a:r>
              <a:rPr lang="en-US" dirty="0"/>
              <a:t>Confusion matrix</a:t>
            </a:r>
          </a:p>
        </p:txBody>
      </p:sp>
    </p:spTree>
    <p:extLst>
      <p:ext uri="{BB962C8B-B14F-4D97-AF65-F5344CB8AC3E}">
        <p14:creationId xmlns:p14="http://schemas.microsoft.com/office/powerpoint/2010/main" val="1544527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5399A-5B5F-D5F3-4E28-E6E6AC09419F}"/>
              </a:ext>
            </a:extLst>
          </p:cNvPr>
          <p:cNvSpPr>
            <a:spLocks noGrp="1"/>
          </p:cNvSpPr>
          <p:nvPr>
            <p:ph type="title"/>
          </p:nvPr>
        </p:nvSpPr>
        <p:spPr/>
        <p:txBody>
          <a:bodyPr/>
          <a:lstStyle/>
          <a:p>
            <a:r>
              <a:rPr lang="en-US" dirty="0"/>
              <a:t>Binary Loss Surface</a:t>
            </a:r>
          </a:p>
        </p:txBody>
      </p:sp>
      <p:pic>
        <p:nvPicPr>
          <p:cNvPr id="2050" name="Picture 2" descr="algebra precalculus - How does one create a step function? - Mathematics  Stack Exchange">
            <a:extLst>
              <a:ext uri="{FF2B5EF4-FFF2-40B4-BE49-F238E27FC236}">
                <a16:creationId xmlns:a16="http://schemas.microsoft.com/office/drawing/2014/main" id="{9CAECD56-5BC6-CBA5-AEDD-ED8CC99BE5D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95108" y="1825625"/>
            <a:ext cx="580178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541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5EC4F-12CB-9C85-F56C-B8EA3BA06597}"/>
              </a:ext>
            </a:extLst>
          </p:cNvPr>
          <p:cNvSpPr>
            <a:spLocks noGrp="1"/>
          </p:cNvSpPr>
          <p:nvPr>
            <p:ph type="title"/>
          </p:nvPr>
        </p:nvSpPr>
        <p:spPr/>
        <p:txBody>
          <a:bodyPr/>
          <a:lstStyle/>
          <a:p>
            <a:r>
              <a:rPr lang="en-US" dirty="0"/>
              <a:t>Sigmoid and Log Loss</a:t>
            </a:r>
          </a:p>
        </p:txBody>
      </p:sp>
      <p:pic>
        <p:nvPicPr>
          <p:cNvPr id="4098" name="Picture 2" descr="AI | Neural Networks | Sigmoid Activation Function | Codecademy">
            <a:extLst>
              <a:ext uri="{FF2B5EF4-FFF2-40B4-BE49-F238E27FC236}">
                <a16:creationId xmlns:a16="http://schemas.microsoft.com/office/drawing/2014/main" id="{4CC28CCC-7366-C364-4CE8-0765A5AA764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10962" y="1535298"/>
            <a:ext cx="6613551" cy="49575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59C3875-2CCA-F7BB-7E52-C08DCCC6CDD6}"/>
              </a:ext>
            </a:extLst>
          </p:cNvPr>
          <p:cNvPicPr>
            <a:picLocks noChangeAspect="1"/>
          </p:cNvPicPr>
          <p:nvPr/>
        </p:nvPicPr>
        <p:blipFill>
          <a:blip r:embed="rId4"/>
          <a:stretch>
            <a:fillRect/>
          </a:stretch>
        </p:blipFill>
        <p:spPr>
          <a:xfrm>
            <a:off x="7306154" y="1426243"/>
            <a:ext cx="4885846" cy="2002757"/>
          </a:xfrm>
          <a:prstGeom prst="rect">
            <a:avLst/>
          </a:prstGeom>
        </p:spPr>
      </p:pic>
      <p:pic>
        <p:nvPicPr>
          <p:cNvPr id="7" name="Picture 6">
            <a:extLst>
              <a:ext uri="{FF2B5EF4-FFF2-40B4-BE49-F238E27FC236}">
                <a16:creationId xmlns:a16="http://schemas.microsoft.com/office/drawing/2014/main" id="{F3B2FD7E-B638-1AB9-D5C0-48278870D25B}"/>
              </a:ext>
            </a:extLst>
          </p:cNvPr>
          <p:cNvPicPr>
            <a:picLocks noChangeAspect="1"/>
          </p:cNvPicPr>
          <p:nvPr/>
        </p:nvPicPr>
        <p:blipFill>
          <a:blip r:embed="rId5"/>
          <a:stretch>
            <a:fillRect/>
          </a:stretch>
        </p:blipFill>
        <p:spPr>
          <a:xfrm>
            <a:off x="9276943" y="6259480"/>
            <a:ext cx="2915057" cy="466790"/>
          </a:xfrm>
          <a:prstGeom prst="rect">
            <a:avLst/>
          </a:prstGeom>
        </p:spPr>
      </p:pic>
    </p:spTree>
    <p:extLst>
      <p:ext uri="{BB962C8B-B14F-4D97-AF65-F5344CB8AC3E}">
        <p14:creationId xmlns:p14="http://schemas.microsoft.com/office/powerpoint/2010/main" val="2938160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4E870-C0FD-4EE3-8AB3-50A6B2FADBB6}"/>
              </a:ext>
            </a:extLst>
          </p:cNvPr>
          <p:cNvSpPr>
            <a:spLocks noGrp="1"/>
          </p:cNvSpPr>
          <p:nvPr>
            <p:ph type="title"/>
          </p:nvPr>
        </p:nvSpPr>
        <p:spPr/>
        <p:txBody>
          <a:bodyPr/>
          <a:lstStyle/>
          <a:p>
            <a:r>
              <a:rPr lang="en-US" dirty="0"/>
              <a:t>Log Likelihood Loss</a:t>
            </a:r>
          </a:p>
        </p:txBody>
      </p:sp>
      <p:pic>
        <p:nvPicPr>
          <p:cNvPr id="7" name="Picture 6">
            <a:extLst>
              <a:ext uri="{FF2B5EF4-FFF2-40B4-BE49-F238E27FC236}">
                <a16:creationId xmlns:a16="http://schemas.microsoft.com/office/drawing/2014/main" id="{E989136C-1559-B322-3B40-AEC529DBCE31}"/>
              </a:ext>
            </a:extLst>
          </p:cNvPr>
          <p:cNvPicPr>
            <a:picLocks noChangeAspect="1"/>
          </p:cNvPicPr>
          <p:nvPr/>
        </p:nvPicPr>
        <p:blipFill>
          <a:blip r:embed="rId3"/>
          <a:stretch>
            <a:fillRect/>
          </a:stretch>
        </p:blipFill>
        <p:spPr>
          <a:xfrm>
            <a:off x="1269636" y="2013997"/>
            <a:ext cx="9652728" cy="778630"/>
          </a:xfrm>
          <a:prstGeom prst="rect">
            <a:avLst/>
          </a:prstGeom>
        </p:spPr>
      </p:pic>
      <p:graphicFrame>
        <p:nvGraphicFramePr>
          <p:cNvPr id="10" name="Table 9">
            <a:extLst>
              <a:ext uri="{FF2B5EF4-FFF2-40B4-BE49-F238E27FC236}">
                <a16:creationId xmlns:a16="http://schemas.microsoft.com/office/drawing/2014/main" id="{3F7715C1-21B9-E5EE-F11D-73A08F4EDCC1}"/>
              </a:ext>
            </a:extLst>
          </p:cNvPr>
          <p:cNvGraphicFramePr>
            <a:graphicFrameLocks noGrp="1"/>
          </p:cNvGraphicFramePr>
          <p:nvPr>
            <p:extLst>
              <p:ext uri="{D42A27DB-BD31-4B8C-83A1-F6EECF244321}">
                <p14:modId xmlns:p14="http://schemas.microsoft.com/office/powerpoint/2010/main" val="1219447564"/>
              </p:ext>
            </p:extLst>
          </p:nvPr>
        </p:nvGraphicFramePr>
        <p:xfrm>
          <a:off x="2032000" y="3756112"/>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096544433"/>
                    </a:ext>
                  </a:extLst>
                </a:gridCol>
                <a:gridCol w="2709333">
                  <a:extLst>
                    <a:ext uri="{9D8B030D-6E8A-4147-A177-3AD203B41FA5}">
                      <a16:colId xmlns:a16="http://schemas.microsoft.com/office/drawing/2014/main" val="1601435125"/>
                    </a:ext>
                  </a:extLst>
                </a:gridCol>
                <a:gridCol w="2709333">
                  <a:extLst>
                    <a:ext uri="{9D8B030D-6E8A-4147-A177-3AD203B41FA5}">
                      <a16:colId xmlns:a16="http://schemas.microsoft.com/office/drawing/2014/main" val="4015743210"/>
                    </a:ext>
                  </a:extLst>
                </a:gridCol>
              </a:tblGrid>
              <a:tr h="370840">
                <a:tc>
                  <a:txBody>
                    <a:bodyPr/>
                    <a:lstStyle/>
                    <a:p>
                      <a:r>
                        <a:rPr lang="en-US" dirty="0"/>
                        <a:t>Guess</a:t>
                      </a:r>
                    </a:p>
                  </a:txBody>
                  <a:tcPr/>
                </a:tc>
                <a:tc>
                  <a:txBody>
                    <a:bodyPr/>
                    <a:lstStyle/>
                    <a:p>
                      <a:r>
                        <a:rPr lang="en-US" dirty="0"/>
                        <a:t>Actual </a:t>
                      </a:r>
                    </a:p>
                  </a:txBody>
                  <a:tcPr/>
                </a:tc>
                <a:tc>
                  <a:txBody>
                    <a:bodyPr/>
                    <a:lstStyle/>
                    <a:p>
                      <a:r>
                        <a:rPr lang="en-US" dirty="0"/>
                        <a:t>Loss</a:t>
                      </a:r>
                    </a:p>
                  </a:txBody>
                  <a:tcPr/>
                </a:tc>
                <a:extLst>
                  <a:ext uri="{0D108BD9-81ED-4DB2-BD59-A6C34878D82A}">
                    <a16:rowId xmlns:a16="http://schemas.microsoft.com/office/drawing/2014/main" val="2067658346"/>
                  </a:ext>
                </a:extLst>
              </a:tr>
              <a:tr h="370840">
                <a:tc>
                  <a:txBody>
                    <a:bodyPr/>
                    <a:lstStyle/>
                    <a:p>
                      <a:r>
                        <a:rPr lang="en-US" dirty="0"/>
                        <a:t>0.00001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229345751"/>
                  </a:ext>
                </a:extLst>
              </a:tr>
              <a:tr h="370840">
                <a:tc>
                  <a:txBody>
                    <a:bodyPr/>
                    <a:lstStyle/>
                    <a:p>
                      <a:r>
                        <a:rPr lang="en-US" dirty="0"/>
                        <a:t>1</a:t>
                      </a:r>
                    </a:p>
                  </a:txBody>
                  <a:tcPr/>
                </a:tc>
                <a:tc>
                  <a:txBody>
                    <a:bodyPr/>
                    <a:lstStyle/>
                    <a:p>
                      <a:r>
                        <a:rPr lang="en-US" dirty="0"/>
                        <a:t>0</a:t>
                      </a:r>
                    </a:p>
                  </a:txBody>
                  <a:tcPr/>
                </a:tc>
                <a:tc>
                  <a:txBody>
                    <a:bodyPr/>
                    <a:lstStyle/>
                    <a:p>
                      <a:r>
                        <a:rPr lang="en-US" dirty="0"/>
                        <a:t>infinity</a:t>
                      </a:r>
                    </a:p>
                  </a:txBody>
                  <a:tcPr/>
                </a:tc>
                <a:extLst>
                  <a:ext uri="{0D108BD9-81ED-4DB2-BD59-A6C34878D82A}">
                    <a16:rowId xmlns:a16="http://schemas.microsoft.com/office/drawing/2014/main" val="2311744805"/>
                  </a:ext>
                </a:extLst>
              </a:tr>
              <a:tr h="370840">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2679371754"/>
                  </a:ext>
                </a:extLst>
              </a:tr>
              <a:tr h="370840">
                <a:tc>
                  <a:txBody>
                    <a:bodyPr/>
                    <a:lstStyle/>
                    <a:p>
                      <a:r>
                        <a:rPr lang="en-US" dirty="0"/>
                        <a:t>0.00001</a:t>
                      </a:r>
                    </a:p>
                  </a:txBody>
                  <a:tcPr/>
                </a:tc>
                <a:tc>
                  <a:txBody>
                    <a:bodyPr/>
                    <a:lstStyle/>
                    <a:p>
                      <a:r>
                        <a:rPr lang="en-US" dirty="0"/>
                        <a:t>1</a:t>
                      </a:r>
                    </a:p>
                  </a:txBody>
                  <a:tcPr/>
                </a:tc>
                <a:tc>
                  <a:txBody>
                    <a:bodyPr/>
                    <a:lstStyle/>
                    <a:p>
                      <a:r>
                        <a:rPr lang="en-US" dirty="0"/>
                        <a:t>infinity</a:t>
                      </a:r>
                    </a:p>
                  </a:txBody>
                  <a:tcPr/>
                </a:tc>
                <a:extLst>
                  <a:ext uri="{0D108BD9-81ED-4DB2-BD59-A6C34878D82A}">
                    <a16:rowId xmlns:a16="http://schemas.microsoft.com/office/drawing/2014/main" val="1339461475"/>
                  </a:ext>
                </a:extLst>
              </a:tr>
            </a:tbl>
          </a:graphicData>
        </a:graphic>
      </p:graphicFrame>
      <p:sp>
        <p:nvSpPr>
          <p:cNvPr id="11" name="TextBox 10">
            <a:extLst>
              <a:ext uri="{FF2B5EF4-FFF2-40B4-BE49-F238E27FC236}">
                <a16:creationId xmlns:a16="http://schemas.microsoft.com/office/drawing/2014/main" id="{3A1D2972-CA46-2EE8-B1BB-A78DBDC43E2C}"/>
              </a:ext>
            </a:extLst>
          </p:cNvPr>
          <p:cNvSpPr txBox="1"/>
          <p:nvPr/>
        </p:nvSpPr>
        <p:spPr>
          <a:xfrm>
            <a:off x="3138615" y="2780270"/>
            <a:ext cx="5832389" cy="923330"/>
          </a:xfrm>
          <a:prstGeom prst="rect">
            <a:avLst/>
          </a:prstGeom>
          <a:noFill/>
        </p:spPr>
        <p:txBody>
          <a:bodyPr wrap="square" rtlCol="0">
            <a:spAutoFit/>
          </a:bodyPr>
          <a:lstStyle/>
          <a:p>
            <a:r>
              <a:rPr lang="en-US" dirty="0"/>
              <a:t>Recall: </a:t>
            </a:r>
          </a:p>
          <a:p>
            <a:r>
              <a:rPr lang="en-US" dirty="0"/>
              <a:t>Log(0) -&gt; negative infinity</a:t>
            </a:r>
          </a:p>
          <a:p>
            <a:r>
              <a:rPr lang="en-US" dirty="0"/>
              <a:t>Log(1) = 0</a:t>
            </a:r>
          </a:p>
        </p:txBody>
      </p:sp>
      <p:graphicFrame>
        <p:nvGraphicFramePr>
          <p:cNvPr id="12" name="Table 11">
            <a:extLst>
              <a:ext uri="{FF2B5EF4-FFF2-40B4-BE49-F238E27FC236}">
                <a16:creationId xmlns:a16="http://schemas.microsoft.com/office/drawing/2014/main" id="{F2D7D9FA-EFE1-9BF5-2AFE-3784D21F5FDD}"/>
              </a:ext>
            </a:extLst>
          </p:cNvPr>
          <p:cNvGraphicFramePr>
            <a:graphicFrameLocks noGrp="1"/>
          </p:cNvGraphicFramePr>
          <p:nvPr>
            <p:extLst>
              <p:ext uri="{D42A27DB-BD31-4B8C-83A1-F6EECF244321}">
                <p14:modId xmlns:p14="http://schemas.microsoft.com/office/powerpoint/2010/main" val="2773098123"/>
              </p:ext>
            </p:extLst>
          </p:nvPr>
        </p:nvGraphicFramePr>
        <p:xfrm>
          <a:off x="1990809" y="5745480"/>
          <a:ext cx="8127999" cy="741680"/>
        </p:xfrm>
        <a:graphic>
          <a:graphicData uri="http://schemas.openxmlformats.org/drawingml/2006/table">
            <a:tbl>
              <a:tblPr firstRow="1" bandRow="1">
                <a:tableStyleId>{3B4B98B0-60AC-42C2-AFA5-B58CD77FA1E5}</a:tableStyleId>
              </a:tblPr>
              <a:tblGrid>
                <a:gridCol w="2709333">
                  <a:extLst>
                    <a:ext uri="{9D8B030D-6E8A-4147-A177-3AD203B41FA5}">
                      <a16:colId xmlns:a16="http://schemas.microsoft.com/office/drawing/2014/main" val="2162209541"/>
                    </a:ext>
                  </a:extLst>
                </a:gridCol>
                <a:gridCol w="2709333">
                  <a:extLst>
                    <a:ext uri="{9D8B030D-6E8A-4147-A177-3AD203B41FA5}">
                      <a16:colId xmlns:a16="http://schemas.microsoft.com/office/drawing/2014/main" val="3380439556"/>
                    </a:ext>
                  </a:extLst>
                </a:gridCol>
                <a:gridCol w="2709333">
                  <a:extLst>
                    <a:ext uri="{9D8B030D-6E8A-4147-A177-3AD203B41FA5}">
                      <a16:colId xmlns:a16="http://schemas.microsoft.com/office/drawing/2014/main" val="3865020396"/>
                    </a:ext>
                  </a:extLst>
                </a:gridCol>
              </a:tblGrid>
              <a:tr h="370840">
                <a:tc>
                  <a:txBody>
                    <a:bodyPr/>
                    <a:lstStyle/>
                    <a:p>
                      <a:r>
                        <a:rPr lang="en-US" b="0" dirty="0"/>
                        <a:t>.5</a:t>
                      </a:r>
                    </a:p>
                  </a:txBody>
                  <a:tcPr/>
                </a:tc>
                <a:tc>
                  <a:txBody>
                    <a:bodyPr/>
                    <a:lstStyle/>
                    <a:p>
                      <a:r>
                        <a:rPr lang="en-US" b="0" dirty="0"/>
                        <a:t>1</a:t>
                      </a:r>
                    </a:p>
                  </a:txBody>
                  <a:tcPr/>
                </a:tc>
                <a:tc>
                  <a:txBody>
                    <a:bodyPr/>
                    <a:lstStyle/>
                    <a:p>
                      <a:r>
                        <a:rPr lang="en-US" b="0" dirty="0"/>
                        <a:t>.301</a:t>
                      </a:r>
                    </a:p>
                  </a:txBody>
                  <a:tcPr/>
                </a:tc>
                <a:extLst>
                  <a:ext uri="{0D108BD9-81ED-4DB2-BD59-A6C34878D82A}">
                    <a16:rowId xmlns:a16="http://schemas.microsoft.com/office/drawing/2014/main" val="2567021676"/>
                  </a:ext>
                </a:extLst>
              </a:tr>
              <a:tr h="370840">
                <a:tc>
                  <a:txBody>
                    <a:bodyPr/>
                    <a:lstStyle/>
                    <a:p>
                      <a:r>
                        <a:rPr lang="en-US" b="0" dirty="0"/>
                        <a:t>.75</a:t>
                      </a:r>
                    </a:p>
                  </a:txBody>
                  <a:tcPr/>
                </a:tc>
                <a:tc>
                  <a:txBody>
                    <a:bodyPr/>
                    <a:lstStyle/>
                    <a:p>
                      <a:r>
                        <a:rPr lang="en-US" b="0" dirty="0"/>
                        <a:t>1</a:t>
                      </a:r>
                    </a:p>
                  </a:txBody>
                  <a:tcPr/>
                </a:tc>
                <a:tc>
                  <a:txBody>
                    <a:bodyPr/>
                    <a:lstStyle/>
                    <a:p>
                      <a:r>
                        <a:rPr lang="en-US" b="0" dirty="0"/>
                        <a:t>.125</a:t>
                      </a:r>
                    </a:p>
                  </a:txBody>
                  <a:tcPr/>
                </a:tc>
                <a:extLst>
                  <a:ext uri="{0D108BD9-81ED-4DB2-BD59-A6C34878D82A}">
                    <a16:rowId xmlns:a16="http://schemas.microsoft.com/office/drawing/2014/main" val="147373028"/>
                  </a:ext>
                </a:extLst>
              </a:tr>
            </a:tbl>
          </a:graphicData>
        </a:graphic>
      </p:graphicFrame>
    </p:spTree>
    <p:extLst>
      <p:ext uri="{BB962C8B-B14F-4D97-AF65-F5344CB8AC3E}">
        <p14:creationId xmlns:p14="http://schemas.microsoft.com/office/powerpoint/2010/main" val="135549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CA99B-1DAE-6F1D-23E8-18BED239F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4D484-6719-6684-E142-3D923E8027AC}"/>
              </a:ext>
            </a:extLst>
          </p:cNvPr>
          <p:cNvSpPr>
            <a:spLocks noGrp="1"/>
          </p:cNvSpPr>
          <p:nvPr>
            <p:ph type="title"/>
          </p:nvPr>
        </p:nvSpPr>
        <p:spPr/>
        <p:txBody>
          <a:bodyPr/>
          <a:lstStyle/>
          <a:p>
            <a:r>
              <a:rPr lang="en-US" dirty="0"/>
              <a:t>Log Likelihood Loss</a:t>
            </a:r>
          </a:p>
        </p:txBody>
      </p:sp>
      <p:pic>
        <p:nvPicPr>
          <p:cNvPr id="7" name="Picture 6">
            <a:extLst>
              <a:ext uri="{FF2B5EF4-FFF2-40B4-BE49-F238E27FC236}">
                <a16:creationId xmlns:a16="http://schemas.microsoft.com/office/drawing/2014/main" id="{C5871B46-F5A6-54E7-43E8-7EE98EEE93EE}"/>
              </a:ext>
            </a:extLst>
          </p:cNvPr>
          <p:cNvPicPr>
            <a:picLocks noChangeAspect="1"/>
          </p:cNvPicPr>
          <p:nvPr/>
        </p:nvPicPr>
        <p:blipFill>
          <a:blip r:embed="rId3"/>
          <a:stretch>
            <a:fillRect/>
          </a:stretch>
        </p:blipFill>
        <p:spPr>
          <a:xfrm>
            <a:off x="1269636" y="2013997"/>
            <a:ext cx="9652728" cy="778630"/>
          </a:xfrm>
          <a:prstGeom prst="rect">
            <a:avLst/>
          </a:prstGeom>
        </p:spPr>
      </p:pic>
      <p:graphicFrame>
        <p:nvGraphicFramePr>
          <p:cNvPr id="10" name="Table 9">
            <a:extLst>
              <a:ext uri="{FF2B5EF4-FFF2-40B4-BE49-F238E27FC236}">
                <a16:creationId xmlns:a16="http://schemas.microsoft.com/office/drawing/2014/main" id="{97926082-559D-374A-7686-6D037137601A}"/>
              </a:ext>
            </a:extLst>
          </p:cNvPr>
          <p:cNvGraphicFramePr>
            <a:graphicFrameLocks noGrp="1"/>
          </p:cNvGraphicFramePr>
          <p:nvPr/>
        </p:nvGraphicFramePr>
        <p:xfrm>
          <a:off x="2032000" y="3756112"/>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096544433"/>
                    </a:ext>
                  </a:extLst>
                </a:gridCol>
                <a:gridCol w="2709333">
                  <a:extLst>
                    <a:ext uri="{9D8B030D-6E8A-4147-A177-3AD203B41FA5}">
                      <a16:colId xmlns:a16="http://schemas.microsoft.com/office/drawing/2014/main" val="1601435125"/>
                    </a:ext>
                  </a:extLst>
                </a:gridCol>
                <a:gridCol w="2709333">
                  <a:extLst>
                    <a:ext uri="{9D8B030D-6E8A-4147-A177-3AD203B41FA5}">
                      <a16:colId xmlns:a16="http://schemas.microsoft.com/office/drawing/2014/main" val="4015743210"/>
                    </a:ext>
                  </a:extLst>
                </a:gridCol>
              </a:tblGrid>
              <a:tr h="370840">
                <a:tc>
                  <a:txBody>
                    <a:bodyPr/>
                    <a:lstStyle/>
                    <a:p>
                      <a:r>
                        <a:rPr lang="en-US" dirty="0"/>
                        <a:t>Guess</a:t>
                      </a:r>
                    </a:p>
                  </a:txBody>
                  <a:tcPr/>
                </a:tc>
                <a:tc>
                  <a:txBody>
                    <a:bodyPr/>
                    <a:lstStyle/>
                    <a:p>
                      <a:r>
                        <a:rPr lang="en-US" dirty="0"/>
                        <a:t>Actual </a:t>
                      </a:r>
                    </a:p>
                  </a:txBody>
                  <a:tcPr/>
                </a:tc>
                <a:tc>
                  <a:txBody>
                    <a:bodyPr/>
                    <a:lstStyle/>
                    <a:p>
                      <a:r>
                        <a:rPr lang="en-US" dirty="0"/>
                        <a:t>Loss</a:t>
                      </a:r>
                    </a:p>
                  </a:txBody>
                  <a:tcPr/>
                </a:tc>
                <a:extLst>
                  <a:ext uri="{0D108BD9-81ED-4DB2-BD59-A6C34878D82A}">
                    <a16:rowId xmlns:a16="http://schemas.microsoft.com/office/drawing/2014/main" val="2067658346"/>
                  </a:ext>
                </a:extLst>
              </a:tr>
              <a:tr h="370840">
                <a:tc>
                  <a:txBody>
                    <a:bodyPr/>
                    <a:lstStyle/>
                    <a:p>
                      <a:r>
                        <a:rPr lang="en-US" dirty="0"/>
                        <a:t>0.00001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229345751"/>
                  </a:ext>
                </a:extLst>
              </a:tr>
              <a:tr h="370840">
                <a:tc>
                  <a:txBody>
                    <a:bodyPr/>
                    <a:lstStyle/>
                    <a:p>
                      <a:r>
                        <a:rPr lang="en-US" dirty="0"/>
                        <a:t>1</a:t>
                      </a:r>
                    </a:p>
                  </a:txBody>
                  <a:tcPr/>
                </a:tc>
                <a:tc>
                  <a:txBody>
                    <a:bodyPr/>
                    <a:lstStyle/>
                    <a:p>
                      <a:r>
                        <a:rPr lang="en-US" dirty="0"/>
                        <a:t>0</a:t>
                      </a:r>
                    </a:p>
                  </a:txBody>
                  <a:tcPr/>
                </a:tc>
                <a:tc>
                  <a:txBody>
                    <a:bodyPr/>
                    <a:lstStyle/>
                    <a:p>
                      <a:r>
                        <a:rPr lang="en-US" dirty="0"/>
                        <a:t>infinity</a:t>
                      </a:r>
                    </a:p>
                  </a:txBody>
                  <a:tcPr/>
                </a:tc>
                <a:extLst>
                  <a:ext uri="{0D108BD9-81ED-4DB2-BD59-A6C34878D82A}">
                    <a16:rowId xmlns:a16="http://schemas.microsoft.com/office/drawing/2014/main" val="2311744805"/>
                  </a:ext>
                </a:extLst>
              </a:tr>
              <a:tr h="370840">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2679371754"/>
                  </a:ext>
                </a:extLst>
              </a:tr>
              <a:tr h="370840">
                <a:tc>
                  <a:txBody>
                    <a:bodyPr/>
                    <a:lstStyle/>
                    <a:p>
                      <a:r>
                        <a:rPr lang="en-US" dirty="0"/>
                        <a:t>0.00001</a:t>
                      </a:r>
                    </a:p>
                  </a:txBody>
                  <a:tcPr/>
                </a:tc>
                <a:tc>
                  <a:txBody>
                    <a:bodyPr/>
                    <a:lstStyle/>
                    <a:p>
                      <a:r>
                        <a:rPr lang="en-US" dirty="0"/>
                        <a:t>1</a:t>
                      </a:r>
                    </a:p>
                  </a:txBody>
                  <a:tcPr/>
                </a:tc>
                <a:tc>
                  <a:txBody>
                    <a:bodyPr/>
                    <a:lstStyle/>
                    <a:p>
                      <a:r>
                        <a:rPr lang="en-US" dirty="0"/>
                        <a:t>infinity</a:t>
                      </a:r>
                    </a:p>
                  </a:txBody>
                  <a:tcPr/>
                </a:tc>
                <a:extLst>
                  <a:ext uri="{0D108BD9-81ED-4DB2-BD59-A6C34878D82A}">
                    <a16:rowId xmlns:a16="http://schemas.microsoft.com/office/drawing/2014/main" val="1339461475"/>
                  </a:ext>
                </a:extLst>
              </a:tr>
            </a:tbl>
          </a:graphicData>
        </a:graphic>
      </p:graphicFrame>
      <p:sp>
        <p:nvSpPr>
          <p:cNvPr id="11" name="TextBox 10">
            <a:extLst>
              <a:ext uri="{FF2B5EF4-FFF2-40B4-BE49-F238E27FC236}">
                <a16:creationId xmlns:a16="http://schemas.microsoft.com/office/drawing/2014/main" id="{DCDE0A43-DB18-0878-AD0D-4C122507EF68}"/>
              </a:ext>
            </a:extLst>
          </p:cNvPr>
          <p:cNvSpPr txBox="1"/>
          <p:nvPr/>
        </p:nvSpPr>
        <p:spPr>
          <a:xfrm>
            <a:off x="3138615" y="2780270"/>
            <a:ext cx="5832389" cy="923330"/>
          </a:xfrm>
          <a:prstGeom prst="rect">
            <a:avLst/>
          </a:prstGeom>
          <a:noFill/>
        </p:spPr>
        <p:txBody>
          <a:bodyPr wrap="square" rtlCol="0">
            <a:spAutoFit/>
          </a:bodyPr>
          <a:lstStyle/>
          <a:p>
            <a:r>
              <a:rPr lang="en-US" dirty="0"/>
              <a:t>Recall: </a:t>
            </a:r>
          </a:p>
          <a:p>
            <a:r>
              <a:rPr lang="en-US" dirty="0"/>
              <a:t>Log(0) -&gt; negative infinity</a:t>
            </a:r>
          </a:p>
          <a:p>
            <a:r>
              <a:rPr lang="en-US" dirty="0"/>
              <a:t>Log(1) = 0</a:t>
            </a:r>
          </a:p>
        </p:txBody>
      </p:sp>
      <p:graphicFrame>
        <p:nvGraphicFramePr>
          <p:cNvPr id="12" name="Table 11">
            <a:extLst>
              <a:ext uri="{FF2B5EF4-FFF2-40B4-BE49-F238E27FC236}">
                <a16:creationId xmlns:a16="http://schemas.microsoft.com/office/drawing/2014/main" id="{C72782E4-A7F2-84A0-E7EA-B7A3DDB4F5E4}"/>
              </a:ext>
            </a:extLst>
          </p:cNvPr>
          <p:cNvGraphicFramePr>
            <a:graphicFrameLocks noGrp="1"/>
          </p:cNvGraphicFramePr>
          <p:nvPr/>
        </p:nvGraphicFramePr>
        <p:xfrm>
          <a:off x="1990809" y="5745480"/>
          <a:ext cx="8127999" cy="741680"/>
        </p:xfrm>
        <a:graphic>
          <a:graphicData uri="http://schemas.openxmlformats.org/drawingml/2006/table">
            <a:tbl>
              <a:tblPr firstRow="1" bandRow="1">
                <a:tableStyleId>{3B4B98B0-60AC-42C2-AFA5-B58CD77FA1E5}</a:tableStyleId>
              </a:tblPr>
              <a:tblGrid>
                <a:gridCol w="2709333">
                  <a:extLst>
                    <a:ext uri="{9D8B030D-6E8A-4147-A177-3AD203B41FA5}">
                      <a16:colId xmlns:a16="http://schemas.microsoft.com/office/drawing/2014/main" val="2162209541"/>
                    </a:ext>
                  </a:extLst>
                </a:gridCol>
                <a:gridCol w="2709333">
                  <a:extLst>
                    <a:ext uri="{9D8B030D-6E8A-4147-A177-3AD203B41FA5}">
                      <a16:colId xmlns:a16="http://schemas.microsoft.com/office/drawing/2014/main" val="3380439556"/>
                    </a:ext>
                  </a:extLst>
                </a:gridCol>
                <a:gridCol w="2709333">
                  <a:extLst>
                    <a:ext uri="{9D8B030D-6E8A-4147-A177-3AD203B41FA5}">
                      <a16:colId xmlns:a16="http://schemas.microsoft.com/office/drawing/2014/main" val="3865020396"/>
                    </a:ext>
                  </a:extLst>
                </a:gridCol>
              </a:tblGrid>
              <a:tr h="370840">
                <a:tc>
                  <a:txBody>
                    <a:bodyPr/>
                    <a:lstStyle/>
                    <a:p>
                      <a:r>
                        <a:rPr lang="en-US" b="0" dirty="0"/>
                        <a:t>.5</a:t>
                      </a:r>
                    </a:p>
                  </a:txBody>
                  <a:tcPr/>
                </a:tc>
                <a:tc>
                  <a:txBody>
                    <a:bodyPr/>
                    <a:lstStyle/>
                    <a:p>
                      <a:r>
                        <a:rPr lang="en-US" b="0" dirty="0"/>
                        <a:t>1</a:t>
                      </a:r>
                    </a:p>
                  </a:txBody>
                  <a:tcPr/>
                </a:tc>
                <a:tc>
                  <a:txBody>
                    <a:bodyPr/>
                    <a:lstStyle/>
                    <a:p>
                      <a:r>
                        <a:rPr lang="en-US" b="0" dirty="0"/>
                        <a:t>.301</a:t>
                      </a:r>
                    </a:p>
                  </a:txBody>
                  <a:tcPr/>
                </a:tc>
                <a:extLst>
                  <a:ext uri="{0D108BD9-81ED-4DB2-BD59-A6C34878D82A}">
                    <a16:rowId xmlns:a16="http://schemas.microsoft.com/office/drawing/2014/main" val="2567021676"/>
                  </a:ext>
                </a:extLst>
              </a:tr>
              <a:tr h="370840">
                <a:tc>
                  <a:txBody>
                    <a:bodyPr/>
                    <a:lstStyle/>
                    <a:p>
                      <a:r>
                        <a:rPr lang="en-US" b="0" dirty="0"/>
                        <a:t>.75</a:t>
                      </a:r>
                    </a:p>
                  </a:txBody>
                  <a:tcPr/>
                </a:tc>
                <a:tc>
                  <a:txBody>
                    <a:bodyPr/>
                    <a:lstStyle/>
                    <a:p>
                      <a:r>
                        <a:rPr lang="en-US" b="0" dirty="0"/>
                        <a:t>1</a:t>
                      </a:r>
                    </a:p>
                  </a:txBody>
                  <a:tcPr/>
                </a:tc>
                <a:tc>
                  <a:txBody>
                    <a:bodyPr/>
                    <a:lstStyle/>
                    <a:p>
                      <a:r>
                        <a:rPr lang="en-US" b="0" dirty="0"/>
                        <a:t>.125</a:t>
                      </a:r>
                    </a:p>
                  </a:txBody>
                  <a:tcPr/>
                </a:tc>
                <a:extLst>
                  <a:ext uri="{0D108BD9-81ED-4DB2-BD59-A6C34878D82A}">
                    <a16:rowId xmlns:a16="http://schemas.microsoft.com/office/drawing/2014/main" val="147373028"/>
                  </a:ext>
                </a:extLst>
              </a:tr>
            </a:tbl>
          </a:graphicData>
        </a:graphic>
      </p:graphicFrame>
      <p:sp>
        <p:nvSpPr>
          <p:cNvPr id="3" name="TextBox 2">
            <a:extLst>
              <a:ext uri="{FF2B5EF4-FFF2-40B4-BE49-F238E27FC236}">
                <a16:creationId xmlns:a16="http://schemas.microsoft.com/office/drawing/2014/main" id="{3FC01D2C-3D75-7077-7A15-8D31FCC0B947}"/>
              </a:ext>
            </a:extLst>
          </p:cNvPr>
          <p:cNvSpPr txBox="1"/>
          <p:nvPr/>
        </p:nvSpPr>
        <p:spPr>
          <a:xfrm>
            <a:off x="6512011" y="1075038"/>
            <a:ext cx="4312508" cy="369332"/>
          </a:xfrm>
          <a:prstGeom prst="rect">
            <a:avLst/>
          </a:prstGeom>
          <a:noFill/>
        </p:spPr>
        <p:txBody>
          <a:bodyPr wrap="square" rtlCol="0">
            <a:spAutoFit/>
          </a:bodyPr>
          <a:lstStyle/>
          <a:p>
            <a:r>
              <a:rPr lang="en-US" dirty="0"/>
              <a:t>Note: often called cross-entropy loss!</a:t>
            </a:r>
          </a:p>
        </p:txBody>
      </p:sp>
    </p:spTree>
    <p:extLst>
      <p:ext uri="{BB962C8B-B14F-4D97-AF65-F5344CB8AC3E}">
        <p14:creationId xmlns:p14="http://schemas.microsoft.com/office/powerpoint/2010/main" val="2460017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34FFF-C74B-D698-2573-48430CE1F0EE}"/>
              </a:ext>
            </a:extLst>
          </p:cNvPr>
          <p:cNvSpPr>
            <a:spLocks noGrp="1"/>
          </p:cNvSpPr>
          <p:nvPr>
            <p:ph type="title"/>
          </p:nvPr>
        </p:nvSpPr>
        <p:spPr/>
        <p:txBody>
          <a:bodyPr/>
          <a:lstStyle/>
          <a:p>
            <a:r>
              <a:rPr lang="en-US" dirty="0"/>
              <a:t>What if we can’t separate?</a:t>
            </a:r>
          </a:p>
        </p:txBody>
      </p:sp>
      <p:pic>
        <p:nvPicPr>
          <p:cNvPr id="5" name="Content Placeholder 4">
            <a:extLst>
              <a:ext uri="{FF2B5EF4-FFF2-40B4-BE49-F238E27FC236}">
                <a16:creationId xmlns:a16="http://schemas.microsoft.com/office/drawing/2014/main" id="{97546055-0C68-CD38-2A0B-4FCDDBF904B4}"/>
              </a:ext>
            </a:extLst>
          </p:cNvPr>
          <p:cNvPicPr>
            <a:picLocks noGrp="1" noChangeAspect="1"/>
          </p:cNvPicPr>
          <p:nvPr>
            <p:ph idx="1"/>
          </p:nvPr>
        </p:nvPicPr>
        <p:blipFill>
          <a:blip r:embed="rId3"/>
          <a:stretch>
            <a:fillRect/>
          </a:stretch>
        </p:blipFill>
        <p:spPr>
          <a:xfrm>
            <a:off x="3652157" y="1825625"/>
            <a:ext cx="4887685" cy="4351338"/>
          </a:xfrm>
          <a:prstGeom prst="rect">
            <a:avLst/>
          </a:prstGeom>
        </p:spPr>
      </p:pic>
      <p:pic>
        <p:nvPicPr>
          <p:cNvPr id="6" name="Picture 5">
            <a:extLst>
              <a:ext uri="{FF2B5EF4-FFF2-40B4-BE49-F238E27FC236}">
                <a16:creationId xmlns:a16="http://schemas.microsoft.com/office/drawing/2014/main" id="{2966E194-2993-B76F-B121-60393F824623}"/>
              </a:ext>
            </a:extLst>
          </p:cNvPr>
          <p:cNvPicPr>
            <a:picLocks noChangeAspect="1"/>
          </p:cNvPicPr>
          <p:nvPr/>
        </p:nvPicPr>
        <p:blipFill>
          <a:blip r:embed="rId4"/>
          <a:stretch>
            <a:fillRect/>
          </a:stretch>
        </p:blipFill>
        <p:spPr>
          <a:xfrm>
            <a:off x="8991764" y="1690688"/>
            <a:ext cx="2229161" cy="1105054"/>
          </a:xfrm>
          <a:prstGeom prst="rect">
            <a:avLst/>
          </a:prstGeom>
        </p:spPr>
      </p:pic>
      <p:sp>
        <p:nvSpPr>
          <p:cNvPr id="7" name="TextBox 6">
            <a:extLst>
              <a:ext uri="{FF2B5EF4-FFF2-40B4-BE49-F238E27FC236}">
                <a16:creationId xmlns:a16="http://schemas.microsoft.com/office/drawing/2014/main" id="{1F46D7A0-BA50-4B65-6E42-9CC33C8FAC02}"/>
              </a:ext>
            </a:extLst>
          </p:cNvPr>
          <p:cNvSpPr txBox="1"/>
          <p:nvPr/>
        </p:nvSpPr>
        <p:spPr>
          <a:xfrm>
            <a:off x="9686457" y="2943400"/>
            <a:ext cx="1277257" cy="369332"/>
          </a:xfrm>
          <a:prstGeom prst="rect">
            <a:avLst/>
          </a:prstGeom>
          <a:noFill/>
        </p:spPr>
        <p:txBody>
          <a:bodyPr wrap="square" rtlCol="0">
            <a:spAutoFit/>
          </a:bodyPr>
          <a:lstStyle/>
          <a:p>
            <a:r>
              <a:rPr lang="en-US" dirty="0"/>
              <a:t>XOR</a:t>
            </a:r>
          </a:p>
        </p:txBody>
      </p:sp>
      <p:pic>
        <p:nvPicPr>
          <p:cNvPr id="8" name="Picture 7">
            <a:extLst>
              <a:ext uri="{FF2B5EF4-FFF2-40B4-BE49-F238E27FC236}">
                <a16:creationId xmlns:a16="http://schemas.microsoft.com/office/drawing/2014/main" id="{DEFF1C3A-1EF1-7A52-ECDD-C9AFC4C40727}"/>
              </a:ext>
            </a:extLst>
          </p:cNvPr>
          <p:cNvPicPr>
            <a:picLocks noChangeAspect="1"/>
          </p:cNvPicPr>
          <p:nvPr/>
        </p:nvPicPr>
        <p:blipFill>
          <a:blip r:embed="rId5"/>
          <a:stretch>
            <a:fillRect/>
          </a:stretch>
        </p:blipFill>
        <p:spPr>
          <a:xfrm>
            <a:off x="9410922" y="3735203"/>
            <a:ext cx="1390844" cy="2343477"/>
          </a:xfrm>
          <a:prstGeom prst="rect">
            <a:avLst/>
          </a:prstGeom>
        </p:spPr>
      </p:pic>
    </p:spTree>
    <p:extLst>
      <p:ext uri="{BB962C8B-B14F-4D97-AF65-F5344CB8AC3E}">
        <p14:creationId xmlns:p14="http://schemas.microsoft.com/office/powerpoint/2010/main" val="308546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4DEE267-9114-A08F-8D6D-1E342BAD5772}"/>
              </a:ext>
            </a:extLst>
          </p:cNvPr>
          <p:cNvPicPr>
            <a:picLocks noGrp="1" noChangeAspect="1"/>
          </p:cNvPicPr>
          <p:nvPr>
            <p:ph idx="1"/>
          </p:nvPr>
        </p:nvPicPr>
        <p:blipFill>
          <a:blip r:embed="rId3"/>
          <a:stretch>
            <a:fillRect/>
          </a:stretch>
        </p:blipFill>
        <p:spPr>
          <a:xfrm>
            <a:off x="1218519" y="207877"/>
            <a:ext cx="9754961" cy="1733792"/>
          </a:xfrm>
          <a:prstGeom prst="rect">
            <a:avLst/>
          </a:prstGeom>
        </p:spPr>
      </p:pic>
      <p:pic>
        <p:nvPicPr>
          <p:cNvPr id="9" name="Picture 8">
            <a:extLst>
              <a:ext uri="{FF2B5EF4-FFF2-40B4-BE49-F238E27FC236}">
                <a16:creationId xmlns:a16="http://schemas.microsoft.com/office/drawing/2014/main" id="{63AA7008-7F37-B1B9-E622-17847B211442}"/>
              </a:ext>
            </a:extLst>
          </p:cNvPr>
          <p:cNvPicPr>
            <a:picLocks noChangeAspect="1"/>
          </p:cNvPicPr>
          <p:nvPr/>
        </p:nvPicPr>
        <p:blipFill>
          <a:blip r:embed="rId4"/>
          <a:stretch>
            <a:fillRect/>
          </a:stretch>
        </p:blipFill>
        <p:spPr>
          <a:xfrm>
            <a:off x="1218519" y="2225419"/>
            <a:ext cx="9735909" cy="4115374"/>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5E15C5-0094-9360-FC3F-3A78CB912DD7}"/>
                  </a:ext>
                </a:extLst>
              </p:cNvPr>
              <p:cNvSpPr txBox="1"/>
              <p:nvPr/>
            </p:nvSpPr>
            <p:spPr>
              <a:xfrm>
                <a:off x="8340811" y="2582562"/>
                <a:ext cx="196472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l-GR" i="1" smtClean="0">
                          <a:latin typeface="Cambria Math" panose="02040503050406030204" pitchFamily="18" charset="0"/>
                        </a:rPr>
                        <m:t>𝜑</m:t>
                      </m:r>
                      <m:r>
                        <a:rPr lang="el-GR" i="1" smtClean="0">
                          <a:latin typeface="Cambria Math" panose="02040503050406030204" pitchFamily="18" charset="0"/>
                        </a:rPr>
                        <m:t>(</m:t>
                      </m:r>
                      <m:r>
                        <a:rPr lang="el-GR" i="1" smtClean="0">
                          <a:latin typeface="Cambria Math" panose="02040503050406030204" pitchFamily="18" charset="0"/>
                        </a:rPr>
                        <m:t>𝑥</m:t>
                      </m:r>
                      <m:r>
                        <a:rPr lang="el-GR" i="1" smtClean="0">
                          <a:latin typeface="Cambria Math" panose="02040503050406030204" pitchFamily="18" charset="0"/>
                        </a:rPr>
                        <m:t>) = [</m:t>
                      </m:r>
                      <m:r>
                        <a:rPr lang="el-GR" i="1" smtClean="0">
                          <a:latin typeface="Cambria Math" panose="02040503050406030204" pitchFamily="18" charset="0"/>
                        </a:rPr>
                        <m:t>𝑥</m:t>
                      </m:r>
                      <m:r>
                        <a:rPr lang="el-GR" i="1" smtClean="0">
                          <a:latin typeface="Cambria Math" panose="02040503050406030204" pitchFamily="18" charset="0"/>
                        </a:rPr>
                        <m:t>,</m:t>
                      </m:r>
                      <m:sSup>
                        <m:sSupPr>
                          <m:ctrlPr>
                            <a:rPr lang="en-US" b="0" i="1" smtClean="0">
                              <a:latin typeface="Cambria Math" panose="02040503050406030204" pitchFamily="18" charset="0"/>
                            </a:rPr>
                          </m:ctrlPr>
                        </m:sSupPr>
                        <m:e>
                          <m:r>
                            <a:rPr lang="el-GR" i="1">
                              <a:latin typeface="Cambria Math" panose="02040503050406030204" pitchFamily="18" charset="0"/>
                            </a:rPr>
                            <m:t>𝑥</m:t>
                          </m:r>
                        </m:e>
                        <m:sup>
                          <m:r>
                            <a:rPr lang="en-US" b="0" i="1" smtClean="0">
                              <a:latin typeface="Cambria Math" panose="02040503050406030204" pitchFamily="18" charset="0"/>
                            </a:rPr>
                            <m:t>2</m:t>
                          </m:r>
                        </m:sup>
                      </m:sSup>
                      <m:r>
                        <a:rPr lang="el-GR" i="1">
                          <a:latin typeface="Cambria Math" panose="02040503050406030204" pitchFamily="18" charset="0"/>
                        </a:rPr>
                        <m:t>].</m:t>
                      </m:r>
                    </m:oMath>
                  </m:oMathPara>
                </a14:m>
                <a:endParaRPr lang="en-US" dirty="0"/>
              </a:p>
            </p:txBody>
          </p:sp>
        </mc:Choice>
        <mc:Fallback xmlns="">
          <p:sp>
            <p:nvSpPr>
              <p:cNvPr id="12" name="TextBox 11">
                <a:extLst>
                  <a:ext uri="{FF2B5EF4-FFF2-40B4-BE49-F238E27FC236}">
                    <a16:creationId xmlns:a16="http://schemas.microsoft.com/office/drawing/2014/main" id="{D95E15C5-0094-9360-FC3F-3A78CB912DD7}"/>
                  </a:ext>
                </a:extLst>
              </p:cNvPr>
              <p:cNvSpPr txBox="1">
                <a:spLocks noRot="1" noChangeAspect="1" noMove="1" noResize="1" noEditPoints="1" noAdjustHandles="1" noChangeArrowheads="1" noChangeShapeType="1" noTextEdit="1"/>
              </p:cNvSpPr>
              <p:nvPr/>
            </p:nvSpPr>
            <p:spPr>
              <a:xfrm>
                <a:off x="8340811" y="2582562"/>
                <a:ext cx="1964724" cy="369332"/>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A783EC2-1E95-1981-4DCD-C811EF12F033}"/>
                  </a:ext>
                </a:extLst>
              </p:cNvPr>
              <p:cNvSpPr txBox="1"/>
              <p:nvPr/>
            </p:nvSpPr>
            <p:spPr>
              <a:xfrm>
                <a:off x="293474" y="2778214"/>
                <a:ext cx="6098058" cy="8622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rPr>
                          </m:ctrlPr>
                        </m:dPr>
                        <m:e>
                          <m:m>
                            <m:mPr>
                              <m:mcs>
                                <m:mc>
                                  <m:mcPr>
                                    <m:count m:val="1"/>
                                    <m:mcJc m:val="center"/>
                                  </m:mcPr>
                                </m:mc>
                              </m:mcs>
                              <m:ctrlPr>
                                <a:rPr lang="en-US" sz="1800" i="1" smtClean="0">
                                  <a:latin typeface="Cambria Math" panose="02040503050406030204" pitchFamily="18" charset="0"/>
                                </a:rPr>
                              </m:ctrlPr>
                            </m:mPr>
                            <m:mr>
                              <m:e>
                                <m:r>
                                  <m:rPr>
                                    <m:sty m:val="p"/>
                                    <m:brk m:alnAt="7"/>
                                  </m:rPr>
                                  <a:rPr lang="en-US" sz="1800" b="0" i="1" smtClean="0">
                                    <a:latin typeface="Cambria Math" panose="02040503050406030204" pitchFamily="18" charset="0"/>
                                  </a:rPr>
                                  <m:t>w</m:t>
                                </m:r>
                                <m:r>
                                  <a:rPr lang="en-US" sz="1800" b="0" i="1" smtClean="0">
                                    <a:latin typeface="Cambria Math" panose="02040503050406030204" pitchFamily="18" charset="0"/>
                                  </a:rPr>
                                  <m:t>1</m:t>
                                </m:r>
                              </m:e>
                            </m:mr>
                            <m:mr>
                              <m:e>
                                <m:r>
                                  <m:rPr>
                                    <m:sty m:val="p"/>
                                  </m:rPr>
                                  <a:rPr lang="en-US" sz="1800" b="0" i="1" smtClean="0">
                                    <a:latin typeface="Cambria Math" panose="02040503050406030204" pitchFamily="18" charset="0"/>
                                  </a:rPr>
                                  <m:t>w</m:t>
                                </m:r>
                                <m:r>
                                  <a:rPr lang="en-US" sz="1800" b="0" i="1" smtClean="0">
                                    <a:latin typeface="Cambria Math" panose="02040503050406030204" pitchFamily="18" charset="0"/>
                                  </a:rPr>
                                  <m:t>2</m:t>
                                </m:r>
                              </m:e>
                            </m:mr>
                          </m:m>
                        </m:e>
                      </m:d>
                      <m:d>
                        <m:dPr>
                          <m:begChr m:val="["/>
                          <m:endChr m:val="]"/>
                          <m:ctrlPr>
                            <a:rPr lang="en-US" sz="1800" b="0" i="1" smtClean="0">
                              <a:latin typeface="Cambria Math" panose="02040503050406030204" pitchFamily="18" charset="0"/>
                            </a:rPr>
                          </m:ctrlPr>
                        </m:dPr>
                        <m:e>
                          <m:r>
                            <m:rPr>
                              <m:sty m:val="p"/>
                            </m:rPr>
                            <a:rPr lang="en-US" sz="1800" b="0" i="1" smtClean="0">
                              <a:latin typeface="Cambria Math" panose="02040503050406030204" pitchFamily="18" charset="0"/>
                            </a:rPr>
                            <m:t>x</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m>
                            <m:mPr>
                              <m:mcs>
                                <m:mc>
                                  <m:mcPr>
                                    <m:count m:val="1"/>
                                    <m:mcJc m:val="center"/>
                                  </m:mcPr>
                                </m:mc>
                              </m:mcs>
                              <m:ctrlPr>
                                <a:rPr lang="en-US" sz="1800" b="0" i="1" smtClean="0">
                                  <a:latin typeface="Cambria Math" panose="02040503050406030204" pitchFamily="18" charset="0"/>
                                </a:rPr>
                              </m:ctrlPr>
                            </m:mPr>
                            <m:mr>
                              <m:e>
                                <m:r>
                                  <m:rPr>
                                    <m:sty m:val="p"/>
                                    <m:brk m:alnAt="7"/>
                                  </m:rPr>
                                  <a:rPr lang="en-US" sz="1800" b="0" i="1" smtClean="0">
                                    <a:latin typeface="Cambria Math" panose="02040503050406030204" pitchFamily="18" charset="0"/>
                                  </a:rPr>
                                  <m:t>w</m:t>
                                </m:r>
                                <m:r>
                                  <a:rPr lang="en-US" sz="1800" b="0" i="1" smtClean="0">
                                    <a:latin typeface="Cambria Math" panose="02040503050406030204" pitchFamily="18" charset="0"/>
                                  </a:rPr>
                                  <m:t>1∗</m:t>
                                </m:r>
                                <m:r>
                                  <m:rPr>
                                    <m:sty m:val="p"/>
                                  </m:rPr>
                                  <a:rPr lang="en-US" sz="1800" b="0" i="1" smtClean="0">
                                    <a:latin typeface="Cambria Math" panose="02040503050406030204" pitchFamily="18" charset="0"/>
                                  </a:rPr>
                                  <m:t>x</m:t>
                                </m:r>
                              </m:e>
                            </m:mr>
                            <m:mr>
                              <m:e>
                                <m:r>
                                  <m:rPr>
                                    <m:sty m:val="p"/>
                                  </m:rPr>
                                  <a:rPr lang="en-US" sz="1800" b="0" i="1" smtClean="0">
                                    <a:latin typeface="Cambria Math" panose="02040503050406030204" pitchFamily="18" charset="0"/>
                                  </a:rPr>
                                  <m:t>w</m:t>
                                </m:r>
                                <m:r>
                                  <a:rPr lang="en-US" sz="1800" b="0" i="1" smtClean="0">
                                    <a:latin typeface="Cambria Math" panose="02040503050406030204" pitchFamily="18" charset="0"/>
                                  </a:rPr>
                                  <m:t>2∗</m:t>
                                </m:r>
                                <m:r>
                                  <m:rPr>
                                    <m:sty m:val="p"/>
                                  </m:rPr>
                                  <a:rPr lang="en-US" sz="1800" b="0" i="1" smtClean="0">
                                    <a:latin typeface="Cambria Math" panose="02040503050406030204" pitchFamily="18" charset="0"/>
                                  </a:rPr>
                                  <m:t>x</m:t>
                                </m:r>
                              </m:e>
                            </m:mr>
                          </m:m>
                        </m:e>
                      </m:d>
                    </m:oMath>
                  </m:oMathPara>
                </a14:m>
                <a:endParaRPr lang="en-US" dirty="0"/>
              </a:p>
              <a:p>
                <a:pPr algn="ctr"/>
                <a:r>
                  <a:rPr lang="en-US" dirty="0"/>
                  <a:t>Then with activation for nonlinearity.</a:t>
                </a:r>
              </a:p>
            </p:txBody>
          </p:sp>
        </mc:Choice>
        <mc:Fallback xmlns="">
          <p:sp>
            <p:nvSpPr>
              <p:cNvPr id="15" name="TextBox 14">
                <a:extLst>
                  <a:ext uri="{FF2B5EF4-FFF2-40B4-BE49-F238E27FC236}">
                    <a16:creationId xmlns:a16="http://schemas.microsoft.com/office/drawing/2014/main" id="{2A783EC2-1E95-1981-4DCD-C811EF12F033}"/>
                  </a:ext>
                </a:extLst>
              </p:cNvPr>
              <p:cNvSpPr txBox="1">
                <a:spLocks noRot="1" noChangeAspect="1" noMove="1" noResize="1" noEditPoints="1" noAdjustHandles="1" noChangeArrowheads="1" noChangeShapeType="1" noTextEdit="1"/>
              </p:cNvSpPr>
              <p:nvPr/>
            </p:nvSpPr>
            <p:spPr>
              <a:xfrm>
                <a:off x="293474" y="2778214"/>
                <a:ext cx="6098058" cy="862287"/>
              </a:xfrm>
              <a:prstGeom prst="rect">
                <a:avLst/>
              </a:prstGeom>
              <a:blipFill>
                <a:blip r:embed="rId6"/>
                <a:stretch>
                  <a:fillRect b="-11348"/>
                </a:stretch>
              </a:blipFill>
            </p:spPr>
            <p:txBody>
              <a:bodyPr/>
              <a:lstStyle/>
              <a:p>
                <a:r>
                  <a:rPr lang="en-US">
                    <a:noFill/>
                  </a:rPr>
                  <a:t> </a:t>
                </a:r>
              </a:p>
            </p:txBody>
          </p:sp>
        </mc:Fallback>
      </mc:AlternateContent>
    </p:spTree>
    <p:extLst>
      <p:ext uri="{BB962C8B-B14F-4D97-AF65-F5344CB8AC3E}">
        <p14:creationId xmlns:p14="http://schemas.microsoft.com/office/powerpoint/2010/main" val="1602736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082363-F97A-5B35-28F7-37525A39F270}"/>
              </a:ext>
            </a:extLst>
          </p:cNvPr>
          <p:cNvPicPr>
            <a:picLocks noGrp="1" noChangeAspect="1"/>
          </p:cNvPicPr>
          <p:nvPr>
            <p:ph idx="1"/>
          </p:nvPr>
        </p:nvPicPr>
        <p:blipFill>
          <a:blip r:embed="rId3"/>
          <a:stretch>
            <a:fillRect/>
          </a:stretch>
        </p:blipFill>
        <p:spPr>
          <a:xfrm>
            <a:off x="0" y="1383957"/>
            <a:ext cx="13407275" cy="4590671"/>
          </a:xfrm>
          <a:prstGeom prst="rect">
            <a:avLst/>
          </a:prstGeom>
        </p:spPr>
      </p:pic>
    </p:spTree>
    <p:extLst>
      <p:ext uri="{BB962C8B-B14F-4D97-AF65-F5344CB8AC3E}">
        <p14:creationId xmlns:p14="http://schemas.microsoft.com/office/powerpoint/2010/main" val="3380685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CCE216-9FD9-2ACF-AC05-130F3743670A}"/>
              </a:ext>
            </a:extLst>
          </p:cNvPr>
          <p:cNvPicPr>
            <a:picLocks noGrp="1" noChangeAspect="1"/>
          </p:cNvPicPr>
          <p:nvPr>
            <p:ph idx="1"/>
          </p:nvPr>
        </p:nvPicPr>
        <p:blipFill>
          <a:blip r:embed="rId3"/>
          <a:stretch>
            <a:fillRect/>
          </a:stretch>
        </p:blipFill>
        <p:spPr>
          <a:xfrm>
            <a:off x="2567418" y="340518"/>
            <a:ext cx="6648983" cy="6176963"/>
          </a:xfrm>
          <a:prstGeom prst="rect">
            <a:avLst/>
          </a:prstGeom>
        </p:spPr>
      </p:pic>
    </p:spTree>
    <p:extLst>
      <p:ext uri="{BB962C8B-B14F-4D97-AF65-F5344CB8AC3E}">
        <p14:creationId xmlns:p14="http://schemas.microsoft.com/office/powerpoint/2010/main" val="387996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2E5E7-1A17-DCBF-21D8-A5176AFB4E83}"/>
              </a:ext>
            </a:extLst>
          </p:cNvPr>
          <p:cNvSpPr>
            <a:spLocks noGrp="1"/>
          </p:cNvSpPr>
          <p:nvPr>
            <p:ph type="title"/>
          </p:nvPr>
        </p:nvSpPr>
        <p:spPr/>
        <p:txBody>
          <a:bodyPr/>
          <a:lstStyle/>
          <a:p>
            <a:r>
              <a:rPr lang="en-US" dirty="0"/>
              <a:t>Case Study</a:t>
            </a:r>
          </a:p>
        </p:txBody>
      </p:sp>
      <p:sp>
        <p:nvSpPr>
          <p:cNvPr id="3" name="Content Placeholder 2">
            <a:extLst>
              <a:ext uri="{FF2B5EF4-FFF2-40B4-BE49-F238E27FC236}">
                <a16:creationId xmlns:a16="http://schemas.microsoft.com/office/drawing/2014/main" id="{540F8FA2-110A-FB38-B5DF-E401D682FFAE}"/>
              </a:ext>
            </a:extLst>
          </p:cNvPr>
          <p:cNvSpPr>
            <a:spLocks noGrp="1"/>
          </p:cNvSpPr>
          <p:nvPr>
            <p:ph idx="1"/>
          </p:nvPr>
        </p:nvSpPr>
        <p:spPr>
          <a:xfrm>
            <a:off x="481914" y="3429001"/>
            <a:ext cx="11343502" cy="2747962"/>
          </a:xfrm>
        </p:spPr>
        <p:txBody>
          <a:bodyPr/>
          <a:lstStyle/>
          <a:p>
            <a:r>
              <a:rPr lang="en-US" dirty="0"/>
              <a:t>Compares Deep Learning to regular statistical model (Cox Regression)</a:t>
            </a:r>
          </a:p>
          <a:p>
            <a:r>
              <a:rPr lang="en-US" dirty="0"/>
              <a:t>Aims to find those patients who are positive for Covid and will die while hospitalized</a:t>
            </a:r>
          </a:p>
        </p:txBody>
      </p:sp>
      <p:pic>
        <p:nvPicPr>
          <p:cNvPr id="5" name="Picture 4">
            <a:extLst>
              <a:ext uri="{FF2B5EF4-FFF2-40B4-BE49-F238E27FC236}">
                <a16:creationId xmlns:a16="http://schemas.microsoft.com/office/drawing/2014/main" id="{0DA4CBB8-E194-A351-EADA-7B85F448DF69}"/>
              </a:ext>
            </a:extLst>
          </p:cNvPr>
          <p:cNvPicPr>
            <a:picLocks noChangeAspect="1"/>
          </p:cNvPicPr>
          <p:nvPr/>
        </p:nvPicPr>
        <p:blipFill>
          <a:blip r:embed="rId2"/>
          <a:stretch>
            <a:fillRect/>
          </a:stretch>
        </p:blipFill>
        <p:spPr>
          <a:xfrm>
            <a:off x="838200" y="1228418"/>
            <a:ext cx="9307224" cy="2200582"/>
          </a:xfrm>
          <a:prstGeom prst="rect">
            <a:avLst/>
          </a:prstGeom>
        </p:spPr>
      </p:pic>
    </p:spTree>
    <p:extLst>
      <p:ext uri="{BB962C8B-B14F-4D97-AF65-F5344CB8AC3E}">
        <p14:creationId xmlns:p14="http://schemas.microsoft.com/office/powerpoint/2010/main" val="18550702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3959E0B-AABD-CF61-C4E3-6F67C797568C}"/>
              </a:ext>
            </a:extLst>
          </p:cNvPr>
          <p:cNvGraphicFramePr>
            <a:graphicFrameLocks noGrp="1"/>
          </p:cNvGraphicFramePr>
          <p:nvPr>
            <p:extLst>
              <p:ext uri="{D42A27DB-BD31-4B8C-83A1-F6EECF244321}">
                <p14:modId xmlns:p14="http://schemas.microsoft.com/office/powerpoint/2010/main" val="2125134212"/>
              </p:ext>
            </p:extLst>
          </p:nvPr>
        </p:nvGraphicFramePr>
        <p:xfrm>
          <a:off x="0" y="0"/>
          <a:ext cx="12191999" cy="6858001"/>
        </p:xfrm>
        <a:graphic>
          <a:graphicData uri="http://schemas.openxmlformats.org/drawingml/2006/table">
            <a:tbl>
              <a:tblPr/>
              <a:tblGrid>
                <a:gridCol w="6095989">
                  <a:extLst>
                    <a:ext uri="{9D8B030D-6E8A-4147-A177-3AD203B41FA5}">
                      <a16:colId xmlns:a16="http://schemas.microsoft.com/office/drawing/2014/main" val="115122629"/>
                    </a:ext>
                  </a:extLst>
                </a:gridCol>
                <a:gridCol w="6096010">
                  <a:extLst>
                    <a:ext uri="{9D8B030D-6E8A-4147-A177-3AD203B41FA5}">
                      <a16:colId xmlns:a16="http://schemas.microsoft.com/office/drawing/2014/main" val="3690580531"/>
                    </a:ext>
                  </a:extLst>
                </a:gridCol>
              </a:tblGrid>
              <a:tr h="615300">
                <a:tc gridSpan="2">
                  <a:txBody>
                    <a:bodyPr/>
                    <a:lstStyle/>
                    <a:p>
                      <a:pPr marR="0" indent="0" algn="ctr" rtl="0">
                        <a:lnSpc>
                          <a:spcPct val="119000"/>
                        </a:lnSpc>
                        <a:spcAft>
                          <a:spcPts val="600"/>
                        </a:spcAft>
                        <a:buNone/>
                      </a:pPr>
                      <a:r>
                        <a:rPr lang="en-US" sz="1700" kern="1400" dirty="0">
                          <a:ln>
                            <a:noFill/>
                          </a:ln>
                          <a:solidFill>
                            <a:srgbClr val="000000"/>
                          </a:solidFill>
                          <a:effectLst/>
                          <a:latin typeface="Calibri" panose="020F0502020204030204" pitchFamily="34" charset="0"/>
                        </a:rPr>
                        <a:t>General Problem Statement</a:t>
                      </a:r>
                      <a:endParaRPr lang="en-US" sz="1000" kern="1400" dirty="0">
                        <a:ln>
                          <a:noFill/>
                        </a:ln>
                        <a:solidFill>
                          <a:srgbClr val="000000"/>
                        </a:solidFill>
                        <a:effectLst/>
                        <a:latin typeface="Calibri" panose="020F0502020204030204" pitchFamily="34" charset="0"/>
                      </a:endParaRPr>
                    </a:p>
                  </a:txBody>
                  <a:tcPr marL="34883" marR="34883" marT="34883" marB="34883">
                    <a:lnL w="38100" cap="flat" cmpd="sng" algn="ctr">
                      <a:solidFill>
                        <a:srgbClr val="C5C5C5"/>
                      </a:solidFill>
                      <a:prstDash val="solid"/>
                      <a:round/>
                      <a:headEnd type="none" w="med" len="med"/>
                      <a:tailEnd type="none" w="med" len="med"/>
                    </a:lnL>
                    <a:lnR w="38100" cap="flat" cmpd="sng" algn="ctr">
                      <a:solidFill>
                        <a:srgbClr val="C5C5C5"/>
                      </a:solidFill>
                      <a:prstDash val="solid"/>
                      <a:round/>
                      <a:headEnd type="none" w="med" len="med"/>
                      <a:tailEnd type="none" w="med" len="med"/>
                    </a:lnR>
                    <a:lnT w="38100" cap="flat" cmpd="sng" algn="ctr">
                      <a:solidFill>
                        <a:srgbClr val="C5C5C5"/>
                      </a:solidFill>
                      <a:prstDash val="solid"/>
                      <a:round/>
                      <a:headEnd type="none" w="med" len="med"/>
                      <a:tailEnd type="none" w="med" len="med"/>
                    </a:lnT>
                    <a:lnB w="38100" cap="flat" cmpd="sng" algn="ctr">
                      <a:solidFill>
                        <a:srgbClr val="C5C5C5"/>
                      </a:solidFill>
                      <a:prstDash val="solid"/>
                      <a:round/>
                      <a:headEnd type="none" w="med" len="med"/>
                      <a:tailEnd type="none" w="med" len="med"/>
                    </a:lnB>
                    <a:solidFill>
                      <a:srgbClr val="C5C5C5"/>
                    </a:solidFill>
                  </a:tcPr>
                </a:tc>
                <a:tc hMerge="1">
                  <a:txBody>
                    <a:bodyPr/>
                    <a:lstStyle/>
                    <a:p>
                      <a:endParaRPr lang="en-US"/>
                    </a:p>
                  </a:txBody>
                  <a:tcPr/>
                </a:tc>
                <a:extLst>
                  <a:ext uri="{0D108BD9-81ED-4DB2-BD59-A6C34878D82A}">
                    <a16:rowId xmlns:a16="http://schemas.microsoft.com/office/drawing/2014/main" val="3950118881"/>
                  </a:ext>
                </a:extLst>
              </a:tr>
              <a:tr h="543713">
                <a:tc gridSpan="2">
                  <a:txBody>
                    <a:bodyPr/>
                    <a:lstStyle/>
                    <a:p>
                      <a:pPr marR="0" indent="0" algn="ctr" rtl="0">
                        <a:lnSpc>
                          <a:spcPct val="119000"/>
                        </a:lnSpc>
                        <a:spcAft>
                          <a:spcPts val="600"/>
                        </a:spcAft>
                        <a:buNone/>
                      </a:pPr>
                      <a:r>
                        <a:rPr lang="en-US" sz="1000" kern="1400" dirty="0">
                          <a:ln>
                            <a:noFill/>
                          </a:ln>
                          <a:solidFill>
                            <a:srgbClr val="000000"/>
                          </a:solidFill>
                          <a:effectLst/>
                          <a:latin typeface="Calibri" panose="020F0502020204030204" pitchFamily="34" charset="0"/>
                        </a:rPr>
                        <a:t> </a:t>
                      </a:r>
                      <a:r>
                        <a:rPr lang="en-US" sz="2400" kern="1400" dirty="0">
                          <a:ln>
                            <a:noFill/>
                          </a:ln>
                          <a:solidFill>
                            <a:srgbClr val="000000"/>
                          </a:solidFill>
                          <a:effectLst/>
                          <a:latin typeface="Calibri" panose="020F0502020204030204" pitchFamily="34" charset="0"/>
                        </a:rPr>
                        <a:t>Predict whether or not a Covid + patient will die while hospitalized</a:t>
                      </a:r>
                      <a:endParaRPr lang="en-US" sz="1000" kern="1400" dirty="0">
                        <a:ln>
                          <a:noFill/>
                        </a:ln>
                        <a:solidFill>
                          <a:srgbClr val="000000"/>
                        </a:solidFill>
                        <a:effectLst/>
                        <a:latin typeface="Calibri" panose="020F0502020204030204" pitchFamily="34" charset="0"/>
                      </a:endParaRPr>
                    </a:p>
                  </a:txBody>
                  <a:tcPr marL="34883" marR="34883" marT="34883" marB="34883">
                    <a:lnL w="38100" cap="flat" cmpd="sng" algn="ctr">
                      <a:solidFill>
                        <a:srgbClr val="C5C5C5"/>
                      </a:solidFill>
                      <a:prstDash val="solid"/>
                      <a:round/>
                      <a:headEnd type="none" w="med" len="med"/>
                      <a:tailEnd type="none" w="med" len="med"/>
                    </a:lnL>
                    <a:lnR w="38100" cap="flat" cmpd="sng" algn="ctr">
                      <a:solidFill>
                        <a:srgbClr val="C5C5C5"/>
                      </a:solidFill>
                      <a:prstDash val="solid"/>
                      <a:round/>
                      <a:headEnd type="none" w="med" len="med"/>
                      <a:tailEnd type="none" w="med" len="med"/>
                    </a:lnR>
                    <a:lnT w="38100" cap="flat" cmpd="sng" algn="ctr">
                      <a:solidFill>
                        <a:srgbClr val="C5C5C5"/>
                      </a:solidFill>
                      <a:prstDash val="solid"/>
                      <a:round/>
                      <a:headEnd type="none" w="med" len="med"/>
                      <a:tailEnd type="none" w="med" len="med"/>
                    </a:lnT>
                    <a:lnB w="38100" cap="flat" cmpd="sng" algn="ctr">
                      <a:solidFill>
                        <a:srgbClr val="C5C5C5"/>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765936034"/>
                  </a:ext>
                </a:extLst>
              </a:tr>
              <a:tr h="568683">
                <a:tc gridSpan="2">
                  <a:txBody>
                    <a:bodyPr/>
                    <a:lstStyle/>
                    <a:p>
                      <a:pPr marR="0" indent="0" algn="ctr" rtl="0">
                        <a:lnSpc>
                          <a:spcPct val="119000"/>
                        </a:lnSpc>
                        <a:spcAft>
                          <a:spcPts val="600"/>
                        </a:spcAft>
                        <a:buNone/>
                      </a:pPr>
                      <a:r>
                        <a:rPr lang="en-US" sz="1700" kern="1400" dirty="0">
                          <a:ln>
                            <a:noFill/>
                          </a:ln>
                          <a:solidFill>
                            <a:srgbClr val="000000"/>
                          </a:solidFill>
                          <a:effectLst/>
                          <a:latin typeface="Calibri" panose="020F0502020204030204" pitchFamily="34" charset="0"/>
                        </a:rPr>
                        <a:t>Technical Problem Statement</a:t>
                      </a:r>
                      <a:endParaRPr lang="en-US" sz="1000" kern="1400" dirty="0">
                        <a:ln>
                          <a:noFill/>
                        </a:ln>
                        <a:solidFill>
                          <a:srgbClr val="000000"/>
                        </a:solidFill>
                        <a:effectLst/>
                        <a:latin typeface="Calibri" panose="020F0502020204030204" pitchFamily="34" charset="0"/>
                      </a:endParaRPr>
                    </a:p>
                  </a:txBody>
                  <a:tcPr marL="34883" marR="34883" marT="34883" marB="34883">
                    <a:lnL w="38100" cap="flat" cmpd="sng" algn="ctr">
                      <a:solidFill>
                        <a:srgbClr val="C5C5C5"/>
                      </a:solidFill>
                      <a:prstDash val="solid"/>
                      <a:round/>
                      <a:headEnd type="none" w="med" len="med"/>
                      <a:tailEnd type="none" w="med" len="med"/>
                    </a:lnL>
                    <a:lnR w="38100" cap="flat" cmpd="sng" algn="ctr">
                      <a:solidFill>
                        <a:srgbClr val="C5C5C5"/>
                      </a:solidFill>
                      <a:prstDash val="solid"/>
                      <a:round/>
                      <a:headEnd type="none" w="med" len="med"/>
                      <a:tailEnd type="none" w="med" len="med"/>
                    </a:lnR>
                    <a:lnT w="38100" cap="flat" cmpd="sng" algn="ctr">
                      <a:solidFill>
                        <a:srgbClr val="C5C5C5"/>
                      </a:solidFill>
                      <a:prstDash val="solid"/>
                      <a:round/>
                      <a:headEnd type="none" w="med" len="med"/>
                      <a:tailEnd type="none" w="med" len="med"/>
                    </a:lnT>
                    <a:lnB>
                      <a:noFill/>
                    </a:lnB>
                    <a:solidFill>
                      <a:srgbClr val="C5C5C5"/>
                    </a:solidFill>
                  </a:tcPr>
                </a:tc>
                <a:tc hMerge="1">
                  <a:txBody>
                    <a:bodyPr/>
                    <a:lstStyle/>
                    <a:p>
                      <a:endParaRPr lang="en-US"/>
                    </a:p>
                  </a:txBody>
                  <a:tcPr/>
                </a:tc>
                <a:extLst>
                  <a:ext uri="{0D108BD9-81ED-4DB2-BD59-A6C34878D82A}">
                    <a16:rowId xmlns:a16="http://schemas.microsoft.com/office/drawing/2014/main" val="2157923361"/>
                  </a:ext>
                </a:extLst>
              </a:tr>
              <a:tr h="556789">
                <a:tc gridSpan="2">
                  <a:txBody>
                    <a:bodyPr/>
                    <a:lstStyle/>
                    <a:p>
                      <a:pPr marR="0" indent="0" algn="ctr" rtl="0">
                        <a:lnSpc>
                          <a:spcPct val="119000"/>
                        </a:lnSpc>
                        <a:spcAft>
                          <a:spcPts val="600"/>
                        </a:spcAft>
                        <a:buNone/>
                      </a:pPr>
                      <a:r>
                        <a:rPr lang="en-US" sz="1000" kern="1400" dirty="0">
                          <a:ln>
                            <a:noFill/>
                          </a:ln>
                          <a:solidFill>
                            <a:srgbClr val="000000"/>
                          </a:solidFill>
                          <a:effectLst/>
                          <a:latin typeface="Calibri" panose="020F0502020204030204" pitchFamily="34" charset="0"/>
                        </a:rPr>
                        <a:t> </a:t>
                      </a:r>
                      <a:r>
                        <a:rPr lang="en-US" sz="2400" kern="1400" dirty="0">
                          <a:ln>
                            <a:noFill/>
                          </a:ln>
                          <a:solidFill>
                            <a:srgbClr val="000000"/>
                          </a:solidFill>
                          <a:effectLst/>
                          <a:latin typeface="Calibri" panose="020F0502020204030204" pitchFamily="34" charset="0"/>
                        </a:rPr>
                        <a:t>Deep Learning based binary classification into survive/dead groups</a:t>
                      </a:r>
                      <a:endParaRPr lang="en-US" sz="1000" kern="1400" dirty="0">
                        <a:ln>
                          <a:noFill/>
                        </a:ln>
                        <a:solidFill>
                          <a:srgbClr val="000000"/>
                        </a:solidFill>
                        <a:effectLst/>
                        <a:latin typeface="Calibri" panose="020F0502020204030204" pitchFamily="34" charset="0"/>
                      </a:endParaRPr>
                    </a:p>
                  </a:txBody>
                  <a:tcPr marL="34883" marR="34883" marT="34883" marB="34883">
                    <a:lnL w="38100" cap="flat" cmpd="sng" algn="ctr">
                      <a:solidFill>
                        <a:srgbClr val="C5C5C5"/>
                      </a:solidFill>
                      <a:prstDash val="solid"/>
                      <a:round/>
                      <a:headEnd type="none" w="med" len="med"/>
                      <a:tailEnd type="none" w="med" len="med"/>
                    </a:lnL>
                    <a:lnR w="38100" cap="flat" cmpd="sng" algn="ctr">
                      <a:solidFill>
                        <a:srgbClr val="C5C5C5"/>
                      </a:solidFill>
                      <a:prstDash val="solid"/>
                      <a:round/>
                      <a:headEnd type="none" w="med" len="med"/>
                      <a:tailEnd type="none" w="med" len="med"/>
                    </a:lnR>
                    <a:lnT>
                      <a:noFill/>
                    </a:lnT>
                    <a:lnB w="38100" cap="flat" cmpd="sng" algn="ctr">
                      <a:solidFill>
                        <a:srgbClr val="C5C5C5"/>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6415201"/>
                  </a:ext>
                </a:extLst>
              </a:tr>
              <a:tr h="568683">
                <a:tc>
                  <a:txBody>
                    <a:bodyPr/>
                    <a:lstStyle/>
                    <a:p>
                      <a:pPr marR="0" indent="0" algn="ctr" rtl="0">
                        <a:lnSpc>
                          <a:spcPct val="119000"/>
                        </a:lnSpc>
                        <a:spcAft>
                          <a:spcPts val="600"/>
                        </a:spcAft>
                        <a:buNone/>
                      </a:pPr>
                      <a:r>
                        <a:rPr lang="en-US" sz="1700" kern="1400">
                          <a:ln>
                            <a:noFill/>
                          </a:ln>
                          <a:solidFill>
                            <a:srgbClr val="000000"/>
                          </a:solidFill>
                          <a:effectLst/>
                          <a:latin typeface="Calibri" panose="020F0502020204030204" pitchFamily="34" charset="0"/>
                        </a:rPr>
                        <a:t>Data</a:t>
                      </a:r>
                      <a:endParaRPr lang="en-US" sz="1000" kern="1400">
                        <a:ln>
                          <a:noFill/>
                        </a:ln>
                        <a:solidFill>
                          <a:srgbClr val="000000"/>
                        </a:solidFill>
                        <a:effectLst/>
                        <a:latin typeface="Calibri" panose="020F0502020204030204" pitchFamily="34" charset="0"/>
                      </a:endParaRPr>
                    </a:p>
                  </a:txBody>
                  <a:tcPr marL="34883" marR="34883" marT="34883" marB="34883">
                    <a:lnL w="38100" cap="flat" cmpd="sng" algn="ctr">
                      <a:solidFill>
                        <a:srgbClr val="FF5050"/>
                      </a:solidFill>
                      <a:prstDash val="solid"/>
                      <a:round/>
                      <a:headEnd type="none" w="med" len="med"/>
                      <a:tailEnd type="none" w="med" len="med"/>
                    </a:lnL>
                    <a:lnR w="38100" cap="flat" cmpd="sng" algn="ctr">
                      <a:solidFill>
                        <a:srgbClr val="92D050"/>
                      </a:solidFill>
                      <a:prstDash val="solid"/>
                      <a:round/>
                      <a:headEnd type="none" w="med" len="med"/>
                      <a:tailEnd type="none" w="med" len="med"/>
                    </a:lnR>
                    <a:lnT w="38100" cap="flat" cmpd="sng" algn="ctr">
                      <a:solidFill>
                        <a:srgbClr val="C5C5C5"/>
                      </a:solidFill>
                      <a:prstDash val="solid"/>
                      <a:round/>
                      <a:headEnd type="none" w="med" len="med"/>
                      <a:tailEnd type="none" w="med" len="med"/>
                    </a:lnT>
                    <a:lnB>
                      <a:noFill/>
                    </a:lnB>
                    <a:solidFill>
                      <a:srgbClr val="FF5050"/>
                    </a:solidFill>
                  </a:tcPr>
                </a:tc>
                <a:tc>
                  <a:txBody>
                    <a:bodyPr/>
                    <a:lstStyle/>
                    <a:p>
                      <a:pPr marR="0" indent="0" algn="ctr" rtl="0">
                        <a:lnSpc>
                          <a:spcPct val="119000"/>
                        </a:lnSpc>
                        <a:spcAft>
                          <a:spcPts val="600"/>
                        </a:spcAft>
                        <a:buNone/>
                      </a:pPr>
                      <a:r>
                        <a:rPr lang="en-US" sz="1700" kern="1400" dirty="0">
                          <a:ln>
                            <a:noFill/>
                          </a:ln>
                          <a:solidFill>
                            <a:srgbClr val="000000"/>
                          </a:solidFill>
                          <a:effectLst/>
                          <a:latin typeface="Calibri" panose="020F0502020204030204" pitchFamily="34" charset="0"/>
                        </a:rPr>
                        <a:t>Loss</a:t>
                      </a:r>
                      <a:endParaRPr lang="en-US" sz="1000" kern="1400" dirty="0">
                        <a:ln>
                          <a:noFill/>
                        </a:ln>
                        <a:solidFill>
                          <a:srgbClr val="000000"/>
                        </a:solidFill>
                        <a:effectLst/>
                        <a:latin typeface="Calibri" panose="020F0502020204030204" pitchFamily="34" charset="0"/>
                      </a:endParaRPr>
                    </a:p>
                  </a:txBody>
                  <a:tcPr marL="34883" marR="34883" marT="34883" marB="34883">
                    <a:lnL w="38100" cap="flat" cmpd="sng" algn="ctr">
                      <a:solidFill>
                        <a:srgbClr val="92D050"/>
                      </a:solidFill>
                      <a:prstDash val="solid"/>
                      <a:round/>
                      <a:headEnd type="none" w="med" len="med"/>
                      <a:tailEnd type="none" w="med" len="med"/>
                    </a:lnL>
                    <a:lnR w="38100" cap="flat" cmpd="sng" algn="ctr">
                      <a:solidFill>
                        <a:srgbClr val="92D050"/>
                      </a:solidFill>
                      <a:prstDash val="solid"/>
                      <a:round/>
                      <a:headEnd type="none" w="med" len="med"/>
                      <a:tailEnd type="none" w="med" len="med"/>
                    </a:lnR>
                    <a:lnT w="38100" cap="flat" cmpd="sng" algn="ctr">
                      <a:solidFill>
                        <a:srgbClr val="C5C5C5"/>
                      </a:solidFill>
                      <a:prstDash val="solid"/>
                      <a:round/>
                      <a:headEnd type="none" w="med" len="med"/>
                      <a:tailEnd type="none" w="med" len="med"/>
                    </a:lnT>
                    <a:lnB>
                      <a:noFill/>
                    </a:lnB>
                    <a:solidFill>
                      <a:srgbClr val="92D050"/>
                    </a:solidFill>
                  </a:tcPr>
                </a:tc>
                <a:extLst>
                  <a:ext uri="{0D108BD9-81ED-4DB2-BD59-A6C34878D82A}">
                    <a16:rowId xmlns:a16="http://schemas.microsoft.com/office/drawing/2014/main" val="1474918361"/>
                  </a:ext>
                </a:extLst>
              </a:tr>
              <a:tr h="1718075">
                <a:tc>
                  <a:txBody>
                    <a:bodyPr/>
                    <a:lstStyle/>
                    <a:p>
                      <a:pPr marR="0" indent="0" algn="l" rtl="0">
                        <a:lnSpc>
                          <a:spcPct val="119000"/>
                        </a:lnSpc>
                        <a:spcAft>
                          <a:spcPts val="600"/>
                        </a:spcAft>
                        <a:buNone/>
                      </a:pPr>
                      <a:r>
                        <a:rPr lang="en-US" sz="1000" kern="1400" dirty="0">
                          <a:ln>
                            <a:noFill/>
                          </a:ln>
                          <a:solidFill>
                            <a:srgbClr val="000000"/>
                          </a:solidFill>
                          <a:effectLst/>
                          <a:latin typeface="Calibri" panose="020F0502020204030204" pitchFamily="34" charset="0"/>
                        </a:rPr>
                        <a:t> </a:t>
                      </a:r>
                      <a:r>
                        <a:rPr lang="en-US" sz="2000" kern="1400" dirty="0">
                          <a:ln>
                            <a:noFill/>
                          </a:ln>
                          <a:solidFill>
                            <a:srgbClr val="000000"/>
                          </a:solidFill>
                          <a:effectLst/>
                          <a:latin typeface="Calibri" panose="020F0502020204030204" pitchFamily="34" charset="0"/>
                        </a:rPr>
                        <a:t>Predictors listed on next slide</a:t>
                      </a:r>
                    </a:p>
                    <a:p>
                      <a:pPr marR="0" indent="0" algn="l" rtl="0">
                        <a:lnSpc>
                          <a:spcPct val="119000"/>
                        </a:lnSpc>
                        <a:spcAft>
                          <a:spcPts val="600"/>
                        </a:spcAft>
                        <a:buNone/>
                      </a:pPr>
                      <a:r>
                        <a:rPr lang="en-US" sz="2000" kern="1400" dirty="0">
                          <a:ln>
                            <a:noFill/>
                          </a:ln>
                          <a:solidFill>
                            <a:srgbClr val="000000"/>
                          </a:solidFill>
                          <a:effectLst/>
                          <a:latin typeface="Calibri" panose="020F0502020204030204" pitchFamily="34" charset="0"/>
                        </a:rPr>
                        <a:t>Lab diagnosis of COVID-19 in one SW London hospital</a:t>
                      </a:r>
                    </a:p>
                    <a:p>
                      <a:pPr marR="0" indent="0" algn="l" rtl="0">
                        <a:lnSpc>
                          <a:spcPct val="119000"/>
                        </a:lnSpc>
                        <a:spcAft>
                          <a:spcPts val="600"/>
                        </a:spcAft>
                        <a:buNone/>
                      </a:pPr>
                      <a:r>
                        <a:rPr lang="en-US" sz="2000" kern="1400" dirty="0">
                          <a:ln>
                            <a:noFill/>
                          </a:ln>
                          <a:solidFill>
                            <a:srgbClr val="000000"/>
                          </a:solidFill>
                          <a:effectLst/>
                          <a:latin typeface="Calibri" panose="020F0502020204030204" pitchFamily="34" charset="0"/>
                        </a:rPr>
                        <a:t>Extracted from EHR via chart review (retrospective)</a:t>
                      </a:r>
                    </a:p>
                  </a:txBody>
                  <a:tcPr marL="34883" marR="34883" marT="34883" marB="34883">
                    <a:lnL w="38100" cap="flat" cmpd="sng" algn="ctr">
                      <a:solidFill>
                        <a:srgbClr val="FF5050"/>
                      </a:solidFill>
                      <a:prstDash val="solid"/>
                      <a:round/>
                      <a:headEnd type="none" w="med" len="med"/>
                      <a:tailEnd type="none" w="med" len="med"/>
                    </a:lnL>
                    <a:lnR w="38100" cap="flat" cmpd="sng" algn="ctr">
                      <a:solidFill>
                        <a:srgbClr val="92D050"/>
                      </a:solidFill>
                      <a:prstDash val="solid"/>
                      <a:round/>
                      <a:headEnd type="none" w="med" len="med"/>
                      <a:tailEnd type="none" w="med" len="med"/>
                    </a:lnR>
                    <a:lnT>
                      <a:noFill/>
                    </a:lnT>
                    <a:lnB w="38100" cap="flat" cmpd="sng" algn="ctr">
                      <a:solidFill>
                        <a:srgbClr val="9DC3E6"/>
                      </a:solidFill>
                      <a:prstDash val="solid"/>
                      <a:round/>
                      <a:headEnd type="none" w="med" len="med"/>
                      <a:tailEnd type="none" w="med" len="med"/>
                    </a:lnB>
                    <a:noFill/>
                  </a:tcPr>
                </a:tc>
                <a:tc>
                  <a:txBody>
                    <a:bodyPr/>
                    <a:lstStyle/>
                    <a:p>
                      <a:pPr marR="0" indent="0" algn="l" rtl="0">
                        <a:lnSpc>
                          <a:spcPct val="119000"/>
                        </a:lnSpc>
                        <a:spcAft>
                          <a:spcPts val="600"/>
                        </a:spcAft>
                        <a:buNone/>
                      </a:pPr>
                      <a:r>
                        <a:rPr lang="en-US" sz="1000" kern="1400" dirty="0">
                          <a:ln>
                            <a:noFill/>
                          </a:ln>
                          <a:solidFill>
                            <a:srgbClr val="000000"/>
                          </a:solidFill>
                          <a:effectLst/>
                          <a:latin typeface="Calibri" panose="020F0502020204030204" pitchFamily="34" charset="0"/>
                        </a:rPr>
                        <a:t> </a:t>
                      </a:r>
                      <a:r>
                        <a:rPr lang="en-US" sz="2400" kern="1400" dirty="0">
                          <a:ln>
                            <a:noFill/>
                          </a:ln>
                          <a:solidFill>
                            <a:srgbClr val="000000"/>
                          </a:solidFill>
                          <a:effectLst/>
                          <a:latin typeface="Calibri" panose="020F0502020204030204" pitchFamily="34" charset="0"/>
                        </a:rPr>
                        <a:t>L</a:t>
                      </a:r>
                      <a:r>
                        <a:rPr lang="en-US" sz="2400" dirty="0"/>
                        <a:t>owest loss as measured by binary cross-entropy on the validation set.</a:t>
                      </a:r>
                    </a:p>
                    <a:p>
                      <a:pPr marR="0" indent="0" algn="l" rtl="0">
                        <a:lnSpc>
                          <a:spcPct val="119000"/>
                        </a:lnSpc>
                        <a:spcAft>
                          <a:spcPts val="600"/>
                        </a:spcAft>
                        <a:buNone/>
                      </a:pPr>
                      <a:r>
                        <a:rPr lang="en-US" sz="2400" kern="1400" dirty="0">
                          <a:ln>
                            <a:noFill/>
                          </a:ln>
                          <a:solidFill>
                            <a:srgbClr val="000000"/>
                          </a:solidFill>
                          <a:effectLst/>
                          <a:latin typeface="Calibri" panose="020F0502020204030204" pitchFamily="34" charset="0"/>
                        </a:rPr>
                        <a:t>Appropriate for this problem</a:t>
                      </a:r>
                    </a:p>
                  </a:txBody>
                  <a:tcPr marL="34883" marR="34883" marT="34883" marB="34883">
                    <a:lnL w="38100" cap="flat" cmpd="sng" algn="ctr">
                      <a:solidFill>
                        <a:srgbClr val="92D050"/>
                      </a:solidFill>
                      <a:prstDash val="solid"/>
                      <a:round/>
                      <a:headEnd type="none" w="med" len="med"/>
                      <a:tailEnd type="none" w="med" len="med"/>
                    </a:lnL>
                    <a:lnR w="38100" cap="flat" cmpd="sng" algn="ctr">
                      <a:solidFill>
                        <a:srgbClr val="92D050"/>
                      </a:solidFill>
                      <a:prstDash val="solid"/>
                      <a:round/>
                      <a:headEnd type="none" w="med" len="med"/>
                      <a:tailEnd type="none" w="med" len="med"/>
                    </a:lnR>
                    <a:lnT>
                      <a:noFill/>
                    </a:lnT>
                    <a:lnB w="38100" cap="flat" cmpd="sng" algn="ctr">
                      <a:solidFill>
                        <a:srgbClr val="FFE699"/>
                      </a:solidFill>
                      <a:prstDash val="solid"/>
                      <a:round/>
                      <a:headEnd type="none" w="med" len="med"/>
                      <a:tailEnd type="none" w="med" len="med"/>
                    </a:lnB>
                    <a:noFill/>
                  </a:tcPr>
                </a:tc>
                <a:extLst>
                  <a:ext uri="{0D108BD9-81ED-4DB2-BD59-A6C34878D82A}">
                    <a16:rowId xmlns:a16="http://schemas.microsoft.com/office/drawing/2014/main" val="758496622"/>
                  </a:ext>
                </a:extLst>
              </a:tr>
              <a:tr h="568683">
                <a:tc>
                  <a:txBody>
                    <a:bodyPr/>
                    <a:lstStyle/>
                    <a:p>
                      <a:pPr marR="0" indent="0" algn="ctr" rtl="0">
                        <a:lnSpc>
                          <a:spcPct val="119000"/>
                        </a:lnSpc>
                        <a:spcAft>
                          <a:spcPts val="600"/>
                        </a:spcAft>
                        <a:buNone/>
                      </a:pPr>
                      <a:r>
                        <a:rPr lang="en-US" sz="1700" kern="1400">
                          <a:ln>
                            <a:noFill/>
                          </a:ln>
                          <a:solidFill>
                            <a:srgbClr val="000000"/>
                          </a:solidFill>
                          <a:effectLst/>
                          <a:latin typeface="Calibri" panose="020F0502020204030204" pitchFamily="34" charset="0"/>
                        </a:rPr>
                        <a:t>Network</a:t>
                      </a:r>
                      <a:endParaRPr lang="en-US" sz="1000" kern="1400">
                        <a:ln>
                          <a:noFill/>
                        </a:ln>
                        <a:solidFill>
                          <a:srgbClr val="000000"/>
                        </a:solidFill>
                        <a:effectLst/>
                        <a:latin typeface="Calibri" panose="020F0502020204030204" pitchFamily="34" charset="0"/>
                      </a:endParaRPr>
                    </a:p>
                  </a:txBody>
                  <a:tcPr marL="34883" marR="34883" marT="34883" marB="34883">
                    <a:lnL w="38100" cap="flat" cmpd="sng" algn="ctr">
                      <a:solidFill>
                        <a:srgbClr val="9DC3E6"/>
                      </a:solidFill>
                      <a:prstDash val="solid"/>
                      <a:round/>
                      <a:headEnd type="none" w="med" len="med"/>
                      <a:tailEnd type="none" w="med" len="med"/>
                    </a:lnL>
                    <a:lnR w="38100" cap="flat" cmpd="sng" algn="ctr">
                      <a:solidFill>
                        <a:srgbClr val="FFE699"/>
                      </a:solidFill>
                      <a:prstDash val="solid"/>
                      <a:round/>
                      <a:headEnd type="none" w="med" len="med"/>
                      <a:tailEnd type="none" w="med" len="med"/>
                    </a:lnR>
                    <a:lnT w="38100" cap="flat" cmpd="sng" algn="ctr">
                      <a:solidFill>
                        <a:srgbClr val="9DC3E6"/>
                      </a:solidFill>
                      <a:prstDash val="solid"/>
                      <a:round/>
                      <a:headEnd type="none" w="med" len="med"/>
                      <a:tailEnd type="none" w="med" len="med"/>
                    </a:lnT>
                    <a:lnB>
                      <a:noFill/>
                    </a:lnB>
                    <a:solidFill>
                      <a:srgbClr val="9DC3E6"/>
                    </a:solidFill>
                  </a:tcPr>
                </a:tc>
                <a:tc>
                  <a:txBody>
                    <a:bodyPr/>
                    <a:lstStyle/>
                    <a:p>
                      <a:pPr marR="0" indent="0" algn="ctr" rtl="0">
                        <a:lnSpc>
                          <a:spcPct val="119000"/>
                        </a:lnSpc>
                        <a:spcAft>
                          <a:spcPts val="600"/>
                        </a:spcAft>
                        <a:buNone/>
                      </a:pPr>
                      <a:r>
                        <a:rPr lang="en-US" sz="1700" kern="1400">
                          <a:ln>
                            <a:noFill/>
                          </a:ln>
                          <a:solidFill>
                            <a:srgbClr val="000000"/>
                          </a:solidFill>
                          <a:effectLst/>
                          <a:latin typeface="Calibri" panose="020F0502020204030204" pitchFamily="34" charset="0"/>
                        </a:rPr>
                        <a:t>Training</a:t>
                      </a:r>
                      <a:endParaRPr lang="en-US" sz="1000" kern="1400">
                        <a:ln>
                          <a:noFill/>
                        </a:ln>
                        <a:solidFill>
                          <a:srgbClr val="000000"/>
                        </a:solidFill>
                        <a:effectLst/>
                        <a:latin typeface="Calibri" panose="020F0502020204030204" pitchFamily="34" charset="0"/>
                      </a:endParaRPr>
                    </a:p>
                  </a:txBody>
                  <a:tcPr marL="34883" marR="34883" marT="34883" marB="34883">
                    <a:lnL w="38100" cap="flat" cmpd="sng" algn="ctr">
                      <a:solidFill>
                        <a:srgbClr val="FFE699"/>
                      </a:solidFill>
                      <a:prstDash val="solid"/>
                      <a:round/>
                      <a:headEnd type="none" w="med" len="med"/>
                      <a:tailEnd type="none" w="med" len="med"/>
                    </a:lnL>
                    <a:lnR w="38100" cap="flat" cmpd="sng" algn="ctr">
                      <a:solidFill>
                        <a:srgbClr val="FFE699"/>
                      </a:solidFill>
                      <a:prstDash val="solid"/>
                      <a:round/>
                      <a:headEnd type="none" w="med" len="med"/>
                      <a:tailEnd type="none" w="med" len="med"/>
                    </a:lnR>
                    <a:lnT w="38100" cap="flat" cmpd="sng" algn="ctr">
                      <a:solidFill>
                        <a:srgbClr val="FFE699"/>
                      </a:solidFill>
                      <a:prstDash val="solid"/>
                      <a:round/>
                      <a:headEnd type="none" w="med" len="med"/>
                      <a:tailEnd type="none" w="med" len="med"/>
                    </a:lnT>
                    <a:lnB>
                      <a:noFill/>
                    </a:lnB>
                    <a:solidFill>
                      <a:srgbClr val="FFE699"/>
                    </a:solidFill>
                  </a:tcPr>
                </a:tc>
                <a:extLst>
                  <a:ext uri="{0D108BD9-81ED-4DB2-BD59-A6C34878D82A}">
                    <a16:rowId xmlns:a16="http://schemas.microsoft.com/office/drawing/2014/main" val="2550988948"/>
                  </a:ext>
                </a:extLst>
              </a:tr>
              <a:tr h="1718075">
                <a:tc>
                  <a:txBody>
                    <a:bodyPr/>
                    <a:lstStyle/>
                    <a:p>
                      <a:pPr marR="0" indent="0" algn="l" rtl="0">
                        <a:lnSpc>
                          <a:spcPct val="119000"/>
                        </a:lnSpc>
                        <a:spcAft>
                          <a:spcPts val="600"/>
                        </a:spcAft>
                        <a:buNone/>
                      </a:pPr>
                      <a:r>
                        <a:rPr lang="en-US" sz="1000" kern="1400" dirty="0">
                          <a:ln>
                            <a:noFill/>
                          </a:ln>
                          <a:solidFill>
                            <a:srgbClr val="000000"/>
                          </a:solidFill>
                          <a:effectLst/>
                          <a:latin typeface="Calibri" panose="020F0502020204030204" pitchFamily="34" charset="0"/>
                        </a:rPr>
                        <a:t> </a:t>
                      </a:r>
                      <a:r>
                        <a:rPr lang="en-US" sz="2800" kern="1400" dirty="0">
                          <a:ln>
                            <a:noFill/>
                          </a:ln>
                          <a:solidFill>
                            <a:srgbClr val="000000"/>
                          </a:solidFill>
                          <a:effectLst/>
                          <a:latin typeface="Calibri" panose="020F0502020204030204" pitchFamily="34" charset="0"/>
                        </a:rPr>
                        <a:t>”Artificial Neural Network”</a:t>
                      </a:r>
                    </a:p>
                    <a:p>
                      <a:pPr marR="0" indent="0" algn="l" rtl="0">
                        <a:lnSpc>
                          <a:spcPct val="119000"/>
                        </a:lnSpc>
                        <a:spcAft>
                          <a:spcPts val="600"/>
                        </a:spcAft>
                        <a:buNone/>
                      </a:pPr>
                      <a:r>
                        <a:rPr lang="en-US" sz="2800" kern="1400" dirty="0">
                          <a:ln>
                            <a:noFill/>
                          </a:ln>
                          <a:solidFill>
                            <a:srgbClr val="000000"/>
                          </a:solidFill>
                          <a:effectLst/>
                          <a:latin typeface="Calibri" panose="020F0502020204030204" pitchFamily="34" charset="0"/>
                        </a:rPr>
                        <a:t>Basically MLP/Fully connected network.</a:t>
                      </a:r>
                    </a:p>
                    <a:p>
                      <a:pPr marR="0" indent="0" algn="l" rtl="0">
                        <a:lnSpc>
                          <a:spcPct val="119000"/>
                        </a:lnSpc>
                        <a:spcAft>
                          <a:spcPts val="600"/>
                        </a:spcAft>
                        <a:buNone/>
                      </a:pPr>
                      <a:r>
                        <a:rPr lang="en-US" sz="2800" kern="1400" dirty="0">
                          <a:ln>
                            <a:noFill/>
                          </a:ln>
                          <a:solidFill>
                            <a:srgbClr val="000000"/>
                          </a:solidFill>
                          <a:effectLst/>
                          <a:latin typeface="Calibri" panose="020F0502020204030204" pitchFamily="34" charset="0"/>
                        </a:rPr>
                        <a:t>(regular network)</a:t>
                      </a:r>
                      <a:endParaRPr lang="en-US" sz="1000" kern="1400" dirty="0">
                        <a:ln>
                          <a:noFill/>
                        </a:ln>
                        <a:solidFill>
                          <a:srgbClr val="000000"/>
                        </a:solidFill>
                        <a:effectLst/>
                        <a:latin typeface="Calibri" panose="020F0502020204030204" pitchFamily="34" charset="0"/>
                      </a:endParaRPr>
                    </a:p>
                  </a:txBody>
                  <a:tcPr marL="34883" marR="34883" marT="34883" marB="34883">
                    <a:lnL w="38100" cap="flat" cmpd="sng" algn="ctr">
                      <a:solidFill>
                        <a:srgbClr val="9DC3E6"/>
                      </a:solidFill>
                      <a:prstDash val="solid"/>
                      <a:round/>
                      <a:headEnd type="none" w="med" len="med"/>
                      <a:tailEnd type="none" w="med" len="med"/>
                    </a:lnL>
                    <a:lnR w="38100" cap="flat" cmpd="sng" algn="ctr">
                      <a:solidFill>
                        <a:srgbClr val="FFE699"/>
                      </a:solidFill>
                      <a:prstDash val="solid"/>
                      <a:round/>
                      <a:headEnd type="none" w="med" len="med"/>
                      <a:tailEnd type="none" w="med" len="med"/>
                    </a:lnR>
                    <a:lnT>
                      <a:noFill/>
                    </a:lnT>
                    <a:lnB w="38100" cap="flat" cmpd="sng" algn="ctr">
                      <a:solidFill>
                        <a:srgbClr val="9DC3E6"/>
                      </a:solidFill>
                      <a:prstDash val="solid"/>
                      <a:round/>
                      <a:headEnd type="none" w="med" len="med"/>
                      <a:tailEnd type="none" w="med" len="med"/>
                    </a:lnB>
                    <a:noFill/>
                  </a:tcPr>
                </a:tc>
                <a:tc>
                  <a:txBody>
                    <a:bodyPr/>
                    <a:lstStyle/>
                    <a:p>
                      <a:pPr marR="0" indent="0" algn="l" rtl="0">
                        <a:lnSpc>
                          <a:spcPct val="119000"/>
                        </a:lnSpc>
                        <a:spcAft>
                          <a:spcPts val="600"/>
                        </a:spcAft>
                        <a:buNone/>
                      </a:pPr>
                      <a:r>
                        <a:rPr lang="en-US" sz="1000" kern="1400" dirty="0">
                          <a:ln>
                            <a:noFill/>
                          </a:ln>
                          <a:solidFill>
                            <a:srgbClr val="000000"/>
                          </a:solidFill>
                          <a:effectLst/>
                          <a:latin typeface="Calibri" panose="020F0502020204030204" pitchFamily="34" charset="0"/>
                        </a:rPr>
                        <a:t> </a:t>
                      </a:r>
                    </a:p>
                  </a:txBody>
                  <a:tcPr marL="34883" marR="34883" marT="34883" marB="34883">
                    <a:lnL w="38100" cap="flat" cmpd="sng" algn="ctr">
                      <a:solidFill>
                        <a:srgbClr val="FFE699"/>
                      </a:solidFill>
                      <a:prstDash val="solid"/>
                      <a:round/>
                      <a:headEnd type="none" w="med" len="med"/>
                      <a:tailEnd type="none" w="med" len="med"/>
                    </a:lnL>
                    <a:lnR w="38100" cap="flat" cmpd="sng" algn="ctr">
                      <a:solidFill>
                        <a:srgbClr val="FFE699"/>
                      </a:solidFill>
                      <a:prstDash val="solid"/>
                      <a:round/>
                      <a:headEnd type="none" w="med" len="med"/>
                      <a:tailEnd type="none" w="med" len="med"/>
                    </a:lnR>
                    <a:lnT>
                      <a:noFill/>
                    </a:lnT>
                    <a:lnB w="38100" cap="flat" cmpd="sng" algn="ctr">
                      <a:solidFill>
                        <a:srgbClr val="FFE699"/>
                      </a:solidFill>
                      <a:prstDash val="solid"/>
                      <a:round/>
                      <a:headEnd type="none" w="med" len="med"/>
                      <a:tailEnd type="none" w="med" len="med"/>
                    </a:lnB>
                    <a:noFill/>
                  </a:tcPr>
                </a:tc>
                <a:extLst>
                  <a:ext uri="{0D108BD9-81ED-4DB2-BD59-A6C34878D82A}">
                    <a16:rowId xmlns:a16="http://schemas.microsoft.com/office/drawing/2014/main" val="3396552476"/>
                  </a:ext>
                </a:extLst>
              </a:tr>
            </a:tbl>
          </a:graphicData>
        </a:graphic>
      </p:graphicFrame>
    </p:spTree>
    <p:extLst>
      <p:ext uri="{BB962C8B-B14F-4D97-AF65-F5344CB8AC3E}">
        <p14:creationId xmlns:p14="http://schemas.microsoft.com/office/powerpoint/2010/main" val="18826301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3FFD9-0B81-1DE7-059C-D0B91FD08D76}"/>
              </a:ext>
            </a:extLst>
          </p:cNvPr>
          <p:cNvSpPr>
            <a:spLocks noGrp="1"/>
          </p:cNvSpPr>
          <p:nvPr>
            <p:ph type="title"/>
          </p:nvPr>
        </p:nvSpPr>
        <p:spPr/>
        <p:txBody>
          <a:bodyPr/>
          <a:lstStyle/>
          <a:p>
            <a:r>
              <a:rPr lang="en-US" dirty="0"/>
              <a:t>Predictors</a:t>
            </a:r>
          </a:p>
        </p:txBody>
      </p:sp>
      <p:sp>
        <p:nvSpPr>
          <p:cNvPr id="3" name="Content Placeholder 2">
            <a:extLst>
              <a:ext uri="{FF2B5EF4-FFF2-40B4-BE49-F238E27FC236}">
                <a16:creationId xmlns:a16="http://schemas.microsoft.com/office/drawing/2014/main" id="{9A28CF8B-CE33-0C8E-01ED-DBA20D2DAACB}"/>
              </a:ext>
            </a:extLst>
          </p:cNvPr>
          <p:cNvSpPr>
            <a:spLocks noGrp="1"/>
          </p:cNvSpPr>
          <p:nvPr>
            <p:ph idx="1"/>
          </p:nvPr>
        </p:nvSpPr>
        <p:spPr/>
        <p:txBody>
          <a:bodyPr/>
          <a:lstStyle/>
          <a:p>
            <a:pPr marL="0" indent="0">
              <a:buNone/>
            </a:pPr>
            <a:r>
              <a:rPr lang="en-US" dirty="0"/>
              <a:t>['age', 'sex', '</a:t>
            </a:r>
            <a:r>
              <a:rPr lang="en-US" dirty="0" err="1"/>
              <a:t>chronic_respiratory_disease</a:t>
            </a:r>
            <a:r>
              <a:rPr lang="en-US" dirty="0"/>
              <a:t>', 'obesity', 'hypertension', 'diabetes', '</a:t>
            </a:r>
            <a:r>
              <a:rPr lang="en-US" dirty="0" err="1"/>
              <a:t>ischaemic_heart_disease</a:t>
            </a:r>
            <a:r>
              <a:rPr lang="en-US" dirty="0"/>
              <a:t>', '</a:t>
            </a:r>
            <a:r>
              <a:rPr lang="en-US" dirty="0" err="1"/>
              <a:t>cardiac_failure</a:t>
            </a:r>
            <a:r>
              <a:rPr lang="en-US" dirty="0"/>
              <a:t>', '</a:t>
            </a:r>
            <a:r>
              <a:rPr lang="en-US" dirty="0" err="1"/>
              <a:t>chronic_liver_disease</a:t>
            </a:r>
            <a:r>
              <a:rPr lang="en-US" dirty="0"/>
              <a:t>', '</a:t>
            </a:r>
            <a:r>
              <a:rPr lang="en-US" dirty="0" err="1"/>
              <a:t>chronic_kidney_disease</a:t>
            </a:r>
            <a:r>
              <a:rPr lang="en-US" dirty="0"/>
              <a:t>', '</a:t>
            </a:r>
            <a:r>
              <a:rPr lang="en-US" dirty="0" err="1"/>
              <a:t>cerebrovascular_event</a:t>
            </a:r>
            <a:r>
              <a:rPr lang="en-US" dirty="0"/>
              <a:t>', 'fever', 'cough', '</a:t>
            </a:r>
            <a:r>
              <a:rPr lang="en-US" dirty="0" err="1"/>
              <a:t>dyspnoea</a:t>
            </a:r>
            <a:r>
              <a:rPr lang="en-US" dirty="0"/>
              <a:t>', 'myalgia', '</a:t>
            </a:r>
            <a:r>
              <a:rPr lang="en-US" dirty="0" err="1"/>
              <a:t>abdominal_pain</a:t>
            </a:r>
            <a:r>
              <a:rPr lang="en-US" dirty="0"/>
              <a:t>', '</a:t>
            </a:r>
            <a:r>
              <a:rPr lang="en-US" dirty="0" err="1"/>
              <a:t>diarrhoea_vomiting</a:t>
            </a:r>
            <a:r>
              <a:rPr lang="en-US" dirty="0"/>
              <a:t>', 'confusion', 'collapse', '</a:t>
            </a:r>
            <a:r>
              <a:rPr lang="en-US" dirty="0" err="1"/>
              <a:t>olfactory_change</a:t>
            </a:r>
            <a:r>
              <a:rPr lang="en-US" dirty="0"/>
              <a:t>', '</a:t>
            </a:r>
            <a:r>
              <a:rPr lang="en-US" dirty="0" err="1"/>
              <a:t>days_of_symptoms_prior_to_admission</a:t>
            </a:r>
            <a:r>
              <a:rPr lang="en-US" dirty="0"/>
              <a:t>']</a:t>
            </a:r>
          </a:p>
        </p:txBody>
      </p:sp>
    </p:spTree>
    <p:extLst>
      <p:ext uri="{BB962C8B-B14F-4D97-AF65-F5344CB8AC3E}">
        <p14:creationId xmlns:p14="http://schemas.microsoft.com/office/powerpoint/2010/main" val="440045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F88B1-7961-EF30-9DB7-E07B3A640437}"/>
              </a:ext>
            </a:extLst>
          </p:cNvPr>
          <p:cNvSpPr>
            <a:spLocks noGrp="1"/>
          </p:cNvSpPr>
          <p:nvPr>
            <p:ph type="title"/>
          </p:nvPr>
        </p:nvSpPr>
        <p:spPr/>
        <p:txBody>
          <a:bodyPr/>
          <a:lstStyle/>
          <a:p>
            <a:r>
              <a:rPr lang="en-US" dirty="0"/>
              <a:t>Evaluation Metrics</a:t>
            </a:r>
          </a:p>
        </p:txBody>
      </p:sp>
      <p:sp>
        <p:nvSpPr>
          <p:cNvPr id="3" name="Content Placeholder 2">
            <a:extLst>
              <a:ext uri="{FF2B5EF4-FFF2-40B4-BE49-F238E27FC236}">
                <a16:creationId xmlns:a16="http://schemas.microsoft.com/office/drawing/2014/main" id="{D42A5F34-A89F-158A-50A1-2C3C4863B435}"/>
              </a:ext>
            </a:extLst>
          </p:cNvPr>
          <p:cNvSpPr>
            <a:spLocks noGrp="1"/>
          </p:cNvSpPr>
          <p:nvPr>
            <p:ph idx="1"/>
          </p:nvPr>
        </p:nvSpPr>
        <p:spPr/>
        <p:txBody>
          <a:bodyPr/>
          <a:lstStyle/>
          <a:p>
            <a:r>
              <a:rPr lang="en-US" b="1" dirty="0"/>
              <a:t>What are Evaluation Metrics?</a:t>
            </a:r>
          </a:p>
          <a:p>
            <a:r>
              <a:rPr lang="en-US" dirty="0"/>
              <a:t>Tools to </a:t>
            </a:r>
            <a:r>
              <a:rPr lang="en-US" b="1" dirty="0"/>
              <a:t>measure model performance</a:t>
            </a:r>
            <a:r>
              <a:rPr lang="en-US" dirty="0"/>
              <a:t> on unseen data.</a:t>
            </a:r>
          </a:p>
          <a:p>
            <a:r>
              <a:rPr lang="en-US" dirty="0"/>
              <a:t>They tell us </a:t>
            </a:r>
            <a:r>
              <a:rPr lang="en-US" i="1" dirty="0"/>
              <a:t>how good the model is</a:t>
            </a:r>
            <a:r>
              <a:rPr lang="en-US" dirty="0"/>
              <a:t> at solving the real-world task.</a:t>
            </a:r>
          </a:p>
          <a:p>
            <a:r>
              <a:rPr lang="en-US" dirty="0"/>
              <a:t>Different tasks → different metrics (classification, regression, survival).</a:t>
            </a:r>
          </a:p>
        </p:txBody>
      </p:sp>
    </p:spTree>
    <p:extLst>
      <p:ext uri="{BB962C8B-B14F-4D97-AF65-F5344CB8AC3E}">
        <p14:creationId xmlns:p14="http://schemas.microsoft.com/office/powerpoint/2010/main" val="1347608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B7C85-8956-A2BC-C771-59DC5E79295D}"/>
              </a:ext>
            </a:extLst>
          </p:cNvPr>
          <p:cNvSpPr>
            <a:spLocks noGrp="1"/>
          </p:cNvSpPr>
          <p:nvPr>
            <p:ph type="title"/>
          </p:nvPr>
        </p:nvSpPr>
        <p:spPr/>
        <p:txBody>
          <a:bodyPr/>
          <a:lstStyle/>
          <a:p>
            <a:r>
              <a:rPr lang="en-US" dirty="0"/>
              <a:t>Evaluation Metrics</a:t>
            </a:r>
          </a:p>
        </p:txBody>
      </p:sp>
      <p:sp>
        <p:nvSpPr>
          <p:cNvPr id="3" name="Content Placeholder 2">
            <a:extLst>
              <a:ext uri="{FF2B5EF4-FFF2-40B4-BE49-F238E27FC236}">
                <a16:creationId xmlns:a16="http://schemas.microsoft.com/office/drawing/2014/main" id="{B38D85C4-027C-8811-0905-B170CC16536A}"/>
              </a:ext>
            </a:extLst>
          </p:cNvPr>
          <p:cNvSpPr>
            <a:spLocks noGrp="1"/>
          </p:cNvSpPr>
          <p:nvPr>
            <p:ph idx="1"/>
          </p:nvPr>
        </p:nvSpPr>
        <p:spPr/>
        <p:txBody>
          <a:bodyPr/>
          <a:lstStyle/>
          <a:p>
            <a:pPr marL="0" indent="0">
              <a:buNone/>
            </a:pPr>
            <a:r>
              <a:rPr lang="en-US" b="1" dirty="0"/>
              <a:t>Classification</a:t>
            </a:r>
            <a:endParaRPr lang="en-US" dirty="0"/>
          </a:p>
          <a:p>
            <a:r>
              <a:rPr lang="en-US" b="1" dirty="0"/>
              <a:t>Accuracy</a:t>
            </a:r>
            <a:r>
              <a:rPr lang="en-US" dirty="0"/>
              <a:t> – overall % correct predictions.</a:t>
            </a:r>
          </a:p>
          <a:p>
            <a:r>
              <a:rPr lang="en-US" b="1" dirty="0"/>
              <a:t>Precision</a:t>
            </a:r>
            <a:r>
              <a:rPr lang="en-US" dirty="0"/>
              <a:t> – how reliable are positive predictions?</a:t>
            </a:r>
          </a:p>
          <a:p>
            <a:r>
              <a:rPr lang="en-US" b="1" dirty="0"/>
              <a:t>Recall (Sensitivity)</a:t>
            </a:r>
            <a:r>
              <a:rPr lang="en-US" dirty="0"/>
              <a:t> – how many true positives did we catch?</a:t>
            </a:r>
          </a:p>
          <a:p>
            <a:r>
              <a:rPr lang="en-US" b="1" dirty="0"/>
              <a:t>F1 Score</a:t>
            </a:r>
            <a:r>
              <a:rPr lang="en-US" dirty="0"/>
              <a:t> – balances precision &amp; recall.</a:t>
            </a:r>
          </a:p>
          <a:p>
            <a:r>
              <a:rPr lang="en-US" b="1" dirty="0"/>
              <a:t>AUROC</a:t>
            </a:r>
            <a:r>
              <a:rPr lang="en-US" dirty="0"/>
              <a:t> – distinguishes between classes across thresholds.</a:t>
            </a:r>
          </a:p>
          <a:p>
            <a:endParaRPr lang="en-US" dirty="0"/>
          </a:p>
        </p:txBody>
      </p:sp>
    </p:spTree>
    <p:extLst>
      <p:ext uri="{BB962C8B-B14F-4D97-AF65-F5344CB8AC3E}">
        <p14:creationId xmlns:p14="http://schemas.microsoft.com/office/powerpoint/2010/main" val="199969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795C0-DC07-77C4-0DC8-66DC95F8592D}"/>
              </a:ext>
            </a:extLst>
          </p:cNvPr>
          <p:cNvSpPr>
            <a:spLocks noGrp="1"/>
          </p:cNvSpPr>
          <p:nvPr>
            <p:ph type="title"/>
          </p:nvPr>
        </p:nvSpPr>
        <p:spPr/>
        <p:txBody>
          <a:bodyPr/>
          <a:lstStyle/>
          <a:p>
            <a:r>
              <a:rPr lang="en-US" dirty="0"/>
              <a:t>Evaluation Metrics: Accuracy</a:t>
            </a:r>
          </a:p>
        </p:txBody>
      </p:sp>
      <p:sp>
        <p:nvSpPr>
          <p:cNvPr id="3" name="Content Placeholder 2">
            <a:extLst>
              <a:ext uri="{FF2B5EF4-FFF2-40B4-BE49-F238E27FC236}">
                <a16:creationId xmlns:a16="http://schemas.microsoft.com/office/drawing/2014/main" id="{753B87A2-5E1E-4610-4484-89B37979A3A5}"/>
              </a:ext>
            </a:extLst>
          </p:cNvPr>
          <p:cNvSpPr>
            <a:spLocks noGrp="1"/>
          </p:cNvSpPr>
          <p:nvPr>
            <p:ph idx="1"/>
          </p:nvPr>
        </p:nvSpPr>
        <p:spPr>
          <a:xfrm>
            <a:off x="838200" y="1825625"/>
            <a:ext cx="10515600" cy="4501034"/>
          </a:xfrm>
        </p:spPr>
        <p:txBody>
          <a:bodyPr/>
          <a:lstStyle/>
          <a:p>
            <a:r>
              <a:rPr lang="en-US" dirty="0"/>
              <a:t>The proportion of all classifications that were correct, whether positive or negative. It is mathematically defined as:</a:t>
            </a:r>
          </a:p>
          <a:p>
            <a:endParaRPr lang="en-US" dirty="0"/>
          </a:p>
          <a:p>
            <a:endParaRPr lang="en-US" dirty="0"/>
          </a:p>
          <a:p>
            <a:endParaRPr lang="en-US" dirty="0"/>
          </a:p>
          <a:p>
            <a:endParaRPr lang="en-US" dirty="0"/>
          </a:p>
          <a:p>
            <a:r>
              <a:rPr lang="en-US" dirty="0"/>
              <a:t>Perfect model has 0 FP or FN, so accuracy = 1.</a:t>
            </a:r>
          </a:p>
          <a:p>
            <a:r>
              <a:rPr lang="en-US" dirty="0"/>
              <a:t>Crap model has 0 TP or TN, so accuracy = 0.</a:t>
            </a:r>
          </a:p>
          <a:p>
            <a:r>
              <a:rPr lang="en-US" dirty="0"/>
              <a:t>Good for the general case – seeing how your model does.</a:t>
            </a:r>
          </a:p>
        </p:txBody>
      </p:sp>
      <p:pic>
        <p:nvPicPr>
          <p:cNvPr id="8" name="Picture 7">
            <a:extLst>
              <a:ext uri="{FF2B5EF4-FFF2-40B4-BE49-F238E27FC236}">
                <a16:creationId xmlns:a16="http://schemas.microsoft.com/office/drawing/2014/main" id="{BA60B230-DF8F-00E3-CE8D-8EADFFE3D790}"/>
              </a:ext>
            </a:extLst>
          </p:cNvPr>
          <p:cNvPicPr>
            <a:picLocks noChangeAspect="1"/>
          </p:cNvPicPr>
          <p:nvPr/>
        </p:nvPicPr>
        <p:blipFill>
          <a:blip r:embed="rId3"/>
          <a:stretch>
            <a:fillRect/>
          </a:stretch>
        </p:blipFill>
        <p:spPr>
          <a:xfrm>
            <a:off x="275967" y="3080624"/>
            <a:ext cx="11640065" cy="1246649"/>
          </a:xfrm>
          <a:prstGeom prst="rect">
            <a:avLst/>
          </a:prstGeom>
        </p:spPr>
      </p:pic>
    </p:spTree>
    <p:extLst>
      <p:ext uri="{BB962C8B-B14F-4D97-AF65-F5344CB8AC3E}">
        <p14:creationId xmlns:p14="http://schemas.microsoft.com/office/powerpoint/2010/main" val="499033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795F5-B52B-6032-E6C7-6295728BF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A68C8-F045-70DA-F577-3B93FEC20CA7}"/>
              </a:ext>
            </a:extLst>
          </p:cNvPr>
          <p:cNvSpPr>
            <a:spLocks noGrp="1"/>
          </p:cNvSpPr>
          <p:nvPr>
            <p:ph type="title"/>
          </p:nvPr>
        </p:nvSpPr>
        <p:spPr/>
        <p:txBody>
          <a:bodyPr/>
          <a:lstStyle/>
          <a:p>
            <a:r>
              <a:rPr lang="en-US" dirty="0"/>
              <a:t>Evaluation Metrics: Recall (True Positive Rate)</a:t>
            </a:r>
          </a:p>
        </p:txBody>
      </p:sp>
      <p:sp>
        <p:nvSpPr>
          <p:cNvPr id="3" name="Content Placeholder 2">
            <a:extLst>
              <a:ext uri="{FF2B5EF4-FFF2-40B4-BE49-F238E27FC236}">
                <a16:creationId xmlns:a16="http://schemas.microsoft.com/office/drawing/2014/main" id="{3E18A22E-E940-FAB1-4911-CEF28EE76F93}"/>
              </a:ext>
            </a:extLst>
          </p:cNvPr>
          <p:cNvSpPr>
            <a:spLocks noGrp="1"/>
          </p:cNvSpPr>
          <p:nvPr>
            <p:ph idx="1"/>
          </p:nvPr>
        </p:nvSpPr>
        <p:spPr>
          <a:xfrm>
            <a:off x="838200" y="1825625"/>
            <a:ext cx="10515600" cy="4501034"/>
          </a:xfrm>
        </p:spPr>
        <p:txBody>
          <a:bodyPr>
            <a:normAutofit lnSpcReduction="10000"/>
          </a:bodyPr>
          <a:lstStyle/>
          <a:p>
            <a:r>
              <a:rPr lang="en-US" dirty="0"/>
              <a:t>Proportion of all actual positives that were classified correctly as positives, is also known as recall. It is mathematically defined as:</a:t>
            </a:r>
          </a:p>
          <a:p>
            <a:endParaRPr lang="en-US" dirty="0"/>
          </a:p>
          <a:p>
            <a:endParaRPr lang="en-US" dirty="0"/>
          </a:p>
          <a:p>
            <a:endParaRPr lang="en-US" dirty="0"/>
          </a:p>
          <a:p>
            <a:endParaRPr lang="en-US" dirty="0"/>
          </a:p>
          <a:p>
            <a:r>
              <a:rPr lang="en-US" dirty="0"/>
              <a:t>Ranges from 0-1, as before</a:t>
            </a:r>
          </a:p>
          <a:p>
            <a:r>
              <a:rPr lang="en-US" dirty="0"/>
              <a:t>This is why another name for recall is </a:t>
            </a:r>
            <a:r>
              <a:rPr lang="en-US" b="1" dirty="0"/>
              <a:t>probability of detection</a:t>
            </a:r>
            <a:r>
              <a:rPr lang="en-US" dirty="0"/>
              <a:t>: it answers the question "What fraction of positive tests are truly positive for the disease?”</a:t>
            </a:r>
          </a:p>
        </p:txBody>
      </p:sp>
      <p:pic>
        <p:nvPicPr>
          <p:cNvPr id="5" name="Picture 4">
            <a:extLst>
              <a:ext uri="{FF2B5EF4-FFF2-40B4-BE49-F238E27FC236}">
                <a16:creationId xmlns:a16="http://schemas.microsoft.com/office/drawing/2014/main" id="{B244C2C7-B5CE-42DB-DC19-7765BBB9BDBA}"/>
              </a:ext>
            </a:extLst>
          </p:cNvPr>
          <p:cNvPicPr>
            <a:picLocks noChangeAspect="1"/>
          </p:cNvPicPr>
          <p:nvPr/>
        </p:nvPicPr>
        <p:blipFill>
          <a:blip r:embed="rId3"/>
          <a:stretch>
            <a:fillRect/>
          </a:stretch>
        </p:blipFill>
        <p:spPr>
          <a:xfrm>
            <a:off x="1066924" y="2994862"/>
            <a:ext cx="10058152" cy="1081280"/>
          </a:xfrm>
          <a:prstGeom prst="rect">
            <a:avLst/>
          </a:prstGeom>
        </p:spPr>
      </p:pic>
    </p:spTree>
    <p:extLst>
      <p:ext uri="{BB962C8B-B14F-4D97-AF65-F5344CB8AC3E}">
        <p14:creationId xmlns:p14="http://schemas.microsoft.com/office/powerpoint/2010/main" val="3482972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DB2AF-039C-3EE3-6AC6-DFF5FE7CC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6841C-1E87-E1D1-3A33-B3DBAB652B8F}"/>
              </a:ext>
            </a:extLst>
          </p:cNvPr>
          <p:cNvSpPr>
            <a:spLocks noGrp="1"/>
          </p:cNvSpPr>
          <p:nvPr>
            <p:ph type="title"/>
          </p:nvPr>
        </p:nvSpPr>
        <p:spPr/>
        <p:txBody>
          <a:bodyPr/>
          <a:lstStyle/>
          <a:p>
            <a:r>
              <a:rPr lang="en-US" dirty="0"/>
              <a:t>Evaluation Metrics: Precision (PPV)</a:t>
            </a:r>
          </a:p>
        </p:txBody>
      </p:sp>
      <p:sp>
        <p:nvSpPr>
          <p:cNvPr id="3" name="Content Placeholder 2">
            <a:extLst>
              <a:ext uri="{FF2B5EF4-FFF2-40B4-BE49-F238E27FC236}">
                <a16:creationId xmlns:a16="http://schemas.microsoft.com/office/drawing/2014/main" id="{5B3A8DEB-5423-8D4C-779B-AEE79BF1BA77}"/>
              </a:ext>
            </a:extLst>
          </p:cNvPr>
          <p:cNvSpPr>
            <a:spLocks noGrp="1"/>
          </p:cNvSpPr>
          <p:nvPr>
            <p:ph idx="1"/>
          </p:nvPr>
        </p:nvSpPr>
        <p:spPr>
          <a:xfrm>
            <a:off x="838200" y="1825625"/>
            <a:ext cx="10515600" cy="4501034"/>
          </a:xfrm>
        </p:spPr>
        <p:txBody>
          <a:bodyPr>
            <a:normAutofit/>
          </a:bodyPr>
          <a:lstStyle/>
          <a:p>
            <a:endParaRPr lang="en-US" dirty="0"/>
          </a:p>
          <a:p>
            <a:endParaRPr lang="en-US" dirty="0"/>
          </a:p>
        </p:txBody>
      </p:sp>
      <p:pic>
        <p:nvPicPr>
          <p:cNvPr id="8" name="Picture 7">
            <a:extLst>
              <a:ext uri="{FF2B5EF4-FFF2-40B4-BE49-F238E27FC236}">
                <a16:creationId xmlns:a16="http://schemas.microsoft.com/office/drawing/2014/main" id="{ED6AAEA5-08C3-52DA-13D4-9F99A9DF72D4}"/>
              </a:ext>
            </a:extLst>
          </p:cNvPr>
          <p:cNvPicPr>
            <a:picLocks noChangeAspect="1"/>
          </p:cNvPicPr>
          <p:nvPr/>
        </p:nvPicPr>
        <p:blipFill>
          <a:blip r:embed="rId3"/>
          <a:stretch>
            <a:fillRect/>
          </a:stretch>
        </p:blipFill>
        <p:spPr>
          <a:xfrm>
            <a:off x="22523" y="3003283"/>
            <a:ext cx="12146953" cy="1198014"/>
          </a:xfrm>
          <a:prstGeom prst="rect">
            <a:avLst/>
          </a:prstGeom>
        </p:spPr>
      </p:pic>
    </p:spTree>
    <p:extLst>
      <p:ext uri="{BB962C8B-B14F-4D97-AF65-F5344CB8AC3E}">
        <p14:creationId xmlns:p14="http://schemas.microsoft.com/office/powerpoint/2010/main" val="7706076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C9A35-A6F5-15C9-023B-B95733197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9337C-6925-89A7-BA16-68A11404F8A6}"/>
              </a:ext>
            </a:extLst>
          </p:cNvPr>
          <p:cNvSpPr>
            <a:spLocks noGrp="1"/>
          </p:cNvSpPr>
          <p:nvPr>
            <p:ph type="title"/>
          </p:nvPr>
        </p:nvSpPr>
        <p:spPr/>
        <p:txBody>
          <a:bodyPr/>
          <a:lstStyle/>
          <a:p>
            <a:r>
              <a:rPr lang="en-US" dirty="0"/>
              <a:t>Evaluation Metrics: F1 Score</a:t>
            </a:r>
          </a:p>
        </p:txBody>
      </p:sp>
      <p:sp>
        <p:nvSpPr>
          <p:cNvPr id="3" name="Content Placeholder 2">
            <a:extLst>
              <a:ext uri="{FF2B5EF4-FFF2-40B4-BE49-F238E27FC236}">
                <a16:creationId xmlns:a16="http://schemas.microsoft.com/office/drawing/2014/main" id="{1CC6D45B-69B9-C00B-FDED-9ACE886AB630}"/>
              </a:ext>
            </a:extLst>
          </p:cNvPr>
          <p:cNvSpPr>
            <a:spLocks noGrp="1"/>
          </p:cNvSpPr>
          <p:nvPr>
            <p:ph idx="1"/>
          </p:nvPr>
        </p:nvSpPr>
        <p:spPr>
          <a:xfrm>
            <a:off x="838200" y="1825625"/>
            <a:ext cx="10515600" cy="4501034"/>
          </a:xfrm>
        </p:spPr>
        <p:txBody>
          <a:bodyPr>
            <a:normAutofit/>
          </a:bodyPr>
          <a:lstStyle/>
          <a:p>
            <a:r>
              <a:rPr lang="en-US" dirty="0"/>
              <a:t>Harmonic mean of PPV (Precision) and TPR (Recall). Defined as follows:</a:t>
            </a:r>
          </a:p>
          <a:p>
            <a:endParaRPr lang="en-US" dirty="0"/>
          </a:p>
          <a:p>
            <a:endParaRPr lang="en-US" dirty="0"/>
          </a:p>
          <a:p>
            <a:endParaRPr lang="en-US" dirty="0"/>
          </a:p>
          <a:p>
            <a:endParaRPr lang="en-US" dirty="0"/>
          </a:p>
          <a:p>
            <a:r>
              <a:rPr lang="en-US" dirty="0"/>
              <a:t>Ranges from 0-1, as before</a:t>
            </a:r>
          </a:p>
          <a:p>
            <a:r>
              <a:rPr lang="en-US" dirty="0"/>
              <a:t>Balances extremes in PPV and TPR – must not change one to cheat the other</a:t>
            </a:r>
          </a:p>
        </p:txBody>
      </p:sp>
      <p:pic>
        <p:nvPicPr>
          <p:cNvPr id="5122" name="Picture 2" descr="F1 Score Explained: The Complete Guide to Classification Performance Metrics">
            <a:extLst>
              <a:ext uri="{FF2B5EF4-FFF2-40B4-BE49-F238E27FC236}">
                <a16:creationId xmlns:a16="http://schemas.microsoft.com/office/drawing/2014/main" id="{5C40C7AC-DEC0-5FB2-6693-497C75190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324" y="3012817"/>
            <a:ext cx="7733270" cy="10633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8C28737-2582-B1C0-B826-849FC72DF8E9}"/>
              </a:ext>
            </a:extLst>
          </p:cNvPr>
          <p:cNvPicPr>
            <a:picLocks noChangeAspect="1"/>
          </p:cNvPicPr>
          <p:nvPr/>
        </p:nvPicPr>
        <p:blipFill>
          <a:blip r:embed="rId4"/>
          <a:stretch>
            <a:fillRect/>
          </a:stretch>
        </p:blipFill>
        <p:spPr>
          <a:xfrm>
            <a:off x="8783594" y="3113983"/>
            <a:ext cx="2734057" cy="962159"/>
          </a:xfrm>
          <a:prstGeom prst="rect">
            <a:avLst/>
          </a:prstGeom>
        </p:spPr>
      </p:pic>
    </p:spTree>
    <p:extLst>
      <p:ext uri="{BB962C8B-B14F-4D97-AF65-F5344CB8AC3E}">
        <p14:creationId xmlns:p14="http://schemas.microsoft.com/office/powerpoint/2010/main" val="40146096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33E2A-FC2A-0281-CA8E-760AFA86826B}"/>
              </a:ext>
            </a:extLst>
          </p:cNvPr>
          <p:cNvSpPr>
            <a:spLocks noGrp="1"/>
          </p:cNvSpPr>
          <p:nvPr>
            <p:ph type="title"/>
          </p:nvPr>
        </p:nvSpPr>
        <p:spPr/>
        <p:txBody>
          <a:bodyPr>
            <a:normAutofit fontScale="90000"/>
          </a:bodyPr>
          <a:lstStyle/>
          <a:p>
            <a:r>
              <a:rPr lang="en-US" dirty="0"/>
              <a:t>Evaluation Metrics: Receiver-operating characteristic curve (ROC)</a:t>
            </a:r>
            <a:br>
              <a:rPr lang="en-US" dirty="0"/>
            </a:br>
            <a:endParaRPr lang="en-US" dirty="0"/>
          </a:p>
        </p:txBody>
      </p:sp>
      <p:sp>
        <p:nvSpPr>
          <p:cNvPr id="3" name="Content Placeholder 2">
            <a:extLst>
              <a:ext uri="{FF2B5EF4-FFF2-40B4-BE49-F238E27FC236}">
                <a16:creationId xmlns:a16="http://schemas.microsoft.com/office/drawing/2014/main" id="{3ADFEF02-7CF7-3F85-E408-AC93AB7809BE}"/>
              </a:ext>
            </a:extLst>
          </p:cNvPr>
          <p:cNvSpPr>
            <a:spLocks noGrp="1"/>
          </p:cNvSpPr>
          <p:nvPr>
            <p:ph idx="1"/>
          </p:nvPr>
        </p:nvSpPr>
        <p:spPr>
          <a:xfrm>
            <a:off x="838200" y="1253331"/>
            <a:ext cx="10515600" cy="4351338"/>
          </a:xfrm>
        </p:spPr>
        <p:txBody>
          <a:bodyPr/>
          <a:lstStyle/>
          <a:p>
            <a:r>
              <a:rPr lang="en-US" dirty="0"/>
              <a:t>Visual representation of model performance across all thresholds</a:t>
            </a:r>
          </a:p>
          <a:p>
            <a:r>
              <a:rPr lang="en-US" dirty="0"/>
              <a:t>The ROC curve is drawn by calculating the true positive rate (TPR) and false positive rate (FPR) at every possible threshold</a:t>
            </a:r>
          </a:p>
        </p:txBody>
      </p:sp>
      <p:pic>
        <p:nvPicPr>
          <p:cNvPr id="7" name="Picture 6">
            <a:extLst>
              <a:ext uri="{FF2B5EF4-FFF2-40B4-BE49-F238E27FC236}">
                <a16:creationId xmlns:a16="http://schemas.microsoft.com/office/drawing/2014/main" id="{6D727F50-16B5-4379-1825-0E73420354C6}"/>
              </a:ext>
            </a:extLst>
          </p:cNvPr>
          <p:cNvPicPr>
            <a:picLocks noChangeAspect="1"/>
          </p:cNvPicPr>
          <p:nvPr/>
        </p:nvPicPr>
        <p:blipFill>
          <a:blip r:embed="rId3"/>
          <a:stretch>
            <a:fillRect/>
          </a:stretch>
        </p:blipFill>
        <p:spPr>
          <a:xfrm>
            <a:off x="3695365" y="2992530"/>
            <a:ext cx="4801270" cy="3591426"/>
          </a:xfrm>
          <a:prstGeom prst="rect">
            <a:avLst/>
          </a:prstGeom>
        </p:spPr>
      </p:pic>
    </p:spTree>
    <p:extLst>
      <p:ext uri="{BB962C8B-B14F-4D97-AF65-F5344CB8AC3E}">
        <p14:creationId xmlns:p14="http://schemas.microsoft.com/office/powerpoint/2010/main" val="3914648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13057-CDAA-5863-CC94-5261D6ED5473}"/>
              </a:ext>
            </a:extLst>
          </p:cNvPr>
          <p:cNvSpPr>
            <a:spLocks noGrp="1"/>
          </p:cNvSpPr>
          <p:nvPr>
            <p:ph type="title"/>
          </p:nvPr>
        </p:nvSpPr>
        <p:spPr/>
        <p:txBody>
          <a:bodyPr/>
          <a:lstStyle/>
          <a:p>
            <a:endParaRPr lang="en-US"/>
          </a:p>
        </p:txBody>
      </p:sp>
      <p:pic>
        <p:nvPicPr>
          <p:cNvPr id="5" name="Content Placeholder 4" descr="A screenshot of a graph&#10;&#10;AI-generated content may be incorrect.">
            <a:extLst>
              <a:ext uri="{FF2B5EF4-FFF2-40B4-BE49-F238E27FC236}">
                <a16:creationId xmlns:a16="http://schemas.microsoft.com/office/drawing/2014/main" id="{7DC81AED-6FBF-1DF1-3D84-9A6CAF02D4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5757" y="1825625"/>
            <a:ext cx="7320486" cy="4351338"/>
          </a:xfrm>
          <a:prstGeom prst="rect">
            <a:avLst/>
          </a:prstGeom>
        </p:spPr>
      </p:pic>
    </p:spTree>
    <p:extLst>
      <p:ext uri="{BB962C8B-B14F-4D97-AF65-F5344CB8AC3E}">
        <p14:creationId xmlns:p14="http://schemas.microsoft.com/office/powerpoint/2010/main" val="38498446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706D-F65A-3FBB-58A8-6946A1373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D6D89-2FE9-A866-57BA-8FA86BAEBF5E}"/>
              </a:ext>
            </a:extLst>
          </p:cNvPr>
          <p:cNvSpPr>
            <a:spLocks noGrp="1"/>
          </p:cNvSpPr>
          <p:nvPr>
            <p:ph type="title"/>
          </p:nvPr>
        </p:nvSpPr>
        <p:spPr/>
        <p:txBody>
          <a:bodyPr/>
          <a:lstStyle/>
          <a:p>
            <a:r>
              <a:rPr lang="en-US" dirty="0"/>
              <a:t>Evaluation Metrics: Area Under ROC</a:t>
            </a:r>
          </a:p>
        </p:txBody>
      </p:sp>
      <p:sp>
        <p:nvSpPr>
          <p:cNvPr id="3" name="Content Placeholder 2">
            <a:extLst>
              <a:ext uri="{FF2B5EF4-FFF2-40B4-BE49-F238E27FC236}">
                <a16:creationId xmlns:a16="http://schemas.microsoft.com/office/drawing/2014/main" id="{862F79DF-5ADF-2C42-46A5-B36BE25AACBC}"/>
              </a:ext>
            </a:extLst>
          </p:cNvPr>
          <p:cNvSpPr>
            <a:spLocks noGrp="1"/>
          </p:cNvSpPr>
          <p:nvPr>
            <p:ph idx="1"/>
          </p:nvPr>
        </p:nvSpPr>
        <p:spPr>
          <a:xfrm>
            <a:off x="838200" y="1825625"/>
            <a:ext cx="10515600" cy="4501034"/>
          </a:xfrm>
        </p:spPr>
        <p:txBody>
          <a:bodyPr>
            <a:normAutofit/>
          </a:bodyPr>
          <a:lstStyle/>
          <a:p>
            <a:endParaRPr lang="en-US" dirty="0"/>
          </a:p>
          <a:p>
            <a:endParaRPr lang="en-US" dirty="0"/>
          </a:p>
        </p:txBody>
      </p:sp>
      <p:pic>
        <p:nvPicPr>
          <p:cNvPr id="5" name="Picture 4">
            <a:extLst>
              <a:ext uri="{FF2B5EF4-FFF2-40B4-BE49-F238E27FC236}">
                <a16:creationId xmlns:a16="http://schemas.microsoft.com/office/drawing/2014/main" id="{31BB60A4-65D7-B931-F679-8275C854861B}"/>
              </a:ext>
            </a:extLst>
          </p:cNvPr>
          <p:cNvPicPr>
            <a:picLocks noChangeAspect="1"/>
          </p:cNvPicPr>
          <p:nvPr/>
        </p:nvPicPr>
        <p:blipFill>
          <a:blip r:embed="rId3"/>
          <a:stretch>
            <a:fillRect/>
          </a:stretch>
        </p:blipFill>
        <p:spPr>
          <a:xfrm>
            <a:off x="1032756" y="1699971"/>
            <a:ext cx="10126488" cy="3458058"/>
          </a:xfrm>
          <a:prstGeom prst="rect">
            <a:avLst/>
          </a:prstGeom>
        </p:spPr>
      </p:pic>
    </p:spTree>
    <p:extLst>
      <p:ext uri="{BB962C8B-B14F-4D97-AF65-F5344CB8AC3E}">
        <p14:creationId xmlns:p14="http://schemas.microsoft.com/office/powerpoint/2010/main" val="683835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11BCA-14BB-21DE-E423-A0351CE37A5E}"/>
              </a:ext>
            </a:extLst>
          </p:cNvPr>
          <p:cNvSpPr>
            <a:spLocks noGrp="1"/>
          </p:cNvSpPr>
          <p:nvPr>
            <p:ph type="title"/>
          </p:nvPr>
        </p:nvSpPr>
        <p:spPr/>
        <p:txBody>
          <a:bodyPr/>
          <a:lstStyle/>
          <a:p>
            <a:r>
              <a:rPr lang="en-US" dirty="0"/>
              <a:t>Back to Our Example</a:t>
            </a:r>
          </a:p>
        </p:txBody>
      </p:sp>
      <p:pic>
        <p:nvPicPr>
          <p:cNvPr id="5" name="Content Placeholder 4">
            <a:extLst>
              <a:ext uri="{FF2B5EF4-FFF2-40B4-BE49-F238E27FC236}">
                <a16:creationId xmlns:a16="http://schemas.microsoft.com/office/drawing/2014/main" id="{2BBBC84F-5F00-0431-2F69-996E5EC9B490}"/>
              </a:ext>
            </a:extLst>
          </p:cNvPr>
          <p:cNvPicPr>
            <a:picLocks noGrp="1" noChangeAspect="1"/>
          </p:cNvPicPr>
          <p:nvPr>
            <p:ph idx="1"/>
          </p:nvPr>
        </p:nvPicPr>
        <p:blipFill>
          <a:blip r:embed="rId3"/>
          <a:stretch>
            <a:fillRect/>
          </a:stretch>
        </p:blipFill>
        <p:spPr>
          <a:xfrm>
            <a:off x="566285" y="1690688"/>
            <a:ext cx="11059429" cy="4040658"/>
          </a:xfrm>
          <a:prstGeom prst="rect">
            <a:avLst/>
          </a:prstGeom>
        </p:spPr>
      </p:pic>
    </p:spTree>
    <p:extLst>
      <p:ext uri="{BB962C8B-B14F-4D97-AF65-F5344CB8AC3E}">
        <p14:creationId xmlns:p14="http://schemas.microsoft.com/office/powerpoint/2010/main" val="11522421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C39734-112F-660B-A338-88AC582DA949}"/>
              </a:ext>
            </a:extLst>
          </p:cNvPr>
          <p:cNvPicPr>
            <a:picLocks noGrp="1" noChangeAspect="1"/>
          </p:cNvPicPr>
          <p:nvPr>
            <p:ph idx="1"/>
          </p:nvPr>
        </p:nvPicPr>
        <p:blipFill>
          <a:blip r:embed="rId3"/>
          <a:stretch>
            <a:fillRect/>
          </a:stretch>
        </p:blipFill>
        <p:spPr>
          <a:xfrm>
            <a:off x="2475470" y="17667"/>
            <a:ext cx="7241059" cy="6840333"/>
          </a:xfrm>
          <a:prstGeom prst="rect">
            <a:avLst/>
          </a:prstGeom>
        </p:spPr>
      </p:pic>
    </p:spTree>
    <p:extLst>
      <p:ext uri="{BB962C8B-B14F-4D97-AF65-F5344CB8AC3E}">
        <p14:creationId xmlns:p14="http://schemas.microsoft.com/office/powerpoint/2010/main" val="2986446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D9160-FBB8-2DD1-F13E-4E66B403BAAF}"/>
              </a:ext>
            </a:extLst>
          </p:cNvPr>
          <p:cNvSpPr>
            <a:spLocks noGrp="1"/>
          </p:cNvSpPr>
          <p:nvPr>
            <p:ph type="title"/>
          </p:nvPr>
        </p:nvSpPr>
        <p:spPr/>
        <p:txBody>
          <a:bodyPr/>
          <a:lstStyle/>
          <a:p>
            <a:r>
              <a:rPr lang="en-US" dirty="0"/>
              <a:t>Multi-Class Classification</a:t>
            </a:r>
          </a:p>
        </p:txBody>
      </p:sp>
      <p:sp>
        <p:nvSpPr>
          <p:cNvPr id="3" name="Content Placeholder 2">
            <a:extLst>
              <a:ext uri="{FF2B5EF4-FFF2-40B4-BE49-F238E27FC236}">
                <a16:creationId xmlns:a16="http://schemas.microsoft.com/office/drawing/2014/main" id="{5DE20DC8-030E-AFD4-F170-38D5B73CA98E}"/>
              </a:ext>
            </a:extLst>
          </p:cNvPr>
          <p:cNvSpPr>
            <a:spLocks noGrp="1"/>
          </p:cNvSpPr>
          <p:nvPr>
            <p:ph idx="1"/>
          </p:nvPr>
        </p:nvSpPr>
        <p:spPr/>
        <p:txBody>
          <a:bodyPr/>
          <a:lstStyle/>
          <a:p>
            <a:r>
              <a:rPr lang="en-US" dirty="0"/>
              <a:t>What if we want to classify into more than two groups?</a:t>
            </a:r>
          </a:p>
          <a:p>
            <a:pPr lvl="1"/>
            <a:r>
              <a:rPr lang="en-US" dirty="0"/>
              <a:t>One vs all approach</a:t>
            </a:r>
          </a:p>
          <a:p>
            <a:pPr lvl="1"/>
            <a:r>
              <a:rPr lang="en-US" dirty="0"/>
              <a:t>One vs one approach</a:t>
            </a:r>
          </a:p>
          <a:p>
            <a:pPr lvl="1"/>
            <a:endParaRPr lang="en-US" dirty="0"/>
          </a:p>
          <a:p>
            <a:r>
              <a:rPr lang="en-US" dirty="0"/>
              <a:t>Define a “one hot” output vector where the vector at a given index is closer to one if there’s a higher probability of it actually being in that class.</a:t>
            </a:r>
          </a:p>
        </p:txBody>
      </p:sp>
      <p:pic>
        <p:nvPicPr>
          <p:cNvPr id="5" name="Picture 4">
            <a:extLst>
              <a:ext uri="{FF2B5EF4-FFF2-40B4-BE49-F238E27FC236}">
                <a16:creationId xmlns:a16="http://schemas.microsoft.com/office/drawing/2014/main" id="{B3F65128-0792-CE84-2649-4298157F1230}"/>
              </a:ext>
            </a:extLst>
          </p:cNvPr>
          <p:cNvPicPr>
            <a:picLocks noChangeAspect="1"/>
          </p:cNvPicPr>
          <p:nvPr/>
        </p:nvPicPr>
        <p:blipFill>
          <a:blip r:embed="rId3"/>
          <a:stretch>
            <a:fillRect/>
          </a:stretch>
        </p:blipFill>
        <p:spPr>
          <a:xfrm>
            <a:off x="8869722" y="5662129"/>
            <a:ext cx="2807414" cy="627540"/>
          </a:xfrm>
          <a:prstGeom prst="rect">
            <a:avLst/>
          </a:prstGeom>
        </p:spPr>
      </p:pic>
      <p:pic>
        <p:nvPicPr>
          <p:cNvPr id="7" name="Picture 6">
            <a:extLst>
              <a:ext uri="{FF2B5EF4-FFF2-40B4-BE49-F238E27FC236}">
                <a16:creationId xmlns:a16="http://schemas.microsoft.com/office/drawing/2014/main" id="{D0EF6EE9-A14B-089A-5B9E-B4AC46EFECFE}"/>
              </a:ext>
            </a:extLst>
          </p:cNvPr>
          <p:cNvPicPr>
            <a:picLocks noChangeAspect="1"/>
          </p:cNvPicPr>
          <p:nvPr/>
        </p:nvPicPr>
        <p:blipFill>
          <a:blip r:embed="rId4"/>
          <a:stretch>
            <a:fillRect/>
          </a:stretch>
        </p:blipFill>
        <p:spPr>
          <a:xfrm>
            <a:off x="7178337" y="6402375"/>
            <a:ext cx="4887007" cy="181000"/>
          </a:xfrm>
          <a:prstGeom prst="rect">
            <a:avLst/>
          </a:prstGeom>
        </p:spPr>
      </p:pic>
    </p:spTree>
    <p:extLst>
      <p:ext uri="{BB962C8B-B14F-4D97-AF65-F5344CB8AC3E}">
        <p14:creationId xmlns:p14="http://schemas.microsoft.com/office/powerpoint/2010/main" val="1888955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Neural Networks - step by step | Lasse Hansen">
            <a:extLst>
              <a:ext uri="{FF2B5EF4-FFF2-40B4-BE49-F238E27FC236}">
                <a16:creationId xmlns:a16="http://schemas.microsoft.com/office/drawing/2014/main" id="{D46B1285-C559-5231-4B2F-C4BC698C5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929" y="1821742"/>
            <a:ext cx="5945667" cy="43513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A3FBA6-D10B-5DC2-1922-C49F470A8DBE}"/>
              </a:ext>
            </a:extLst>
          </p:cNvPr>
          <p:cNvSpPr>
            <a:spLocks noGrp="1"/>
          </p:cNvSpPr>
          <p:nvPr>
            <p:ph type="title"/>
          </p:nvPr>
        </p:nvSpPr>
        <p:spPr/>
        <p:txBody>
          <a:bodyPr/>
          <a:lstStyle/>
          <a:p>
            <a:r>
              <a:rPr lang="en-US" dirty="0" err="1"/>
              <a:t>Softmax</a:t>
            </a:r>
            <a:r>
              <a:rPr lang="en-US" dirty="0"/>
              <a:t> Function</a:t>
            </a:r>
          </a:p>
        </p:txBody>
      </p:sp>
      <p:pic>
        <p:nvPicPr>
          <p:cNvPr id="6146" name="Picture 2" descr="Understanding the Softmax Activation Function: A Comprehensive Guide">
            <a:extLst>
              <a:ext uri="{FF2B5EF4-FFF2-40B4-BE49-F238E27FC236}">
                <a16:creationId xmlns:a16="http://schemas.microsoft.com/office/drawing/2014/main" id="{8DB01FFD-2EDA-544A-B6A0-3EEA0A9855D3}"/>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5371071" y="1690688"/>
            <a:ext cx="6096000"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191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E1F25-AC7B-77F1-A783-6112FFCFBACE}"/>
              </a:ext>
            </a:extLst>
          </p:cNvPr>
          <p:cNvSpPr>
            <a:spLocks noGrp="1"/>
          </p:cNvSpPr>
          <p:nvPr>
            <p:ph type="title"/>
          </p:nvPr>
        </p:nvSpPr>
        <p:spPr/>
        <p:txBody>
          <a:bodyPr/>
          <a:lstStyle/>
          <a:p>
            <a:r>
              <a:rPr lang="en-US" dirty="0"/>
              <a:t>Multiclass Log Loss</a:t>
            </a:r>
          </a:p>
        </p:txBody>
      </p:sp>
      <p:sp>
        <p:nvSpPr>
          <p:cNvPr id="3" name="Content Placeholder 2">
            <a:extLst>
              <a:ext uri="{FF2B5EF4-FFF2-40B4-BE49-F238E27FC236}">
                <a16:creationId xmlns:a16="http://schemas.microsoft.com/office/drawing/2014/main" id="{D6F3C671-7B44-4E5C-2635-F8CD7E4F2DDC}"/>
              </a:ext>
            </a:extLst>
          </p:cNvPr>
          <p:cNvSpPr>
            <a:spLocks noGrp="1"/>
          </p:cNvSpPr>
          <p:nvPr>
            <p:ph idx="1"/>
          </p:nvPr>
        </p:nvSpPr>
        <p:spPr>
          <a:xfrm>
            <a:off x="838200" y="1825625"/>
            <a:ext cx="10515600" cy="2202678"/>
          </a:xfrm>
        </p:spPr>
        <p:txBody>
          <a:bodyPr>
            <a:normAutofit/>
          </a:bodyPr>
          <a:lstStyle/>
          <a:p>
            <a:r>
              <a:rPr lang="en-US" dirty="0"/>
              <a:t>For every class, multiply the log of the likelihood times if that is the true class.</a:t>
            </a:r>
          </a:p>
          <a:p>
            <a:r>
              <a:rPr lang="en-US" dirty="0"/>
              <a:t>If matches, probability approaches 1 and log is 0.</a:t>
            </a:r>
          </a:p>
          <a:p>
            <a:r>
              <a:rPr lang="en-US" dirty="0"/>
              <a:t>Extension of loss above.</a:t>
            </a:r>
          </a:p>
        </p:txBody>
      </p:sp>
      <p:pic>
        <p:nvPicPr>
          <p:cNvPr id="7" name="Picture 6">
            <a:extLst>
              <a:ext uri="{FF2B5EF4-FFF2-40B4-BE49-F238E27FC236}">
                <a16:creationId xmlns:a16="http://schemas.microsoft.com/office/drawing/2014/main" id="{748CD970-001D-97D7-8792-3B7A0136A010}"/>
              </a:ext>
            </a:extLst>
          </p:cNvPr>
          <p:cNvPicPr>
            <a:picLocks noChangeAspect="1"/>
          </p:cNvPicPr>
          <p:nvPr/>
        </p:nvPicPr>
        <p:blipFill>
          <a:blip r:embed="rId3"/>
          <a:stretch>
            <a:fillRect/>
          </a:stretch>
        </p:blipFill>
        <p:spPr>
          <a:xfrm>
            <a:off x="2249587" y="3834972"/>
            <a:ext cx="6794410" cy="2202677"/>
          </a:xfrm>
          <a:prstGeom prst="rect">
            <a:avLst/>
          </a:prstGeom>
        </p:spPr>
      </p:pic>
    </p:spTree>
    <p:extLst>
      <p:ext uri="{BB962C8B-B14F-4D97-AF65-F5344CB8AC3E}">
        <p14:creationId xmlns:p14="http://schemas.microsoft.com/office/powerpoint/2010/main" val="7677714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A75A3-9A4E-7639-4FA8-EE61BE7DB0E8}"/>
              </a:ext>
            </a:extLst>
          </p:cNvPr>
          <p:cNvSpPr>
            <a:spLocks noGrp="1"/>
          </p:cNvSpPr>
          <p:nvPr>
            <p:ph type="title"/>
          </p:nvPr>
        </p:nvSpPr>
        <p:spPr/>
        <p:txBody>
          <a:bodyPr/>
          <a:lstStyle/>
          <a:p>
            <a:r>
              <a:rPr lang="en-US" dirty="0"/>
              <a:t>Recap</a:t>
            </a:r>
          </a:p>
        </p:txBody>
      </p:sp>
      <p:graphicFrame>
        <p:nvGraphicFramePr>
          <p:cNvPr id="4" name="Content Placeholder 3">
            <a:extLst>
              <a:ext uri="{FF2B5EF4-FFF2-40B4-BE49-F238E27FC236}">
                <a16:creationId xmlns:a16="http://schemas.microsoft.com/office/drawing/2014/main" id="{BD32FBF8-2489-0511-2D0F-9FB56BFB5F9E}"/>
              </a:ext>
            </a:extLst>
          </p:cNvPr>
          <p:cNvGraphicFramePr>
            <a:graphicFrameLocks noGrp="1"/>
          </p:cNvGraphicFramePr>
          <p:nvPr>
            <p:ph idx="1"/>
            <p:extLst>
              <p:ext uri="{D42A27DB-BD31-4B8C-83A1-F6EECF244321}">
                <p14:modId xmlns:p14="http://schemas.microsoft.com/office/powerpoint/2010/main" val="2335180512"/>
              </p:ext>
            </p:extLst>
          </p:nvPr>
        </p:nvGraphicFramePr>
        <p:xfrm>
          <a:off x="838200" y="1825624"/>
          <a:ext cx="10515600" cy="3826179"/>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766280309"/>
                    </a:ext>
                  </a:extLst>
                </a:gridCol>
                <a:gridCol w="3505200">
                  <a:extLst>
                    <a:ext uri="{9D8B030D-6E8A-4147-A177-3AD203B41FA5}">
                      <a16:colId xmlns:a16="http://schemas.microsoft.com/office/drawing/2014/main" val="709046046"/>
                    </a:ext>
                  </a:extLst>
                </a:gridCol>
                <a:gridCol w="3505200">
                  <a:extLst>
                    <a:ext uri="{9D8B030D-6E8A-4147-A177-3AD203B41FA5}">
                      <a16:colId xmlns:a16="http://schemas.microsoft.com/office/drawing/2014/main" val="22511291"/>
                    </a:ext>
                  </a:extLst>
                </a:gridCol>
              </a:tblGrid>
              <a:tr h="726753">
                <a:tc>
                  <a:txBody>
                    <a:bodyPr/>
                    <a:lstStyle/>
                    <a:p>
                      <a:r>
                        <a:rPr lang="en-US" sz="2400" dirty="0"/>
                        <a:t>Problem Type</a:t>
                      </a:r>
                    </a:p>
                  </a:txBody>
                  <a:tcPr/>
                </a:tc>
                <a:tc>
                  <a:txBody>
                    <a:bodyPr/>
                    <a:lstStyle/>
                    <a:p>
                      <a:r>
                        <a:rPr lang="en-US" sz="2400" dirty="0"/>
                        <a:t>Final Activation</a:t>
                      </a:r>
                    </a:p>
                  </a:txBody>
                  <a:tcPr/>
                </a:tc>
                <a:tc>
                  <a:txBody>
                    <a:bodyPr/>
                    <a:lstStyle/>
                    <a:p>
                      <a:r>
                        <a:rPr lang="en-US" sz="2400" dirty="0"/>
                        <a:t>Loss Function</a:t>
                      </a:r>
                    </a:p>
                  </a:txBody>
                  <a:tcPr/>
                </a:tc>
                <a:extLst>
                  <a:ext uri="{0D108BD9-81ED-4DB2-BD59-A6C34878D82A}">
                    <a16:rowId xmlns:a16="http://schemas.microsoft.com/office/drawing/2014/main" val="446735410"/>
                  </a:ext>
                </a:extLst>
              </a:tr>
              <a:tr h="726753">
                <a:tc>
                  <a:txBody>
                    <a:bodyPr/>
                    <a:lstStyle/>
                    <a:p>
                      <a:r>
                        <a:rPr lang="en-US" sz="2400" dirty="0"/>
                        <a:t>Predicting a number</a:t>
                      </a:r>
                    </a:p>
                  </a:txBody>
                  <a:tcPr/>
                </a:tc>
                <a:tc>
                  <a:txBody>
                    <a:bodyPr/>
                    <a:lstStyle/>
                    <a:p>
                      <a:r>
                        <a:rPr lang="en-US" sz="2400" dirty="0"/>
                        <a:t>Linear or </a:t>
                      </a:r>
                      <a:r>
                        <a:rPr lang="en-US" sz="2400" dirty="0" err="1"/>
                        <a:t>ReLU</a:t>
                      </a:r>
                      <a:endParaRPr lang="en-US" sz="2400" dirty="0"/>
                    </a:p>
                  </a:txBody>
                  <a:tcPr/>
                </a:tc>
                <a:tc>
                  <a:txBody>
                    <a:bodyPr/>
                    <a:lstStyle/>
                    <a:p>
                      <a:r>
                        <a:rPr lang="en-US" sz="2400" dirty="0"/>
                        <a:t>Mean Squared Error</a:t>
                      </a:r>
                    </a:p>
                  </a:txBody>
                  <a:tcPr/>
                </a:tc>
                <a:extLst>
                  <a:ext uri="{0D108BD9-81ED-4DB2-BD59-A6C34878D82A}">
                    <a16:rowId xmlns:a16="http://schemas.microsoft.com/office/drawing/2014/main" val="2294719884"/>
                  </a:ext>
                </a:extLst>
              </a:tr>
              <a:tr h="726753">
                <a:tc>
                  <a:txBody>
                    <a:bodyPr/>
                    <a:lstStyle/>
                    <a:p>
                      <a:r>
                        <a:rPr lang="en-US" sz="2400" dirty="0"/>
                        <a:t>Classifying into one of two groups</a:t>
                      </a:r>
                    </a:p>
                  </a:txBody>
                  <a:tcPr/>
                </a:tc>
                <a:tc>
                  <a:txBody>
                    <a:bodyPr/>
                    <a:lstStyle/>
                    <a:p>
                      <a:r>
                        <a:rPr lang="en-US" sz="2400" dirty="0"/>
                        <a:t>Sigmoid</a:t>
                      </a:r>
                    </a:p>
                  </a:txBody>
                  <a:tcPr/>
                </a:tc>
                <a:tc>
                  <a:txBody>
                    <a:bodyPr/>
                    <a:lstStyle/>
                    <a:p>
                      <a:r>
                        <a:rPr lang="en-US" sz="2400" dirty="0"/>
                        <a:t>Log Loss (Cross Entropy)</a:t>
                      </a:r>
                    </a:p>
                  </a:txBody>
                  <a:tcPr/>
                </a:tc>
                <a:extLst>
                  <a:ext uri="{0D108BD9-81ED-4DB2-BD59-A6C34878D82A}">
                    <a16:rowId xmlns:a16="http://schemas.microsoft.com/office/drawing/2014/main" val="2838506704"/>
                  </a:ext>
                </a:extLst>
              </a:tr>
              <a:tr h="726753">
                <a:tc>
                  <a:txBody>
                    <a:bodyPr/>
                    <a:lstStyle/>
                    <a:p>
                      <a:r>
                        <a:rPr lang="en-US" sz="2400" dirty="0"/>
                        <a:t>Classifying into one of many groups</a:t>
                      </a:r>
                    </a:p>
                  </a:txBody>
                  <a:tcPr/>
                </a:tc>
                <a:tc>
                  <a:txBody>
                    <a:bodyPr/>
                    <a:lstStyle/>
                    <a:p>
                      <a:r>
                        <a:rPr lang="en-US" sz="2400" dirty="0" err="1"/>
                        <a:t>Softmax</a:t>
                      </a:r>
                      <a:endParaRPr lang="en-US" sz="2400" dirty="0"/>
                    </a:p>
                  </a:txBody>
                  <a:tcPr/>
                </a:tc>
                <a:tc>
                  <a:txBody>
                    <a:bodyPr/>
                    <a:lstStyle/>
                    <a:p>
                      <a:r>
                        <a:rPr lang="en-US" sz="2400" dirty="0"/>
                        <a:t>Multiclass Log Loss </a:t>
                      </a:r>
                    </a:p>
                  </a:txBody>
                  <a:tcPr/>
                </a:tc>
                <a:extLst>
                  <a:ext uri="{0D108BD9-81ED-4DB2-BD59-A6C34878D82A}">
                    <a16:rowId xmlns:a16="http://schemas.microsoft.com/office/drawing/2014/main" val="2507943360"/>
                  </a:ext>
                </a:extLst>
              </a:tr>
              <a:tr h="726753">
                <a:tc>
                  <a:txBody>
                    <a:bodyPr/>
                    <a:lstStyle/>
                    <a:p>
                      <a:r>
                        <a:rPr lang="en-US" sz="2400" dirty="0"/>
                        <a:t>Other</a:t>
                      </a:r>
                    </a:p>
                  </a:txBody>
                  <a:tcPr/>
                </a:tc>
                <a:tc>
                  <a:txBody>
                    <a:bodyPr/>
                    <a:lstStyle/>
                    <a:p>
                      <a:endParaRPr lang="en-US" sz="2400" dirty="0"/>
                    </a:p>
                  </a:txBody>
                  <a:tcPr/>
                </a:tc>
                <a:tc>
                  <a:txBody>
                    <a:bodyPr/>
                    <a:lstStyle/>
                    <a:p>
                      <a:r>
                        <a:rPr lang="en-US" sz="2400" dirty="0"/>
                        <a:t>Many more!</a:t>
                      </a:r>
                    </a:p>
                  </a:txBody>
                  <a:tcPr/>
                </a:tc>
                <a:extLst>
                  <a:ext uri="{0D108BD9-81ED-4DB2-BD59-A6C34878D82A}">
                    <a16:rowId xmlns:a16="http://schemas.microsoft.com/office/drawing/2014/main" val="2383095400"/>
                  </a:ext>
                </a:extLst>
              </a:tr>
            </a:tbl>
          </a:graphicData>
        </a:graphic>
      </p:graphicFrame>
    </p:spTree>
    <p:extLst>
      <p:ext uri="{BB962C8B-B14F-4D97-AF65-F5344CB8AC3E}">
        <p14:creationId xmlns:p14="http://schemas.microsoft.com/office/powerpoint/2010/main" val="233987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0742D-C1EC-EC0F-8B97-22E73A705689}"/>
              </a:ext>
            </a:extLst>
          </p:cNvPr>
          <p:cNvSpPr>
            <a:spLocks noGrp="1"/>
          </p:cNvSpPr>
          <p:nvPr>
            <p:ph type="title"/>
          </p:nvPr>
        </p:nvSpPr>
        <p:spPr/>
        <p:txBody>
          <a:bodyPr/>
          <a:lstStyle/>
          <a:p>
            <a:r>
              <a:rPr lang="en-US" dirty="0"/>
              <a:t>Preview: DICE Loss</a:t>
            </a:r>
          </a:p>
        </p:txBody>
      </p:sp>
      <p:pic>
        <p:nvPicPr>
          <p:cNvPr id="1026" name="Picture 2" descr="The Difference Between Dice and Dice Loss - PYCAD - Your Medical Imaging  Partner">
            <a:extLst>
              <a:ext uri="{FF2B5EF4-FFF2-40B4-BE49-F238E27FC236}">
                <a16:creationId xmlns:a16="http://schemas.microsoft.com/office/drawing/2014/main" id="{4D81D0C4-C6AA-8D29-2243-712D7E2DE5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042856"/>
            <a:ext cx="788631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98018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ollage of images of a brain&#10;&#10;AI-generated content may be incorrect.">
            <a:extLst>
              <a:ext uri="{FF2B5EF4-FFF2-40B4-BE49-F238E27FC236}">
                <a16:creationId xmlns:a16="http://schemas.microsoft.com/office/drawing/2014/main" id="{46424AAD-E477-B1C7-A8D9-D5CA35EC44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277" y="165752"/>
            <a:ext cx="6827374" cy="6526496"/>
          </a:xfrm>
        </p:spPr>
      </p:pic>
      <p:pic>
        <p:nvPicPr>
          <p:cNvPr id="2052" name="Picture 4" descr="The Difference Between Dice and Dice Loss - PYCAD - Your Medical Imaging  Partner">
            <a:extLst>
              <a:ext uri="{FF2B5EF4-FFF2-40B4-BE49-F238E27FC236}">
                <a16:creationId xmlns:a16="http://schemas.microsoft.com/office/drawing/2014/main" id="{094CAA60-2E96-CE14-31DF-412BC8158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6996" y="376922"/>
            <a:ext cx="3824149" cy="2110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1540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7FA5B-441B-9795-1B9E-3E98279E92D4}"/>
              </a:ext>
            </a:extLst>
          </p:cNvPr>
          <p:cNvSpPr>
            <a:spLocks noGrp="1"/>
          </p:cNvSpPr>
          <p:nvPr>
            <p:ph type="title"/>
          </p:nvPr>
        </p:nvSpPr>
        <p:spPr/>
        <p:txBody>
          <a:bodyPr/>
          <a:lstStyle/>
          <a:p>
            <a:endParaRPr lang="en-US" dirty="0"/>
          </a:p>
        </p:txBody>
      </p:sp>
      <p:pic>
        <p:nvPicPr>
          <p:cNvPr id="4" name="Picture 6" descr="Neural Networks in 10mins. Simply Explained! | by Sadaf Saleem | Medium">
            <a:extLst>
              <a:ext uri="{FF2B5EF4-FFF2-40B4-BE49-F238E27FC236}">
                <a16:creationId xmlns:a16="http://schemas.microsoft.com/office/drawing/2014/main" id="{AD5CC14B-0640-749B-088E-260F05EF396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1325" y="1825625"/>
            <a:ext cx="7729350"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E0BB2B-6BC8-B14A-AB1C-7EE00B416D4D}"/>
              </a:ext>
            </a:extLst>
          </p:cNvPr>
          <p:cNvSpPr txBox="1"/>
          <p:nvPr/>
        </p:nvSpPr>
        <p:spPr>
          <a:xfrm>
            <a:off x="5165124" y="6176963"/>
            <a:ext cx="5399902" cy="369332"/>
          </a:xfrm>
          <a:prstGeom prst="rect">
            <a:avLst/>
          </a:prstGeom>
          <a:noFill/>
        </p:spPr>
        <p:txBody>
          <a:bodyPr wrap="square" rtlCol="0">
            <a:spAutoFit/>
          </a:bodyPr>
          <a:lstStyle/>
          <a:p>
            <a:r>
              <a:rPr lang="en-US" dirty="0"/>
              <a:t>MNIST Classification</a:t>
            </a:r>
          </a:p>
        </p:txBody>
      </p:sp>
    </p:spTree>
    <p:extLst>
      <p:ext uri="{BB962C8B-B14F-4D97-AF65-F5344CB8AC3E}">
        <p14:creationId xmlns:p14="http://schemas.microsoft.com/office/powerpoint/2010/main" val="35471494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EFD66-759C-E380-16EC-05CEB8C24760}"/>
              </a:ext>
            </a:extLst>
          </p:cNvPr>
          <p:cNvSpPr>
            <a:spLocks noGrp="1"/>
          </p:cNvSpPr>
          <p:nvPr>
            <p:ph type="title"/>
          </p:nvPr>
        </p:nvSpPr>
        <p:spPr>
          <a:xfrm>
            <a:off x="4903573" y="2766218"/>
            <a:ext cx="10515600" cy="1325563"/>
          </a:xfrm>
        </p:spPr>
        <p:txBody>
          <a:bodyPr/>
          <a:lstStyle/>
          <a:p>
            <a:r>
              <a:rPr lang="en-US" dirty="0"/>
              <a:t>Thanks!</a:t>
            </a:r>
          </a:p>
        </p:txBody>
      </p:sp>
    </p:spTree>
    <p:extLst>
      <p:ext uri="{BB962C8B-B14F-4D97-AF65-F5344CB8AC3E}">
        <p14:creationId xmlns:p14="http://schemas.microsoft.com/office/powerpoint/2010/main" val="1077819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2031</TotalTime>
  <Words>2699</Words>
  <Application>Microsoft Office PowerPoint</Application>
  <PresentationFormat>Widescreen</PresentationFormat>
  <Paragraphs>443</Paragraphs>
  <Slides>54</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Aptos</vt:lpstr>
      <vt:lpstr>Aptos Display</vt:lpstr>
      <vt:lpstr>Arial</vt:lpstr>
      <vt:lpstr>Calibri</vt:lpstr>
      <vt:lpstr>Cambria Math</vt:lpstr>
      <vt:lpstr>Office Theme</vt:lpstr>
      <vt:lpstr>Intro to AI for Medicine</vt:lpstr>
      <vt:lpstr>Last Time</vt:lpstr>
      <vt:lpstr>Agenda</vt:lpstr>
      <vt:lpstr>Loss Functions</vt:lpstr>
      <vt:lpstr>This time</vt:lpstr>
      <vt:lpstr>What is Linear Regression?</vt:lpstr>
      <vt:lpstr>Linear Regression: Problem</vt:lpstr>
      <vt:lpstr>Linear Regression: Plan</vt:lpstr>
      <vt:lpstr>Loss Types</vt:lpstr>
      <vt:lpstr>1D Input Case</vt:lpstr>
      <vt:lpstr>1D input Case</vt:lpstr>
      <vt:lpstr>Loss Functions: Visualized</vt:lpstr>
      <vt:lpstr>Loss Functions: Visualized</vt:lpstr>
      <vt:lpstr>Linear Regression: Problem</vt:lpstr>
      <vt:lpstr>Linear Regression: Intuition</vt:lpstr>
      <vt:lpstr>Gradient Descent</vt:lpstr>
      <vt:lpstr>Linear Regression: Intuition</vt:lpstr>
      <vt:lpstr>Linear Regression</vt:lpstr>
      <vt:lpstr>Regression Summary</vt:lpstr>
      <vt:lpstr>What if It’s Nonlinear?</vt:lpstr>
      <vt:lpstr>A New Problem Statement</vt:lpstr>
      <vt:lpstr>What Loss Function?</vt:lpstr>
      <vt:lpstr>Binary Loss:</vt:lpstr>
      <vt:lpstr>We already know this!</vt:lpstr>
      <vt:lpstr>Binary Loss Surface</vt:lpstr>
      <vt:lpstr>Sigmoid and Log Loss</vt:lpstr>
      <vt:lpstr>Log Likelihood Loss</vt:lpstr>
      <vt:lpstr>Log Likelihood Loss</vt:lpstr>
      <vt:lpstr>What if we can’t separate?</vt:lpstr>
      <vt:lpstr>PowerPoint Presentation</vt:lpstr>
      <vt:lpstr>PowerPoint Presentation</vt:lpstr>
      <vt:lpstr>PowerPoint Presentation</vt:lpstr>
      <vt:lpstr>Case Study</vt:lpstr>
      <vt:lpstr>PowerPoint Presentation</vt:lpstr>
      <vt:lpstr>Predictors</vt:lpstr>
      <vt:lpstr>Evaluation Metrics</vt:lpstr>
      <vt:lpstr>Evaluation Metrics</vt:lpstr>
      <vt:lpstr>Evaluation Metrics: Accuracy</vt:lpstr>
      <vt:lpstr>Evaluation Metrics: Recall (True Positive Rate)</vt:lpstr>
      <vt:lpstr>Evaluation Metrics: Precision (PPV)</vt:lpstr>
      <vt:lpstr>Evaluation Metrics: F1 Score</vt:lpstr>
      <vt:lpstr>Evaluation Metrics: Receiver-operating characteristic curve (ROC) </vt:lpstr>
      <vt:lpstr>PowerPoint Presentation</vt:lpstr>
      <vt:lpstr>Evaluation Metrics: Area Under ROC</vt:lpstr>
      <vt:lpstr>Back to Our Example</vt:lpstr>
      <vt:lpstr>PowerPoint Presentation</vt:lpstr>
      <vt:lpstr>Multi-Class Classification</vt:lpstr>
      <vt:lpstr>Softmax Function</vt:lpstr>
      <vt:lpstr>Multiclass Log Loss</vt:lpstr>
      <vt:lpstr>Recap</vt:lpstr>
      <vt:lpstr>Preview: DICE Loss</vt:lpstr>
      <vt:lpstr>PowerPoint Presentation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Lostetter</dc:creator>
  <cp:lastModifiedBy>Stephen Lostetter</cp:lastModifiedBy>
  <cp:revision>5</cp:revision>
  <dcterms:created xsi:type="dcterms:W3CDTF">2025-09-08T22:28:08Z</dcterms:created>
  <dcterms:modified xsi:type="dcterms:W3CDTF">2026-07-12T21:03:58Z</dcterms:modified>
</cp:coreProperties>
</file>
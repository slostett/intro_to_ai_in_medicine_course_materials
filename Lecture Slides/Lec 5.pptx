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6858000" cx="12192000"/>
  <p:notesSz cx="6858000" cy="9144000"/>
  <p:embeddedFontLst>
    <p:embeddedFont>
      <p:font typeface="Play"/>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jgY4JEn62MQDtvmRxbesGSPSf8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E8EB68E-F19B-4135-8205-8B624AF840E7}">
  <a:tblStyle styleId="{FE8EB68E-F19B-4135-8205-8B624AF840E7}" styleName="Table_0">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Play-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Play-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 must be in a form that AI can understand</a:t>
            </a:r>
            <a:endParaRPr/>
          </a:p>
        </p:txBody>
      </p:sp>
      <p:sp>
        <p:nvSpPr>
          <p:cNvPr id="118" name="Google Shape;11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Caution that the numbers must mean something and be continuous</a:t>
            </a:r>
            <a:endParaRPr/>
          </a:p>
          <a:p>
            <a:pPr indent="0" lvl="0" marL="0" rtl="0" algn="l">
              <a:spcBef>
                <a:spcPts val="0"/>
              </a:spcBef>
              <a:spcAft>
                <a:spcPts val="0"/>
              </a:spcAft>
              <a:buNone/>
            </a:pPr>
            <a:r>
              <a:rPr lang="en-US"/>
              <a:t>These data types are for both input and output data.</a:t>
            </a:r>
            <a:endParaRPr/>
          </a:p>
        </p:txBody>
      </p:sp>
      <p:sp>
        <p:nvSpPr>
          <p:cNvPr id="128" name="Google Shape;12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Conveys belonging to a group</a:t>
            </a:r>
            <a:endParaRPr/>
          </a:p>
        </p:txBody>
      </p:sp>
      <p:sp>
        <p:nvSpPr>
          <p:cNvPr id="146" name="Google Shape;14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Then, we’d run multiclass log loss to see how correct we are.</a:t>
            </a:r>
            <a:endParaRPr/>
          </a:p>
        </p:txBody>
      </p:sp>
      <p:sp>
        <p:nvSpPr>
          <p:cNvPr id="154" name="Google Shape;15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fact this could be done in a factored way where everything is blended together.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Whats another way to do this</a:t>
            </a:r>
            <a:endParaRPr/>
          </a:p>
        </p:txBody>
      </p:sp>
      <p:sp>
        <p:nvSpPr>
          <p:cNvPr id="162" name="Google Shape;16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a:t>
            </a:r>
            <a:endParaRPr/>
          </a:p>
        </p:txBody>
      </p:sp>
      <p:sp>
        <p:nvSpPr>
          <p:cNvPr id="179" name="Google Shape;17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Both the patterns that our data contains, and what it fails to contain.</a:t>
            </a:r>
            <a:endParaRPr/>
          </a:p>
        </p:txBody>
      </p:sp>
      <p:sp>
        <p:nvSpPr>
          <p:cNvPr id="187" name="Google Shape;18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2014 they set out to build a system for automatically screening job applicants. The idea was to just feed the system hundreds of CVs and have the top candidates picked out automatically. The system was trained on 10 years worth of job applications and their outcomes. The problem? Most employees at Amazon were male (particularly in technical roles). The algorithm learned that, because there were more men than women at Amazon, men were more suitable candidates and actively discriminated against non-male applications. By 2015 the whole project had to be scrapped.</a:t>
            </a:r>
            <a:endParaRPr/>
          </a:p>
          <a:p>
            <a:pPr indent="0" lvl="0" marL="0" rtl="0" algn="l">
              <a:spcBef>
                <a:spcPts val="0"/>
              </a:spcBef>
              <a:spcAft>
                <a:spcPts val="0"/>
              </a:spcAft>
              <a:buNone/>
            </a:pPr>
            <a:r>
              <a:rPr lang="en-US"/>
              <a:t>Predictive models are just that – predictive. Not decision making.</a:t>
            </a:r>
            <a:endParaRPr/>
          </a:p>
        </p:txBody>
      </p:sp>
      <p:sp>
        <p:nvSpPr>
          <p:cNvPr id="194" name="Google Shape;19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Academic may have population that is more complex but has more specialist involvement</a:t>
            </a:r>
            <a:endParaRPr/>
          </a:p>
          <a:p>
            <a:pPr indent="0" lvl="0" marL="0" rtl="0" algn="l">
              <a:spcBef>
                <a:spcPts val="0"/>
              </a:spcBef>
              <a:spcAft>
                <a:spcPts val="0"/>
              </a:spcAft>
              <a:buNone/>
            </a:pPr>
            <a:r>
              <a:rPr lang="en-US"/>
              <a:t>How likely is it for a patient to turn sideways</a:t>
            </a:r>
            <a:endParaRPr/>
          </a:p>
          <a:p>
            <a:pPr indent="0" lvl="0" marL="0" rtl="0" algn="l">
              <a:spcBef>
                <a:spcPts val="0"/>
              </a:spcBef>
              <a:spcAft>
                <a:spcPts val="0"/>
              </a:spcAft>
              <a:buNone/>
            </a:pPr>
            <a:r>
              <a:rPr lang="en-US"/>
              <a:t>May be worth including the scanner type in the data, so the model can learn to standardize and correct</a:t>
            </a:r>
            <a:endParaRPr/>
          </a:p>
        </p:txBody>
      </p:sp>
      <p:sp>
        <p:nvSpPr>
          <p:cNvPr id="201" name="Google Shape;20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Worse when one subgroup makes up a small part</a:t>
            </a:r>
            <a:endParaRPr/>
          </a:p>
          <a:p>
            <a:pPr indent="0" lvl="0" marL="0" rtl="0" algn="l">
              <a:spcBef>
                <a:spcPts val="0"/>
              </a:spcBef>
              <a:spcAft>
                <a:spcPts val="0"/>
              </a:spcAft>
              <a:buNone/>
            </a:pPr>
            <a:r>
              <a:rPr lang="en-US"/>
              <a:t>Things that hold true for the majority may not hold for a specific, different subgroup</a:t>
            </a:r>
            <a:endParaRPr/>
          </a:p>
          <a:p>
            <a:pPr indent="0" lvl="0" marL="0" rtl="0" algn="l">
              <a:spcBef>
                <a:spcPts val="0"/>
              </a:spcBef>
              <a:spcAft>
                <a:spcPts val="0"/>
              </a:spcAft>
              <a:buNone/>
            </a:pPr>
            <a:r>
              <a:rPr lang="en-US"/>
              <a:t>May make sense to train separate models in this case</a:t>
            </a:r>
            <a:endParaRPr/>
          </a:p>
        </p:txBody>
      </p:sp>
      <p:sp>
        <p:nvSpPr>
          <p:cNvPr id="208" name="Google Shape;20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Groupme logo</a:t>
            </a:r>
            <a:endParaRPr/>
          </a:p>
          <a:p>
            <a:pPr indent="0" lvl="0" marL="0" rtl="0" algn="l">
              <a:spcBef>
                <a:spcPts val="0"/>
              </a:spcBef>
              <a:spcAft>
                <a:spcPts val="0"/>
              </a:spcAft>
              <a:buNone/>
            </a:pPr>
            <a:r>
              <a:rPr lang="en-US"/>
              <a:t>In this case, we used it to our advantage - </a:t>
            </a:r>
            <a:endParaRPr/>
          </a:p>
        </p:txBody>
      </p:sp>
      <p:sp>
        <p:nvSpPr>
          <p:cNvPr id="223" name="Google Shape;22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Think of all the crappy xrays you’ve seen from the ICU</a:t>
            </a:r>
            <a:endParaRPr/>
          </a:p>
          <a:p>
            <a:pPr indent="0" lvl="0" marL="0" rtl="0" algn="l">
              <a:spcBef>
                <a:spcPts val="0"/>
              </a:spcBef>
              <a:spcAft>
                <a:spcPts val="0"/>
              </a:spcAft>
              <a:buNone/>
            </a:pPr>
            <a:r>
              <a:rPr lang="en-US"/>
              <a:t>Which one not so good</a:t>
            </a:r>
            <a:endParaRPr/>
          </a:p>
        </p:txBody>
      </p:sp>
      <p:sp>
        <p:nvSpPr>
          <p:cNvPr id="247" name="Google Shape;24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Missing values (e.g., lab results not ordered for all patients). Inconsistent formats (e.g., “M” vs “Male” for sex). Noisy measurements (e.g., motion artifacts in imaging, poorly calibrated sensors).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62" name="Google Shape;26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https://physionet.org/content/mimiciv/3.1/</a:t>
            </a:r>
            <a:endParaRPr/>
          </a:p>
          <a:p>
            <a:pPr indent="0" lvl="0" marL="0" rtl="0" algn="l">
              <a:spcBef>
                <a:spcPts val="0"/>
              </a:spcBef>
              <a:spcAft>
                <a:spcPts val="0"/>
              </a:spcAft>
              <a:buNone/>
            </a:pPr>
            <a:r>
              <a:rPr lang="en-US"/>
              <a:t>Medical database with tons of datapoints over many hospital stays</a:t>
            </a:r>
            <a:endParaRPr/>
          </a:p>
          <a:p>
            <a:pPr indent="0" lvl="0" marL="0" rtl="0" algn="l">
              <a:spcBef>
                <a:spcPts val="0"/>
              </a:spcBef>
              <a:spcAft>
                <a:spcPts val="0"/>
              </a:spcAft>
              <a:buNone/>
            </a:pPr>
            <a:r>
              <a:rPr lang="en-US"/>
              <a:t>Includes vital signs, medications, lab results, and clinical notes, making it ideal for predictive modeling and outcome analysis.</a:t>
            </a:r>
            <a:endParaRPr/>
          </a:p>
          <a:p>
            <a:pPr indent="0" lvl="0" marL="0" rtl="0" algn="l">
              <a:spcBef>
                <a:spcPts val="0"/>
              </a:spcBef>
              <a:spcAft>
                <a:spcPts val="0"/>
              </a:spcAft>
              <a:buNone/>
            </a:pPr>
            <a:r>
              <a:rPr lang="en-US"/>
              <a:t>Deidentified data </a:t>
            </a:r>
            <a:endParaRPr/>
          </a:p>
        </p:txBody>
      </p:sp>
      <p:sp>
        <p:nvSpPr>
          <p:cNvPr id="269" name="Google Shape;26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9"/>
          <p:cNvSpPr/>
          <p:nvPr>
            <p:ph idx="2" type="pic"/>
          </p:nvPr>
        </p:nvSpPr>
        <p:spPr>
          <a:xfrm>
            <a:off x="5183188" y="987425"/>
            <a:ext cx="6172200" cy="4873625"/>
          </a:xfrm>
          <a:prstGeom prst="rect">
            <a:avLst/>
          </a:prstGeom>
          <a:noFill/>
          <a:ln>
            <a:noFill/>
          </a:ln>
        </p:spPr>
      </p:sp>
      <p:sp>
        <p:nvSpPr>
          <p:cNvPr id="68" name="Google Shape;68;p3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7.jpg"/><Relationship Id="rId5"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jpg"/><Relationship Id="rId4" Type="http://schemas.openxmlformats.org/officeDocument/2006/relationships/image" Target="../media/image2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US"/>
              <a:t>Intro to AI in Medicine</a:t>
            </a:r>
            <a:endParaRPr/>
          </a:p>
        </p:txBody>
      </p:sp>
      <p:sp>
        <p:nvSpPr>
          <p:cNvPr id="89" name="Google Shape;8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Lec 5: Data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Last Time</a:t>
            </a:r>
            <a:endParaRPr/>
          </a:p>
        </p:txBody>
      </p:sp>
      <p:sp>
        <p:nvSpPr>
          <p:cNvPr id="95" name="Google Shape;95;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Learned about loss functions, finishing neural net structure</a:t>
            </a:r>
            <a:endParaRPr/>
          </a:p>
          <a:p>
            <a:pPr indent="-228600" lvl="0" marL="228600" rtl="0" algn="l">
              <a:lnSpc>
                <a:spcPct val="90000"/>
              </a:lnSpc>
              <a:spcBef>
                <a:spcPts val="1000"/>
              </a:spcBef>
              <a:spcAft>
                <a:spcPts val="0"/>
              </a:spcAft>
              <a:buClr>
                <a:schemeClr val="dk1"/>
              </a:buClr>
              <a:buSzPts val="2800"/>
              <a:buChar char="•"/>
            </a:pPr>
            <a:r>
              <a:rPr lang="en-US"/>
              <a:t>Defined regression, classification (including multiclass)</a:t>
            </a:r>
            <a:endParaRPr/>
          </a:p>
          <a:p>
            <a:pPr indent="-228600" lvl="0" marL="228600" rtl="0" algn="l">
              <a:lnSpc>
                <a:spcPct val="90000"/>
              </a:lnSpc>
              <a:spcBef>
                <a:spcPts val="1000"/>
              </a:spcBef>
              <a:spcAft>
                <a:spcPts val="0"/>
              </a:spcAft>
              <a:buClr>
                <a:schemeClr val="dk1"/>
              </a:buClr>
              <a:buSzPts val="2800"/>
              <a:buChar char="•"/>
            </a:pPr>
            <a:r>
              <a:rPr lang="en-US"/>
              <a:t>Associated final activation with loss function and problem type</a:t>
            </a:r>
            <a:endParaRPr/>
          </a:p>
          <a:p>
            <a:pPr indent="-228600" lvl="0" marL="228600" rtl="0" algn="l">
              <a:lnSpc>
                <a:spcPct val="90000"/>
              </a:lnSpc>
              <a:spcBef>
                <a:spcPts val="1000"/>
              </a:spcBef>
              <a:spcAft>
                <a:spcPts val="0"/>
              </a:spcAft>
              <a:buClr>
                <a:schemeClr val="dk1"/>
              </a:buClr>
              <a:buSzPts val="2800"/>
              <a:buChar char="•"/>
            </a:pPr>
            <a:r>
              <a:rPr lang="en-US"/>
              <a:t>Discussed some metrics for measuring how good our networks are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Python</a:t>
            </a:r>
            <a:endParaRPr/>
          </a:p>
        </p:txBody>
      </p:sp>
      <p:pic>
        <p:nvPicPr>
          <p:cNvPr id="101" name="Google Shape;101;p3"/>
          <p:cNvPicPr preferRelativeResize="0"/>
          <p:nvPr>
            <p:ph idx="1" type="body"/>
          </p:nvPr>
        </p:nvPicPr>
        <p:blipFill rotWithShape="1">
          <a:blip r:embed="rId3">
            <a:alphaModFix/>
          </a:blip>
          <a:srcRect b="0" l="0" r="0" t="0"/>
          <a:stretch/>
        </p:blipFill>
        <p:spPr>
          <a:xfrm>
            <a:off x="838200" y="1826744"/>
            <a:ext cx="10515600" cy="4349099"/>
          </a:xfrm>
          <a:prstGeom prst="rect">
            <a:avLst/>
          </a:prstGeom>
          <a:noFill/>
          <a:ln>
            <a:noFill/>
          </a:ln>
        </p:spPr>
      </p:pic>
      <p:pic>
        <p:nvPicPr>
          <p:cNvPr id="102" name="Google Shape;102;p3"/>
          <p:cNvPicPr preferRelativeResize="0"/>
          <p:nvPr/>
        </p:nvPicPr>
        <p:blipFill rotWithShape="1">
          <a:blip r:embed="rId4">
            <a:alphaModFix/>
          </a:blip>
          <a:srcRect b="0" l="0" r="0" t="0"/>
          <a:stretch/>
        </p:blipFill>
        <p:spPr>
          <a:xfrm>
            <a:off x="5604805" y="222421"/>
            <a:ext cx="4129565" cy="264670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Agenda</a:t>
            </a:r>
            <a:endParaRPr/>
          </a:p>
        </p:txBody>
      </p:sp>
      <p:sp>
        <p:nvSpPr>
          <p:cNvPr id="108" name="Google Shape;108;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Data representations</a:t>
            </a:r>
            <a:endParaRPr/>
          </a:p>
          <a:p>
            <a:pPr indent="-228600" lvl="0" marL="228600" rtl="0" algn="l">
              <a:lnSpc>
                <a:spcPct val="90000"/>
              </a:lnSpc>
              <a:spcBef>
                <a:spcPts val="1000"/>
              </a:spcBef>
              <a:spcAft>
                <a:spcPts val="0"/>
              </a:spcAft>
              <a:buClr>
                <a:schemeClr val="dk1"/>
              </a:buClr>
              <a:buSzPts val="2800"/>
              <a:buChar char="•"/>
            </a:pPr>
            <a:r>
              <a:rPr lang="en-US"/>
              <a:t>Bias in data (briefly)</a:t>
            </a:r>
            <a:endParaRPr/>
          </a:p>
          <a:p>
            <a:pPr indent="-228600" lvl="0" marL="228600" rtl="0" algn="l">
              <a:lnSpc>
                <a:spcPct val="90000"/>
              </a:lnSpc>
              <a:spcBef>
                <a:spcPts val="1000"/>
              </a:spcBef>
              <a:spcAft>
                <a:spcPts val="0"/>
              </a:spcAft>
              <a:buClr>
                <a:schemeClr val="dk1"/>
              </a:buClr>
              <a:buSzPts val="2800"/>
              <a:buChar char="•"/>
            </a:pPr>
            <a:r>
              <a:rPr lang="en-US"/>
              <a:t>Data labelling</a:t>
            </a:r>
            <a:endParaRPr/>
          </a:p>
          <a:p>
            <a:pPr indent="-228600" lvl="0" marL="228600" rtl="0" algn="l">
              <a:lnSpc>
                <a:spcPct val="90000"/>
              </a:lnSpc>
              <a:spcBef>
                <a:spcPts val="1000"/>
              </a:spcBef>
              <a:spcAft>
                <a:spcPts val="0"/>
              </a:spcAft>
              <a:buClr>
                <a:schemeClr val="dk1"/>
              </a:buClr>
              <a:buSzPts val="2800"/>
              <a:buChar char="•"/>
            </a:pPr>
            <a:r>
              <a:rPr lang="en-US"/>
              <a:t>Data augmentation</a:t>
            </a:r>
            <a:endParaRPr/>
          </a:p>
          <a:p>
            <a:pPr indent="-228600" lvl="0" marL="228600" rtl="0" algn="l">
              <a:lnSpc>
                <a:spcPct val="90000"/>
              </a:lnSpc>
              <a:spcBef>
                <a:spcPts val="1000"/>
              </a:spcBef>
              <a:spcAft>
                <a:spcPts val="0"/>
              </a:spcAft>
              <a:buClr>
                <a:schemeClr val="dk1"/>
              </a:buClr>
              <a:buSzPts val="2800"/>
              <a:buChar char="•"/>
            </a:pPr>
            <a:r>
              <a:rPr lang="en-US"/>
              <a:t>Medical databases out there</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So Far</a:t>
            </a:r>
            <a:endParaRPr/>
          </a:p>
        </p:txBody>
      </p:sp>
      <p:sp>
        <p:nvSpPr>
          <p:cNvPr id="114" name="Google Shape;114;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We’ve learned the structure of the whole neural net start -&gt; finish</a:t>
            </a:r>
            <a:endParaRPr/>
          </a:p>
          <a:p>
            <a:pPr indent="-228600" lvl="0" marL="228600" rtl="0" algn="l">
              <a:lnSpc>
                <a:spcPct val="90000"/>
              </a:lnSpc>
              <a:spcBef>
                <a:spcPts val="1000"/>
              </a:spcBef>
              <a:spcAft>
                <a:spcPts val="0"/>
              </a:spcAft>
              <a:buClr>
                <a:schemeClr val="dk1"/>
              </a:buClr>
              <a:buSzPts val="2800"/>
              <a:buChar char="•"/>
            </a:pPr>
            <a:r>
              <a:rPr lang="en-US"/>
              <a:t>We’ve learned different tricks on how to train so we can get the most out of the neural net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Representing Data</a:t>
            </a:r>
            <a:endParaRPr/>
          </a:p>
        </p:txBody>
      </p:sp>
      <p:sp>
        <p:nvSpPr>
          <p:cNvPr descr="Chest X-ray model – fastai" id="121" name="Google Shape;121;p6"/>
          <p:cNvSpPr txBox="1"/>
          <p:nvPr>
            <p:ph idx="1" type="body"/>
          </p:nvPr>
        </p:nvSpPr>
        <p:spPr>
          <a:xfrm>
            <a:off x="838200" y="1825625"/>
            <a:ext cx="10515600" cy="58011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How would we represent the following in matrix format?</a:t>
            </a:r>
            <a:endParaRPr/>
          </a:p>
        </p:txBody>
      </p:sp>
      <p:pic>
        <p:nvPicPr>
          <p:cNvPr id="122" name="Google Shape;122;p6"/>
          <p:cNvPicPr preferRelativeResize="0"/>
          <p:nvPr/>
        </p:nvPicPr>
        <p:blipFill rotWithShape="1">
          <a:blip r:embed="rId3">
            <a:alphaModFix/>
          </a:blip>
          <a:srcRect b="0" l="0" r="0" t="0"/>
          <a:stretch/>
        </p:blipFill>
        <p:spPr>
          <a:xfrm>
            <a:off x="8021699" y="2540680"/>
            <a:ext cx="3332101" cy="3350443"/>
          </a:xfrm>
          <a:prstGeom prst="rect">
            <a:avLst/>
          </a:prstGeom>
          <a:noFill/>
          <a:ln>
            <a:noFill/>
          </a:ln>
        </p:spPr>
      </p:pic>
      <p:pic>
        <p:nvPicPr>
          <p:cNvPr descr="ADC Prosphyg 760 Pocket Aneroid Sphygmomanometer, Adult Cuff in Navy" id="123" name="Google Shape;123;p6"/>
          <p:cNvPicPr preferRelativeResize="0"/>
          <p:nvPr/>
        </p:nvPicPr>
        <p:blipFill rotWithShape="1">
          <a:blip r:embed="rId4">
            <a:alphaModFix/>
          </a:blip>
          <a:srcRect b="0" l="0" r="0" t="0"/>
          <a:stretch/>
        </p:blipFill>
        <p:spPr>
          <a:xfrm>
            <a:off x="585849" y="2812637"/>
            <a:ext cx="3332101" cy="2806527"/>
          </a:xfrm>
          <a:prstGeom prst="rect">
            <a:avLst/>
          </a:prstGeom>
          <a:noFill/>
          <a:ln>
            <a:noFill/>
          </a:ln>
        </p:spPr>
      </p:pic>
      <p:pic>
        <p:nvPicPr>
          <p:cNvPr descr="Sickle-Cell Disease History" id="124" name="Google Shape;124;p6"/>
          <p:cNvPicPr preferRelativeResize="0"/>
          <p:nvPr/>
        </p:nvPicPr>
        <p:blipFill rotWithShape="1">
          <a:blip r:embed="rId5">
            <a:alphaModFix/>
          </a:blip>
          <a:srcRect b="0" l="0" r="0" t="0"/>
          <a:stretch/>
        </p:blipFill>
        <p:spPr>
          <a:xfrm>
            <a:off x="4170302" y="2812637"/>
            <a:ext cx="3695019" cy="276714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Representing Data</a:t>
            </a:r>
            <a:endParaRPr/>
          </a:p>
        </p:txBody>
      </p:sp>
      <p:sp>
        <p:nvSpPr>
          <p:cNvPr id="131" name="Google Shape;131;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Numeric: Use a number</a:t>
            </a:r>
            <a:endParaRPr/>
          </a:p>
          <a:p>
            <a:pPr indent="-228600" lvl="1" marL="685800" rtl="0" algn="l">
              <a:lnSpc>
                <a:spcPct val="90000"/>
              </a:lnSpc>
              <a:spcBef>
                <a:spcPts val="500"/>
              </a:spcBef>
              <a:spcAft>
                <a:spcPts val="0"/>
              </a:spcAft>
              <a:buClr>
                <a:schemeClr val="dk1"/>
              </a:buClr>
              <a:buSzPts val="2400"/>
              <a:buChar char="•"/>
            </a:pPr>
            <a:r>
              <a:rPr lang="en-US"/>
              <a:t>Blood pressure</a:t>
            </a:r>
            <a:endParaRPr/>
          </a:p>
          <a:p>
            <a:pPr indent="-228600" lvl="1" marL="685800" rtl="0" algn="l">
              <a:lnSpc>
                <a:spcPct val="90000"/>
              </a:lnSpc>
              <a:spcBef>
                <a:spcPts val="500"/>
              </a:spcBef>
              <a:spcAft>
                <a:spcPts val="0"/>
              </a:spcAft>
              <a:buClr>
                <a:schemeClr val="dk1"/>
              </a:buClr>
              <a:buSzPts val="2400"/>
              <a:buChar char="•"/>
            </a:pPr>
            <a:r>
              <a:rPr lang="en-US"/>
              <a:t>Temperature</a:t>
            </a:r>
            <a:endParaRPr/>
          </a:p>
          <a:p>
            <a:pPr indent="-228600" lvl="1" marL="685800" rtl="0" algn="l">
              <a:lnSpc>
                <a:spcPct val="90000"/>
              </a:lnSpc>
              <a:spcBef>
                <a:spcPts val="500"/>
              </a:spcBef>
              <a:spcAft>
                <a:spcPts val="0"/>
              </a:spcAft>
              <a:buClr>
                <a:schemeClr val="dk1"/>
              </a:buClr>
              <a:buSzPts val="2400"/>
              <a:buChar char="•"/>
            </a:pPr>
            <a:r>
              <a:rPr lang="en-US"/>
              <a:t>Age</a:t>
            </a:r>
            <a:endParaRPr/>
          </a:p>
        </p:txBody>
      </p:sp>
      <p:sp>
        <p:nvSpPr>
          <p:cNvPr id="132" name="Google Shape;132;p7"/>
          <p:cNvSpPr txBox="1"/>
          <p:nvPr/>
        </p:nvSpPr>
        <p:spPr>
          <a:xfrm>
            <a:off x="7345681" y="2109788"/>
            <a:ext cx="3550919" cy="1200329"/>
          </a:xfrm>
          <a:prstGeom prst="rect">
            <a:avLst/>
          </a:prstGeom>
          <a:blipFill rotWithShape="1">
            <a:blip r:embed="rId3">
              <a:alphaModFix/>
            </a:blip>
            <a:stretch>
              <a:fillRect b="0" l="0" r="0" t="-406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u="none" cap="none" strike="noStrike">
                <a:latin typeface="Arial"/>
                <a:ea typeface="Arial"/>
                <a:cs typeface="Arial"/>
                <a:sym typeface="Arial"/>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Representing Data</a:t>
            </a:r>
            <a:endParaRPr/>
          </a:p>
        </p:txBody>
      </p:sp>
      <p:sp>
        <p:nvSpPr>
          <p:cNvPr id="139" name="Google Shape;139;p8"/>
          <p:cNvSpPr txBox="1"/>
          <p:nvPr>
            <p:ph idx="1" type="body"/>
          </p:nvPr>
        </p:nvSpPr>
        <p:spPr>
          <a:xfrm>
            <a:off x="838200" y="1825625"/>
            <a:ext cx="69850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Thermometer: Convey order, but not spacing or quantity</a:t>
            </a:r>
            <a:endParaRPr/>
          </a:p>
          <a:p>
            <a:pPr indent="-228600" lvl="1" marL="685800" rtl="0" algn="l">
              <a:lnSpc>
                <a:spcPct val="90000"/>
              </a:lnSpc>
              <a:spcBef>
                <a:spcPts val="500"/>
              </a:spcBef>
              <a:spcAft>
                <a:spcPts val="0"/>
              </a:spcAft>
              <a:buClr>
                <a:schemeClr val="dk1"/>
              </a:buClr>
              <a:buSzPts val="2400"/>
              <a:buChar char="•"/>
            </a:pPr>
            <a:r>
              <a:rPr lang="en-US"/>
              <a:t>Cancer staging</a:t>
            </a:r>
            <a:endParaRPr/>
          </a:p>
          <a:p>
            <a:pPr indent="-228600" lvl="1" marL="685800" rtl="0" algn="l">
              <a:lnSpc>
                <a:spcPct val="90000"/>
              </a:lnSpc>
              <a:spcBef>
                <a:spcPts val="500"/>
              </a:spcBef>
              <a:spcAft>
                <a:spcPts val="0"/>
              </a:spcAft>
              <a:buClr>
                <a:schemeClr val="dk1"/>
              </a:buClr>
              <a:buSzPts val="2400"/>
              <a:buChar char="•"/>
            </a:pPr>
            <a:r>
              <a:rPr lang="en-US"/>
              <a:t>Glasgow Coma Scale</a:t>
            </a:r>
            <a:endParaRPr/>
          </a:p>
          <a:p>
            <a:pPr indent="-228600" lvl="1" marL="685800" rtl="0" algn="l">
              <a:lnSpc>
                <a:spcPct val="90000"/>
              </a:lnSpc>
              <a:spcBef>
                <a:spcPts val="500"/>
              </a:spcBef>
              <a:spcAft>
                <a:spcPts val="0"/>
              </a:spcAft>
              <a:buClr>
                <a:schemeClr val="dk1"/>
              </a:buClr>
              <a:buSzPts val="2400"/>
              <a:buChar char="•"/>
            </a:pPr>
            <a:r>
              <a:rPr lang="en-US"/>
              <a:t>RASS Sedation Scale</a:t>
            </a:r>
            <a:endParaRPr/>
          </a:p>
        </p:txBody>
      </p:sp>
      <p:sp>
        <p:nvSpPr>
          <p:cNvPr id="140" name="Google Shape;140;p8"/>
          <p:cNvSpPr txBox="1"/>
          <p:nvPr/>
        </p:nvSpPr>
        <p:spPr>
          <a:xfrm>
            <a:off x="8399781" y="2033588"/>
            <a:ext cx="3550919" cy="2115387"/>
          </a:xfrm>
          <a:prstGeom prst="rect">
            <a:avLst/>
          </a:prstGeom>
          <a:blipFill rotWithShape="1">
            <a:blip r:embed="rId3">
              <a:alphaModFix/>
            </a:blip>
            <a:stretch>
              <a:fillRect b="0" l="0" r="0" t="-230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pic>
        <p:nvPicPr>
          <p:cNvPr descr="VLSI UNIVERSE: Thermometer code" id="141" name="Google Shape;141;p8"/>
          <p:cNvPicPr preferRelativeResize="0"/>
          <p:nvPr/>
        </p:nvPicPr>
        <p:blipFill rotWithShape="1">
          <a:blip r:embed="rId4">
            <a:alphaModFix/>
          </a:blip>
          <a:srcRect b="0" l="0" r="0" t="0"/>
          <a:stretch/>
        </p:blipFill>
        <p:spPr>
          <a:xfrm>
            <a:off x="685799" y="4632138"/>
            <a:ext cx="6397245" cy="1860737"/>
          </a:xfrm>
          <a:prstGeom prst="rect">
            <a:avLst/>
          </a:prstGeom>
          <a:noFill/>
          <a:ln>
            <a:noFill/>
          </a:ln>
        </p:spPr>
      </p:pic>
      <p:sp>
        <p:nvSpPr>
          <p:cNvPr id="142" name="Google Shape;142;p8"/>
          <p:cNvSpPr txBox="1"/>
          <p:nvPr/>
        </p:nvSpPr>
        <p:spPr>
          <a:xfrm>
            <a:off x="8597900" y="3467100"/>
            <a:ext cx="2082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Stage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Representing Data</a:t>
            </a:r>
            <a:endParaRPr/>
          </a:p>
        </p:txBody>
      </p:sp>
      <p:sp>
        <p:nvSpPr>
          <p:cNvPr id="149" name="Google Shape;149;p9"/>
          <p:cNvSpPr txBox="1"/>
          <p:nvPr>
            <p:ph idx="1" type="body"/>
          </p:nvPr>
        </p:nvSpPr>
        <p:spPr>
          <a:xfrm>
            <a:off x="838200" y="1825625"/>
            <a:ext cx="69850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One Hot: No meaningful order</a:t>
            </a:r>
            <a:endParaRPr/>
          </a:p>
          <a:p>
            <a:pPr indent="-228600" lvl="1" marL="685800" rtl="0" algn="l">
              <a:lnSpc>
                <a:spcPct val="90000"/>
              </a:lnSpc>
              <a:spcBef>
                <a:spcPts val="500"/>
              </a:spcBef>
              <a:spcAft>
                <a:spcPts val="0"/>
              </a:spcAft>
              <a:buClr>
                <a:schemeClr val="dk1"/>
              </a:buClr>
              <a:buSzPts val="2400"/>
              <a:buChar char="•"/>
            </a:pPr>
            <a:r>
              <a:rPr lang="en-US"/>
              <a:t>Hospital Location</a:t>
            </a:r>
            <a:endParaRPr/>
          </a:p>
          <a:p>
            <a:pPr indent="-228600" lvl="1" marL="685800" rtl="0" algn="l">
              <a:lnSpc>
                <a:spcPct val="90000"/>
              </a:lnSpc>
              <a:spcBef>
                <a:spcPts val="500"/>
              </a:spcBef>
              <a:spcAft>
                <a:spcPts val="0"/>
              </a:spcAft>
              <a:buClr>
                <a:schemeClr val="dk1"/>
              </a:buClr>
              <a:buSzPts val="2400"/>
              <a:buChar char="•"/>
            </a:pPr>
            <a:r>
              <a:rPr lang="en-US"/>
              <a:t>Insurance Type</a:t>
            </a:r>
            <a:endParaRPr/>
          </a:p>
          <a:p>
            <a:pPr indent="-228600" lvl="1" marL="685800" rtl="0" algn="l">
              <a:lnSpc>
                <a:spcPct val="90000"/>
              </a:lnSpc>
              <a:spcBef>
                <a:spcPts val="500"/>
              </a:spcBef>
              <a:spcAft>
                <a:spcPts val="0"/>
              </a:spcAft>
              <a:buClr>
                <a:schemeClr val="dk1"/>
              </a:buClr>
              <a:buSzPts val="2400"/>
              <a:buChar char="•"/>
            </a:pPr>
            <a:r>
              <a:rPr lang="en-US"/>
              <a:t>Drug Allergy</a:t>
            </a:r>
            <a:endParaRPr/>
          </a:p>
          <a:p>
            <a:pPr indent="-228600" lvl="1" marL="685800" rtl="0" algn="l">
              <a:lnSpc>
                <a:spcPct val="90000"/>
              </a:lnSpc>
              <a:spcBef>
                <a:spcPts val="500"/>
              </a:spcBef>
              <a:spcAft>
                <a:spcPts val="0"/>
              </a:spcAft>
              <a:buClr>
                <a:schemeClr val="dk1"/>
              </a:buClr>
              <a:buSzPts val="2400"/>
              <a:buChar char="•"/>
            </a:pPr>
            <a:r>
              <a:rPr lang="en-US"/>
              <a:t>Test Results</a:t>
            </a:r>
            <a:endParaRPr/>
          </a:p>
        </p:txBody>
      </p:sp>
      <p:pic>
        <p:nvPicPr>
          <p:cNvPr id="150" name="Google Shape;150;p9"/>
          <p:cNvPicPr preferRelativeResize="0"/>
          <p:nvPr/>
        </p:nvPicPr>
        <p:blipFill rotWithShape="1">
          <a:blip r:embed="rId3">
            <a:alphaModFix/>
          </a:blip>
          <a:srcRect b="0" l="0" r="0" t="0"/>
          <a:stretch/>
        </p:blipFill>
        <p:spPr>
          <a:xfrm>
            <a:off x="1397000" y="4510931"/>
            <a:ext cx="9283700" cy="200893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descr="Neural Networks - step by step | Lasse Hansen" id="156" name="Google Shape;156;p10"/>
          <p:cNvPicPr preferRelativeResize="0"/>
          <p:nvPr/>
        </p:nvPicPr>
        <p:blipFill rotWithShape="1">
          <a:blip r:embed="rId3">
            <a:alphaModFix/>
          </a:blip>
          <a:srcRect b="0" l="0" r="0" t="0"/>
          <a:stretch/>
        </p:blipFill>
        <p:spPr>
          <a:xfrm>
            <a:off x="724929" y="1821742"/>
            <a:ext cx="5945667" cy="4351338"/>
          </a:xfrm>
          <a:prstGeom prst="rect">
            <a:avLst/>
          </a:prstGeom>
          <a:noFill/>
          <a:ln>
            <a:noFill/>
          </a:ln>
        </p:spPr>
      </p:pic>
      <p:sp>
        <p:nvSpPr>
          <p:cNvPr id="157" name="Google Shape;157;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Softmax Function</a:t>
            </a:r>
            <a:endParaRPr/>
          </a:p>
        </p:txBody>
      </p:sp>
      <p:pic>
        <p:nvPicPr>
          <p:cNvPr descr="Understanding the Softmax Activation Function: A Comprehensive Guide" id="158" name="Google Shape;158;p10"/>
          <p:cNvPicPr preferRelativeResize="0"/>
          <p:nvPr>
            <p:ph idx="1" type="body"/>
          </p:nvPr>
        </p:nvPicPr>
        <p:blipFill rotWithShape="1">
          <a:blip r:embed="rId4">
            <a:alphaModFix/>
          </a:blip>
          <a:srcRect b="0" l="0" r="0" t="0"/>
          <a:stretch/>
        </p:blipFill>
        <p:spPr>
          <a:xfrm>
            <a:off x="5371071" y="1690688"/>
            <a:ext cx="6096000" cy="3714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Let’s Practice</a:t>
            </a:r>
            <a:endParaRPr/>
          </a:p>
        </p:txBody>
      </p:sp>
      <p:sp>
        <p:nvSpPr>
          <p:cNvPr id="165" name="Google Shape;165;p11"/>
          <p:cNvSpPr txBox="1"/>
          <p:nvPr>
            <p:ph idx="1" type="body"/>
          </p:nvPr>
        </p:nvSpPr>
        <p:spPr>
          <a:xfrm>
            <a:off x="838200" y="1825625"/>
            <a:ext cx="10515600" cy="42957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Amoxicillin 500mg oral TID</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Blood Type</a:t>
            </a:r>
            <a:endParaRPr/>
          </a:p>
        </p:txBody>
      </p:sp>
      <p:graphicFrame>
        <p:nvGraphicFramePr>
          <p:cNvPr id="166" name="Google Shape;166;p11"/>
          <p:cNvGraphicFramePr/>
          <p:nvPr/>
        </p:nvGraphicFramePr>
        <p:xfrm>
          <a:off x="1498600" y="2649537"/>
          <a:ext cx="3000000" cy="3000000"/>
        </p:xfrm>
        <a:graphic>
          <a:graphicData uri="http://schemas.openxmlformats.org/drawingml/2006/table">
            <a:tbl>
              <a:tblPr bandRow="1" firstRow="1">
                <a:noFill/>
                <a:tableStyleId>{FE8EB68E-F19B-4135-8205-8B624AF840E7}</a:tableStyleId>
              </a:tblPr>
              <a:tblGrid>
                <a:gridCol w="2232025"/>
                <a:gridCol w="1687975"/>
                <a:gridCol w="1925125"/>
                <a:gridCol w="3082975"/>
              </a:tblGrid>
              <a:tr h="370850">
                <a:tc>
                  <a:txBody>
                    <a:bodyPr/>
                    <a:lstStyle/>
                    <a:p>
                      <a:pPr indent="0" lvl="0" marL="0" marR="0" rtl="0" algn="l">
                        <a:spcBef>
                          <a:spcPts val="0"/>
                        </a:spcBef>
                        <a:spcAft>
                          <a:spcPts val="0"/>
                        </a:spcAft>
                        <a:buNone/>
                      </a:pPr>
                      <a:r>
                        <a:rPr lang="en-US" sz="2400" u="none" cap="none" strike="noStrike"/>
                        <a:t>Amoxicillin</a:t>
                      </a:r>
                      <a:endParaRPr/>
                    </a:p>
                  </a:txBody>
                  <a:tcPr marT="45725" marB="45725" marR="91450" marL="91450">
                    <a:noFill/>
                  </a:tcPr>
                </a:tc>
                <a:tc>
                  <a:txBody>
                    <a:bodyPr/>
                    <a:lstStyle/>
                    <a:p>
                      <a:pPr indent="0" lvl="0" marL="0" marR="0" rtl="0" algn="l">
                        <a:spcBef>
                          <a:spcPts val="0"/>
                        </a:spcBef>
                        <a:spcAft>
                          <a:spcPts val="0"/>
                        </a:spcAft>
                        <a:buNone/>
                      </a:pPr>
                      <a:r>
                        <a:rPr lang="en-US" sz="2400"/>
                        <a:t>500mg</a:t>
                      </a:r>
                      <a:endParaRPr/>
                    </a:p>
                  </a:txBody>
                  <a:tcPr marT="45725" marB="45725" marR="91450" marL="91450">
                    <a:noFill/>
                  </a:tcPr>
                </a:tc>
                <a:tc>
                  <a:txBody>
                    <a:bodyPr/>
                    <a:lstStyle/>
                    <a:p>
                      <a:pPr indent="0" lvl="0" marL="0" marR="0" rtl="0" algn="l">
                        <a:spcBef>
                          <a:spcPts val="0"/>
                        </a:spcBef>
                        <a:spcAft>
                          <a:spcPts val="0"/>
                        </a:spcAft>
                        <a:buNone/>
                      </a:pPr>
                      <a:r>
                        <a:rPr lang="en-US" sz="2400"/>
                        <a:t>Oral</a:t>
                      </a:r>
                      <a:endParaRPr/>
                    </a:p>
                  </a:txBody>
                  <a:tcPr marT="45725" marB="45725" marR="91450" marL="91450">
                    <a:noFill/>
                  </a:tcPr>
                </a:tc>
                <a:tc>
                  <a:txBody>
                    <a:bodyPr/>
                    <a:lstStyle/>
                    <a:p>
                      <a:pPr indent="0" lvl="0" marL="0" marR="0" rtl="0" algn="l">
                        <a:spcBef>
                          <a:spcPts val="0"/>
                        </a:spcBef>
                        <a:spcAft>
                          <a:spcPts val="0"/>
                        </a:spcAft>
                        <a:buNone/>
                      </a:pPr>
                      <a:r>
                        <a:rPr lang="en-US" sz="2400"/>
                        <a:t>TID</a:t>
                      </a:r>
                      <a:endParaRPr/>
                    </a:p>
                  </a:txBody>
                  <a:tcPr marT="45725" marB="45725" marR="91450" marL="91450">
                    <a:noFill/>
                  </a:tcPr>
                </a:tc>
              </a:tr>
              <a:tr h="370850">
                <a:tc>
                  <a:txBody>
                    <a:bodyPr/>
                    <a:lstStyle/>
                    <a:p>
                      <a:pPr indent="0" lvl="0" marL="0" marR="0" rtl="0" algn="l">
                        <a:spcBef>
                          <a:spcPts val="0"/>
                        </a:spcBef>
                        <a:spcAft>
                          <a:spcPts val="0"/>
                        </a:spcAft>
                        <a:buNone/>
                      </a:pPr>
                      <a:r>
                        <a:rPr lang="en-US" sz="2400"/>
                        <a:t>One-hot</a:t>
                      </a:r>
                      <a:endParaRPr/>
                    </a:p>
                  </a:txBody>
                  <a:tcPr marT="45725" marB="45725" marR="91450" marL="91450">
                    <a:noFill/>
                  </a:tcPr>
                </a:tc>
                <a:tc>
                  <a:txBody>
                    <a:bodyPr/>
                    <a:lstStyle/>
                    <a:p>
                      <a:pPr indent="0" lvl="0" marL="0" marR="0" rtl="0" algn="l">
                        <a:spcBef>
                          <a:spcPts val="0"/>
                        </a:spcBef>
                        <a:spcAft>
                          <a:spcPts val="0"/>
                        </a:spcAft>
                        <a:buNone/>
                      </a:pPr>
                      <a:r>
                        <a:rPr lang="en-US" sz="2400"/>
                        <a:t>Numeric</a:t>
                      </a:r>
                      <a:endParaRPr/>
                    </a:p>
                  </a:txBody>
                  <a:tcPr marT="45725" marB="45725" marR="91450" marL="91450">
                    <a:noFill/>
                  </a:tcPr>
                </a:tc>
                <a:tc>
                  <a:txBody>
                    <a:bodyPr/>
                    <a:lstStyle/>
                    <a:p>
                      <a:pPr indent="0" lvl="0" marL="0" marR="0" rtl="0" algn="l">
                        <a:spcBef>
                          <a:spcPts val="0"/>
                        </a:spcBef>
                        <a:spcAft>
                          <a:spcPts val="0"/>
                        </a:spcAft>
                        <a:buNone/>
                      </a:pPr>
                      <a:r>
                        <a:rPr lang="en-US" sz="2400"/>
                        <a:t>One-hot</a:t>
                      </a:r>
                      <a:endParaRPr/>
                    </a:p>
                  </a:txBody>
                  <a:tcPr marT="45725" marB="45725" marR="91450" marL="91450">
                    <a:noFill/>
                  </a:tcPr>
                </a:tc>
                <a:tc>
                  <a:txBody>
                    <a:bodyPr/>
                    <a:lstStyle/>
                    <a:p>
                      <a:pPr indent="0" lvl="0" marL="0" marR="0" rtl="0" algn="l">
                        <a:spcBef>
                          <a:spcPts val="0"/>
                        </a:spcBef>
                        <a:spcAft>
                          <a:spcPts val="0"/>
                        </a:spcAft>
                        <a:buNone/>
                      </a:pPr>
                      <a:r>
                        <a:rPr lang="en-US" sz="2400"/>
                        <a:t>One-hot/ thermometer</a:t>
                      </a:r>
                      <a:endParaRPr/>
                    </a:p>
                  </a:txBody>
                  <a:tcPr marT="45725" marB="45725" marR="91450" marL="91450">
                    <a:noFill/>
                  </a:tcPr>
                </a:tc>
              </a:tr>
            </a:tbl>
          </a:graphicData>
        </a:graphic>
      </p:graphicFrame>
      <p:graphicFrame>
        <p:nvGraphicFramePr>
          <p:cNvPr id="167" name="Google Shape;167;p11"/>
          <p:cNvGraphicFramePr/>
          <p:nvPr/>
        </p:nvGraphicFramePr>
        <p:xfrm>
          <a:off x="1631948" y="4890611"/>
          <a:ext cx="3000000" cy="3000000"/>
        </p:xfrm>
        <a:graphic>
          <a:graphicData uri="http://schemas.openxmlformats.org/drawingml/2006/table">
            <a:tbl>
              <a:tblPr bandRow="1" firstRow="1">
                <a:noFill/>
                <a:tableStyleId>{FE8EB68E-F19B-4135-8205-8B624AF840E7}</a:tableStyleId>
              </a:tblPr>
              <a:tblGrid>
                <a:gridCol w="992000"/>
                <a:gridCol w="992000"/>
                <a:gridCol w="992000"/>
                <a:gridCol w="992000"/>
                <a:gridCol w="992000"/>
                <a:gridCol w="992000"/>
                <a:gridCol w="992000"/>
              </a:tblGrid>
              <a:tr h="370850">
                <a:tc>
                  <a:txBody>
                    <a:bodyPr/>
                    <a:lstStyle/>
                    <a:p>
                      <a:pPr indent="0" lvl="0" marL="0" marR="0" rtl="0" algn="l">
                        <a:spcBef>
                          <a:spcPts val="0"/>
                        </a:spcBef>
                        <a:spcAft>
                          <a:spcPts val="0"/>
                        </a:spcAft>
                        <a:buNone/>
                      </a:pPr>
                      <a:r>
                        <a:t/>
                      </a:r>
                      <a:endParaRPr sz="2400"/>
                    </a:p>
                  </a:txBody>
                  <a:tcPr marT="45725" marB="45725" marR="91450" marL="91450">
                    <a:noFill/>
                  </a:tcPr>
                </a:tc>
                <a:tc>
                  <a:txBody>
                    <a:bodyPr/>
                    <a:lstStyle/>
                    <a:p>
                      <a:pPr indent="0" lvl="0" marL="0" marR="0" rtl="0" algn="l">
                        <a:spcBef>
                          <a:spcPts val="0"/>
                        </a:spcBef>
                        <a:spcAft>
                          <a:spcPts val="0"/>
                        </a:spcAft>
                        <a:buNone/>
                      </a:pPr>
                      <a:r>
                        <a:rPr lang="en-US" sz="2400"/>
                        <a:t>AB+</a:t>
                      </a:r>
                      <a:endParaRPr/>
                    </a:p>
                  </a:txBody>
                  <a:tcPr marT="45725" marB="45725" marR="91450" marL="91450">
                    <a:noFill/>
                  </a:tcPr>
                </a:tc>
                <a:tc>
                  <a:txBody>
                    <a:bodyPr/>
                    <a:lstStyle/>
                    <a:p>
                      <a:pPr indent="0" lvl="0" marL="0" marR="0" rtl="0" algn="l">
                        <a:spcBef>
                          <a:spcPts val="0"/>
                        </a:spcBef>
                        <a:spcAft>
                          <a:spcPts val="0"/>
                        </a:spcAft>
                        <a:buNone/>
                      </a:pPr>
                      <a:r>
                        <a:rPr lang="en-US" sz="2400"/>
                        <a:t>AB-</a:t>
                      </a:r>
                      <a:endParaRPr/>
                    </a:p>
                  </a:txBody>
                  <a:tcPr marT="45725" marB="45725" marR="91450" marL="91450">
                    <a:noFill/>
                  </a:tcPr>
                </a:tc>
                <a:tc>
                  <a:txBody>
                    <a:bodyPr/>
                    <a:lstStyle/>
                    <a:p>
                      <a:pPr indent="0" lvl="0" marL="0" marR="0" rtl="0" algn="l">
                        <a:spcBef>
                          <a:spcPts val="0"/>
                        </a:spcBef>
                        <a:spcAft>
                          <a:spcPts val="0"/>
                        </a:spcAft>
                        <a:buNone/>
                      </a:pPr>
                      <a:r>
                        <a:rPr lang="en-US" sz="2400"/>
                        <a:t>A+</a:t>
                      </a:r>
                      <a:endParaRPr/>
                    </a:p>
                  </a:txBody>
                  <a:tcPr marT="45725" marB="45725" marR="91450" marL="91450">
                    <a:noFill/>
                  </a:tcPr>
                </a:tc>
                <a:tc>
                  <a:txBody>
                    <a:bodyPr/>
                    <a:lstStyle/>
                    <a:p>
                      <a:pPr indent="0" lvl="0" marL="0" marR="0" rtl="0" algn="l">
                        <a:spcBef>
                          <a:spcPts val="0"/>
                        </a:spcBef>
                        <a:spcAft>
                          <a:spcPts val="0"/>
                        </a:spcAft>
                        <a:buNone/>
                      </a:pPr>
                      <a:r>
                        <a:rPr lang="en-US" sz="2400"/>
                        <a:t>A-</a:t>
                      </a:r>
                      <a:endParaRPr/>
                    </a:p>
                  </a:txBody>
                  <a:tcPr marT="45725" marB="45725" marR="91450" marL="91450">
                    <a:noFill/>
                  </a:tcPr>
                </a:tc>
                <a:tc>
                  <a:txBody>
                    <a:bodyPr/>
                    <a:lstStyle/>
                    <a:p>
                      <a:pPr indent="0" lvl="0" marL="0" marR="0" rtl="0" algn="l">
                        <a:spcBef>
                          <a:spcPts val="0"/>
                        </a:spcBef>
                        <a:spcAft>
                          <a:spcPts val="0"/>
                        </a:spcAft>
                        <a:buNone/>
                      </a:pPr>
                      <a:r>
                        <a:rPr lang="en-US" sz="2400"/>
                        <a:t>B+</a:t>
                      </a:r>
                      <a:endParaRPr/>
                    </a:p>
                  </a:txBody>
                  <a:tcPr marT="45725" marB="45725" marR="91450" marL="91450">
                    <a:noFill/>
                  </a:tcPr>
                </a:tc>
                <a:tc>
                  <a:txBody>
                    <a:bodyPr/>
                    <a:lstStyle/>
                    <a:p>
                      <a:pPr indent="0" lvl="0" marL="0" marR="0" rtl="0" algn="l">
                        <a:spcBef>
                          <a:spcPts val="0"/>
                        </a:spcBef>
                        <a:spcAft>
                          <a:spcPts val="0"/>
                        </a:spcAft>
                        <a:buNone/>
                      </a:pPr>
                      <a:r>
                        <a:rPr lang="en-US" sz="2400"/>
                        <a:t>B-</a:t>
                      </a:r>
                      <a:endParaRPr/>
                    </a:p>
                  </a:txBody>
                  <a:tcPr marT="45725" marB="45725" marR="91450" marL="91450">
                    <a:noFill/>
                  </a:tcPr>
                </a:tc>
              </a:tr>
              <a:tr h="370850">
                <a:tc>
                  <a:txBody>
                    <a:bodyPr/>
                    <a:lstStyle/>
                    <a:p>
                      <a:pPr indent="0" lvl="0" marL="0" marR="0" rtl="0" algn="l">
                        <a:spcBef>
                          <a:spcPts val="0"/>
                        </a:spcBef>
                        <a:spcAft>
                          <a:spcPts val="0"/>
                        </a:spcAft>
                        <a:buNone/>
                      </a:pPr>
                      <a:r>
                        <a:rPr lang="en-US" sz="2400">
                          <a:solidFill>
                            <a:schemeClr val="lt1"/>
                          </a:solidFill>
                        </a:rPr>
                        <a:t>A</a:t>
                      </a:r>
                      <a:endParaRPr/>
                    </a:p>
                  </a:txBody>
                  <a:tcPr marT="45725" marB="45725" marR="91450" marL="91450">
                    <a:solidFill>
                      <a:schemeClr val="accent1"/>
                    </a:solidFill>
                  </a:tcPr>
                </a:tc>
                <a:tc>
                  <a:txBody>
                    <a:bodyPr/>
                    <a:lstStyle/>
                    <a:p>
                      <a:pPr indent="0" lvl="0" marL="0" marR="0" rtl="0" algn="l">
                        <a:spcBef>
                          <a:spcPts val="0"/>
                        </a:spcBef>
                        <a:spcAft>
                          <a:spcPts val="0"/>
                        </a:spcAft>
                        <a:buNone/>
                      </a:pPr>
                      <a:r>
                        <a:rPr lang="en-US" sz="2400"/>
                        <a:t>1</a:t>
                      </a:r>
                      <a:endParaRPr/>
                    </a:p>
                  </a:txBody>
                  <a:tcPr marT="45725" marB="45725" marR="91450" marL="91450">
                    <a:noFill/>
                  </a:tcPr>
                </a:tc>
                <a:tc>
                  <a:txBody>
                    <a:bodyPr/>
                    <a:lstStyle/>
                    <a:p>
                      <a:pPr indent="0" lvl="0" marL="0" marR="0" rtl="0" algn="l">
                        <a:spcBef>
                          <a:spcPts val="0"/>
                        </a:spcBef>
                        <a:spcAft>
                          <a:spcPts val="0"/>
                        </a:spcAft>
                        <a:buNone/>
                      </a:pPr>
                      <a:r>
                        <a:rPr lang="en-US" sz="2400"/>
                        <a:t>1</a:t>
                      </a:r>
                      <a:endParaRPr/>
                    </a:p>
                  </a:txBody>
                  <a:tcPr marT="45725" marB="45725" marR="91450" marL="91450">
                    <a:noFill/>
                  </a:tcPr>
                </a:tc>
                <a:tc>
                  <a:txBody>
                    <a:bodyPr/>
                    <a:lstStyle/>
                    <a:p>
                      <a:pPr indent="0" lvl="0" marL="0" marR="0" rtl="0" algn="l">
                        <a:spcBef>
                          <a:spcPts val="0"/>
                        </a:spcBef>
                        <a:spcAft>
                          <a:spcPts val="0"/>
                        </a:spcAft>
                        <a:buNone/>
                      </a:pPr>
                      <a:r>
                        <a:rPr lang="en-US" sz="2400"/>
                        <a:t>1</a:t>
                      </a:r>
                      <a:endParaRPr/>
                    </a:p>
                  </a:txBody>
                  <a:tcPr marT="45725" marB="45725" marR="91450" marL="91450">
                    <a:noFill/>
                  </a:tcPr>
                </a:tc>
                <a:tc>
                  <a:txBody>
                    <a:bodyPr/>
                    <a:lstStyle/>
                    <a:p>
                      <a:pPr indent="0" lvl="0" marL="0" marR="0" rtl="0" algn="l">
                        <a:spcBef>
                          <a:spcPts val="0"/>
                        </a:spcBef>
                        <a:spcAft>
                          <a:spcPts val="0"/>
                        </a:spcAft>
                        <a:buNone/>
                      </a:pPr>
                      <a:r>
                        <a:rPr lang="en-US" sz="2400"/>
                        <a:t>1</a:t>
                      </a:r>
                      <a:endParaRPr/>
                    </a:p>
                  </a:txBody>
                  <a:tcPr marT="45725" marB="45725" marR="91450" marL="91450">
                    <a:noFill/>
                  </a:tcPr>
                </a:tc>
                <a:tc>
                  <a:txBody>
                    <a:bodyPr/>
                    <a:lstStyle/>
                    <a:p>
                      <a:pPr indent="0" lvl="0" marL="0" marR="0" rtl="0" algn="l">
                        <a:spcBef>
                          <a:spcPts val="0"/>
                        </a:spcBef>
                        <a:spcAft>
                          <a:spcPts val="0"/>
                        </a:spcAft>
                        <a:buNone/>
                      </a:pPr>
                      <a:r>
                        <a:rPr lang="en-US" sz="2400"/>
                        <a:t>0</a:t>
                      </a:r>
                      <a:endParaRPr/>
                    </a:p>
                  </a:txBody>
                  <a:tcPr marT="45725" marB="45725" marR="91450" marL="91450">
                    <a:noFill/>
                  </a:tcPr>
                </a:tc>
                <a:tc>
                  <a:txBody>
                    <a:bodyPr/>
                    <a:lstStyle/>
                    <a:p>
                      <a:pPr indent="0" lvl="0" marL="0" marR="0" rtl="0" algn="l">
                        <a:spcBef>
                          <a:spcPts val="0"/>
                        </a:spcBef>
                        <a:spcAft>
                          <a:spcPts val="0"/>
                        </a:spcAft>
                        <a:buNone/>
                      </a:pPr>
                      <a:r>
                        <a:rPr lang="en-US" sz="2400"/>
                        <a:t>0</a:t>
                      </a:r>
                      <a:endParaRPr/>
                    </a:p>
                  </a:txBody>
                  <a:tcPr marT="45725" marB="45725" marR="91450" marL="91450">
                    <a:noFill/>
                  </a:tcPr>
                </a:tc>
              </a:tr>
              <a:tr h="370850">
                <a:tc>
                  <a:txBody>
                    <a:bodyPr/>
                    <a:lstStyle/>
                    <a:p>
                      <a:pPr indent="0" lvl="0" marL="0" marR="0" rtl="0" algn="l">
                        <a:spcBef>
                          <a:spcPts val="0"/>
                        </a:spcBef>
                        <a:spcAft>
                          <a:spcPts val="0"/>
                        </a:spcAft>
                        <a:buNone/>
                      </a:pPr>
                      <a:r>
                        <a:rPr lang="en-US" sz="2400">
                          <a:solidFill>
                            <a:schemeClr val="lt1"/>
                          </a:solidFill>
                        </a:rPr>
                        <a:t>B</a:t>
                      </a:r>
                      <a:endParaRPr/>
                    </a:p>
                  </a:txBody>
                  <a:tcPr marT="45725" marB="45725" marR="91450" marL="91450">
                    <a:solidFill>
                      <a:schemeClr val="accent1"/>
                    </a:solidFill>
                  </a:tcPr>
                </a:tc>
                <a:tc>
                  <a:txBody>
                    <a:bodyPr/>
                    <a:lstStyle/>
                    <a:p>
                      <a:pPr indent="0" lvl="0" marL="0" marR="0" rtl="0" algn="l">
                        <a:spcBef>
                          <a:spcPts val="0"/>
                        </a:spcBef>
                        <a:spcAft>
                          <a:spcPts val="0"/>
                        </a:spcAft>
                        <a:buNone/>
                      </a:pPr>
                      <a:r>
                        <a:rPr lang="en-US" sz="2400"/>
                        <a:t>1</a:t>
                      </a:r>
                      <a:endParaRPr/>
                    </a:p>
                  </a:txBody>
                  <a:tcPr marT="45725" marB="45725" marR="91450" marL="91450">
                    <a:noFill/>
                  </a:tcPr>
                </a:tc>
                <a:tc>
                  <a:txBody>
                    <a:bodyPr/>
                    <a:lstStyle/>
                    <a:p>
                      <a:pPr indent="0" lvl="0" marL="0" marR="0" rtl="0" algn="l">
                        <a:spcBef>
                          <a:spcPts val="0"/>
                        </a:spcBef>
                        <a:spcAft>
                          <a:spcPts val="0"/>
                        </a:spcAft>
                        <a:buNone/>
                      </a:pPr>
                      <a:r>
                        <a:rPr lang="en-US" sz="2400"/>
                        <a:t>1</a:t>
                      </a:r>
                      <a:endParaRPr/>
                    </a:p>
                  </a:txBody>
                  <a:tcPr marT="45725" marB="45725" marR="91450" marL="91450">
                    <a:noFill/>
                  </a:tcPr>
                </a:tc>
                <a:tc>
                  <a:txBody>
                    <a:bodyPr/>
                    <a:lstStyle/>
                    <a:p>
                      <a:pPr indent="0" lvl="0" marL="0" marR="0" rtl="0" algn="l">
                        <a:spcBef>
                          <a:spcPts val="0"/>
                        </a:spcBef>
                        <a:spcAft>
                          <a:spcPts val="0"/>
                        </a:spcAft>
                        <a:buNone/>
                      </a:pPr>
                      <a:r>
                        <a:rPr lang="en-US" sz="2400"/>
                        <a:t>0</a:t>
                      </a:r>
                      <a:endParaRPr/>
                    </a:p>
                  </a:txBody>
                  <a:tcPr marT="45725" marB="45725" marR="91450" marL="91450">
                    <a:noFill/>
                  </a:tcPr>
                </a:tc>
                <a:tc>
                  <a:txBody>
                    <a:bodyPr/>
                    <a:lstStyle/>
                    <a:p>
                      <a:pPr indent="0" lvl="0" marL="0" marR="0" rtl="0" algn="l">
                        <a:spcBef>
                          <a:spcPts val="0"/>
                        </a:spcBef>
                        <a:spcAft>
                          <a:spcPts val="0"/>
                        </a:spcAft>
                        <a:buNone/>
                      </a:pPr>
                      <a:r>
                        <a:rPr lang="en-US" sz="2400"/>
                        <a:t>0</a:t>
                      </a:r>
                      <a:endParaRPr/>
                    </a:p>
                  </a:txBody>
                  <a:tcPr marT="45725" marB="45725" marR="91450" marL="91450">
                    <a:noFill/>
                  </a:tcPr>
                </a:tc>
                <a:tc>
                  <a:txBody>
                    <a:bodyPr/>
                    <a:lstStyle/>
                    <a:p>
                      <a:pPr indent="0" lvl="0" marL="0" marR="0" rtl="0" algn="l">
                        <a:spcBef>
                          <a:spcPts val="0"/>
                        </a:spcBef>
                        <a:spcAft>
                          <a:spcPts val="0"/>
                        </a:spcAft>
                        <a:buNone/>
                      </a:pPr>
                      <a:r>
                        <a:rPr lang="en-US" sz="2400"/>
                        <a:t>1</a:t>
                      </a:r>
                      <a:endParaRPr/>
                    </a:p>
                  </a:txBody>
                  <a:tcPr marT="45725" marB="45725" marR="91450" marL="91450">
                    <a:noFill/>
                  </a:tcPr>
                </a:tc>
                <a:tc>
                  <a:txBody>
                    <a:bodyPr/>
                    <a:lstStyle/>
                    <a:p>
                      <a:pPr indent="0" lvl="0" marL="0" marR="0" rtl="0" algn="l">
                        <a:spcBef>
                          <a:spcPts val="0"/>
                        </a:spcBef>
                        <a:spcAft>
                          <a:spcPts val="0"/>
                        </a:spcAft>
                        <a:buNone/>
                      </a:pPr>
                      <a:r>
                        <a:rPr lang="en-US" sz="2400"/>
                        <a:t>1</a:t>
                      </a:r>
                      <a:endParaRPr/>
                    </a:p>
                  </a:txBody>
                  <a:tcPr marT="45725" marB="45725" marR="91450" marL="91450">
                    <a:noFill/>
                  </a:tcPr>
                </a:tc>
              </a:tr>
              <a:tr h="370850">
                <a:tc>
                  <a:txBody>
                    <a:bodyPr/>
                    <a:lstStyle/>
                    <a:p>
                      <a:pPr indent="0" lvl="0" marL="0" marR="0" rtl="0" algn="l">
                        <a:spcBef>
                          <a:spcPts val="0"/>
                        </a:spcBef>
                        <a:spcAft>
                          <a:spcPts val="0"/>
                        </a:spcAft>
                        <a:buNone/>
                      </a:pPr>
                      <a:r>
                        <a:rPr lang="en-US" sz="2400">
                          <a:solidFill>
                            <a:schemeClr val="lt1"/>
                          </a:solidFill>
                        </a:rPr>
                        <a:t>Rh</a:t>
                      </a:r>
                      <a:endParaRPr/>
                    </a:p>
                  </a:txBody>
                  <a:tcPr marT="45725" marB="45725" marR="91450" marL="91450">
                    <a:solidFill>
                      <a:schemeClr val="accent1"/>
                    </a:solidFill>
                  </a:tcPr>
                </a:tc>
                <a:tc>
                  <a:txBody>
                    <a:bodyPr/>
                    <a:lstStyle/>
                    <a:p>
                      <a:pPr indent="0" lvl="0" marL="0" marR="0" rtl="0" algn="l">
                        <a:spcBef>
                          <a:spcPts val="0"/>
                        </a:spcBef>
                        <a:spcAft>
                          <a:spcPts val="0"/>
                        </a:spcAft>
                        <a:buNone/>
                      </a:pPr>
                      <a:r>
                        <a:rPr lang="en-US" sz="2400"/>
                        <a:t>1</a:t>
                      </a:r>
                      <a:endParaRPr/>
                    </a:p>
                  </a:txBody>
                  <a:tcPr marT="45725" marB="45725" marR="91450" marL="91450">
                    <a:noFill/>
                  </a:tcPr>
                </a:tc>
                <a:tc>
                  <a:txBody>
                    <a:bodyPr/>
                    <a:lstStyle/>
                    <a:p>
                      <a:pPr indent="0" lvl="0" marL="0" marR="0" rtl="0" algn="l">
                        <a:spcBef>
                          <a:spcPts val="0"/>
                        </a:spcBef>
                        <a:spcAft>
                          <a:spcPts val="0"/>
                        </a:spcAft>
                        <a:buNone/>
                      </a:pPr>
                      <a:r>
                        <a:rPr lang="en-US" sz="2400"/>
                        <a:t>0</a:t>
                      </a:r>
                      <a:endParaRPr/>
                    </a:p>
                  </a:txBody>
                  <a:tcPr marT="45725" marB="45725" marR="91450" marL="91450">
                    <a:noFill/>
                  </a:tcPr>
                </a:tc>
                <a:tc>
                  <a:txBody>
                    <a:bodyPr/>
                    <a:lstStyle/>
                    <a:p>
                      <a:pPr indent="0" lvl="0" marL="0" marR="0" rtl="0" algn="l">
                        <a:spcBef>
                          <a:spcPts val="0"/>
                        </a:spcBef>
                        <a:spcAft>
                          <a:spcPts val="0"/>
                        </a:spcAft>
                        <a:buNone/>
                      </a:pPr>
                      <a:r>
                        <a:rPr lang="en-US" sz="2400"/>
                        <a:t>1</a:t>
                      </a:r>
                      <a:endParaRPr/>
                    </a:p>
                  </a:txBody>
                  <a:tcPr marT="45725" marB="45725" marR="91450" marL="91450">
                    <a:noFill/>
                  </a:tcPr>
                </a:tc>
                <a:tc>
                  <a:txBody>
                    <a:bodyPr/>
                    <a:lstStyle/>
                    <a:p>
                      <a:pPr indent="0" lvl="0" marL="0" marR="0" rtl="0" algn="l">
                        <a:spcBef>
                          <a:spcPts val="0"/>
                        </a:spcBef>
                        <a:spcAft>
                          <a:spcPts val="0"/>
                        </a:spcAft>
                        <a:buNone/>
                      </a:pPr>
                      <a:r>
                        <a:rPr lang="en-US" sz="2400"/>
                        <a:t>0</a:t>
                      </a:r>
                      <a:endParaRPr/>
                    </a:p>
                  </a:txBody>
                  <a:tcPr marT="45725" marB="45725" marR="91450" marL="91450">
                    <a:noFill/>
                  </a:tcPr>
                </a:tc>
                <a:tc>
                  <a:txBody>
                    <a:bodyPr/>
                    <a:lstStyle/>
                    <a:p>
                      <a:pPr indent="0" lvl="0" marL="0" marR="0" rtl="0" algn="l">
                        <a:spcBef>
                          <a:spcPts val="0"/>
                        </a:spcBef>
                        <a:spcAft>
                          <a:spcPts val="0"/>
                        </a:spcAft>
                        <a:buNone/>
                      </a:pPr>
                      <a:r>
                        <a:rPr lang="en-US" sz="2400"/>
                        <a:t>1</a:t>
                      </a:r>
                      <a:endParaRPr/>
                    </a:p>
                  </a:txBody>
                  <a:tcPr marT="45725" marB="45725" marR="91450" marL="91450">
                    <a:noFill/>
                  </a:tcPr>
                </a:tc>
                <a:tc>
                  <a:txBody>
                    <a:bodyPr/>
                    <a:lstStyle/>
                    <a:p>
                      <a:pPr indent="0" lvl="0" marL="0" marR="0" rtl="0" algn="l">
                        <a:spcBef>
                          <a:spcPts val="0"/>
                        </a:spcBef>
                        <a:spcAft>
                          <a:spcPts val="0"/>
                        </a:spcAft>
                        <a:buNone/>
                      </a:pPr>
                      <a:r>
                        <a:rPr lang="en-US" sz="2400"/>
                        <a:t>0</a:t>
                      </a:r>
                      <a:endParaRPr/>
                    </a:p>
                  </a:txBody>
                  <a:tcPr marT="45725" marB="45725" marR="91450" marL="91450">
                    <a:noFill/>
                  </a:tcPr>
                </a:tc>
              </a:tr>
            </a:tbl>
          </a:graphicData>
        </a:graphic>
      </p:graphicFrame>
      <p:graphicFrame>
        <p:nvGraphicFramePr>
          <p:cNvPr id="168" name="Google Shape;168;p11"/>
          <p:cNvGraphicFramePr/>
          <p:nvPr/>
        </p:nvGraphicFramePr>
        <p:xfrm>
          <a:off x="8828266" y="4890611"/>
          <a:ext cx="3000000" cy="3000000"/>
        </p:xfrm>
        <a:graphic>
          <a:graphicData uri="http://schemas.openxmlformats.org/drawingml/2006/table">
            <a:tbl>
              <a:tblPr bandRow="1" firstRow="1">
                <a:noFill/>
                <a:tableStyleId>{FE8EB68E-F19B-4135-8205-8B624AF840E7}</a:tableStyleId>
              </a:tblPr>
              <a:tblGrid>
                <a:gridCol w="1136650"/>
                <a:gridCol w="1136650"/>
              </a:tblGrid>
              <a:tr h="370850">
                <a:tc>
                  <a:txBody>
                    <a:bodyPr/>
                    <a:lstStyle/>
                    <a:p>
                      <a:pPr indent="0" lvl="0" marL="0" marR="0" rtl="0" algn="l">
                        <a:spcBef>
                          <a:spcPts val="0"/>
                        </a:spcBef>
                        <a:spcAft>
                          <a:spcPts val="0"/>
                        </a:spcAft>
                        <a:buNone/>
                      </a:pPr>
                      <a:r>
                        <a:rPr lang="en-US" sz="2400"/>
                        <a:t>O+</a:t>
                      </a:r>
                      <a:endParaRPr/>
                    </a:p>
                  </a:txBody>
                  <a:tcPr marT="45725" marB="45725" marR="91450" marL="91450">
                    <a:noFill/>
                  </a:tcPr>
                </a:tc>
                <a:tc>
                  <a:txBody>
                    <a:bodyPr/>
                    <a:lstStyle/>
                    <a:p>
                      <a:pPr indent="0" lvl="0" marL="0" marR="0" rtl="0" algn="l">
                        <a:spcBef>
                          <a:spcPts val="0"/>
                        </a:spcBef>
                        <a:spcAft>
                          <a:spcPts val="0"/>
                        </a:spcAft>
                        <a:buNone/>
                      </a:pPr>
                      <a:r>
                        <a:rPr lang="en-US" sz="2400"/>
                        <a:t>O-</a:t>
                      </a:r>
                      <a:endParaRPr/>
                    </a:p>
                  </a:txBody>
                  <a:tcPr marT="45725" marB="45725" marR="91450" marL="91450">
                    <a:noFill/>
                  </a:tcPr>
                </a:tc>
              </a:tr>
              <a:tr h="370850">
                <a:tc>
                  <a:txBody>
                    <a:bodyPr/>
                    <a:lstStyle/>
                    <a:p>
                      <a:pPr indent="0" lvl="0" marL="0" marR="0" rtl="0" algn="l">
                        <a:spcBef>
                          <a:spcPts val="0"/>
                        </a:spcBef>
                        <a:spcAft>
                          <a:spcPts val="0"/>
                        </a:spcAft>
                        <a:buNone/>
                      </a:pPr>
                      <a:r>
                        <a:rPr lang="en-US" sz="2400"/>
                        <a:t>0</a:t>
                      </a:r>
                      <a:endParaRPr/>
                    </a:p>
                  </a:txBody>
                  <a:tcPr marT="45725" marB="45725" marR="91450" marL="91450">
                    <a:noFill/>
                  </a:tcPr>
                </a:tc>
                <a:tc>
                  <a:txBody>
                    <a:bodyPr/>
                    <a:lstStyle/>
                    <a:p>
                      <a:pPr indent="0" lvl="0" marL="0" marR="0" rtl="0" algn="l">
                        <a:spcBef>
                          <a:spcPts val="0"/>
                        </a:spcBef>
                        <a:spcAft>
                          <a:spcPts val="0"/>
                        </a:spcAft>
                        <a:buNone/>
                      </a:pPr>
                      <a:r>
                        <a:rPr lang="en-US" sz="2400"/>
                        <a:t>0</a:t>
                      </a:r>
                      <a:endParaRPr/>
                    </a:p>
                  </a:txBody>
                  <a:tcPr marT="45725" marB="45725" marR="91450" marL="91450">
                    <a:noFill/>
                  </a:tcPr>
                </a:tc>
              </a:tr>
              <a:tr h="370850">
                <a:tc>
                  <a:txBody>
                    <a:bodyPr/>
                    <a:lstStyle/>
                    <a:p>
                      <a:pPr indent="0" lvl="0" marL="0" marR="0" rtl="0" algn="l">
                        <a:spcBef>
                          <a:spcPts val="0"/>
                        </a:spcBef>
                        <a:spcAft>
                          <a:spcPts val="0"/>
                        </a:spcAft>
                        <a:buNone/>
                      </a:pPr>
                      <a:r>
                        <a:rPr lang="en-US" sz="2400"/>
                        <a:t>0</a:t>
                      </a:r>
                      <a:endParaRPr/>
                    </a:p>
                  </a:txBody>
                  <a:tcPr marT="45725" marB="45725" marR="91450" marL="91450">
                    <a:noFill/>
                  </a:tcPr>
                </a:tc>
                <a:tc>
                  <a:txBody>
                    <a:bodyPr/>
                    <a:lstStyle/>
                    <a:p>
                      <a:pPr indent="0" lvl="0" marL="0" marR="0" rtl="0" algn="l">
                        <a:spcBef>
                          <a:spcPts val="0"/>
                        </a:spcBef>
                        <a:spcAft>
                          <a:spcPts val="0"/>
                        </a:spcAft>
                        <a:buNone/>
                      </a:pPr>
                      <a:r>
                        <a:rPr lang="en-US" sz="2400"/>
                        <a:t>0</a:t>
                      </a:r>
                      <a:endParaRPr/>
                    </a:p>
                  </a:txBody>
                  <a:tcPr marT="45725" marB="45725" marR="91450" marL="91450">
                    <a:noFill/>
                  </a:tcPr>
                </a:tc>
              </a:tr>
              <a:tr h="370850">
                <a:tc>
                  <a:txBody>
                    <a:bodyPr/>
                    <a:lstStyle/>
                    <a:p>
                      <a:pPr indent="0" lvl="0" marL="0" marR="0" rtl="0" algn="l">
                        <a:spcBef>
                          <a:spcPts val="0"/>
                        </a:spcBef>
                        <a:spcAft>
                          <a:spcPts val="0"/>
                        </a:spcAft>
                        <a:buNone/>
                      </a:pPr>
                      <a:r>
                        <a:rPr lang="en-US" sz="2400"/>
                        <a:t>1</a:t>
                      </a:r>
                      <a:endParaRPr/>
                    </a:p>
                  </a:txBody>
                  <a:tcPr marT="45725" marB="45725" marR="91450" marL="91450">
                    <a:noFill/>
                  </a:tcPr>
                </a:tc>
                <a:tc>
                  <a:txBody>
                    <a:bodyPr/>
                    <a:lstStyle/>
                    <a:p>
                      <a:pPr indent="0" lvl="0" marL="0" marR="0" rtl="0" algn="l">
                        <a:spcBef>
                          <a:spcPts val="0"/>
                        </a:spcBef>
                        <a:spcAft>
                          <a:spcPts val="0"/>
                        </a:spcAft>
                        <a:buNone/>
                      </a:pPr>
                      <a:r>
                        <a:rPr lang="en-US" sz="2400"/>
                        <a:t>0</a:t>
                      </a:r>
                      <a:endParaRPr/>
                    </a:p>
                  </a:txBody>
                  <a:tcPr marT="45725" marB="45725" marR="91450" marL="91450">
                    <a:no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Imaging Data</a:t>
            </a:r>
            <a:endParaRPr/>
          </a:p>
        </p:txBody>
      </p:sp>
      <p:pic>
        <p:nvPicPr>
          <p:cNvPr descr="python - Convert a black and white image to array of numbers? - Stack  Overflow" id="174" name="Google Shape;174;p12"/>
          <p:cNvPicPr preferRelativeResize="0"/>
          <p:nvPr>
            <p:ph idx="1" type="body"/>
          </p:nvPr>
        </p:nvPicPr>
        <p:blipFill rotWithShape="1">
          <a:blip r:embed="rId3">
            <a:alphaModFix/>
          </a:blip>
          <a:srcRect b="0" l="0" r="0" t="0"/>
          <a:stretch/>
        </p:blipFill>
        <p:spPr>
          <a:xfrm>
            <a:off x="1419225" y="2158206"/>
            <a:ext cx="9353550" cy="3686175"/>
          </a:xfrm>
          <a:prstGeom prst="rect">
            <a:avLst/>
          </a:prstGeom>
          <a:noFill/>
          <a:ln>
            <a:noFill/>
          </a:ln>
        </p:spPr>
      </p:pic>
      <p:pic>
        <p:nvPicPr>
          <p:cNvPr id="175" name="Google Shape;175;p12"/>
          <p:cNvPicPr preferRelativeResize="0"/>
          <p:nvPr/>
        </p:nvPicPr>
        <p:blipFill rotWithShape="1">
          <a:blip r:embed="rId4">
            <a:alphaModFix/>
          </a:blip>
          <a:srcRect b="0" l="0" r="0" t="0"/>
          <a:stretch/>
        </p:blipFill>
        <p:spPr>
          <a:xfrm>
            <a:off x="8181294" y="203398"/>
            <a:ext cx="1639988" cy="164901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Multi-Channel Images</a:t>
            </a:r>
            <a:endParaRPr/>
          </a:p>
        </p:txBody>
      </p:sp>
      <p:pic>
        <p:nvPicPr>
          <p:cNvPr descr="Pixels, Arrays, and Images. An Introduction to Computer Vision | by  BenMauss | Level Up Coding" id="182" name="Google Shape;182;p13"/>
          <p:cNvPicPr preferRelativeResize="0"/>
          <p:nvPr>
            <p:ph idx="1" type="body"/>
          </p:nvPr>
        </p:nvPicPr>
        <p:blipFill rotWithShape="1">
          <a:blip r:embed="rId3">
            <a:alphaModFix/>
          </a:blip>
          <a:srcRect b="0" l="0" r="0" t="0"/>
          <a:stretch/>
        </p:blipFill>
        <p:spPr>
          <a:xfrm>
            <a:off x="971068" y="1939925"/>
            <a:ext cx="4534863" cy="4351338"/>
          </a:xfrm>
          <a:prstGeom prst="rect">
            <a:avLst/>
          </a:prstGeom>
          <a:noFill/>
          <a:ln>
            <a:noFill/>
          </a:ln>
        </p:spPr>
      </p:pic>
      <p:pic>
        <p:nvPicPr>
          <p:cNvPr id="183" name="Google Shape;183;p13"/>
          <p:cNvPicPr preferRelativeResize="0"/>
          <p:nvPr/>
        </p:nvPicPr>
        <p:blipFill rotWithShape="1">
          <a:blip r:embed="rId4">
            <a:alphaModFix/>
          </a:blip>
          <a:srcRect b="0" l="0" r="0" t="0"/>
          <a:stretch/>
        </p:blipFill>
        <p:spPr>
          <a:xfrm>
            <a:off x="6096000" y="2321377"/>
            <a:ext cx="5207707" cy="333312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Bias in Data	</a:t>
            </a:r>
            <a:endParaRPr/>
          </a:p>
        </p:txBody>
      </p:sp>
      <p:sp>
        <p:nvSpPr>
          <p:cNvPr id="190" name="Google Shape;190;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As we attempt to extract patterns from our data we must beware of sources of bias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Look for patterns:</a:t>
            </a:r>
            <a:endParaRPr/>
          </a:p>
          <a:p>
            <a:pPr indent="-228600" lvl="1" marL="685800" rtl="0" algn="l">
              <a:lnSpc>
                <a:spcPct val="90000"/>
              </a:lnSpc>
              <a:spcBef>
                <a:spcPts val="500"/>
              </a:spcBef>
              <a:spcAft>
                <a:spcPts val="0"/>
              </a:spcAft>
              <a:buClr>
                <a:schemeClr val="dk1"/>
              </a:buClr>
              <a:buSzPts val="2400"/>
              <a:buChar char="•"/>
            </a:pPr>
            <a:r>
              <a:rPr lang="en-US"/>
              <a:t>Our data does contain</a:t>
            </a:r>
            <a:endParaRPr/>
          </a:p>
          <a:p>
            <a:pPr indent="-228600" lvl="1" marL="685800" rtl="0" algn="l">
              <a:lnSpc>
                <a:spcPct val="90000"/>
              </a:lnSpc>
              <a:spcBef>
                <a:spcPts val="500"/>
              </a:spcBef>
              <a:spcAft>
                <a:spcPts val="0"/>
              </a:spcAft>
              <a:buClr>
                <a:schemeClr val="dk1"/>
              </a:buClr>
              <a:buSzPts val="2400"/>
              <a:buChar char="•"/>
            </a:pPr>
            <a:r>
              <a:rPr lang="en-US"/>
              <a:t>Our data fails to capture</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en-US"/>
              <a:t>How we formulate our problem has a massive impact!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Historical Bias</a:t>
            </a:r>
            <a:endParaRPr/>
          </a:p>
        </p:txBody>
      </p:sp>
      <p:sp>
        <p:nvSpPr>
          <p:cNvPr id="197" name="Google Shape;197;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Patterns in data that reflect inequalities that have occurred as a result of some factor not captured in the model</a:t>
            </a:r>
            <a:endParaRPr/>
          </a:p>
          <a:p>
            <a:pPr indent="-228600" lvl="0" marL="228600" rtl="0" algn="l">
              <a:lnSpc>
                <a:spcPct val="90000"/>
              </a:lnSpc>
              <a:spcBef>
                <a:spcPts val="1000"/>
              </a:spcBef>
              <a:spcAft>
                <a:spcPts val="0"/>
              </a:spcAft>
              <a:buClr>
                <a:schemeClr val="dk1"/>
              </a:buClr>
              <a:buSzPts val="2800"/>
              <a:buChar char="•"/>
            </a:pPr>
            <a:r>
              <a:rPr lang="en-US"/>
              <a:t>2014 Amazon hiring</a:t>
            </a:r>
            <a:endParaRPr/>
          </a:p>
          <a:p>
            <a:pPr indent="-228600" lvl="0" marL="228600" rtl="0" algn="l">
              <a:lnSpc>
                <a:spcPct val="90000"/>
              </a:lnSpc>
              <a:spcBef>
                <a:spcPts val="1000"/>
              </a:spcBef>
              <a:spcAft>
                <a:spcPts val="0"/>
              </a:spcAft>
              <a:buClr>
                <a:schemeClr val="dk1"/>
              </a:buClr>
              <a:buSzPts val="2800"/>
              <a:buChar char="•"/>
            </a:pPr>
            <a:r>
              <a:rPr lang="en-US"/>
              <a:t>Bias Amplification: </a:t>
            </a:r>
            <a:endParaRPr/>
          </a:p>
          <a:p>
            <a:pPr indent="-228600" lvl="1" marL="685800" rtl="0" algn="l">
              <a:lnSpc>
                <a:spcPct val="90000"/>
              </a:lnSpc>
              <a:spcBef>
                <a:spcPts val="500"/>
              </a:spcBef>
              <a:spcAft>
                <a:spcPts val="0"/>
              </a:spcAft>
              <a:buClr>
                <a:schemeClr val="dk1"/>
              </a:buClr>
              <a:buSzPts val="2400"/>
              <a:buChar char="•"/>
            </a:pPr>
            <a:r>
              <a:rPr lang="en-US"/>
              <a:t>Downgrading resumes that mentioned “women’s” (e.g., “women’s chess club captain”)</a:t>
            </a:r>
            <a:endParaRPr/>
          </a:p>
          <a:p>
            <a:pPr indent="-228600" lvl="1" marL="685800" rtl="0" algn="l">
              <a:lnSpc>
                <a:spcPct val="90000"/>
              </a:lnSpc>
              <a:spcBef>
                <a:spcPts val="500"/>
              </a:spcBef>
              <a:spcAft>
                <a:spcPts val="0"/>
              </a:spcAft>
              <a:buClr>
                <a:schemeClr val="dk1"/>
              </a:buClr>
              <a:buSzPts val="2400"/>
              <a:buChar char="•"/>
            </a:pPr>
            <a:r>
              <a:rPr lang="en-US"/>
              <a:t>Proxy variables: inner layer predicts man/woman via other variables as output of an internal neuron</a:t>
            </a:r>
            <a:endParaRPr/>
          </a:p>
          <a:p>
            <a:pPr indent="-228600" lvl="0" marL="228600" rtl="0" algn="l">
              <a:lnSpc>
                <a:spcPct val="90000"/>
              </a:lnSpc>
              <a:spcBef>
                <a:spcPts val="1000"/>
              </a:spcBef>
              <a:spcAft>
                <a:spcPts val="0"/>
              </a:spcAft>
              <a:buClr>
                <a:schemeClr val="dk1"/>
              </a:buClr>
              <a:buSzPts val="2800"/>
              <a:buChar char="•"/>
            </a:pPr>
            <a:r>
              <a:rPr lang="en-US"/>
              <a:t>This pattern </a:t>
            </a:r>
            <a:r>
              <a:rPr i="1" lang="en-US"/>
              <a:t>is</a:t>
            </a:r>
            <a:r>
              <a:rPr lang="en-US"/>
              <a:t> present but is the result of real world data not reflecting a desired outcome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Sample Bias</a:t>
            </a:r>
            <a:endParaRPr/>
          </a:p>
        </p:txBody>
      </p:sp>
      <p:sp>
        <p:nvSpPr>
          <p:cNvPr id="204" name="Google Shape;204;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Our sample is not representative of whole population</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Where was the data collected?</a:t>
            </a:r>
            <a:endParaRPr/>
          </a:p>
          <a:p>
            <a:pPr indent="-228600" lvl="1" marL="685800" rtl="0" algn="l">
              <a:lnSpc>
                <a:spcPct val="90000"/>
              </a:lnSpc>
              <a:spcBef>
                <a:spcPts val="500"/>
              </a:spcBef>
              <a:spcAft>
                <a:spcPts val="0"/>
              </a:spcAft>
              <a:buClr>
                <a:schemeClr val="dk1"/>
              </a:buClr>
              <a:buSzPts val="2400"/>
              <a:buChar char="•"/>
            </a:pPr>
            <a:r>
              <a:rPr lang="en-US"/>
              <a:t>Community vs academic</a:t>
            </a:r>
            <a:endParaRPr/>
          </a:p>
          <a:p>
            <a:pPr indent="-228600" lvl="1" marL="685800" rtl="0" algn="l">
              <a:lnSpc>
                <a:spcPct val="90000"/>
              </a:lnSpc>
              <a:spcBef>
                <a:spcPts val="500"/>
              </a:spcBef>
              <a:spcAft>
                <a:spcPts val="0"/>
              </a:spcAft>
              <a:buClr>
                <a:schemeClr val="dk1"/>
              </a:buClr>
              <a:buSzPts val="2400"/>
              <a:buChar char="•"/>
            </a:pPr>
            <a:r>
              <a:rPr lang="en-US"/>
              <a:t>ICU vs floor</a:t>
            </a:r>
            <a:endParaRPr/>
          </a:p>
          <a:p>
            <a:pPr indent="-228600" lvl="1" marL="685800" rtl="0" algn="l">
              <a:lnSpc>
                <a:spcPct val="90000"/>
              </a:lnSpc>
              <a:spcBef>
                <a:spcPts val="500"/>
              </a:spcBef>
              <a:spcAft>
                <a:spcPts val="0"/>
              </a:spcAft>
              <a:buClr>
                <a:schemeClr val="dk1"/>
              </a:buClr>
              <a:buSzPts val="2400"/>
              <a:buChar char="•"/>
            </a:pPr>
            <a:r>
              <a:rPr lang="en-US"/>
              <a:t>Scanners from different vendors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Aggregation Bias</a:t>
            </a:r>
            <a:endParaRPr/>
          </a:p>
        </p:txBody>
      </p:sp>
      <p:sp>
        <p:nvSpPr>
          <p:cNvPr id="211" name="Google Shape;211;p17"/>
          <p:cNvSpPr txBox="1"/>
          <p:nvPr>
            <p:ph idx="1" type="body"/>
          </p:nvPr>
        </p:nvSpPr>
        <p:spPr>
          <a:xfrm>
            <a:off x="838200" y="1825625"/>
            <a:ext cx="10515600" cy="16033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Arises when clinically meaningful subgroups are collapsed together.</a:t>
            </a:r>
            <a:endParaRPr/>
          </a:p>
          <a:p>
            <a:pPr indent="-228600" lvl="0" marL="228600" rtl="0" algn="l">
              <a:lnSpc>
                <a:spcPct val="90000"/>
              </a:lnSpc>
              <a:spcBef>
                <a:spcPts val="1000"/>
              </a:spcBef>
              <a:spcAft>
                <a:spcPts val="0"/>
              </a:spcAft>
              <a:buClr>
                <a:schemeClr val="dk1"/>
              </a:buClr>
              <a:buSzPts val="2800"/>
              <a:buChar char="•"/>
            </a:pPr>
            <a:r>
              <a:rPr lang="en-US"/>
              <a:t>Imagine if you trained a model on adult and kids x-rays</a:t>
            </a:r>
            <a:endParaRPr/>
          </a:p>
        </p:txBody>
      </p:sp>
      <p:pic>
        <p:nvPicPr>
          <p:cNvPr descr="Normal chest radiograph - young adult | Radiology Case | Radiopaedia.org" id="212" name="Google Shape;212;p17"/>
          <p:cNvPicPr preferRelativeResize="0"/>
          <p:nvPr/>
        </p:nvPicPr>
        <p:blipFill rotWithShape="1">
          <a:blip r:embed="rId3">
            <a:alphaModFix/>
          </a:blip>
          <a:srcRect b="0" l="0" r="0" t="0"/>
          <a:stretch/>
        </p:blipFill>
        <p:spPr>
          <a:xfrm>
            <a:off x="1612899" y="3207396"/>
            <a:ext cx="3667125" cy="3285479"/>
          </a:xfrm>
          <a:prstGeom prst="rect">
            <a:avLst/>
          </a:prstGeom>
          <a:noFill/>
          <a:ln>
            <a:noFill/>
          </a:ln>
        </p:spPr>
      </p:pic>
      <p:pic>
        <p:nvPicPr>
          <p:cNvPr descr="Chest X-ray child" id="213" name="Google Shape;213;p17"/>
          <p:cNvPicPr preferRelativeResize="0"/>
          <p:nvPr/>
        </p:nvPicPr>
        <p:blipFill rotWithShape="1">
          <a:blip r:embed="rId4">
            <a:alphaModFix/>
          </a:blip>
          <a:srcRect b="0" l="0" r="0" t="0"/>
          <a:stretch/>
        </p:blipFill>
        <p:spPr>
          <a:xfrm>
            <a:off x="6261100" y="3207396"/>
            <a:ext cx="4546600" cy="327497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Label Bias</a:t>
            </a:r>
            <a:endParaRPr/>
          </a:p>
        </p:txBody>
      </p:sp>
      <p:sp>
        <p:nvSpPr>
          <p:cNvPr id="219" name="Google Shape;219;p18"/>
          <p:cNvSpPr txBox="1"/>
          <p:nvPr>
            <p:ph idx="1" type="body"/>
          </p:nvPr>
        </p:nvSpPr>
        <p:spPr>
          <a:xfrm>
            <a:off x="838200" y="1825625"/>
            <a:ext cx="10515600" cy="22891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Variable labelling by expert annotators</a:t>
            </a:r>
            <a:endParaRPr/>
          </a:p>
          <a:p>
            <a:pPr indent="-228600" lvl="0" marL="228600" rtl="0" algn="l">
              <a:lnSpc>
                <a:spcPct val="90000"/>
              </a:lnSpc>
              <a:spcBef>
                <a:spcPts val="1000"/>
              </a:spcBef>
              <a:spcAft>
                <a:spcPts val="0"/>
              </a:spcAft>
              <a:buClr>
                <a:schemeClr val="dk1"/>
              </a:buClr>
              <a:buSzPts val="2800"/>
              <a:buChar char="•"/>
            </a:pPr>
            <a:r>
              <a:rPr lang="en-US"/>
              <a:t>Ex. Different labelling of tumor radiation treatment zones by different annotators</a:t>
            </a:r>
            <a:endParaRPr/>
          </a:p>
          <a:p>
            <a:pPr indent="-228600" lvl="0" marL="228600" rtl="0" algn="l">
              <a:lnSpc>
                <a:spcPct val="90000"/>
              </a:lnSpc>
              <a:spcBef>
                <a:spcPts val="1000"/>
              </a:spcBef>
              <a:spcAft>
                <a:spcPts val="0"/>
              </a:spcAft>
              <a:buClr>
                <a:schemeClr val="dk1"/>
              </a:buClr>
              <a:buSzPts val="2800"/>
              <a:buChar char="•"/>
            </a:pPr>
            <a:r>
              <a:rPr lang="en-US"/>
              <a:t>Fight by having multiple labelers, have experts reach consensus if disagreement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descr="A collage of images of a brain&#10;&#10;AI-generated content may be incorrect." id="225" name="Google Shape;225;p19"/>
          <p:cNvPicPr preferRelativeResize="0"/>
          <p:nvPr>
            <p:ph idx="1" type="body"/>
          </p:nvPr>
        </p:nvPicPr>
        <p:blipFill rotWithShape="1">
          <a:blip r:embed="rId3">
            <a:alphaModFix/>
          </a:blip>
          <a:srcRect b="0" l="0" r="0" t="0"/>
          <a:stretch/>
        </p:blipFill>
        <p:spPr>
          <a:xfrm>
            <a:off x="2527300" y="0"/>
            <a:ext cx="7137400" cy="682286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Data Labelling</a:t>
            </a:r>
            <a:endParaRPr/>
          </a:p>
        </p:txBody>
      </p:sp>
      <p:sp>
        <p:nvSpPr>
          <p:cNvPr id="231" name="Google Shape;23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Up to this point, we’ve discussed supervised learning</a:t>
            </a:r>
            <a:endParaRPr/>
          </a:p>
          <a:p>
            <a:pPr indent="-228600" lvl="0" marL="228600" rtl="0" algn="l">
              <a:lnSpc>
                <a:spcPct val="90000"/>
              </a:lnSpc>
              <a:spcBef>
                <a:spcPts val="1000"/>
              </a:spcBef>
              <a:spcAft>
                <a:spcPts val="0"/>
              </a:spcAft>
              <a:buClr>
                <a:schemeClr val="dk1"/>
              </a:buClr>
              <a:buSzPts val="2800"/>
              <a:buChar char="•"/>
            </a:pPr>
            <a:r>
              <a:rPr lang="en-US"/>
              <a:t>Supervised learning: Where we know the prediction we want to make</a:t>
            </a:r>
            <a:endParaRPr/>
          </a:p>
          <a:p>
            <a:pPr indent="-228600" lvl="0" marL="228600" rtl="0" algn="l">
              <a:lnSpc>
                <a:spcPct val="90000"/>
              </a:lnSpc>
              <a:spcBef>
                <a:spcPts val="1000"/>
              </a:spcBef>
              <a:spcAft>
                <a:spcPts val="0"/>
              </a:spcAft>
              <a:buClr>
                <a:schemeClr val="dk1"/>
              </a:buClr>
              <a:buSzPts val="2800"/>
              <a:buChar char="•"/>
            </a:pPr>
            <a:r>
              <a:rPr lang="en-US"/>
              <a:t>Unsupervised learning: Where the computer spots trends in data according to an algorithm we specify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Data Labelling Strategies</a:t>
            </a:r>
            <a:endParaRPr/>
          </a:p>
        </p:txBody>
      </p:sp>
      <p:sp>
        <p:nvSpPr>
          <p:cNvPr id="237" name="Google Shape;23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Retrospective study: Label is predicting future value of something that can be recorded in the past</a:t>
            </a:r>
            <a:endParaRPr/>
          </a:p>
          <a:p>
            <a:pPr indent="-228600" lvl="0" marL="228600" rtl="0" algn="l">
              <a:lnSpc>
                <a:spcPct val="90000"/>
              </a:lnSpc>
              <a:spcBef>
                <a:spcPts val="1000"/>
              </a:spcBef>
              <a:spcAft>
                <a:spcPts val="0"/>
              </a:spcAft>
              <a:buClr>
                <a:schemeClr val="dk1"/>
              </a:buClr>
              <a:buSzPts val="2800"/>
              <a:buChar char="•"/>
            </a:pPr>
            <a:r>
              <a:rPr lang="en-US"/>
              <a:t>Human labelers: Crowdsourcing labels (mturk.com/)</a:t>
            </a:r>
            <a:endParaRPr/>
          </a:p>
          <a:p>
            <a:pPr indent="-228600" lvl="1" marL="685800" rtl="0" algn="l">
              <a:lnSpc>
                <a:spcPct val="90000"/>
              </a:lnSpc>
              <a:spcBef>
                <a:spcPts val="500"/>
              </a:spcBef>
              <a:spcAft>
                <a:spcPts val="0"/>
              </a:spcAft>
              <a:buClr>
                <a:schemeClr val="dk1"/>
              </a:buClr>
              <a:buSzPts val="2400"/>
              <a:buChar char="•"/>
            </a:pPr>
            <a:r>
              <a:rPr lang="en-US"/>
              <a:t>Label symptoms, medications or diagnoses</a:t>
            </a:r>
            <a:endParaRPr/>
          </a:p>
          <a:p>
            <a:pPr indent="-228600" lvl="0" marL="228600" rtl="0" algn="l">
              <a:lnSpc>
                <a:spcPct val="90000"/>
              </a:lnSpc>
              <a:spcBef>
                <a:spcPts val="1000"/>
              </a:spcBef>
              <a:spcAft>
                <a:spcPts val="0"/>
              </a:spcAft>
              <a:buClr>
                <a:schemeClr val="dk1"/>
              </a:buClr>
              <a:buSzPts val="2800"/>
              <a:buChar char="•"/>
            </a:pPr>
            <a:r>
              <a:rPr lang="en-US"/>
              <a:t>Expert labelers: </a:t>
            </a:r>
            <a:endParaRPr/>
          </a:p>
          <a:p>
            <a:pPr indent="-228600" lvl="1" marL="685800" rtl="0" algn="l">
              <a:lnSpc>
                <a:spcPct val="90000"/>
              </a:lnSpc>
              <a:spcBef>
                <a:spcPts val="500"/>
              </a:spcBef>
              <a:spcAft>
                <a:spcPts val="0"/>
              </a:spcAft>
              <a:buClr>
                <a:schemeClr val="dk1"/>
              </a:buClr>
              <a:buSzPts val="2400"/>
              <a:buChar char="•"/>
            </a:pPr>
            <a:r>
              <a:rPr lang="en-US"/>
              <a:t>Medical imaging</a:t>
            </a:r>
            <a:endParaRPr/>
          </a:p>
          <a:p>
            <a:pPr indent="-228600" lvl="1" marL="685800" rtl="0" algn="l">
              <a:lnSpc>
                <a:spcPct val="90000"/>
              </a:lnSpc>
              <a:spcBef>
                <a:spcPts val="500"/>
              </a:spcBef>
              <a:spcAft>
                <a:spcPts val="0"/>
              </a:spcAft>
              <a:buClr>
                <a:schemeClr val="dk1"/>
              </a:buClr>
              <a:buSzPts val="2400"/>
              <a:buChar char="•"/>
            </a:pPr>
            <a:r>
              <a:rPr lang="en-US"/>
              <a:t>Cardiac EP</a:t>
            </a:r>
            <a:endParaRPr/>
          </a:p>
          <a:p>
            <a:pPr indent="-228600" lvl="1" marL="685800" rtl="0" algn="l">
              <a:lnSpc>
                <a:spcPct val="90000"/>
              </a:lnSpc>
              <a:spcBef>
                <a:spcPts val="500"/>
              </a:spcBef>
              <a:spcAft>
                <a:spcPts val="0"/>
              </a:spcAft>
              <a:buClr>
                <a:schemeClr val="dk1"/>
              </a:buClr>
              <a:buSzPts val="2400"/>
              <a:buChar char="•"/>
            </a:pPr>
            <a:r>
              <a:rPr lang="en-US"/>
              <a:t>EEG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Data Augmentation</a:t>
            </a:r>
            <a:endParaRPr/>
          </a:p>
        </p:txBody>
      </p:sp>
      <p:sp>
        <p:nvSpPr>
          <p:cNvPr id="243" name="Google Shape;24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Introducing noise in your data to prevent signal from being found where there is none</a:t>
            </a:r>
            <a:endParaRPr/>
          </a:p>
          <a:p>
            <a:pPr indent="-228600" lvl="0" marL="228600" rtl="0" algn="l">
              <a:lnSpc>
                <a:spcPct val="90000"/>
              </a:lnSpc>
              <a:spcBef>
                <a:spcPts val="1000"/>
              </a:spcBef>
              <a:spcAft>
                <a:spcPts val="0"/>
              </a:spcAft>
              <a:buClr>
                <a:schemeClr val="dk1"/>
              </a:buClr>
              <a:buSzPts val="2800"/>
              <a:buChar char="•"/>
            </a:pPr>
            <a:r>
              <a:rPr lang="en-US"/>
              <a:t>Changes something about your data that shouldn’t matter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Data Augmentations - Radiology</a:t>
            </a:r>
            <a:endParaRPr/>
          </a:p>
        </p:txBody>
      </p:sp>
      <p:pic>
        <p:nvPicPr>
          <p:cNvPr id="250" name="Google Shape;250;p23"/>
          <p:cNvPicPr preferRelativeResize="0"/>
          <p:nvPr/>
        </p:nvPicPr>
        <p:blipFill rotWithShape="1">
          <a:blip r:embed="rId3">
            <a:alphaModFix/>
          </a:blip>
          <a:srcRect b="0" l="0" r="0" t="0"/>
          <a:stretch/>
        </p:blipFill>
        <p:spPr>
          <a:xfrm>
            <a:off x="1180414" y="1690688"/>
            <a:ext cx="9831172" cy="422016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Data Augmentation - SMOTE</a:t>
            </a:r>
            <a:endParaRPr/>
          </a:p>
        </p:txBody>
      </p:sp>
      <p:sp>
        <p:nvSpPr>
          <p:cNvPr id="257" name="Google Shape;257;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Synthetic Minority Over-sampling TEchnique, or SMOTE </a:t>
            </a:r>
            <a:endParaRPr/>
          </a:p>
          <a:p>
            <a:pPr indent="-228600" lvl="0" marL="228600" rtl="0" algn="l">
              <a:lnSpc>
                <a:spcPct val="90000"/>
              </a:lnSpc>
              <a:spcBef>
                <a:spcPts val="1000"/>
              </a:spcBef>
              <a:spcAft>
                <a:spcPts val="0"/>
              </a:spcAft>
              <a:buClr>
                <a:schemeClr val="dk1"/>
              </a:buClr>
              <a:buSzPts val="2800"/>
              <a:buChar char="•"/>
            </a:pPr>
            <a:r>
              <a:rPr lang="en-US"/>
              <a:t>Create datapoints near those in minority class</a:t>
            </a:r>
            <a:endParaRPr/>
          </a:p>
          <a:p>
            <a:pPr indent="-228600" lvl="0" marL="228600" rtl="0" algn="l">
              <a:lnSpc>
                <a:spcPct val="90000"/>
              </a:lnSpc>
              <a:spcBef>
                <a:spcPts val="1000"/>
              </a:spcBef>
              <a:spcAft>
                <a:spcPts val="0"/>
              </a:spcAft>
              <a:buClr>
                <a:schemeClr val="dk1"/>
              </a:buClr>
              <a:buSzPts val="2800"/>
              <a:buChar char="•"/>
            </a:pPr>
            <a:r>
              <a:rPr lang="en-US"/>
              <a:t>Weights data so that these points have an increased influence on parameter updates during GD/Backprop</a:t>
            </a:r>
            <a:endParaRPr/>
          </a:p>
        </p:txBody>
      </p:sp>
      <p:pic>
        <p:nvPicPr>
          <p:cNvPr id="258" name="Google Shape;258;p24"/>
          <p:cNvPicPr preferRelativeResize="0"/>
          <p:nvPr/>
        </p:nvPicPr>
        <p:blipFill rotWithShape="1">
          <a:blip r:embed="rId3">
            <a:alphaModFix/>
          </a:blip>
          <a:srcRect b="0" l="0" r="0" t="0"/>
          <a:stretch/>
        </p:blipFill>
        <p:spPr>
          <a:xfrm>
            <a:off x="7531100" y="3828182"/>
            <a:ext cx="3367088" cy="283931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Medical Dataset Challenges</a:t>
            </a:r>
            <a:endParaRPr/>
          </a:p>
        </p:txBody>
      </p:sp>
      <p:sp>
        <p:nvSpPr>
          <p:cNvPr id="265" name="Google Shape;265;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Data Quality and Completeness</a:t>
            </a:r>
            <a:endParaRPr/>
          </a:p>
          <a:p>
            <a:pPr indent="-228600" lvl="0" marL="228600" rtl="0" algn="l">
              <a:lnSpc>
                <a:spcPct val="90000"/>
              </a:lnSpc>
              <a:spcBef>
                <a:spcPts val="1000"/>
              </a:spcBef>
              <a:spcAft>
                <a:spcPts val="0"/>
              </a:spcAft>
              <a:buClr>
                <a:schemeClr val="dk1"/>
              </a:buClr>
              <a:buSzPts val="2800"/>
              <a:buChar char="•"/>
            </a:pPr>
            <a:r>
              <a:rPr lang="en-US"/>
              <a:t>Heterogeneity of Sources</a:t>
            </a:r>
            <a:endParaRPr/>
          </a:p>
          <a:p>
            <a:pPr indent="-228600" lvl="0" marL="228600" rtl="0" algn="l">
              <a:lnSpc>
                <a:spcPct val="90000"/>
              </a:lnSpc>
              <a:spcBef>
                <a:spcPts val="1000"/>
              </a:spcBef>
              <a:spcAft>
                <a:spcPts val="0"/>
              </a:spcAft>
              <a:buClr>
                <a:schemeClr val="dk1"/>
              </a:buClr>
              <a:buSzPts val="2800"/>
              <a:buChar char="•"/>
            </a:pPr>
            <a:r>
              <a:rPr lang="en-US"/>
              <a:t>Annotation and Labeling</a:t>
            </a:r>
            <a:endParaRPr/>
          </a:p>
          <a:p>
            <a:pPr indent="-228600" lvl="0" marL="228600" rtl="0" algn="l">
              <a:lnSpc>
                <a:spcPct val="90000"/>
              </a:lnSpc>
              <a:spcBef>
                <a:spcPts val="1000"/>
              </a:spcBef>
              <a:spcAft>
                <a:spcPts val="0"/>
              </a:spcAft>
              <a:buClr>
                <a:schemeClr val="dk1"/>
              </a:buClr>
              <a:buSzPts val="2800"/>
              <a:buChar char="•"/>
            </a:pPr>
            <a:r>
              <a:rPr lang="en-US"/>
              <a:t>Scale and Storage</a:t>
            </a:r>
            <a:endParaRPr/>
          </a:p>
          <a:p>
            <a:pPr indent="-228600" lvl="0" marL="228600" rtl="0" algn="l">
              <a:lnSpc>
                <a:spcPct val="90000"/>
              </a:lnSpc>
              <a:spcBef>
                <a:spcPts val="1000"/>
              </a:spcBef>
              <a:spcAft>
                <a:spcPts val="0"/>
              </a:spcAft>
              <a:buClr>
                <a:schemeClr val="dk1"/>
              </a:buClr>
              <a:buSzPts val="2800"/>
              <a:buChar char="•"/>
            </a:pPr>
            <a:r>
              <a:rPr lang="en-US"/>
              <a:t>Privacy and Security</a:t>
            </a:r>
            <a:endParaRPr/>
          </a:p>
          <a:p>
            <a:pPr indent="-228600" lvl="0" marL="228600" rtl="0" algn="l">
              <a:lnSpc>
                <a:spcPct val="90000"/>
              </a:lnSpc>
              <a:spcBef>
                <a:spcPts val="1000"/>
              </a:spcBef>
              <a:spcAft>
                <a:spcPts val="0"/>
              </a:spcAft>
              <a:buClr>
                <a:schemeClr val="dk1"/>
              </a:buClr>
              <a:buSzPts val="2800"/>
              <a:buChar char="•"/>
            </a:pPr>
            <a:r>
              <a:rPr lang="en-US"/>
              <a:t>Bias and Representativeness</a:t>
            </a:r>
            <a:endParaRPr/>
          </a:p>
          <a:p>
            <a:pPr indent="-228600" lvl="0" marL="228600" rtl="0" algn="l">
              <a:lnSpc>
                <a:spcPct val="90000"/>
              </a:lnSpc>
              <a:spcBef>
                <a:spcPts val="1000"/>
              </a:spcBef>
              <a:spcAft>
                <a:spcPts val="0"/>
              </a:spcAft>
              <a:buClr>
                <a:schemeClr val="dk1"/>
              </a:buClr>
              <a:buSzPts val="2800"/>
              <a:buChar char="•"/>
            </a:pPr>
            <a:r>
              <a:rPr lang="en-US"/>
              <a:t>Temporal and Longitudinal Nature</a:t>
            </a:r>
            <a:endParaRPr/>
          </a:p>
          <a:p>
            <a:pPr indent="-228600" lvl="0" marL="228600" rtl="0" algn="l">
              <a:lnSpc>
                <a:spcPct val="90000"/>
              </a:lnSpc>
              <a:spcBef>
                <a:spcPts val="1000"/>
              </a:spcBef>
              <a:spcAft>
                <a:spcPts val="0"/>
              </a:spcAft>
              <a:buClr>
                <a:schemeClr val="dk1"/>
              </a:buClr>
              <a:buSzPts val="2800"/>
              <a:buChar char="•"/>
            </a:pPr>
            <a:r>
              <a:rPr lang="en-US"/>
              <a:t>Rare Events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Medical Datasets - MIMIC</a:t>
            </a:r>
            <a:endParaRPr/>
          </a:p>
        </p:txBody>
      </p:sp>
      <p:sp>
        <p:nvSpPr>
          <p:cNvPr id="272" name="Google Shape;272;p26"/>
          <p:cNvSpPr txBox="1"/>
          <p:nvPr>
            <p:ph idx="1" type="body"/>
          </p:nvPr>
        </p:nvSpPr>
        <p:spPr>
          <a:xfrm>
            <a:off x="838200" y="1825625"/>
            <a:ext cx="10515600" cy="5492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Medical Information Mart for Intensive Care</a:t>
            </a:r>
            <a:endParaRPr/>
          </a:p>
        </p:txBody>
      </p:sp>
      <p:pic>
        <p:nvPicPr>
          <p:cNvPr descr="MIMIC-IV, a freely accessible electronic health record dataset | Scientific  Data" id="273" name="Google Shape;273;p26"/>
          <p:cNvPicPr preferRelativeResize="0"/>
          <p:nvPr/>
        </p:nvPicPr>
        <p:blipFill rotWithShape="1">
          <a:blip r:embed="rId3">
            <a:alphaModFix/>
          </a:blip>
          <a:srcRect b="0" l="0" r="0" t="0"/>
          <a:stretch/>
        </p:blipFill>
        <p:spPr>
          <a:xfrm>
            <a:off x="1563688" y="2374900"/>
            <a:ext cx="9244012" cy="422390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NIH Chest X-ray Dataset</a:t>
            </a:r>
            <a:endParaRPr/>
          </a:p>
        </p:txBody>
      </p:sp>
      <p:sp>
        <p:nvSpPr>
          <p:cNvPr id="279" name="Google Shape;279;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Comprised of 112,120 X-ray images with disease labels from 30,805 unique patients</a:t>
            </a:r>
            <a:endParaRPr/>
          </a:p>
          <a:p>
            <a:pPr indent="-228600" lvl="0" marL="228600" rtl="0" algn="l">
              <a:lnSpc>
                <a:spcPct val="90000"/>
              </a:lnSpc>
              <a:spcBef>
                <a:spcPts val="1000"/>
              </a:spcBef>
              <a:spcAft>
                <a:spcPts val="0"/>
              </a:spcAft>
              <a:buClr>
                <a:schemeClr val="dk1"/>
              </a:buClr>
              <a:buSzPts val="2800"/>
              <a:buChar char="•"/>
            </a:pPr>
            <a:r>
              <a:rPr lang="en-US"/>
              <a:t>Natural Language Processing to text-mine disease classifications from the associated radiological reports</a:t>
            </a:r>
            <a:endParaRPr/>
          </a:p>
          <a:p>
            <a:pPr indent="-228600" lvl="0" marL="228600" rtl="0" algn="l">
              <a:lnSpc>
                <a:spcPct val="90000"/>
              </a:lnSpc>
              <a:spcBef>
                <a:spcPts val="1000"/>
              </a:spcBef>
              <a:spcAft>
                <a:spcPts val="0"/>
              </a:spcAft>
              <a:buClr>
                <a:schemeClr val="dk1"/>
              </a:buClr>
              <a:buSzPts val="2800"/>
              <a:buChar char="•"/>
            </a:pPr>
            <a:r>
              <a:rPr lang="en-US"/>
              <a:t>Not entirely correct (90%)</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UK Biobank</a:t>
            </a:r>
            <a:endParaRPr/>
          </a:p>
        </p:txBody>
      </p:sp>
      <p:sp>
        <p:nvSpPr>
          <p:cNvPr id="285" name="Google Shape;285;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Large-scale biomedical database </a:t>
            </a:r>
            <a:endParaRPr/>
          </a:p>
          <a:p>
            <a:pPr indent="-228600" lvl="0" marL="228600" rtl="0" algn="l">
              <a:lnSpc>
                <a:spcPct val="90000"/>
              </a:lnSpc>
              <a:spcBef>
                <a:spcPts val="1000"/>
              </a:spcBef>
              <a:spcAft>
                <a:spcPts val="0"/>
              </a:spcAft>
              <a:buClr>
                <a:schemeClr val="dk1"/>
              </a:buClr>
              <a:buSzPts val="2800"/>
              <a:buChar char="•"/>
            </a:pPr>
            <a:r>
              <a:rPr lang="en-US"/>
              <a:t>contains genetic, lifestyle, and health information from 500,000+ UK participants, along with medical imaging data.</a:t>
            </a:r>
            <a:endParaRPr/>
          </a:p>
          <a:p>
            <a:pPr indent="-228600" lvl="0" marL="228600" rtl="0" algn="l">
              <a:lnSpc>
                <a:spcPct val="90000"/>
              </a:lnSpc>
              <a:spcBef>
                <a:spcPts val="1000"/>
              </a:spcBef>
              <a:spcAft>
                <a:spcPts val="0"/>
              </a:spcAft>
              <a:buClr>
                <a:schemeClr val="dk1"/>
              </a:buClr>
              <a:buSzPts val="2800"/>
              <a:buChar char="•"/>
            </a:pPr>
            <a:r>
              <a:rPr lang="en-US"/>
              <a:t> Supports research in genomics, personalized medicine, and disease prediction models.</a:t>
            </a:r>
            <a:endParaRPr/>
          </a:p>
        </p:txBody>
      </p:sp>
      <p:pic>
        <p:nvPicPr>
          <p:cNvPr id="286" name="Google Shape;286;p28"/>
          <p:cNvPicPr preferRelativeResize="0"/>
          <p:nvPr/>
        </p:nvPicPr>
        <p:blipFill rotWithShape="1">
          <a:blip r:embed="rId3">
            <a:alphaModFix/>
          </a:blip>
          <a:srcRect b="0" l="0" r="0" t="0"/>
          <a:stretch/>
        </p:blipFill>
        <p:spPr>
          <a:xfrm>
            <a:off x="1384300" y="4183058"/>
            <a:ext cx="9423400" cy="245904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Kaggle Database/Challenges</a:t>
            </a:r>
            <a:endParaRPr/>
          </a:p>
        </p:txBody>
      </p:sp>
      <p:pic>
        <p:nvPicPr>
          <p:cNvPr id="292" name="Google Shape;292;p29"/>
          <p:cNvPicPr preferRelativeResize="0"/>
          <p:nvPr>
            <p:ph idx="1" type="body"/>
          </p:nvPr>
        </p:nvPicPr>
        <p:blipFill rotWithShape="1">
          <a:blip r:embed="rId3">
            <a:alphaModFix/>
          </a:blip>
          <a:srcRect b="0" l="0" r="0" t="0"/>
          <a:stretch/>
        </p:blipFill>
        <p:spPr>
          <a:xfrm>
            <a:off x="838200" y="2005356"/>
            <a:ext cx="10515600" cy="23408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2025-09-16T21:15:27Z</dcterms:created>
  <dc:creator>Stephen Lostetter</dc:creator>
</cp:coreProperties>
</file>
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321" r:id="rId3"/>
    <p:sldId id="322" r:id="rId4"/>
    <p:sldId id="328" r:id="rId5"/>
    <p:sldId id="351" r:id="rId6"/>
    <p:sldId id="352" r:id="rId7"/>
    <p:sldId id="353" r:id="rId8"/>
    <p:sldId id="323" r:id="rId9"/>
    <p:sldId id="324" r:id="rId10"/>
    <p:sldId id="325" r:id="rId11"/>
    <p:sldId id="326" r:id="rId12"/>
    <p:sldId id="341" r:id="rId13"/>
    <p:sldId id="355" r:id="rId14"/>
    <p:sldId id="329" r:id="rId15"/>
    <p:sldId id="330" r:id="rId16"/>
    <p:sldId id="333" r:id="rId17"/>
    <p:sldId id="331" r:id="rId18"/>
    <p:sldId id="335" r:id="rId19"/>
    <p:sldId id="332" r:id="rId20"/>
    <p:sldId id="263" r:id="rId21"/>
    <p:sldId id="337" r:id="rId22"/>
    <p:sldId id="336" r:id="rId23"/>
    <p:sldId id="339" r:id="rId24"/>
    <p:sldId id="340" r:id="rId25"/>
    <p:sldId id="342" r:id="rId26"/>
    <p:sldId id="344" r:id="rId27"/>
    <p:sldId id="343" r:id="rId28"/>
    <p:sldId id="345" r:id="rId29"/>
    <p:sldId id="346" r:id="rId30"/>
    <p:sldId id="347" r:id="rId31"/>
    <p:sldId id="348" r:id="rId32"/>
    <p:sldId id="349" r:id="rId33"/>
    <p:sldId id="350" r:id="rId34"/>
    <p:sldId id="354" r:id="rId35"/>
    <p:sldId id="320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583" autoAdjust="0"/>
  </p:normalViewPr>
  <p:slideViewPr>
    <p:cSldViewPr snapToGrid="0">
      <p:cViewPr varScale="1">
        <p:scale>
          <a:sx n="30" d="100"/>
          <a:sy n="30" d="100"/>
        </p:scale>
        <p:origin x="120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AFD4C-871F-4188-A2E3-671748259AD7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76FE2-6C58-4AD0-B302-D74066EE2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90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891D-551F-DF84-177F-1750E2275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60147-5869-1342-16FF-C1AC20EA0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EB1BD-6BB0-6553-FDFC-25E31D0A4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in this class is to get you from just 1 to 1 and 2, be aware of 3 and not really understand 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2CBE6-AA71-A0E6-135C-6811D255E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54692F-6BD4-4D72-8352-56558A83A1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9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retinal eye screen – supervised classification of image</a:t>
            </a:r>
          </a:p>
          <a:p>
            <a:r>
              <a:rPr lang="en-US" dirty="0"/>
              <a:t>Hemorrhage detection -&gt; supervised classification of image</a:t>
            </a:r>
          </a:p>
          <a:p>
            <a:r>
              <a:rPr lang="en-US" dirty="0"/>
              <a:t>Ambient medical scribe -&gt; supervised multiclass classification of audio where classes are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36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upload -&gt; Patients had to wait</a:t>
            </a:r>
          </a:p>
          <a:p>
            <a:r>
              <a:rPr lang="en-US" dirty="0"/>
              <a:t>Had thresholds for positive and negative, in between was IDK</a:t>
            </a:r>
          </a:p>
          <a:p>
            <a:r>
              <a:rPr lang="en-US" dirty="0"/>
              <a:t>Nurses spent time fixing poor images to get a result, leading to delays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Technical: Regression or temperature based classification of patients into sepsis protocol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FFBD3-EE67-45B0-947A-CCEC0070553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176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question to be asking clinically</a:t>
            </a:r>
          </a:p>
          <a:p>
            <a:r>
              <a:rPr lang="en-US" dirty="0"/>
              <a:t>Something that can easily be achieved by existing ML models</a:t>
            </a:r>
          </a:p>
          <a:p>
            <a:r>
              <a:rPr lang="en-US" dirty="0"/>
              <a:t>Something that can improve the way patients are treated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69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a condition becomes more common, or starts to present in a different way</a:t>
            </a:r>
          </a:p>
          <a:p>
            <a:r>
              <a:rPr lang="en-US" dirty="0"/>
              <a:t>Ex. Covid made ARDS much more common in the general population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843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in the procedural or surgical workflow could AI intervene?</a:t>
            </a:r>
          </a:p>
          <a:p>
            <a:r>
              <a:rPr lang="en-US" dirty="0"/>
              <a:t>Is AI or regular algorithms better for surgery? Can the two be used in tandem?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53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made a new intracranial hemorrhage detection algorithm, we could cite </a:t>
            </a:r>
            <a:r>
              <a:rPr lang="en-US" dirty="0" err="1"/>
              <a:t>Aidoc</a:t>
            </a:r>
            <a:r>
              <a:rPr lang="en-US" dirty="0"/>
              <a:t> as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76FE2-6C58-4AD0-B302-D74066EE2D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93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0AFA3-49BD-1F60-C8BF-5AC23F1D5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2A092-9DD1-2BC6-8119-A2BCFDC7E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E5C70-FCB2-ABC0-A33E-4F9E3C4C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4C2FF-E42F-0095-89F6-BA996F35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A7A99-C37B-21A2-1860-8584971F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6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D7F1A-3A30-BA7C-27A3-4282CF293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9A75-BADD-975E-F789-9852DBE17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22BD6-1B24-3157-A143-3E4BDBE83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FDD6C-2708-133D-97D1-416B16ED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986FB-7535-BD78-479F-546035BB4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61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B7B05-AD88-8670-C30F-036E0B27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46640-6C01-9425-7E90-858CED2E2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3AE4E-9152-8D7A-8E8A-6933F3ED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8F1B9-525B-B102-54CF-72E84B3A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D8802-BA64-9D79-255B-C582FE05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99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E4BF-3EEA-5E94-A159-6CE3376B4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50FDD-510B-198F-C73F-5A23E8EF0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2C026-FE24-74FF-7F4D-A04D60B0A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944F5-BD52-487A-DAE0-28783E704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66195-7598-5C38-4AC1-300884D8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A4E73-D126-45FC-60FC-B40B2AEE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58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2E3C-91AE-7E36-2311-A59A182D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5AD3-93E9-7B24-2369-2C456970E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7388E-41B6-8BDA-DC6F-00554D488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4736E-AAAD-BD7E-EE53-6EAFEA560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E5AD92-F406-FCA1-9587-6766E306F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8A102B-837D-51A3-5649-964B85E08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7E6171-A155-68B4-1E57-F323BAA2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5E8BC-F417-02EC-9920-707F4F5F7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CEE0D-FA42-A883-B3D7-BE4A2B5E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A18DB-4BAE-1BE2-83C9-CA37BE9B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9CE0B-F892-0392-81E6-D0F85F39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A6602-B250-CC1E-4580-43A769FBB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1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7EA3-7202-A9FA-BFBB-BF890E37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BD4CFF-C6D3-C851-A8B7-3DDB8E03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C8F4B-BB4D-E447-8D3B-C05D4B386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5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4B688-DFEE-103F-0E28-CDEC11284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59C56-3D2C-9F81-24AB-F8DF76BD7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1D599-2E92-6FA1-6C02-6FEEDD69E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48408-F2F3-4FC5-AC31-7E99863D9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3A38A-6842-60E5-1DE3-99EAFE8D3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768F-B3A6-8F8B-FBA0-FC6E4462C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2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80D49-5AE5-2147-0CFC-59FE11AF8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E05E8-640A-8280-1549-040EE9488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4936D5-3E3C-9BEF-0958-7365EBDB5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326E1-2D40-AA99-EAD5-964BFBEF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2C966-4EC1-DAEC-7F0C-62F761710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64F49-E46C-8CAB-99CC-D7E9E5059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61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D2ED-E719-2408-31CE-57588739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2B946-36A5-2E10-EFF2-129EC1738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1F0A7-43E6-5C1F-00A3-DA33BC59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21F23-2B2C-8B2E-C0F8-4A76B685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865A3-6287-7460-0D93-0F682F89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32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2F716-5B6F-138C-80BB-05384A07AE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9C608-3D94-AC2D-EF53-215E3BE2F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2A40-8DC4-BC4E-2C80-E77F1EA8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97E70-188D-C30A-6E91-EC57695C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3483F-1FF2-DD16-0BC8-0D048EC77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43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AB65A-0E1A-8760-FD2E-74F16B281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8F900-4313-A56D-D0A8-E65E37C8B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1879C-17D1-F9AB-0E50-4AFCC7F74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A77114-D2B9-4C36-8D5E-3310F676D1A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A8DEB-46ED-A27E-146A-3F5B8129F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0DCC-CA14-4F0F-4E4F-E09FD3BFA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0F4336-36D9-4287-8A8F-3EC131ACE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3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A42C-A7CE-ED9B-3983-8DF9EA10D6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3554F-CE14-BE15-C4EA-B40381068C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10: AI in the Clinic</a:t>
            </a:r>
          </a:p>
        </p:txBody>
      </p:sp>
    </p:spTree>
    <p:extLst>
      <p:ext uri="{BB962C8B-B14F-4D97-AF65-F5344CB8AC3E}">
        <p14:creationId xmlns:p14="http://schemas.microsoft.com/office/powerpoint/2010/main" val="3053875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92C5-9664-E9D3-9B1F-DFCFFBB9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E09E-FFDB-4A60-620E-861027CE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Explored infrastructure available which is used to create, accelerate and deploy AI</a:t>
            </a:r>
          </a:p>
          <a:p>
            <a:pPr lvl="1"/>
            <a:r>
              <a:rPr lang="en-US" dirty="0"/>
              <a:t>GPU vs CPU</a:t>
            </a:r>
          </a:p>
          <a:p>
            <a:pPr lvl="1"/>
            <a:r>
              <a:rPr lang="en-US" dirty="0"/>
              <a:t>AI Data Centers</a:t>
            </a:r>
          </a:p>
          <a:p>
            <a:pPr lvl="1"/>
            <a:r>
              <a:rPr lang="en-US" dirty="0"/>
              <a:t>Python packages like </a:t>
            </a:r>
            <a:r>
              <a:rPr lang="en-US" dirty="0" err="1"/>
              <a:t>PyTorch</a:t>
            </a:r>
            <a:r>
              <a:rPr lang="en-US" dirty="0"/>
              <a:t>, TensorFlow</a:t>
            </a:r>
          </a:p>
          <a:p>
            <a:r>
              <a:rPr lang="en-US" dirty="0"/>
              <a:t>Discovered ways to collaboratively train model weights</a:t>
            </a:r>
          </a:p>
          <a:p>
            <a:pPr lvl="1"/>
            <a:r>
              <a:rPr lang="en-US" dirty="0"/>
              <a:t>Federated Learning</a:t>
            </a:r>
          </a:p>
          <a:p>
            <a:pPr lvl="1"/>
            <a:r>
              <a:rPr lang="en-US" dirty="0"/>
              <a:t>Pretraining</a:t>
            </a:r>
          </a:p>
          <a:p>
            <a:pPr lvl="1"/>
            <a:r>
              <a:rPr lang="en-US" dirty="0"/>
              <a:t>Public Datasets</a:t>
            </a:r>
          </a:p>
        </p:txBody>
      </p:sp>
    </p:spTree>
    <p:extLst>
      <p:ext uri="{BB962C8B-B14F-4D97-AF65-F5344CB8AC3E}">
        <p14:creationId xmlns:p14="http://schemas.microsoft.com/office/powerpoint/2010/main" val="257429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51AB1-8EC5-B931-6B1F-8C2426500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3578C-2D61-0B85-FC42-4561D13EC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bring everything we know into the clinic and make strong decisions that benefit patients?</a:t>
            </a:r>
          </a:p>
          <a:p>
            <a:r>
              <a:rPr lang="en-US" dirty="0"/>
              <a:t>Practice thinking about ways existing AI interventions work</a:t>
            </a:r>
          </a:p>
          <a:p>
            <a:r>
              <a:rPr lang="en-US" dirty="0"/>
              <a:t>How do you build a team of experts to go from idea to working application?</a:t>
            </a:r>
          </a:p>
          <a:p>
            <a:r>
              <a:rPr lang="en-US" dirty="0"/>
              <a:t>What does the FDA approval process for medical devices look like?</a:t>
            </a:r>
          </a:p>
        </p:txBody>
      </p:sp>
    </p:spTree>
    <p:extLst>
      <p:ext uri="{BB962C8B-B14F-4D97-AF65-F5344CB8AC3E}">
        <p14:creationId xmlns:p14="http://schemas.microsoft.com/office/powerpoint/2010/main" val="3693227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6DB9-33EC-15C1-4CA1-22B340020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58C8-17A6-1260-8E08-1C579395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Posing a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01085-CE73-3BC8-770A-99DFC8FD7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34288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Clinical question to answer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Technical problem statement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Regression vs classification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Supervised vs semi-supervised vs unsupervised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Other technical details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Loss function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Training regime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Network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Implementation, coding and deployment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EEE2CCB-2D6A-A184-910D-32A748CB1C97}"/>
              </a:ext>
            </a:extLst>
          </p:cNvPr>
          <p:cNvCxnSpPr/>
          <p:nvPr/>
        </p:nvCxnSpPr>
        <p:spPr>
          <a:xfrm>
            <a:off x="8915400" y="1057275"/>
            <a:ext cx="0" cy="464343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E7D8A8-5D84-788D-B7F2-2DCE2D577476}"/>
              </a:ext>
            </a:extLst>
          </p:cNvPr>
          <p:cNvCxnSpPr/>
          <p:nvPr/>
        </p:nvCxnSpPr>
        <p:spPr>
          <a:xfrm>
            <a:off x="9271322" y="1825625"/>
            <a:ext cx="0" cy="8249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336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F44C6-DCCB-6A11-3F87-52B8A9962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to 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2C1B-C744-3D9C-A4EE-B61EC2955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many ways to approach a problem – many right answers</a:t>
            </a:r>
          </a:p>
          <a:p>
            <a:r>
              <a:rPr lang="en-US" dirty="0"/>
              <a:t>90% of the work is gathering the data</a:t>
            </a:r>
          </a:p>
          <a:p>
            <a:r>
              <a:rPr lang="en-US" dirty="0"/>
              <a:t>Something working poorly is better than nothing (just make it exist)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049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13B6-A6AF-F611-61B0-24299BE4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825"/>
            <a:ext cx="10515600" cy="1325563"/>
          </a:xfrm>
        </p:spPr>
        <p:txBody>
          <a:bodyPr/>
          <a:lstStyle/>
          <a:p>
            <a:r>
              <a:rPr lang="en-US" dirty="0"/>
              <a:t>AI Menu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1B97AC-83EF-D750-2EC0-D2C8D575D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9844922"/>
              </p:ext>
            </p:extLst>
          </p:nvPr>
        </p:nvGraphicFramePr>
        <p:xfrm>
          <a:off x="838200" y="1102290"/>
          <a:ext cx="10515596" cy="3112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08">
                  <a:extLst>
                    <a:ext uri="{9D8B030D-6E8A-4147-A177-3AD203B41FA5}">
                      <a16:colId xmlns:a16="http://schemas.microsoft.com/office/drawing/2014/main" val="1396798997"/>
                    </a:ext>
                  </a:extLst>
                </a:gridCol>
                <a:gridCol w="3252590">
                  <a:extLst>
                    <a:ext uri="{9D8B030D-6E8A-4147-A177-3AD203B41FA5}">
                      <a16:colId xmlns:a16="http://schemas.microsoft.com/office/drawing/2014/main" val="227120458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588239660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570494080"/>
                    </a:ext>
                  </a:extLst>
                </a:gridCol>
              </a:tblGrid>
              <a:tr h="192301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AI Tasks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102974"/>
                  </a:ext>
                </a:extLst>
              </a:tr>
              <a:tr h="4609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Multi-class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Predicting a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Predicting which group of two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Predicting which group of 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61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Hosp Stay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Stroke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LLMs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805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Activation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ReLU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Sigmoid/Tanh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/>
                        <a:t>Softmax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69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Loss </a:t>
                      </a:r>
                      <a:r>
                        <a:rPr lang="en-US" sz="2400" dirty="0" err="1"/>
                        <a:t>Fn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Mean squared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Log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Multiclass log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126035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E69B39E-405C-AC60-EE94-32985D316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1958771"/>
              </p:ext>
            </p:extLst>
          </p:nvPr>
        </p:nvGraphicFramePr>
        <p:xfrm>
          <a:off x="838200" y="4564794"/>
          <a:ext cx="10515596" cy="2106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08">
                  <a:extLst>
                    <a:ext uri="{9D8B030D-6E8A-4147-A177-3AD203B41FA5}">
                      <a16:colId xmlns:a16="http://schemas.microsoft.com/office/drawing/2014/main" val="1396798997"/>
                    </a:ext>
                  </a:extLst>
                </a:gridCol>
                <a:gridCol w="3252590">
                  <a:extLst>
                    <a:ext uri="{9D8B030D-6E8A-4147-A177-3AD203B41FA5}">
                      <a16:colId xmlns:a16="http://schemas.microsoft.com/office/drawing/2014/main" val="2271204583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588239660"/>
                    </a:ext>
                  </a:extLst>
                </a:gridCol>
                <a:gridCol w="2628899">
                  <a:extLst>
                    <a:ext uri="{9D8B030D-6E8A-4147-A177-3AD203B41FA5}">
                      <a16:colId xmlns:a16="http://schemas.microsoft.com/office/drawing/2014/main" val="2570494080"/>
                    </a:ext>
                  </a:extLst>
                </a:gridCol>
              </a:tblGrid>
              <a:tr h="192301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Training Regimes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102974"/>
                  </a:ext>
                </a:extLst>
              </a:tr>
              <a:tr h="4609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Self-Supervised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Unsupervised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We tell model what outputs should 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Block part of data and try to guess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Choose </a:t>
                      </a:r>
                      <a:r>
                        <a:rPr lang="en-US" sz="2400" dirty="0" err="1"/>
                        <a:t>hparams</a:t>
                      </a:r>
                      <a:r>
                        <a:rPr lang="en-US" sz="2400" dirty="0"/>
                        <a:t> and let model find trends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61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84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B3C6-709C-8586-902A-C0F25D76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Menu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BB8513-E108-A305-BBF8-B206F62AD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815901"/>
              </p:ext>
            </p:extLst>
          </p:nvPr>
        </p:nvGraphicFramePr>
        <p:xfrm>
          <a:off x="30009" y="2055813"/>
          <a:ext cx="39958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158">
                  <a:extLst>
                    <a:ext uri="{9D8B030D-6E8A-4147-A177-3AD203B41FA5}">
                      <a16:colId xmlns:a16="http://schemas.microsoft.com/office/drawing/2014/main" val="2271204583"/>
                    </a:ext>
                  </a:extLst>
                </a:gridCol>
                <a:gridCol w="1234322">
                  <a:extLst>
                    <a:ext uri="{9D8B030D-6E8A-4147-A177-3AD203B41FA5}">
                      <a16:colId xmlns:a16="http://schemas.microsoft.com/office/drawing/2014/main" val="588239660"/>
                    </a:ext>
                  </a:extLst>
                </a:gridCol>
                <a:gridCol w="1234322">
                  <a:extLst>
                    <a:ext uri="{9D8B030D-6E8A-4147-A177-3AD203B41FA5}">
                      <a16:colId xmlns:a16="http://schemas.microsoft.com/office/drawing/2014/main" val="2570494080"/>
                    </a:ext>
                  </a:extLst>
                </a:gridCol>
              </a:tblGrid>
              <a:tr h="192301">
                <a:tc gridSpan="3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Special Data Types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102974"/>
                  </a:ext>
                </a:extLst>
              </a:tr>
              <a:tr h="4609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Time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Imaging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79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261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380512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97A8C2-00E0-8754-59F5-1F36BAB74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829" y="0"/>
            <a:ext cx="3965171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6EE5F4-7B5B-104A-AAD0-E78FEF4C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216" y="0"/>
            <a:ext cx="41326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4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D0251-613D-0488-6313-7EC0A8D2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AI On the Market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4CA3B-4C12-A3F1-A80F-538B32A0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695" y="1690688"/>
            <a:ext cx="4795777" cy="2065681"/>
          </a:xfrm>
          <a:prstGeom prst="rect">
            <a:avLst/>
          </a:prstGeom>
        </p:spPr>
      </p:pic>
      <p:pic>
        <p:nvPicPr>
          <p:cNvPr id="1030" name="Picture 6" descr="Google AI uses retinal scans to estimate heart disease risk | Technology  News - The Indian Express">
            <a:extLst>
              <a:ext uri="{FF2B5EF4-FFF2-40B4-BE49-F238E27FC236}">
                <a16:creationId xmlns:a16="http://schemas.microsoft.com/office/drawing/2014/main" id="{7B7C5674-D14D-ACE2-CEB7-6B30276A3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28" y="1681454"/>
            <a:ext cx="5717472" cy="3178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mbient Medical Scribe AI: A Game-changer in Healthcare">
            <a:extLst>
              <a:ext uri="{FF2B5EF4-FFF2-40B4-BE49-F238E27FC236}">
                <a16:creationId xmlns:a16="http://schemas.microsoft.com/office/drawing/2014/main" id="{1E75631A-1A22-BB96-C5AA-BF9FDE18E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695" y="3999095"/>
            <a:ext cx="4844003" cy="27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E72DC-D3C1-D5E8-E8D2-520A892BA11D}"/>
              </a:ext>
            </a:extLst>
          </p:cNvPr>
          <p:cNvSpPr txBox="1"/>
          <p:nvPr/>
        </p:nvSpPr>
        <p:spPr>
          <a:xfrm>
            <a:off x="173620" y="5034987"/>
            <a:ext cx="63361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have you guys heard of that’s out there?</a:t>
            </a:r>
          </a:p>
          <a:p>
            <a:endParaRPr lang="en-US" sz="2400" dirty="0"/>
          </a:p>
          <a:p>
            <a:r>
              <a:rPr lang="en-US" sz="2400" dirty="0"/>
              <a:t>Can we use what we know to make guesses as to how these work?</a:t>
            </a:r>
          </a:p>
        </p:txBody>
      </p:sp>
    </p:spTree>
    <p:extLst>
      <p:ext uri="{BB962C8B-B14F-4D97-AF65-F5344CB8AC3E}">
        <p14:creationId xmlns:p14="http://schemas.microsoft.com/office/powerpoint/2010/main" val="4107465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0A45-7DFA-FF8A-B4AE-D26D493D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to Consider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D248B8-327B-B7BD-816B-827428EF9E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144" y="1825625"/>
            <a:ext cx="773571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14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0BE9D-2617-9EF4-386B-8C84DA6C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5A2C-C654-3638-248A-5B103DBD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the clinician, your role is to pose a clinical question</a:t>
            </a:r>
          </a:p>
          <a:p>
            <a:pPr lvl="1"/>
            <a:r>
              <a:rPr lang="en-US" dirty="0"/>
              <a:t>Great investigators will keep the roles of other team members in mind</a:t>
            </a:r>
          </a:p>
          <a:p>
            <a:pPr lvl="1"/>
            <a:r>
              <a:rPr lang="en-US" dirty="0"/>
              <a:t>For example, an idea that has a certain novel network in mind is how you execute a cutting-edge idea and get engineers excited</a:t>
            </a:r>
          </a:p>
          <a:p>
            <a:r>
              <a:rPr lang="en-US" dirty="0"/>
              <a:t>Clinical pain point + feasible implementation = novel success</a:t>
            </a:r>
          </a:p>
          <a:p>
            <a:endParaRPr lang="en-US" dirty="0"/>
          </a:p>
        </p:txBody>
      </p:sp>
      <p:pic>
        <p:nvPicPr>
          <p:cNvPr id="14338" name="Picture 2" descr="Diffusion models in medical imaging: A comprehensive survey - ScienceDirect">
            <a:extLst>
              <a:ext uri="{FF2B5EF4-FFF2-40B4-BE49-F238E27FC236}">
                <a16:creationId xmlns:a16="http://schemas.microsoft.com/office/drawing/2014/main" id="{C4365CFC-90B1-8E84-BAAD-89A5CB0B4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12" y="210473"/>
            <a:ext cx="3033713" cy="163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46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9EE3-11DE-027C-52D9-95157753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E320E-6D40-2DF6-552E-1C13DD74C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Clinician: identify clinical pain point or question</a:t>
            </a:r>
          </a:p>
          <a:p>
            <a:r>
              <a:rPr lang="en-US" dirty="0"/>
              <a:t>Data engineer: source and clean data</a:t>
            </a:r>
          </a:p>
          <a:p>
            <a:r>
              <a:rPr lang="en-US" dirty="0"/>
              <a:t>Data scientist: perform analysis on data, including running models</a:t>
            </a:r>
          </a:p>
          <a:p>
            <a:r>
              <a:rPr lang="en-US" dirty="0"/>
              <a:t>Software engineer: build consistent applications that house models</a:t>
            </a:r>
          </a:p>
          <a:p>
            <a:r>
              <a:rPr lang="en-US" dirty="0"/>
              <a:t>Clinical Ethicist: Act as consultant regarding bias/safety of model</a:t>
            </a:r>
          </a:p>
        </p:txBody>
      </p:sp>
    </p:spTree>
    <p:extLst>
      <p:ext uri="{BB962C8B-B14F-4D97-AF65-F5344CB8AC3E}">
        <p14:creationId xmlns:p14="http://schemas.microsoft.com/office/powerpoint/2010/main" val="497233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5860F-EFA7-6347-F593-FF104130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Research to Deployment Timeline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D9C7A-8101-46BE-6A1C-07AD1D623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Pose a relevant clinical question</a:t>
            </a:r>
          </a:p>
          <a:p>
            <a:r>
              <a:rPr lang="en-US" dirty="0"/>
              <a:t>Software/data team develops possible intervention</a:t>
            </a:r>
          </a:p>
          <a:p>
            <a:r>
              <a:rPr lang="en-US" dirty="0"/>
              <a:t>Intervention is compared to humans (or humans +-) compared (often RCT)</a:t>
            </a:r>
          </a:p>
          <a:p>
            <a:r>
              <a:rPr lang="en-US" dirty="0"/>
              <a:t>Assess for clinical safety, efficiency</a:t>
            </a:r>
          </a:p>
          <a:p>
            <a:r>
              <a:rPr lang="en-US" dirty="0"/>
              <a:t>Software team begins scaling and deployment</a:t>
            </a:r>
          </a:p>
          <a:p>
            <a:r>
              <a:rPr lang="en-US" dirty="0"/>
              <a:t>Post deployment monitoring</a:t>
            </a:r>
          </a:p>
        </p:txBody>
      </p:sp>
    </p:spTree>
    <p:extLst>
      <p:ext uri="{BB962C8B-B14F-4D97-AF65-F5344CB8AC3E}">
        <p14:creationId xmlns:p14="http://schemas.microsoft.com/office/powerpoint/2010/main" val="2746782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0344E-3542-5BBC-8841-9B5373AC2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With Clinical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01227-245C-D791-D13E-03BEDF1C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17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Google’s Retinal AI </a:t>
            </a:r>
          </a:p>
          <a:p>
            <a:r>
              <a:rPr lang="en-US" dirty="0"/>
              <a:t>What were some challenges to implementation they faced?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CD105B80-AEF5-72A3-2F14-579C28A0D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43200"/>
            <a:ext cx="6345934" cy="370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7E296-00E4-37C7-B346-90502B024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0146" y="3044746"/>
            <a:ext cx="4659684" cy="310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87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AB4C-1784-2558-196F-7F2981FF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Clinical Data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E929E-15A1-27AE-387B-5FDA10D73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Electronic Health Record (EHR) Systems</a:t>
            </a:r>
          </a:p>
          <a:p>
            <a:r>
              <a:rPr lang="en-US" dirty="0"/>
              <a:t>Picture Archiving and Communication Systems (PACS)</a:t>
            </a:r>
          </a:p>
          <a:p>
            <a:r>
              <a:rPr lang="en-US" dirty="0"/>
              <a:t>Surgical Robotics Integration</a:t>
            </a:r>
          </a:p>
        </p:txBody>
      </p:sp>
    </p:spTree>
    <p:extLst>
      <p:ext uri="{BB962C8B-B14F-4D97-AF65-F5344CB8AC3E}">
        <p14:creationId xmlns:p14="http://schemas.microsoft.com/office/powerpoint/2010/main" val="175335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68C4B-A632-C675-CCE0-E9FAB3BB7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E0856-F82B-DFAB-C5AE-04FAC695E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9459"/>
          </a:xfrm>
        </p:spPr>
        <p:txBody>
          <a:bodyPr/>
          <a:lstStyle/>
          <a:p>
            <a:r>
              <a:rPr lang="en-US" dirty="0"/>
              <a:t>Many on the market- they all have their own nuances</a:t>
            </a:r>
          </a:p>
          <a:p>
            <a:r>
              <a:rPr lang="en-US" dirty="0"/>
              <a:t>FHIR (Fast Healthcare Interoperability Resources)</a:t>
            </a:r>
          </a:p>
          <a:p>
            <a:r>
              <a:rPr lang="en-US" dirty="0"/>
              <a:t>Patient, observation, observer data structure</a:t>
            </a: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3CC4C9C0-9AA1-AFD1-DD57-42D2EEFEDC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390" y="3345084"/>
            <a:ext cx="6879220" cy="333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825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98BC8-C674-72F6-531D-7E31132E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EHR Integration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6D07-71BB-74B5-6D1C-846A35CD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Medical Coding</a:t>
            </a:r>
          </a:p>
          <a:p>
            <a:r>
              <a:rPr lang="en-US" dirty="0"/>
              <a:t>Operational Optimization (scheduling, billing)</a:t>
            </a:r>
          </a:p>
        </p:txBody>
      </p:sp>
    </p:spTree>
    <p:extLst>
      <p:ext uri="{BB962C8B-B14F-4D97-AF65-F5344CB8AC3E}">
        <p14:creationId xmlns:p14="http://schemas.microsoft.com/office/powerpoint/2010/main" val="2054127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Best EMR &amp; EHR Software 2021 Reviews, Free Demo And Pricing">
            <a:extLst>
              <a:ext uri="{FF2B5EF4-FFF2-40B4-BE49-F238E27FC236}">
                <a16:creationId xmlns:a16="http://schemas.microsoft.com/office/drawing/2014/main" id="{7CB761EE-8E92-662F-B94E-8029B932B1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489" y="717630"/>
            <a:ext cx="11144911" cy="534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4EC1E9-AA79-F63B-A054-564259616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7567"/>
            <a:ext cx="10515600" cy="3361923"/>
          </a:xfrm>
          <a:gradFill flip="none" rotWithShape="1">
            <a:gsLst>
              <a:gs pos="0">
                <a:srgbClr val="C00000">
                  <a:shade val="30000"/>
                  <a:satMod val="115000"/>
                  <a:alpha val="26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txBody>
          <a:bodyPr>
            <a:normAutofit/>
          </a:bodyPr>
          <a:lstStyle/>
          <a:p>
            <a:r>
              <a:rPr lang="en-US" dirty="0"/>
              <a:t>What are some clinical pain points for AI integration in the EHR?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How might these be implemented?</a:t>
            </a:r>
          </a:p>
        </p:txBody>
      </p:sp>
    </p:spTree>
    <p:extLst>
      <p:ext uri="{BB962C8B-B14F-4D97-AF65-F5344CB8AC3E}">
        <p14:creationId xmlns:p14="http://schemas.microsoft.com/office/powerpoint/2010/main" val="2876044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4EFCF-D522-D3F5-64EC-5D29BFDD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E856-AC0A-343A-2DD5-6B53C9FC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 Sepsis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AC6E8-14FF-F5FC-FE90-99A1B8DFA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developed by EPIC and integrated into EHR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Per EPIC:</a:t>
            </a:r>
          </a:p>
          <a:p>
            <a:pPr lvl="1"/>
            <a:r>
              <a:rPr lang="en-US" dirty="0"/>
              <a:t>Before: SIRS Criteria was flagged, but too many false +</a:t>
            </a:r>
          </a:p>
          <a:p>
            <a:pPr lvl="1"/>
            <a:r>
              <a:rPr lang="en-US" dirty="0"/>
              <a:t>Replaced with 60 factor model for assignment of risk score</a:t>
            </a:r>
          </a:p>
          <a:p>
            <a:pPr lvl="1"/>
            <a:r>
              <a:rPr lang="en-US" dirty="0"/>
              <a:t>Highlights contribution of features into score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F6DA9-9051-1E2C-B446-38985A66E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2540140"/>
            <a:ext cx="9402487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146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5F0F-69FC-3DE5-5C39-AB514A01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 Sepsis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D649F-5279-C485-35CD-DEB6CDEDC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B1CBD3-2253-749D-CDEE-D940AB9CB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1690688"/>
            <a:ext cx="9507277" cy="1533739"/>
          </a:xfrm>
          <a:prstGeom prst="rect">
            <a:avLst/>
          </a:prstGeom>
        </p:spPr>
      </p:pic>
      <p:pic>
        <p:nvPicPr>
          <p:cNvPr id="5122" name="Picture 2" descr="Receiver operating characteristic - Wikipedia">
            <a:extLst>
              <a:ext uri="{FF2B5EF4-FFF2-40B4-BE49-F238E27FC236}">
                <a16:creationId xmlns:a16="http://schemas.microsoft.com/office/drawing/2014/main" id="{AE9D972C-D7CC-9172-BA97-C7EFE15BB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56" y="3429000"/>
            <a:ext cx="3150605" cy="315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A59A4B-2EAC-ED22-4F90-67DFEC75D3E2}"/>
              </a:ext>
            </a:extLst>
          </p:cNvPr>
          <p:cNvSpPr txBox="1"/>
          <p:nvPr/>
        </p:nvSpPr>
        <p:spPr>
          <a:xfrm>
            <a:off x="3678880" y="3903659"/>
            <a:ext cx="3993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one corresponds to about AUROC = .63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5D23F9-D309-9D72-154B-26BEE4878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695" y="3285626"/>
            <a:ext cx="4982270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25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09FC9505-7494-E68B-267C-D038B695CF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338607"/>
              </p:ext>
            </p:extLst>
          </p:nvPr>
        </p:nvGraphicFramePr>
        <p:xfrm>
          <a:off x="1" y="-1"/>
          <a:ext cx="12191999" cy="6858001"/>
        </p:xfrm>
        <a:graphic>
          <a:graphicData uri="http://schemas.openxmlformats.org/drawingml/2006/table">
            <a:tbl>
              <a:tblPr/>
              <a:tblGrid>
                <a:gridCol w="6095989">
                  <a:extLst>
                    <a:ext uri="{9D8B030D-6E8A-4147-A177-3AD203B41FA5}">
                      <a16:colId xmlns:a16="http://schemas.microsoft.com/office/drawing/2014/main" val="1066187513"/>
                    </a:ext>
                  </a:extLst>
                </a:gridCol>
                <a:gridCol w="6096010">
                  <a:extLst>
                    <a:ext uri="{9D8B030D-6E8A-4147-A177-3AD203B41FA5}">
                      <a16:colId xmlns:a16="http://schemas.microsoft.com/office/drawing/2014/main" val="729878784"/>
                    </a:ext>
                  </a:extLst>
                </a:gridCol>
              </a:tblGrid>
              <a:tr h="615300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27053"/>
                  </a:ext>
                </a:extLst>
              </a:tr>
              <a:tr h="543713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006767"/>
                  </a:ext>
                </a:extLst>
              </a:tr>
              <a:tr h="568683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Technical Problem Statement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5C5C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440160"/>
                  </a:ext>
                </a:extLst>
              </a:tr>
              <a:tr h="556789">
                <a:tc gridSpan="2"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917909"/>
                  </a:ext>
                </a:extLst>
              </a:tr>
              <a:tr h="568683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C5C5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058476"/>
                  </a:ext>
                </a:extLst>
              </a:tr>
              <a:tr h="171807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18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dirty="0"/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2D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4879990"/>
                  </a:ext>
                </a:extLst>
              </a:tr>
              <a:tr h="568683"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Network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2000" kern="14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</a:t>
                      </a: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932619"/>
                  </a:ext>
                </a:extLst>
              </a:tr>
              <a:tr h="171807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2000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883" marR="34883" marT="34883" marB="34883">
                    <a:lnL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FFE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643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597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19D6-BDE7-F0FC-C96B-F4E4453AE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EPIC Sepsis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26008-C3D1-C0AB-59F7-D5C1E3736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Poor PPV -&gt; Alert fatigue, not solving problem it set out to</a:t>
            </a:r>
          </a:p>
          <a:p>
            <a:r>
              <a:rPr lang="en-US" dirty="0"/>
              <a:t>Proprietary models need scrutiny d/t conflict of interest</a:t>
            </a:r>
          </a:p>
          <a:p>
            <a:r>
              <a:rPr lang="en-US" dirty="0"/>
              <a:t>Let’s rate the following</a:t>
            </a:r>
          </a:p>
          <a:p>
            <a:pPr lvl="1"/>
            <a:r>
              <a:rPr lang="en-US" dirty="0"/>
              <a:t>Clinical motivation</a:t>
            </a:r>
          </a:p>
          <a:p>
            <a:pPr lvl="1"/>
            <a:r>
              <a:rPr lang="en-US" dirty="0"/>
              <a:t>Technical feasibility</a:t>
            </a:r>
          </a:p>
          <a:p>
            <a:pPr lvl="1"/>
            <a:r>
              <a:rPr lang="en-US" dirty="0"/>
              <a:t>Clinical utility</a:t>
            </a:r>
          </a:p>
          <a:p>
            <a:r>
              <a:rPr lang="en-US" dirty="0"/>
              <a:t>How would we improve this model? (or any model worse than clinicians)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15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9889-73BD-4482-7897-14D86B42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1A849-0852-E8A0-3048-34373414F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Picture Archiving and Communication Systems (PACS)</a:t>
            </a:r>
          </a:p>
          <a:p>
            <a:r>
              <a:rPr lang="en-US" dirty="0"/>
              <a:t>Database where Radiology images are stored</a:t>
            </a:r>
          </a:p>
          <a:p>
            <a:r>
              <a:rPr lang="en-US" dirty="0"/>
              <a:t>Interface for loading, viewing and reporting on Radiology studies</a:t>
            </a:r>
          </a:p>
          <a:p>
            <a:endParaRPr lang="en-US" dirty="0"/>
          </a:p>
        </p:txBody>
      </p:sp>
      <p:pic>
        <p:nvPicPr>
          <p:cNvPr id="6146" name="Picture 2" descr="Title Case Style = Heading 1, McKesson Formatting = Tahoma 12 Bold">
            <a:extLst>
              <a:ext uri="{FF2B5EF4-FFF2-40B4-BE49-F238E27FC236}">
                <a16:creationId xmlns:a16="http://schemas.microsoft.com/office/drawing/2014/main" id="{4CAF1491-6A9D-DBEB-8595-76500E090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559" y="3429000"/>
            <a:ext cx="3984321" cy="29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04020B-6B52-7C5A-7064-72EF267B7C55}"/>
              </a:ext>
            </a:extLst>
          </p:cNvPr>
          <p:cNvSpPr txBox="1"/>
          <p:nvPr/>
        </p:nvSpPr>
        <p:spPr>
          <a:xfrm>
            <a:off x="1728592" y="6488482"/>
            <a:ext cx="3294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McKesson PACS</a:t>
            </a:r>
          </a:p>
        </p:txBody>
      </p:sp>
    </p:spTree>
    <p:extLst>
      <p:ext uri="{BB962C8B-B14F-4D97-AF65-F5344CB8AC3E}">
        <p14:creationId xmlns:p14="http://schemas.microsoft.com/office/powerpoint/2010/main" val="1728808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D515C-FD4E-7A4A-F510-4BD11433B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326C-D8B0-37D8-5336-FBEA571E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B8C5-B845-9D96-E5FA-E90895FBF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7964" cy="4351338"/>
          </a:xfrm>
        </p:spPr>
        <p:txBody>
          <a:bodyPr/>
          <a:lstStyle/>
          <a:p>
            <a:r>
              <a:rPr lang="en-US" dirty="0"/>
              <a:t>Prediction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Medical Coding</a:t>
            </a:r>
          </a:p>
          <a:p>
            <a:r>
              <a:rPr lang="en-US" dirty="0"/>
              <a:t>Operational Optimization (scheduling, billing)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02FFC1-6D7E-BF77-B891-5772DA018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755" y="1154024"/>
            <a:ext cx="6100410" cy="518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734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9439-DF43-BA25-6840-F606F21D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Drift</a:t>
            </a:r>
          </a:p>
        </p:txBody>
      </p:sp>
      <p:sp>
        <p:nvSpPr>
          <p:cNvPr id="4" name="AutoShape 2" descr="Data Drift In Machine Learning Explained: How To Detect &amp; Mitigate">
            <a:extLst>
              <a:ext uri="{FF2B5EF4-FFF2-40B4-BE49-F238E27FC236}">
                <a16:creationId xmlns:a16="http://schemas.microsoft.com/office/drawing/2014/main" id="{12DD7342-C68C-7D13-F401-6897C45D17B8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xfrm>
            <a:off x="838200" y="1825625"/>
            <a:ext cx="4309997" cy="466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Gradual change over time between training dataset and real world population</a:t>
            </a:r>
          </a:p>
          <a:p>
            <a:r>
              <a:rPr lang="en-US" dirty="0"/>
              <a:t>Must consistently monitor algorithmic accuracy compared to ground truth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2B57B5-C426-31B8-1FAA-8116A45F9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92" y="2899937"/>
            <a:ext cx="7465513" cy="4199351"/>
          </a:xfrm>
          <a:prstGeom prst="rect">
            <a:avLst/>
          </a:prstGeom>
        </p:spPr>
      </p:pic>
      <p:pic>
        <p:nvPicPr>
          <p:cNvPr id="1026" name="Picture 2" descr="Data drift example">
            <a:extLst>
              <a:ext uri="{FF2B5EF4-FFF2-40B4-BE49-F238E27FC236}">
                <a16:creationId xmlns:a16="http://schemas.microsoft.com/office/drawing/2014/main" id="{FCB67ED2-9CEC-06A1-93F5-59477EDD1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488" y="0"/>
            <a:ext cx="5736920" cy="322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550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518D-0BAC-9B70-8AAB-1AEA5FB6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Procedures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4C538B-2BC9-8E82-881E-C29105916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18"/>
          <a:stretch>
            <a:fillRect/>
          </a:stretch>
        </p:blipFill>
        <p:spPr bwMode="auto">
          <a:xfrm>
            <a:off x="5788786" y="40543"/>
            <a:ext cx="6010731" cy="6817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lorectal Cancer: VA Deploys AI to Help Veterans">
            <a:extLst>
              <a:ext uri="{FF2B5EF4-FFF2-40B4-BE49-F238E27FC236}">
                <a16:creationId xmlns:a16="http://schemas.microsoft.com/office/drawing/2014/main" id="{AB0D8006-5782-D1B5-C78C-DE205E13A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9" y="2262350"/>
            <a:ext cx="5984391" cy="402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01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59A6-E726-873B-4022-16EE8A2C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Pathways for Medical Device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1942-5C83-6E66-3159-58AF34FE4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510k </a:t>
            </a:r>
          </a:p>
          <a:p>
            <a:r>
              <a:rPr lang="en-US" dirty="0"/>
              <a:t>De Novo Approval</a:t>
            </a:r>
          </a:p>
          <a:p>
            <a:r>
              <a:rPr lang="en-US" dirty="0"/>
              <a:t>Premarket Approval</a:t>
            </a:r>
          </a:p>
          <a:p>
            <a:r>
              <a:rPr lang="en-US" dirty="0"/>
              <a:t>Exemptions (rare disease, breakthrough)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For the purposes of the FDA, software (including AI) is considered a medical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100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8571-50A5-0E26-37DC-B69AFF329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510(k) Pathway for Medical 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67E70-B41E-35A3-1A40-EF8F6AF5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FDA approval process for medical devices</a:t>
            </a:r>
          </a:p>
          <a:p>
            <a:r>
              <a:rPr lang="en-US" dirty="0"/>
              <a:t>Must find a “predicate” device with same use</a:t>
            </a:r>
          </a:p>
          <a:p>
            <a:endParaRPr lang="en-US" dirty="0"/>
          </a:p>
        </p:txBody>
      </p:sp>
      <p:pic>
        <p:nvPicPr>
          <p:cNvPr id="3074" name="Picture 2" descr="Aidoc Releases AI Package to Speed Identification of Stroke">
            <a:extLst>
              <a:ext uri="{FF2B5EF4-FFF2-40B4-BE49-F238E27FC236}">
                <a16:creationId xmlns:a16="http://schemas.microsoft.com/office/drawing/2014/main" id="{6C1462FF-1CB5-22C0-8853-447E2C16E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264" y="3747239"/>
            <a:ext cx="4649472" cy="242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0750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70A0-97E3-7877-E4BE-EBCD0D32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Addressing Data Drift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427A6-67EC-7D50-0EA4-7FCF4A62B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Predetermined Change Control Plans (PCCPs)</a:t>
            </a:r>
          </a:p>
          <a:p>
            <a:r>
              <a:rPr lang="en-US" dirty="0"/>
              <a:t>Plan outlining what changes and surveillance will occur ahead of time</a:t>
            </a:r>
          </a:p>
          <a:p>
            <a:r>
              <a:rPr lang="en-US" dirty="0"/>
              <a:t>Not required for FDA approval</a:t>
            </a:r>
          </a:p>
        </p:txBody>
      </p:sp>
    </p:spTree>
    <p:extLst>
      <p:ext uri="{BB962C8B-B14F-4D97-AF65-F5344CB8AC3E}">
        <p14:creationId xmlns:p14="http://schemas.microsoft.com/office/powerpoint/2010/main" val="17365995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8681-ADE8-4286-ADDE-BEF68D37E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Novo Device Approval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2DBD5-1CE4-208C-7058-F705B8257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8037" cy="4351338"/>
          </a:xfrm>
        </p:spPr>
        <p:txBody>
          <a:bodyPr/>
          <a:lstStyle/>
          <a:p>
            <a:r>
              <a:rPr lang="en-US" dirty="0"/>
              <a:t>For devices that have no precedent</a:t>
            </a:r>
          </a:p>
          <a:p>
            <a:r>
              <a:rPr lang="en-US" dirty="0"/>
              <a:t>Ex. IDX: Diabetic retinopathy</a:t>
            </a:r>
          </a:p>
          <a:p>
            <a:r>
              <a:rPr lang="en-US" dirty="0"/>
              <a:t>Once approved, can serve as precedent in future 510k</a:t>
            </a:r>
          </a:p>
        </p:txBody>
      </p:sp>
      <p:pic>
        <p:nvPicPr>
          <p:cNvPr id="4098" name="Picture 2" descr="resultados deteccion retinopatia diabetica">
            <a:extLst>
              <a:ext uri="{FF2B5EF4-FFF2-40B4-BE49-F238E27FC236}">
                <a16:creationId xmlns:a16="http://schemas.microsoft.com/office/drawing/2014/main" id="{B7F3C26C-66A3-BD70-6777-DCC3CB09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237" y="0"/>
            <a:ext cx="5465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1581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2306A-A8D2-CFD9-8B07-09D28E01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FDA Device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0DE09-E1B1-622B-E053-0259063F2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US" dirty="0"/>
              <a:t>Class I: Low risk (e.g., stethoscope) – usually exempt.</a:t>
            </a:r>
          </a:p>
          <a:p>
            <a:r>
              <a:rPr lang="en-US" dirty="0"/>
              <a:t>Class II: Moderate risk – majority of AI devices fall here.</a:t>
            </a:r>
          </a:p>
          <a:p>
            <a:r>
              <a:rPr lang="en-US" dirty="0"/>
              <a:t>Class III: High risk – life-supporting or life-sustaining, needs PMA.</a:t>
            </a:r>
          </a:p>
        </p:txBody>
      </p:sp>
      <p:pic>
        <p:nvPicPr>
          <p:cNvPr id="5123" name="Picture 3" descr="FDA Medical Device Classes">
            <a:extLst>
              <a:ext uri="{FF2B5EF4-FFF2-40B4-BE49-F238E27FC236}">
                <a16:creationId xmlns:a16="http://schemas.microsoft.com/office/drawing/2014/main" id="{43582003-A842-1B7F-3200-EA6663104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90" y="3429000"/>
            <a:ext cx="10548484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148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AC7E2-F59B-EAD4-680F-37F1F062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7F0A-3646-22B7-612C-D3722DB0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FDA Device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B4BD6-4DC8-E21C-1F42-5ECB7948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31975"/>
          </a:xfrm>
        </p:spPr>
        <p:txBody>
          <a:bodyPr/>
          <a:lstStyle/>
          <a:p>
            <a:r>
              <a:rPr lang="en-US" dirty="0"/>
              <a:t>Class I: 510k eligible </a:t>
            </a:r>
          </a:p>
          <a:p>
            <a:r>
              <a:rPr lang="en-US" dirty="0"/>
              <a:t>Class II: 510k eligible </a:t>
            </a:r>
          </a:p>
          <a:p>
            <a:r>
              <a:rPr lang="en-US" dirty="0"/>
              <a:t>Class III: Needs pre-market approval</a:t>
            </a:r>
          </a:p>
        </p:txBody>
      </p:sp>
    </p:spTree>
    <p:extLst>
      <p:ext uri="{BB962C8B-B14F-4D97-AF65-F5344CB8AC3E}">
        <p14:creationId xmlns:p14="http://schemas.microsoft.com/office/powerpoint/2010/main" val="1833581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9C8DA-0396-A071-D32B-4281BE23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 Market Authorization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2309-E184-96BF-A241-05AE1E33D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Needed for high risk medical devices</a:t>
            </a:r>
          </a:p>
          <a:p>
            <a:r>
              <a:rPr lang="en-US" dirty="0"/>
              <a:t>Design a study for use </a:t>
            </a:r>
          </a:p>
          <a:p>
            <a:r>
              <a:rPr lang="en-US" dirty="0"/>
              <a:t>During the study, obtain an investigational device exemption for the experimental device</a:t>
            </a:r>
          </a:p>
          <a:p>
            <a:r>
              <a:rPr lang="en-US" dirty="0"/>
              <a:t>Then, FDA reviews data for clinical approval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2982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A773-992B-635D-859B-1FE977CFC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8A80-1858-5CF5-BBAE-6D30DF84B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Intro</a:t>
            </a:r>
          </a:p>
          <a:p>
            <a:r>
              <a:rPr lang="en-US" dirty="0"/>
              <a:t>Practice by coming up with a clinical question of your own</a:t>
            </a:r>
          </a:p>
        </p:txBody>
      </p:sp>
    </p:spTree>
    <p:extLst>
      <p:ext uri="{BB962C8B-B14F-4D97-AF65-F5344CB8AC3E}">
        <p14:creationId xmlns:p14="http://schemas.microsoft.com/office/powerpoint/2010/main" val="29559082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8C4D1-9D0F-3C2C-9493-9382242F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7049" y="2766218"/>
            <a:ext cx="1051560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2498805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7D777-9500-9849-483A-35F74AF5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Distillation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74E1E-4D77-2074-A8B5-2EAE8EED7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2588" cy="4351338"/>
          </a:xfrm>
        </p:spPr>
        <p:txBody>
          <a:bodyPr/>
          <a:lstStyle/>
          <a:p>
            <a:r>
              <a:rPr lang="en-US" dirty="0"/>
              <a:t>Used in cases where labelled data is scarce</a:t>
            </a:r>
          </a:p>
          <a:p>
            <a:pPr lvl="1"/>
            <a:r>
              <a:rPr lang="en-US" dirty="0"/>
              <a:t>Rare disease</a:t>
            </a:r>
          </a:p>
          <a:p>
            <a:pPr lvl="1"/>
            <a:r>
              <a:rPr lang="en-US" dirty="0"/>
              <a:t>Image segmentation</a:t>
            </a:r>
          </a:p>
          <a:p>
            <a:endParaRPr lang="en-US" dirty="0"/>
          </a:p>
        </p:txBody>
      </p:sp>
      <p:pic>
        <p:nvPicPr>
          <p:cNvPr id="11266" name="Picture 2" descr="GitHub - ShivamRajSharma/Teacher-Student-Network: PyTorch implementation of  Teacher-Student Network(Knowledge Distillation).">
            <a:extLst>
              <a:ext uri="{FF2B5EF4-FFF2-40B4-BE49-F238E27FC236}">
                <a16:creationId xmlns:a16="http://schemas.microsoft.com/office/drawing/2014/main" id="{E56414F2-CFC4-BFD1-636C-6E474A5A4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0" y="1825625"/>
            <a:ext cx="6198990" cy="381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692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6632</TotalTime>
  <Words>1174</Words>
  <Application>Microsoft Office PowerPoint</Application>
  <PresentationFormat>Widescreen</PresentationFormat>
  <Paragraphs>212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Office Theme</vt:lpstr>
      <vt:lpstr>Intro to AI for Medicine</vt:lpstr>
      <vt:lpstr>Last Time</vt:lpstr>
      <vt:lpstr>Today</vt:lpstr>
      <vt:lpstr>Posing a question</vt:lpstr>
      <vt:lpstr>Tips to remember</vt:lpstr>
      <vt:lpstr>AI Menu</vt:lpstr>
      <vt:lpstr>AI Menu</vt:lpstr>
      <vt:lpstr>Medical AI On the Market</vt:lpstr>
      <vt:lpstr>Areas to Consider</vt:lpstr>
      <vt:lpstr>Building a team</vt:lpstr>
      <vt:lpstr>Building a team</vt:lpstr>
      <vt:lpstr>The Research to Deployment Timeline</vt:lpstr>
      <vt:lpstr>Challenges With Clinical Efficiency</vt:lpstr>
      <vt:lpstr>Overview of Clinical Data Ecosystems</vt:lpstr>
      <vt:lpstr>EHR Systems</vt:lpstr>
      <vt:lpstr>EHR Integration Points</vt:lpstr>
      <vt:lpstr>What are some clinical pain points for AI integration in the EHR?  How might these be implemented?</vt:lpstr>
      <vt:lpstr>EPIC Sepsis Model</vt:lpstr>
      <vt:lpstr>EPIC Sepsis Model</vt:lpstr>
      <vt:lpstr>PowerPoint Presentation</vt:lpstr>
      <vt:lpstr>EPIC Sepsis Takeaways</vt:lpstr>
      <vt:lpstr>PACS</vt:lpstr>
      <vt:lpstr>Integration Points</vt:lpstr>
      <vt:lpstr>Data Drift</vt:lpstr>
      <vt:lpstr>Procedures</vt:lpstr>
      <vt:lpstr>Pathways for Medical Device Approval</vt:lpstr>
      <vt:lpstr>510(k) Pathway for Medical Devices</vt:lpstr>
      <vt:lpstr>Addressing Data Drift</vt:lpstr>
      <vt:lpstr>De Novo Device Approval</vt:lpstr>
      <vt:lpstr>FDA Device Classification</vt:lpstr>
      <vt:lpstr>FDA Device Classification</vt:lpstr>
      <vt:lpstr>Pre Market Authorization</vt:lpstr>
      <vt:lpstr>Next time:</vt:lpstr>
      <vt:lpstr>Thanks!</vt:lpstr>
      <vt:lpstr>Knowledge Distillation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4</cp:revision>
  <dcterms:created xsi:type="dcterms:W3CDTF">2025-10-11T02:56:25Z</dcterms:created>
  <dcterms:modified xsi:type="dcterms:W3CDTF">2026-07-12T21:13:41Z</dcterms:modified>
</cp:coreProperties>
</file>
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88" r:id="rId3"/>
    <p:sldId id="289" r:id="rId4"/>
    <p:sldId id="258" r:id="rId5"/>
    <p:sldId id="259" r:id="rId6"/>
    <p:sldId id="260" r:id="rId7"/>
    <p:sldId id="279" r:id="rId8"/>
    <p:sldId id="280" r:id="rId9"/>
    <p:sldId id="262" r:id="rId10"/>
    <p:sldId id="263" r:id="rId11"/>
    <p:sldId id="264" r:id="rId12"/>
    <p:sldId id="265" r:id="rId13"/>
    <p:sldId id="286" r:id="rId14"/>
    <p:sldId id="290" r:id="rId15"/>
    <p:sldId id="287" r:id="rId16"/>
    <p:sldId id="266" r:id="rId17"/>
    <p:sldId id="267" r:id="rId18"/>
    <p:sldId id="269" r:id="rId19"/>
    <p:sldId id="268" r:id="rId20"/>
    <p:sldId id="270" r:id="rId21"/>
    <p:sldId id="271" r:id="rId22"/>
    <p:sldId id="295" r:id="rId23"/>
    <p:sldId id="272" r:id="rId24"/>
    <p:sldId id="273" r:id="rId25"/>
    <p:sldId id="294" r:id="rId26"/>
    <p:sldId id="274" r:id="rId27"/>
    <p:sldId id="281" r:id="rId28"/>
    <p:sldId id="276" r:id="rId29"/>
    <p:sldId id="282" r:id="rId30"/>
    <p:sldId id="277" r:id="rId31"/>
    <p:sldId id="278" r:id="rId32"/>
    <p:sldId id="283" r:id="rId33"/>
    <p:sldId id="284" r:id="rId34"/>
    <p:sldId id="285" r:id="rId35"/>
    <p:sldId id="275" r:id="rId36"/>
    <p:sldId id="291" r:id="rId37"/>
    <p:sldId id="293" r:id="rId38"/>
    <p:sldId id="292" r:id="rId39"/>
    <p:sldId id="29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801" autoAdjust="0"/>
  </p:normalViewPr>
  <p:slideViewPr>
    <p:cSldViewPr snapToGrid="0">
      <p:cViewPr varScale="1">
        <p:scale>
          <a:sx n="44" d="100"/>
          <a:sy n="44" d="100"/>
        </p:scale>
        <p:origin x="1524" y="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FAD602-D2F1-4B42-BEE2-5E866550BE31}" type="doc">
      <dgm:prSet loTypeId="urn:microsoft.com/office/officeart/2016/7/layout/LinearBlockProcessNumbered" loCatId="process" qsTypeId="urn:microsoft.com/office/officeart/2005/8/quickstyle/simple1" qsCatId="simple" csTypeId="urn:microsoft.com/office/officeart/2005/8/colors/colorful2" csCatId="colorful"/>
      <dgm:spPr/>
      <dgm:t>
        <a:bodyPr/>
        <a:lstStyle/>
        <a:p>
          <a:endParaRPr lang="en-US"/>
        </a:p>
      </dgm:t>
    </dgm:pt>
    <dgm:pt modelId="{1C27340F-4A0D-49DD-BAD5-A5BE4C9FD46D}">
      <dgm:prSet/>
      <dgm:spPr/>
      <dgm:t>
        <a:bodyPr/>
        <a:lstStyle/>
        <a:p>
          <a:r>
            <a:rPr lang="en-US"/>
            <a:t>Take it seriously and do a good job</a:t>
          </a:r>
        </a:p>
      </dgm:t>
    </dgm:pt>
    <dgm:pt modelId="{5B00AFBF-FFE7-43C9-BB7F-AAF964CD2EB4}" type="parTrans" cxnId="{241998F5-D8AB-4109-B867-5825BCB455D5}">
      <dgm:prSet/>
      <dgm:spPr/>
      <dgm:t>
        <a:bodyPr/>
        <a:lstStyle/>
        <a:p>
          <a:endParaRPr lang="en-US"/>
        </a:p>
      </dgm:t>
    </dgm:pt>
    <dgm:pt modelId="{15E9DB8C-E98F-44E1-B11E-DEFBBF340330}" type="sibTrans" cxnId="{241998F5-D8AB-4109-B867-5825BCB455D5}">
      <dgm:prSet phldrT="01" phldr="0"/>
      <dgm:spPr/>
      <dgm:t>
        <a:bodyPr/>
        <a:lstStyle/>
        <a:p>
          <a:r>
            <a:rPr lang="en-US"/>
            <a:t>01</a:t>
          </a:r>
        </a:p>
      </dgm:t>
    </dgm:pt>
    <dgm:pt modelId="{60586485-7CF1-456E-AD19-C6CEBA0A8DEC}">
      <dgm:prSet/>
      <dgm:spPr/>
      <dgm:t>
        <a:bodyPr/>
        <a:lstStyle/>
        <a:p>
          <a:r>
            <a:rPr lang="en-US"/>
            <a:t>Make it meaningful to your future careers</a:t>
          </a:r>
        </a:p>
      </dgm:t>
    </dgm:pt>
    <dgm:pt modelId="{A3085A0B-7E2C-4543-A43C-1672C254D982}" type="parTrans" cxnId="{53A784E1-9F5F-4517-BFC9-664963774122}">
      <dgm:prSet/>
      <dgm:spPr/>
      <dgm:t>
        <a:bodyPr/>
        <a:lstStyle/>
        <a:p>
          <a:endParaRPr lang="en-US"/>
        </a:p>
      </dgm:t>
    </dgm:pt>
    <dgm:pt modelId="{6B7CF226-82EE-4970-9EB9-04A4E8173041}" type="sibTrans" cxnId="{53A784E1-9F5F-4517-BFC9-664963774122}">
      <dgm:prSet/>
      <dgm:spPr/>
      <dgm:t>
        <a:bodyPr/>
        <a:lstStyle/>
        <a:p>
          <a:endParaRPr lang="en-US"/>
        </a:p>
      </dgm:t>
    </dgm:pt>
    <dgm:pt modelId="{B78A7B80-070D-4832-BC59-0593A0F9499C}">
      <dgm:prSet/>
      <dgm:spPr/>
      <dgm:t>
        <a:bodyPr/>
        <a:lstStyle/>
        <a:p>
          <a:r>
            <a:rPr lang="en-US"/>
            <a:t>Adapt in real time to make this happen</a:t>
          </a:r>
        </a:p>
      </dgm:t>
    </dgm:pt>
    <dgm:pt modelId="{05A2ECBC-68F3-46A1-B66C-A7F8BEBF08E3}" type="parTrans" cxnId="{CC2A7450-045B-422E-9FF5-D857273DCE8A}">
      <dgm:prSet/>
      <dgm:spPr/>
      <dgm:t>
        <a:bodyPr/>
        <a:lstStyle/>
        <a:p>
          <a:endParaRPr lang="en-US"/>
        </a:p>
      </dgm:t>
    </dgm:pt>
    <dgm:pt modelId="{58185B4D-DDCC-4247-99B1-0E318EB04EFC}" type="sibTrans" cxnId="{CC2A7450-045B-422E-9FF5-D857273DCE8A}">
      <dgm:prSet/>
      <dgm:spPr/>
      <dgm:t>
        <a:bodyPr/>
        <a:lstStyle/>
        <a:p>
          <a:endParaRPr lang="en-US"/>
        </a:p>
      </dgm:t>
    </dgm:pt>
    <dgm:pt modelId="{78325241-2BBE-418B-9E57-BDA1A4EE3AC0}">
      <dgm:prSet/>
      <dgm:spPr/>
      <dgm:t>
        <a:bodyPr/>
        <a:lstStyle/>
        <a:p>
          <a:r>
            <a:rPr lang="en-US"/>
            <a:t>Teach you a new way of approaching problems and thinking</a:t>
          </a:r>
        </a:p>
      </dgm:t>
    </dgm:pt>
    <dgm:pt modelId="{3C8149FA-BFE5-48FB-961A-9E65903F3F8F}" type="parTrans" cxnId="{5DC51883-A634-4122-A690-67FD54099873}">
      <dgm:prSet/>
      <dgm:spPr/>
      <dgm:t>
        <a:bodyPr/>
        <a:lstStyle/>
        <a:p>
          <a:endParaRPr lang="en-US"/>
        </a:p>
      </dgm:t>
    </dgm:pt>
    <dgm:pt modelId="{AECB8B41-105A-4FB0-8928-0E5435377523}" type="sibTrans" cxnId="{5DC51883-A634-4122-A690-67FD54099873}">
      <dgm:prSet phldrT="02" phldr="0"/>
      <dgm:spPr/>
      <dgm:t>
        <a:bodyPr/>
        <a:lstStyle/>
        <a:p>
          <a:r>
            <a:rPr lang="en-US"/>
            <a:t>02</a:t>
          </a:r>
        </a:p>
      </dgm:t>
    </dgm:pt>
    <dgm:pt modelId="{9E6E2DE8-A78C-4354-B809-EFF227E7DCE0}">
      <dgm:prSet/>
      <dgm:spPr/>
      <dgm:t>
        <a:bodyPr/>
        <a:lstStyle/>
        <a:p>
          <a:r>
            <a:rPr lang="en-US"/>
            <a:t>Prepare you for any innovations that happen in your career</a:t>
          </a:r>
        </a:p>
      </dgm:t>
    </dgm:pt>
    <dgm:pt modelId="{E54ED1B6-9C21-4D0B-945F-6BEB0CBBFE9B}" type="parTrans" cxnId="{D4E0FCDC-CEE9-4D9C-98F3-0995C9AB5F47}">
      <dgm:prSet/>
      <dgm:spPr/>
      <dgm:t>
        <a:bodyPr/>
        <a:lstStyle/>
        <a:p>
          <a:endParaRPr lang="en-US"/>
        </a:p>
      </dgm:t>
    </dgm:pt>
    <dgm:pt modelId="{CD0201B3-7B7B-4F81-A4D8-C02B98A5D123}" type="sibTrans" cxnId="{D4E0FCDC-CEE9-4D9C-98F3-0995C9AB5F47}">
      <dgm:prSet phldrT="03" phldr="0"/>
      <dgm:spPr/>
      <dgm:t>
        <a:bodyPr/>
        <a:lstStyle/>
        <a:p>
          <a:r>
            <a:rPr lang="en-US"/>
            <a:t>03</a:t>
          </a:r>
        </a:p>
      </dgm:t>
    </dgm:pt>
    <dgm:pt modelId="{DB7B59DC-D023-4001-A5BC-4896738175F3}">
      <dgm:prSet/>
      <dgm:spPr/>
      <dgm:t>
        <a:bodyPr/>
        <a:lstStyle/>
        <a:p>
          <a:r>
            <a:rPr lang="en-US"/>
            <a:t>Break down difficult concepts into understandable words – this class should never feel overwhelming</a:t>
          </a:r>
        </a:p>
      </dgm:t>
    </dgm:pt>
    <dgm:pt modelId="{E10D8C80-EAB4-4A80-8E87-594DBCC775FE}" type="parTrans" cxnId="{EE6D5A7F-88C8-4CD1-8CDB-6D4C6A93EA0E}">
      <dgm:prSet/>
      <dgm:spPr/>
      <dgm:t>
        <a:bodyPr/>
        <a:lstStyle/>
        <a:p>
          <a:endParaRPr lang="en-US"/>
        </a:p>
      </dgm:t>
    </dgm:pt>
    <dgm:pt modelId="{98E00F9F-BF8C-4F4A-94DE-E96D702BFA78}" type="sibTrans" cxnId="{EE6D5A7F-88C8-4CD1-8CDB-6D4C6A93EA0E}">
      <dgm:prSet phldrT="04" phldr="0"/>
      <dgm:spPr/>
      <dgm:t>
        <a:bodyPr/>
        <a:lstStyle/>
        <a:p>
          <a:r>
            <a:rPr lang="en-US"/>
            <a:t>04</a:t>
          </a:r>
        </a:p>
      </dgm:t>
    </dgm:pt>
    <dgm:pt modelId="{74400B31-9E77-4DBD-90AD-A40F2FD9EC31}">
      <dgm:prSet/>
      <dgm:spPr/>
      <dgm:t>
        <a:bodyPr/>
        <a:lstStyle/>
        <a:p>
          <a:r>
            <a:rPr lang="en-US"/>
            <a:t>Give frameworks and spot trends to give you intuition</a:t>
          </a:r>
        </a:p>
      </dgm:t>
    </dgm:pt>
    <dgm:pt modelId="{00AB0C5D-F2F7-4345-8FFD-58E8FDCCD56D}" type="parTrans" cxnId="{31DCA581-E70E-4C05-B4E5-7D3AEEB9ED60}">
      <dgm:prSet/>
      <dgm:spPr/>
      <dgm:t>
        <a:bodyPr/>
        <a:lstStyle/>
        <a:p>
          <a:endParaRPr lang="en-US"/>
        </a:p>
      </dgm:t>
    </dgm:pt>
    <dgm:pt modelId="{948188A7-592E-4D77-A518-18CFA6BA7042}" type="sibTrans" cxnId="{31DCA581-E70E-4C05-B4E5-7D3AEEB9ED60}">
      <dgm:prSet phldrT="05" phldr="0"/>
      <dgm:spPr/>
      <dgm:t>
        <a:bodyPr/>
        <a:lstStyle/>
        <a:p>
          <a:r>
            <a:rPr lang="en-US"/>
            <a:t>05</a:t>
          </a:r>
        </a:p>
      </dgm:t>
    </dgm:pt>
    <dgm:pt modelId="{8774482B-EBFF-4A5D-A14B-212C7AF84170}" type="pres">
      <dgm:prSet presAssocID="{BEFAD602-D2F1-4B42-BEE2-5E866550BE31}" presName="Name0" presStyleCnt="0">
        <dgm:presLayoutVars>
          <dgm:animLvl val="lvl"/>
          <dgm:resizeHandles val="exact"/>
        </dgm:presLayoutVars>
      </dgm:prSet>
      <dgm:spPr/>
    </dgm:pt>
    <dgm:pt modelId="{E2728741-44C8-4E02-A597-96DC2C64D8DD}" type="pres">
      <dgm:prSet presAssocID="{1C27340F-4A0D-49DD-BAD5-A5BE4C9FD46D}" presName="compositeNode" presStyleCnt="0">
        <dgm:presLayoutVars>
          <dgm:bulletEnabled val="1"/>
        </dgm:presLayoutVars>
      </dgm:prSet>
      <dgm:spPr/>
    </dgm:pt>
    <dgm:pt modelId="{3A8D2FC1-E164-4AF8-83A3-F88CD4564923}" type="pres">
      <dgm:prSet presAssocID="{1C27340F-4A0D-49DD-BAD5-A5BE4C9FD46D}" presName="bgRect" presStyleLbl="alignNode1" presStyleIdx="0" presStyleCnt="5"/>
      <dgm:spPr/>
    </dgm:pt>
    <dgm:pt modelId="{70D782E4-5374-4F5A-80C3-1C93D9C404BF}" type="pres">
      <dgm:prSet presAssocID="{15E9DB8C-E98F-44E1-B11E-DEFBBF340330}" presName="sibTransNodeRect" presStyleLbl="alignNode1" presStyleIdx="0" presStyleCnt="5">
        <dgm:presLayoutVars>
          <dgm:chMax val="0"/>
          <dgm:bulletEnabled val="1"/>
        </dgm:presLayoutVars>
      </dgm:prSet>
      <dgm:spPr/>
    </dgm:pt>
    <dgm:pt modelId="{5F319A93-0E7B-4944-8576-B0C187167583}" type="pres">
      <dgm:prSet presAssocID="{1C27340F-4A0D-49DD-BAD5-A5BE4C9FD46D}" presName="nodeRect" presStyleLbl="alignNode1" presStyleIdx="0" presStyleCnt="5">
        <dgm:presLayoutVars>
          <dgm:bulletEnabled val="1"/>
        </dgm:presLayoutVars>
      </dgm:prSet>
      <dgm:spPr/>
    </dgm:pt>
    <dgm:pt modelId="{432D0E3A-C8C0-4BA8-AE29-44B4101643B3}" type="pres">
      <dgm:prSet presAssocID="{15E9DB8C-E98F-44E1-B11E-DEFBBF340330}" presName="sibTrans" presStyleCnt="0"/>
      <dgm:spPr/>
    </dgm:pt>
    <dgm:pt modelId="{5511ACC2-36B3-43B0-A833-CEE08052E2BC}" type="pres">
      <dgm:prSet presAssocID="{78325241-2BBE-418B-9E57-BDA1A4EE3AC0}" presName="compositeNode" presStyleCnt="0">
        <dgm:presLayoutVars>
          <dgm:bulletEnabled val="1"/>
        </dgm:presLayoutVars>
      </dgm:prSet>
      <dgm:spPr/>
    </dgm:pt>
    <dgm:pt modelId="{5B6B9DE9-BB6E-46E6-824A-A38F1FBCDFB6}" type="pres">
      <dgm:prSet presAssocID="{78325241-2BBE-418B-9E57-BDA1A4EE3AC0}" presName="bgRect" presStyleLbl="alignNode1" presStyleIdx="1" presStyleCnt="5"/>
      <dgm:spPr/>
    </dgm:pt>
    <dgm:pt modelId="{BDEC3387-B6C7-4044-B616-D23BA3BBFE41}" type="pres">
      <dgm:prSet presAssocID="{AECB8B41-105A-4FB0-8928-0E5435377523}" presName="sibTransNodeRect" presStyleLbl="alignNode1" presStyleIdx="1" presStyleCnt="5">
        <dgm:presLayoutVars>
          <dgm:chMax val="0"/>
          <dgm:bulletEnabled val="1"/>
        </dgm:presLayoutVars>
      </dgm:prSet>
      <dgm:spPr/>
    </dgm:pt>
    <dgm:pt modelId="{0A848E61-0D5E-4F8A-B3BE-4D2F25EBB3D1}" type="pres">
      <dgm:prSet presAssocID="{78325241-2BBE-418B-9E57-BDA1A4EE3AC0}" presName="nodeRect" presStyleLbl="alignNode1" presStyleIdx="1" presStyleCnt="5">
        <dgm:presLayoutVars>
          <dgm:bulletEnabled val="1"/>
        </dgm:presLayoutVars>
      </dgm:prSet>
      <dgm:spPr/>
    </dgm:pt>
    <dgm:pt modelId="{1700821E-545B-4B52-A32D-7E4EBBE71C2D}" type="pres">
      <dgm:prSet presAssocID="{AECB8B41-105A-4FB0-8928-0E5435377523}" presName="sibTrans" presStyleCnt="0"/>
      <dgm:spPr/>
    </dgm:pt>
    <dgm:pt modelId="{7841E41E-0F81-4A23-9F9C-AD135C1C4829}" type="pres">
      <dgm:prSet presAssocID="{9E6E2DE8-A78C-4354-B809-EFF227E7DCE0}" presName="compositeNode" presStyleCnt="0">
        <dgm:presLayoutVars>
          <dgm:bulletEnabled val="1"/>
        </dgm:presLayoutVars>
      </dgm:prSet>
      <dgm:spPr/>
    </dgm:pt>
    <dgm:pt modelId="{EBBA67CC-D307-4A2D-977E-B7A3C316BB74}" type="pres">
      <dgm:prSet presAssocID="{9E6E2DE8-A78C-4354-B809-EFF227E7DCE0}" presName="bgRect" presStyleLbl="alignNode1" presStyleIdx="2" presStyleCnt="5"/>
      <dgm:spPr/>
    </dgm:pt>
    <dgm:pt modelId="{BE414235-458B-4104-BEA0-6DF0CFEEF49B}" type="pres">
      <dgm:prSet presAssocID="{CD0201B3-7B7B-4F81-A4D8-C02B98A5D123}" presName="sibTransNodeRect" presStyleLbl="alignNode1" presStyleIdx="2" presStyleCnt="5">
        <dgm:presLayoutVars>
          <dgm:chMax val="0"/>
          <dgm:bulletEnabled val="1"/>
        </dgm:presLayoutVars>
      </dgm:prSet>
      <dgm:spPr/>
    </dgm:pt>
    <dgm:pt modelId="{6A0A9CB4-187C-4F62-BD67-4351C476A07C}" type="pres">
      <dgm:prSet presAssocID="{9E6E2DE8-A78C-4354-B809-EFF227E7DCE0}" presName="nodeRect" presStyleLbl="alignNode1" presStyleIdx="2" presStyleCnt="5">
        <dgm:presLayoutVars>
          <dgm:bulletEnabled val="1"/>
        </dgm:presLayoutVars>
      </dgm:prSet>
      <dgm:spPr/>
    </dgm:pt>
    <dgm:pt modelId="{6AFCD51A-C12F-47B2-8AF6-87EA77829236}" type="pres">
      <dgm:prSet presAssocID="{CD0201B3-7B7B-4F81-A4D8-C02B98A5D123}" presName="sibTrans" presStyleCnt="0"/>
      <dgm:spPr/>
    </dgm:pt>
    <dgm:pt modelId="{A4534299-3D91-421D-8549-80B83DA68E32}" type="pres">
      <dgm:prSet presAssocID="{DB7B59DC-D023-4001-A5BC-4896738175F3}" presName="compositeNode" presStyleCnt="0">
        <dgm:presLayoutVars>
          <dgm:bulletEnabled val="1"/>
        </dgm:presLayoutVars>
      </dgm:prSet>
      <dgm:spPr/>
    </dgm:pt>
    <dgm:pt modelId="{C75A37D4-3B5D-4D9E-9685-A066471ED070}" type="pres">
      <dgm:prSet presAssocID="{DB7B59DC-D023-4001-A5BC-4896738175F3}" presName="bgRect" presStyleLbl="alignNode1" presStyleIdx="3" presStyleCnt="5"/>
      <dgm:spPr/>
    </dgm:pt>
    <dgm:pt modelId="{AB18A00B-2E75-49B6-9AF5-C39912795BC6}" type="pres">
      <dgm:prSet presAssocID="{98E00F9F-BF8C-4F4A-94DE-E96D702BFA78}" presName="sibTransNodeRect" presStyleLbl="alignNode1" presStyleIdx="3" presStyleCnt="5">
        <dgm:presLayoutVars>
          <dgm:chMax val="0"/>
          <dgm:bulletEnabled val="1"/>
        </dgm:presLayoutVars>
      </dgm:prSet>
      <dgm:spPr/>
    </dgm:pt>
    <dgm:pt modelId="{8BDB9B97-3F40-4CD2-95A6-CFDE63118BD5}" type="pres">
      <dgm:prSet presAssocID="{DB7B59DC-D023-4001-A5BC-4896738175F3}" presName="nodeRect" presStyleLbl="alignNode1" presStyleIdx="3" presStyleCnt="5">
        <dgm:presLayoutVars>
          <dgm:bulletEnabled val="1"/>
        </dgm:presLayoutVars>
      </dgm:prSet>
      <dgm:spPr/>
    </dgm:pt>
    <dgm:pt modelId="{1C9009A4-97D1-4C3E-B8F4-7E30BD9709B2}" type="pres">
      <dgm:prSet presAssocID="{98E00F9F-BF8C-4F4A-94DE-E96D702BFA78}" presName="sibTrans" presStyleCnt="0"/>
      <dgm:spPr/>
    </dgm:pt>
    <dgm:pt modelId="{9197BB12-8FEE-4693-AAA3-D5E237826634}" type="pres">
      <dgm:prSet presAssocID="{74400B31-9E77-4DBD-90AD-A40F2FD9EC31}" presName="compositeNode" presStyleCnt="0">
        <dgm:presLayoutVars>
          <dgm:bulletEnabled val="1"/>
        </dgm:presLayoutVars>
      </dgm:prSet>
      <dgm:spPr/>
    </dgm:pt>
    <dgm:pt modelId="{2ABCDDE6-3239-4021-95C4-656FDB935CB9}" type="pres">
      <dgm:prSet presAssocID="{74400B31-9E77-4DBD-90AD-A40F2FD9EC31}" presName="bgRect" presStyleLbl="alignNode1" presStyleIdx="4" presStyleCnt="5"/>
      <dgm:spPr/>
    </dgm:pt>
    <dgm:pt modelId="{DC1A78FB-2B68-43BE-9166-B8E7334EC672}" type="pres">
      <dgm:prSet presAssocID="{948188A7-592E-4D77-A518-18CFA6BA7042}" presName="sibTransNodeRect" presStyleLbl="alignNode1" presStyleIdx="4" presStyleCnt="5">
        <dgm:presLayoutVars>
          <dgm:chMax val="0"/>
          <dgm:bulletEnabled val="1"/>
        </dgm:presLayoutVars>
      </dgm:prSet>
      <dgm:spPr/>
    </dgm:pt>
    <dgm:pt modelId="{D8FB92D9-01DA-4EE3-9AF5-68ECDE016443}" type="pres">
      <dgm:prSet presAssocID="{74400B31-9E77-4DBD-90AD-A40F2FD9EC31}" presName="nodeRect" presStyleLbl="alignNode1" presStyleIdx="4" presStyleCnt="5">
        <dgm:presLayoutVars>
          <dgm:bulletEnabled val="1"/>
        </dgm:presLayoutVars>
      </dgm:prSet>
      <dgm:spPr/>
    </dgm:pt>
  </dgm:ptLst>
  <dgm:cxnLst>
    <dgm:cxn modelId="{2A924918-BD39-42AA-8E52-77917766730F}" type="presOf" srcId="{78325241-2BBE-418B-9E57-BDA1A4EE3AC0}" destId="{5B6B9DE9-BB6E-46E6-824A-A38F1FBCDFB6}" srcOrd="0" destOrd="0" presId="urn:microsoft.com/office/officeart/2016/7/layout/LinearBlockProcessNumbered"/>
    <dgm:cxn modelId="{F1069F36-058D-4E24-9C0B-63FC9825DDD3}" type="presOf" srcId="{78325241-2BBE-418B-9E57-BDA1A4EE3AC0}" destId="{0A848E61-0D5E-4F8A-B3BE-4D2F25EBB3D1}" srcOrd="1" destOrd="0" presId="urn:microsoft.com/office/officeart/2016/7/layout/LinearBlockProcessNumbered"/>
    <dgm:cxn modelId="{3AEDB03C-B34A-4BB8-9A7B-E4B1D39C1AA6}" type="presOf" srcId="{DB7B59DC-D023-4001-A5BC-4896738175F3}" destId="{C75A37D4-3B5D-4D9E-9685-A066471ED070}" srcOrd="0" destOrd="0" presId="urn:microsoft.com/office/officeart/2016/7/layout/LinearBlockProcessNumbered"/>
    <dgm:cxn modelId="{79B1CD3C-EC1C-4E3B-8A57-882B7D5CDB95}" type="presOf" srcId="{B78A7B80-070D-4832-BC59-0593A0F9499C}" destId="{5F319A93-0E7B-4944-8576-B0C187167583}" srcOrd="0" destOrd="2" presId="urn:microsoft.com/office/officeart/2016/7/layout/LinearBlockProcessNumbered"/>
    <dgm:cxn modelId="{8D9D4862-56E4-4F99-A001-85B6E09CECEF}" type="presOf" srcId="{9E6E2DE8-A78C-4354-B809-EFF227E7DCE0}" destId="{EBBA67CC-D307-4A2D-977E-B7A3C316BB74}" srcOrd="0" destOrd="0" presId="urn:microsoft.com/office/officeart/2016/7/layout/LinearBlockProcessNumbered"/>
    <dgm:cxn modelId="{FDA5BF68-5A3B-49F7-9E1F-9D52684E5C37}" type="presOf" srcId="{9E6E2DE8-A78C-4354-B809-EFF227E7DCE0}" destId="{6A0A9CB4-187C-4F62-BD67-4351C476A07C}" srcOrd="1" destOrd="0" presId="urn:microsoft.com/office/officeart/2016/7/layout/LinearBlockProcessNumbered"/>
    <dgm:cxn modelId="{3238666E-72D3-4D53-9D4D-026A99DD75DF}" type="presOf" srcId="{DB7B59DC-D023-4001-A5BC-4896738175F3}" destId="{8BDB9B97-3F40-4CD2-95A6-CFDE63118BD5}" srcOrd="1" destOrd="0" presId="urn:microsoft.com/office/officeart/2016/7/layout/LinearBlockProcessNumbered"/>
    <dgm:cxn modelId="{CC2A7450-045B-422E-9FF5-D857273DCE8A}" srcId="{1C27340F-4A0D-49DD-BAD5-A5BE4C9FD46D}" destId="{B78A7B80-070D-4832-BC59-0593A0F9499C}" srcOrd="1" destOrd="0" parTransId="{05A2ECBC-68F3-46A1-B66C-A7F8BEBF08E3}" sibTransId="{58185B4D-DDCC-4247-99B1-0E318EB04EFC}"/>
    <dgm:cxn modelId="{58860571-CA57-4700-A8A7-5DDE1B8492A0}" type="presOf" srcId="{74400B31-9E77-4DBD-90AD-A40F2FD9EC31}" destId="{D8FB92D9-01DA-4EE3-9AF5-68ECDE016443}" srcOrd="1" destOrd="0" presId="urn:microsoft.com/office/officeart/2016/7/layout/LinearBlockProcessNumbered"/>
    <dgm:cxn modelId="{420C6672-BF28-487C-84C8-061B8FB91A43}" type="presOf" srcId="{1C27340F-4A0D-49DD-BAD5-A5BE4C9FD46D}" destId="{5F319A93-0E7B-4944-8576-B0C187167583}" srcOrd="1" destOrd="0" presId="urn:microsoft.com/office/officeart/2016/7/layout/LinearBlockProcessNumbered"/>
    <dgm:cxn modelId="{9F7F787A-907D-425F-8F1A-AAB74EDDCD31}" type="presOf" srcId="{AECB8B41-105A-4FB0-8928-0E5435377523}" destId="{BDEC3387-B6C7-4044-B616-D23BA3BBFE41}" srcOrd="0" destOrd="0" presId="urn:microsoft.com/office/officeart/2016/7/layout/LinearBlockProcessNumbered"/>
    <dgm:cxn modelId="{7FEE127C-A5F1-4E33-8953-620C8A5D4EAE}" type="presOf" srcId="{CD0201B3-7B7B-4F81-A4D8-C02B98A5D123}" destId="{BE414235-458B-4104-BEA0-6DF0CFEEF49B}" srcOrd="0" destOrd="0" presId="urn:microsoft.com/office/officeart/2016/7/layout/LinearBlockProcessNumbered"/>
    <dgm:cxn modelId="{EE6D5A7F-88C8-4CD1-8CDB-6D4C6A93EA0E}" srcId="{BEFAD602-D2F1-4B42-BEE2-5E866550BE31}" destId="{DB7B59DC-D023-4001-A5BC-4896738175F3}" srcOrd="3" destOrd="0" parTransId="{E10D8C80-EAB4-4A80-8E87-594DBCC775FE}" sibTransId="{98E00F9F-BF8C-4F4A-94DE-E96D702BFA78}"/>
    <dgm:cxn modelId="{31DCA581-E70E-4C05-B4E5-7D3AEEB9ED60}" srcId="{BEFAD602-D2F1-4B42-BEE2-5E866550BE31}" destId="{74400B31-9E77-4DBD-90AD-A40F2FD9EC31}" srcOrd="4" destOrd="0" parTransId="{00AB0C5D-F2F7-4345-8FFD-58E8FDCCD56D}" sibTransId="{948188A7-592E-4D77-A518-18CFA6BA7042}"/>
    <dgm:cxn modelId="{5DC51883-A634-4122-A690-67FD54099873}" srcId="{BEFAD602-D2F1-4B42-BEE2-5E866550BE31}" destId="{78325241-2BBE-418B-9E57-BDA1A4EE3AC0}" srcOrd="1" destOrd="0" parTransId="{3C8149FA-BFE5-48FB-961A-9E65903F3F8F}" sibTransId="{AECB8B41-105A-4FB0-8928-0E5435377523}"/>
    <dgm:cxn modelId="{57CCE399-4B18-4B58-AF49-34EFA3F1D7A9}" type="presOf" srcId="{BEFAD602-D2F1-4B42-BEE2-5E866550BE31}" destId="{8774482B-EBFF-4A5D-A14B-212C7AF84170}" srcOrd="0" destOrd="0" presId="urn:microsoft.com/office/officeart/2016/7/layout/LinearBlockProcessNumbered"/>
    <dgm:cxn modelId="{D44DDEAF-A250-4F3E-B31B-43A6E319CB54}" type="presOf" srcId="{74400B31-9E77-4DBD-90AD-A40F2FD9EC31}" destId="{2ABCDDE6-3239-4021-95C4-656FDB935CB9}" srcOrd="0" destOrd="0" presId="urn:microsoft.com/office/officeart/2016/7/layout/LinearBlockProcessNumbered"/>
    <dgm:cxn modelId="{2A15D4BA-4B00-4708-B75C-B7C8FD8864AD}" type="presOf" srcId="{98E00F9F-BF8C-4F4A-94DE-E96D702BFA78}" destId="{AB18A00B-2E75-49B6-9AF5-C39912795BC6}" srcOrd="0" destOrd="0" presId="urn:microsoft.com/office/officeart/2016/7/layout/LinearBlockProcessNumbered"/>
    <dgm:cxn modelId="{3961A4D2-3958-4AE1-A754-1AA12E6CD2E3}" type="presOf" srcId="{1C27340F-4A0D-49DD-BAD5-A5BE4C9FD46D}" destId="{3A8D2FC1-E164-4AF8-83A3-F88CD4564923}" srcOrd="0" destOrd="0" presId="urn:microsoft.com/office/officeart/2016/7/layout/LinearBlockProcessNumbered"/>
    <dgm:cxn modelId="{98A466D5-5AF0-4914-8203-C2012B819CA0}" type="presOf" srcId="{948188A7-592E-4D77-A518-18CFA6BA7042}" destId="{DC1A78FB-2B68-43BE-9166-B8E7334EC672}" srcOrd="0" destOrd="0" presId="urn:microsoft.com/office/officeart/2016/7/layout/LinearBlockProcessNumbered"/>
    <dgm:cxn modelId="{6A001ED9-78FA-496D-8E18-5DDA327B8C9C}" type="presOf" srcId="{15E9DB8C-E98F-44E1-B11E-DEFBBF340330}" destId="{70D782E4-5374-4F5A-80C3-1C93D9C404BF}" srcOrd="0" destOrd="0" presId="urn:microsoft.com/office/officeart/2016/7/layout/LinearBlockProcessNumbered"/>
    <dgm:cxn modelId="{D4E0FCDC-CEE9-4D9C-98F3-0995C9AB5F47}" srcId="{BEFAD602-D2F1-4B42-BEE2-5E866550BE31}" destId="{9E6E2DE8-A78C-4354-B809-EFF227E7DCE0}" srcOrd="2" destOrd="0" parTransId="{E54ED1B6-9C21-4D0B-945F-6BEB0CBBFE9B}" sibTransId="{CD0201B3-7B7B-4F81-A4D8-C02B98A5D123}"/>
    <dgm:cxn modelId="{53A784E1-9F5F-4517-BFC9-664963774122}" srcId="{1C27340F-4A0D-49DD-BAD5-A5BE4C9FD46D}" destId="{60586485-7CF1-456E-AD19-C6CEBA0A8DEC}" srcOrd="0" destOrd="0" parTransId="{A3085A0B-7E2C-4543-A43C-1672C254D982}" sibTransId="{6B7CF226-82EE-4970-9EB9-04A4E8173041}"/>
    <dgm:cxn modelId="{241998F5-D8AB-4109-B867-5825BCB455D5}" srcId="{BEFAD602-D2F1-4B42-BEE2-5E866550BE31}" destId="{1C27340F-4A0D-49DD-BAD5-A5BE4C9FD46D}" srcOrd="0" destOrd="0" parTransId="{5B00AFBF-FFE7-43C9-BB7F-AAF964CD2EB4}" sibTransId="{15E9DB8C-E98F-44E1-B11E-DEFBBF340330}"/>
    <dgm:cxn modelId="{2670FEFB-EDBD-4432-BB37-BAA41ACA13C9}" type="presOf" srcId="{60586485-7CF1-456E-AD19-C6CEBA0A8DEC}" destId="{5F319A93-0E7B-4944-8576-B0C187167583}" srcOrd="0" destOrd="1" presId="urn:microsoft.com/office/officeart/2016/7/layout/LinearBlockProcessNumbered"/>
    <dgm:cxn modelId="{939B1EB6-5004-4FD6-8382-2317B5C5F8CF}" type="presParOf" srcId="{8774482B-EBFF-4A5D-A14B-212C7AF84170}" destId="{E2728741-44C8-4E02-A597-96DC2C64D8DD}" srcOrd="0" destOrd="0" presId="urn:microsoft.com/office/officeart/2016/7/layout/LinearBlockProcessNumbered"/>
    <dgm:cxn modelId="{42ACBCA2-5DD9-48F9-B31F-F9D4F5AD5D6A}" type="presParOf" srcId="{E2728741-44C8-4E02-A597-96DC2C64D8DD}" destId="{3A8D2FC1-E164-4AF8-83A3-F88CD4564923}" srcOrd="0" destOrd="0" presId="urn:microsoft.com/office/officeart/2016/7/layout/LinearBlockProcessNumbered"/>
    <dgm:cxn modelId="{76CA22D9-5A7F-49FC-88F1-D808E456FDC6}" type="presParOf" srcId="{E2728741-44C8-4E02-A597-96DC2C64D8DD}" destId="{70D782E4-5374-4F5A-80C3-1C93D9C404BF}" srcOrd="1" destOrd="0" presId="urn:microsoft.com/office/officeart/2016/7/layout/LinearBlockProcessNumbered"/>
    <dgm:cxn modelId="{C5D6F5B4-6BB1-4895-AA72-3DD299F4E774}" type="presParOf" srcId="{E2728741-44C8-4E02-A597-96DC2C64D8DD}" destId="{5F319A93-0E7B-4944-8576-B0C187167583}" srcOrd="2" destOrd="0" presId="urn:microsoft.com/office/officeart/2016/7/layout/LinearBlockProcessNumbered"/>
    <dgm:cxn modelId="{860A495C-F148-40DE-8941-B81A74121001}" type="presParOf" srcId="{8774482B-EBFF-4A5D-A14B-212C7AF84170}" destId="{432D0E3A-C8C0-4BA8-AE29-44B4101643B3}" srcOrd="1" destOrd="0" presId="urn:microsoft.com/office/officeart/2016/7/layout/LinearBlockProcessNumbered"/>
    <dgm:cxn modelId="{E8FC63D1-7864-4A9C-9937-9F1AF2824A75}" type="presParOf" srcId="{8774482B-EBFF-4A5D-A14B-212C7AF84170}" destId="{5511ACC2-36B3-43B0-A833-CEE08052E2BC}" srcOrd="2" destOrd="0" presId="urn:microsoft.com/office/officeart/2016/7/layout/LinearBlockProcessNumbered"/>
    <dgm:cxn modelId="{8D69B53F-5946-4814-89B2-AA59A29B836B}" type="presParOf" srcId="{5511ACC2-36B3-43B0-A833-CEE08052E2BC}" destId="{5B6B9DE9-BB6E-46E6-824A-A38F1FBCDFB6}" srcOrd="0" destOrd="0" presId="urn:microsoft.com/office/officeart/2016/7/layout/LinearBlockProcessNumbered"/>
    <dgm:cxn modelId="{2CC17C77-4ECD-41FE-9FC2-2A2936A9357D}" type="presParOf" srcId="{5511ACC2-36B3-43B0-A833-CEE08052E2BC}" destId="{BDEC3387-B6C7-4044-B616-D23BA3BBFE41}" srcOrd="1" destOrd="0" presId="urn:microsoft.com/office/officeart/2016/7/layout/LinearBlockProcessNumbered"/>
    <dgm:cxn modelId="{8D7C7A79-59D3-408D-8AAC-1ACDC8B653CF}" type="presParOf" srcId="{5511ACC2-36B3-43B0-A833-CEE08052E2BC}" destId="{0A848E61-0D5E-4F8A-B3BE-4D2F25EBB3D1}" srcOrd="2" destOrd="0" presId="urn:microsoft.com/office/officeart/2016/7/layout/LinearBlockProcessNumbered"/>
    <dgm:cxn modelId="{4520D767-63C8-430A-8D9B-E04BC6C9F2A4}" type="presParOf" srcId="{8774482B-EBFF-4A5D-A14B-212C7AF84170}" destId="{1700821E-545B-4B52-A32D-7E4EBBE71C2D}" srcOrd="3" destOrd="0" presId="urn:microsoft.com/office/officeart/2016/7/layout/LinearBlockProcessNumbered"/>
    <dgm:cxn modelId="{C86B6173-4803-452C-9621-DA2FDA6B01B0}" type="presParOf" srcId="{8774482B-EBFF-4A5D-A14B-212C7AF84170}" destId="{7841E41E-0F81-4A23-9F9C-AD135C1C4829}" srcOrd="4" destOrd="0" presId="urn:microsoft.com/office/officeart/2016/7/layout/LinearBlockProcessNumbered"/>
    <dgm:cxn modelId="{D4181817-0C63-4A60-94AA-E4AD525ED672}" type="presParOf" srcId="{7841E41E-0F81-4A23-9F9C-AD135C1C4829}" destId="{EBBA67CC-D307-4A2D-977E-B7A3C316BB74}" srcOrd="0" destOrd="0" presId="urn:microsoft.com/office/officeart/2016/7/layout/LinearBlockProcessNumbered"/>
    <dgm:cxn modelId="{AAEE055E-BC0B-44BF-8710-BA7A6B01B039}" type="presParOf" srcId="{7841E41E-0F81-4A23-9F9C-AD135C1C4829}" destId="{BE414235-458B-4104-BEA0-6DF0CFEEF49B}" srcOrd="1" destOrd="0" presId="urn:microsoft.com/office/officeart/2016/7/layout/LinearBlockProcessNumbered"/>
    <dgm:cxn modelId="{D5404585-E039-4772-A6C4-6CA104334C84}" type="presParOf" srcId="{7841E41E-0F81-4A23-9F9C-AD135C1C4829}" destId="{6A0A9CB4-187C-4F62-BD67-4351C476A07C}" srcOrd="2" destOrd="0" presId="urn:microsoft.com/office/officeart/2016/7/layout/LinearBlockProcessNumbered"/>
    <dgm:cxn modelId="{13D03350-0731-4C94-BF99-DC73449A04AE}" type="presParOf" srcId="{8774482B-EBFF-4A5D-A14B-212C7AF84170}" destId="{6AFCD51A-C12F-47B2-8AF6-87EA77829236}" srcOrd="5" destOrd="0" presId="urn:microsoft.com/office/officeart/2016/7/layout/LinearBlockProcessNumbered"/>
    <dgm:cxn modelId="{106D2E58-AA36-4CB9-BC4D-C2C54ADC5AE6}" type="presParOf" srcId="{8774482B-EBFF-4A5D-A14B-212C7AF84170}" destId="{A4534299-3D91-421D-8549-80B83DA68E32}" srcOrd="6" destOrd="0" presId="urn:microsoft.com/office/officeart/2016/7/layout/LinearBlockProcessNumbered"/>
    <dgm:cxn modelId="{E79859FF-6C94-4F63-AAB1-AC6F0487BC52}" type="presParOf" srcId="{A4534299-3D91-421D-8549-80B83DA68E32}" destId="{C75A37D4-3B5D-4D9E-9685-A066471ED070}" srcOrd="0" destOrd="0" presId="urn:microsoft.com/office/officeart/2016/7/layout/LinearBlockProcessNumbered"/>
    <dgm:cxn modelId="{73C2BCB8-932F-418B-8CB3-7EDAD119EAF5}" type="presParOf" srcId="{A4534299-3D91-421D-8549-80B83DA68E32}" destId="{AB18A00B-2E75-49B6-9AF5-C39912795BC6}" srcOrd="1" destOrd="0" presId="urn:microsoft.com/office/officeart/2016/7/layout/LinearBlockProcessNumbered"/>
    <dgm:cxn modelId="{58B6A77B-E358-40A8-8A8D-7D32D066D788}" type="presParOf" srcId="{A4534299-3D91-421D-8549-80B83DA68E32}" destId="{8BDB9B97-3F40-4CD2-95A6-CFDE63118BD5}" srcOrd="2" destOrd="0" presId="urn:microsoft.com/office/officeart/2016/7/layout/LinearBlockProcessNumbered"/>
    <dgm:cxn modelId="{CF67790D-F9AB-488B-942F-D66D07CEEC10}" type="presParOf" srcId="{8774482B-EBFF-4A5D-A14B-212C7AF84170}" destId="{1C9009A4-97D1-4C3E-B8F4-7E30BD9709B2}" srcOrd="7" destOrd="0" presId="urn:microsoft.com/office/officeart/2016/7/layout/LinearBlockProcessNumbered"/>
    <dgm:cxn modelId="{C9806BBB-C3C0-413C-A7D5-8339408A4E46}" type="presParOf" srcId="{8774482B-EBFF-4A5D-A14B-212C7AF84170}" destId="{9197BB12-8FEE-4693-AAA3-D5E237826634}" srcOrd="8" destOrd="0" presId="urn:microsoft.com/office/officeart/2016/7/layout/LinearBlockProcessNumbered"/>
    <dgm:cxn modelId="{CE61004E-AC46-4470-8DC0-0842BB9D4EF6}" type="presParOf" srcId="{9197BB12-8FEE-4693-AAA3-D5E237826634}" destId="{2ABCDDE6-3239-4021-95C4-656FDB935CB9}" srcOrd="0" destOrd="0" presId="urn:microsoft.com/office/officeart/2016/7/layout/LinearBlockProcessNumbered"/>
    <dgm:cxn modelId="{A09BB919-EB57-4085-A290-9D1ED85CEA69}" type="presParOf" srcId="{9197BB12-8FEE-4693-AAA3-D5E237826634}" destId="{DC1A78FB-2B68-43BE-9166-B8E7334EC672}" srcOrd="1" destOrd="0" presId="urn:microsoft.com/office/officeart/2016/7/layout/LinearBlockProcessNumbered"/>
    <dgm:cxn modelId="{B6F33482-B77C-4E72-B846-82D563D7757C}" type="presParOf" srcId="{9197BB12-8FEE-4693-AAA3-D5E237826634}" destId="{D8FB92D9-01DA-4EE3-9AF5-68ECDE016443}"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8D2FC1-E164-4AF8-83A3-F88CD4564923}">
      <dsp:nvSpPr>
        <dsp:cNvPr id="0" name=""/>
        <dsp:cNvSpPr/>
      </dsp:nvSpPr>
      <dsp:spPr>
        <a:xfrm>
          <a:off x="6563" y="613720"/>
          <a:ext cx="2051635" cy="246196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577850">
            <a:lnSpc>
              <a:spcPct val="90000"/>
            </a:lnSpc>
            <a:spcBef>
              <a:spcPct val="0"/>
            </a:spcBef>
            <a:spcAft>
              <a:spcPct val="35000"/>
            </a:spcAft>
            <a:buNone/>
          </a:pPr>
          <a:r>
            <a:rPr lang="en-US" sz="1300" kern="1200"/>
            <a:t>Take it seriously and do a good job</a:t>
          </a:r>
        </a:p>
        <a:p>
          <a:pPr marL="57150" lvl="1" indent="-57150" algn="l" defTabSz="444500">
            <a:lnSpc>
              <a:spcPct val="90000"/>
            </a:lnSpc>
            <a:spcBef>
              <a:spcPct val="0"/>
            </a:spcBef>
            <a:spcAft>
              <a:spcPct val="15000"/>
            </a:spcAft>
            <a:buChar char="•"/>
          </a:pPr>
          <a:r>
            <a:rPr lang="en-US" sz="1000" kern="1200"/>
            <a:t>Make it meaningful to your future careers</a:t>
          </a:r>
        </a:p>
        <a:p>
          <a:pPr marL="57150" lvl="1" indent="-57150" algn="l" defTabSz="444500">
            <a:lnSpc>
              <a:spcPct val="90000"/>
            </a:lnSpc>
            <a:spcBef>
              <a:spcPct val="0"/>
            </a:spcBef>
            <a:spcAft>
              <a:spcPct val="15000"/>
            </a:spcAft>
            <a:buChar char="•"/>
          </a:pPr>
          <a:r>
            <a:rPr lang="en-US" sz="1000" kern="1200"/>
            <a:t>Adapt in real time to make this happen</a:t>
          </a:r>
        </a:p>
      </dsp:txBody>
      <dsp:txXfrm>
        <a:off x="6563" y="1598506"/>
        <a:ext cx="2051635" cy="1477177"/>
      </dsp:txXfrm>
    </dsp:sp>
    <dsp:sp modelId="{70D782E4-5374-4F5A-80C3-1C93D9C404BF}">
      <dsp:nvSpPr>
        <dsp:cNvPr id="0" name=""/>
        <dsp:cNvSpPr/>
      </dsp:nvSpPr>
      <dsp:spPr>
        <a:xfrm>
          <a:off x="6563" y="6137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2044700">
            <a:lnSpc>
              <a:spcPct val="90000"/>
            </a:lnSpc>
            <a:spcBef>
              <a:spcPct val="0"/>
            </a:spcBef>
            <a:spcAft>
              <a:spcPct val="35000"/>
            </a:spcAft>
            <a:buNone/>
          </a:pPr>
          <a:r>
            <a:rPr lang="en-US" sz="4600" kern="1200"/>
            <a:t>01</a:t>
          </a:r>
        </a:p>
      </dsp:txBody>
      <dsp:txXfrm>
        <a:off x="6563" y="613720"/>
        <a:ext cx="2051635" cy="984785"/>
      </dsp:txXfrm>
    </dsp:sp>
    <dsp:sp modelId="{5B6B9DE9-BB6E-46E6-824A-A38F1FBCDFB6}">
      <dsp:nvSpPr>
        <dsp:cNvPr id="0" name=""/>
        <dsp:cNvSpPr/>
      </dsp:nvSpPr>
      <dsp:spPr>
        <a:xfrm>
          <a:off x="2222329" y="613720"/>
          <a:ext cx="2051635" cy="2461963"/>
        </a:xfrm>
        <a:prstGeom prst="rect">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577850">
            <a:lnSpc>
              <a:spcPct val="90000"/>
            </a:lnSpc>
            <a:spcBef>
              <a:spcPct val="0"/>
            </a:spcBef>
            <a:spcAft>
              <a:spcPct val="35000"/>
            </a:spcAft>
            <a:buNone/>
          </a:pPr>
          <a:r>
            <a:rPr lang="en-US" sz="1300" kern="1200"/>
            <a:t>Teach you a new way of approaching problems and thinking</a:t>
          </a:r>
        </a:p>
      </dsp:txBody>
      <dsp:txXfrm>
        <a:off x="2222329" y="1598506"/>
        <a:ext cx="2051635" cy="1477177"/>
      </dsp:txXfrm>
    </dsp:sp>
    <dsp:sp modelId="{BDEC3387-B6C7-4044-B616-D23BA3BBFE41}">
      <dsp:nvSpPr>
        <dsp:cNvPr id="0" name=""/>
        <dsp:cNvSpPr/>
      </dsp:nvSpPr>
      <dsp:spPr>
        <a:xfrm>
          <a:off x="2222329" y="6137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2044700">
            <a:lnSpc>
              <a:spcPct val="90000"/>
            </a:lnSpc>
            <a:spcBef>
              <a:spcPct val="0"/>
            </a:spcBef>
            <a:spcAft>
              <a:spcPct val="35000"/>
            </a:spcAft>
            <a:buNone/>
          </a:pPr>
          <a:r>
            <a:rPr lang="en-US" sz="4600" kern="1200"/>
            <a:t>02</a:t>
          </a:r>
        </a:p>
      </dsp:txBody>
      <dsp:txXfrm>
        <a:off x="2222329" y="613720"/>
        <a:ext cx="2051635" cy="984785"/>
      </dsp:txXfrm>
    </dsp:sp>
    <dsp:sp modelId="{EBBA67CC-D307-4A2D-977E-B7A3C316BB74}">
      <dsp:nvSpPr>
        <dsp:cNvPr id="0" name=""/>
        <dsp:cNvSpPr/>
      </dsp:nvSpPr>
      <dsp:spPr>
        <a:xfrm>
          <a:off x="4438096" y="613720"/>
          <a:ext cx="2051635" cy="2461963"/>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577850">
            <a:lnSpc>
              <a:spcPct val="90000"/>
            </a:lnSpc>
            <a:spcBef>
              <a:spcPct val="0"/>
            </a:spcBef>
            <a:spcAft>
              <a:spcPct val="35000"/>
            </a:spcAft>
            <a:buNone/>
          </a:pPr>
          <a:r>
            <a:rPr lang="en-US" sz="1300" kern="1200"/>
            <a:t>Prepare you for any innovations that happen in your career</a:t>
          </a:r>
        </a:p>
      </dsp:txBody>
      <dsp:txXfrm>
        <a:off x="4438096" y="1598506"/>
        <a:ext cx="2051635" cy="1477177"/>
      </dsp:txXfrm>
    </dsp:sp>
    <dsp:sp modelId="{BE414235-458B-4104-BEA0-6DF0CFEEF49B}">
      <dsp:nvSpPr>
        <dsp:cNvPr id="0" name=""/>
        <dsp:cNvSpPr/>
      </dsp:nvSpPr>
      <dsp:spPr>
        <a:xfrm>
          <a:off x="4438096" y="6137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2044700">
            <a:lnSpc>
              <a:spcPct val="90000"/>
            </a:lnSpc>
            <a:spcBef>
              <a:spcPct val="0"/>
            </a:spcBef>
            <a:spcAft>
              <a:spcPct val="35000"/>
            </a:spcAft>
            <a:buNone/>
          </a:pPr>
          <a:r>
            <a:rPr lang="en-US" sz="4600" kern="1200"/>
            <a:t>03</a:t>
          </a:r>
        </a:p>
      </dsp:txBody>
      <dsp:txXfrm>
        <a:off x="4438096" y="613720"/>
        <a:ext cx="2051635" cy="984785"/>
      </dsp:txXfrm>
    </dsp:sp>
    <dsp:sp modelId="{C75A37D4-3B5D-4D9E-9685-A066471ED070}">
      <dsp:nvSpPr>
        <dsp:cNvPr id="0" name=""/>
        <dsp:cNvSpPr/>
      </dsp:nvSpPr>
      <dsp:spPr>
        <a:xfrm>
          <a:off x="6653863" y="613720"/>
          <a:ext cx="2051635" cy="2461963"/>
        </a:xfrm>
        <a:prstGeom prst="rect">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577850">
            <a:lnSpc>
              <a:spcPct val="90000"/>
            </a:lnSpc>
            <a:spcBef>
              <a:spcPct val="0"/>
            </a:spcBef>
            <a:spcAft>
              <a:spcPct val="35000"/>
            </a:spcAft>
            <a:buNone/>
          </a:pPr>
          <a:r>
            <a:rPr lang="en-US" sz="1300" kern="1200"/>
            <a:t>Break down difficult concepts into understandable words – this class should never feel overwhelming</a:t>
          </a:r>
        </a:p>
      </dsp:txBody>
      <dsp:txXfrm>
        <a:off x="6653863" y="1598506"/>
        <a:ext cx="2051635" cy="1477177"/>
      </dsp:txXfrm>
    </dsp:sp>
    <dsp:sp modelId="{AB18A00B-2E75-49B6-9AF5-C39912795BC6}">
      <dsp:nvSpPr>
        <dsp:cNvPr id="0" name=""/>
        <dsp:cNvSpPr/>
      </dsp:nvSpPr>
      <dsp:spPr>
        <a:xfrm>
          <a:off x="6653863" y="6137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2044700">
            <a:lnSpc>
              <a:spcPct val="90000"/>
            </a:lnSpc>
            <a:spcBef>
              <a:spcPct val="0"/>
            </a:spcBef>
            <a:spcAft>
              <a:spcPct val="35000"/>
            </a:spcAft>
            <a:buNone/>
          </a:pPr>
          <a:r>
            <a:rPr lang="en-US" sz="4600" kern="1200"/>
            <a:t>04</a:t>
          </a:r>
        </a:p>
      </dsp:txBody>
      <dsp:txXfrm>
        <a:off x="6653863" y="613720"/>
        <a:ext cx="2051635" cy="984785"/>
      </dsp:txXfrm>
    </dsp:sp>
    <dsp:sp modelId="{2ABCDDE6-3239-4021-95C4-656FDB935CB9}">
      <dsp:nvSpPr>
        <dsp:cNvPr id="0" name=""/>
        <dsp:cNvSpPr/>
      </dsp:nvSpPr>
      <dsp:spPr>
        <a:xfrm>
          <a:off x="8869630" y="613720"/>
          <a:ext cx="2051635" cy="2461963"/>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656" tIns="0" rIns="202656" bIns="330200" numCol="1" spcCol="1270" anchor="t" anchorCtr="0">
          <a:noAutofit/>
        </a:bodyPr>
        <a:lstStyle/>
        <a:p>
          <a:pPr marL="0" lvl="0" indent="0" algn="l" defTabSz="577850">
            <a:lnSpc>
              <a:spcPct val="90000"/>
            </a:lnSpc>
            <a:spcBef>
              <a:spcPct val="0"/>
            </a:spcBef>
            <a:spcAft>
              <a:spcPct val="35000"/>
            </a:spcAft>
            <a:buNone/>
          </a:pPr>
          <a:r>
            <a:rPr lang="en-US" sz="1300" kern="1200"/>
            <a:t>Give frameworks and spot trends to give you intuition</a:t>
          </a:r>
        </a:p>
      </dsp:txBody>
      <dsp:txXfrm>
        <a:off x="8869630" y="1598506"/>
        <a:ext cx="2051635" cy="1477177"/>
      </dsp:txXfrm>
    </dsp:sp>
    <dsp:sp modelId="{DC1A78FB-2B68-43BE-9166-B8E7334EC672}">
      <dsp:nvSpPr>
        <dsp:cNvPr id="0" name=""/>
        <dsp:cNvSpPr/>
      </dsp:nvSpPr>
      <dsp:spPr>
        <a:xfrm>
          <a:off x="8869630" y="613720"/>
          <a:ext cx="2051635" cy="98478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656" tIns="165100" rIns="202656" bIns="165100" numCol="1" spcCol="1270" anchor="ctr" anchorCtr="0">
          <a:noAutofit/>
        </a:bodyPr>
        <a:lstStyle/>
        <a:p>
          <a:pPr marL="0" lvl="0" indent="0" algn="l" defTabSz="2044700">
            <a:lnSpc>
              <a:spcPct val="90000"/>
            </a:lnSpc>
            <a:spcBef>
              <a:spcPct val="0"/>
            </a:spcBef>
            <a:spcAft>
              <a:spcPct val="35000"/>
            </a:spcAft>
            <a:buNone/>
          </a:pPr>
          <a:r>
            <a:rPr lang="en-US" sz="4600" kern="1200"/>
            <a:t>05</a:t>
          </a:r>
        </a:p>
      </dsp:txBody>
      <dsp:txXfrm>
        <a:off x="8869630" y="613720"/>
        <a:ext cx="2051635" cy="984785"/>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1059F-49EE-43B9-85DA-7C824A5CEF6C}"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86331C-0961-4650-81D2-244443F2FAFC}" type="slidenum">
              <a:rPr lang="en-US" smtClean="0"/>
              <a:t>‹#›</a:t>
            </a:fld>
            <a:endParaRPr lang="en-US"/>
          </a:p>
        </p:txBody>
      </p:sp>
    </p:spTree>
    <p:extLst>
      <p:ext uri="{BB962C8B-B14F-4D97-AF65-F5344CB8AC3E}">
        <p14:creationId xmlns:p14="http://schemas.microsoft.com/office/powerpoint/2010/main" val="23879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going along with my crazy idea for a class</a:t>
            </a:r>
          </a:p>
          <a:p>
            <a:r>
              <a:rPr lang="en-US" dirty="0"/>
              <a:t>I know it’s a privilege to get the attention of my classmates to talk about anything for 1h</a:t>
            </a:r>
          </a:p>
          <a:p>
            <a:r>
              <a:rPr lang="en-US" dirty="0"/>
              <a:t>I’m not taking it lightly and I really want to do a good job with this class</a:t>
            </a:r>
          </a:p>
          <a:p>
            <a:endParaRPr lang="en-US" dirty="0"/>
          </a:p>
        </p:txBody>
      </p:sp>
      <p:sp>
        <p:nvSpPr>
          <p:cNvPr id="4" name="Slide Number Placeholder 3"/>
          <p:cNvSpPr>
            <a:spLocks noGrp="1"/>
          </p:cNvSpPr>
          <p:nvPr>
            <p:ph type="sldNum" sz="quarter" idx="5"/>
          </p:nvPr>
        </p:nvSpPr>
        <p:spPr/>
        <p:txBody>
          <a:bodyPr/>
          <a:lstStyle/>
          <a:p>
            <a:fld id="{4686331C-0961-4650-81D2-244443F2FAFC}" type="slidenum">
              <a:rPr lang="en-US" smtClean="0"/>
              <a:t>2</a:t>
            </a:fld>
            <a:endParaRPr lang="en-US"/>
          </a:p>
        </p:txBody>
      </p:sp>
    </p:spTree>
    <p:extLst>
      <p:ext uri="{BB962C8B-B14F-4D97-AF65-F5344CB8AC3E}">
        <p14:creationId xmlns:p14="http://schemas.microsoft.com/office/powerpoint/2010/main" val="723126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(camera can be off, muted)</a:t>
            </a:r>
          </a:p>
          <a:p>
            <a:endParaRPr lang="en-US" dirty="0"/>
          </a:p>
        </p:txBody>
      </p:sp>
      <p:sp>
        <p:nvSpPr>
          <p:cNvPr id="4" name="Slide Number Placeholder 3"/>
          <p:cNvSpPr>
            <a:spLocks noGrp="1"/>
          </p:cNvSpPr>
          <p:nvPr>
            <p:ph type="sldNum" sz="quarter" idx="5"/>
          </p:nvPr>
        </p:nvSpPr>
        <p:spPr/>
        <p:txBody>
          <a:bodyPr/>
          <a:lstStyle/>
          <a:p>
            <a:fld id="{4686331C-0961-4650-81D2-244443F2FAFC}" type="slidenum">
              <a:rPr lang="en-US" smtClean="0"/>
              <a:t>4</a:t>
            </a:fld>
            <a:endParaRPr lang="en-US"/>
          </a:p>
        </p:txBody>
      </p:sp>
    </p:spTree>
    <p:extLst>
      <p:ext uri="{BB962C8B-B14F-4D97-AF65-F5344CB8AC3E}">
        <p14:creationId xmlns:p14="http://schemas.microsoft.com/office/powerpoint/2010/main" val="2714659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Camera/mic can be off</a:t>
            </a:r>
          </a:p>
        </p:txBody>
      </p:sp>
      <p:sp>
        <p:nvSpPr>
          <p:cNvPr id="4" name="Slide Number Placeholder 3"/>
          <p:cNvSpPr>
            <a:spLocks noGrp="1"/>
          </p:cNvSpPr>
          <p:nvPr>
            <p:ph type="sldNum" sz="quarter" idx="5"/>
          </p:nvPr>
        </p:nvSpPr>
        <p:spPr/>
        <p:txBody>
          <a:bodyPr/>
          <a:lstStyle/>
          <a:p>
            <a:fld id="{4686331C-0961-4650-81D2-244443F2FAFC}" type="slidenum">
              <a:rPr lang="en-US" smtClean="0"/>
              <a:t>5</a:t>
            </a:fld>
            <a:endParaRPr lang="en-US"/>
          </a:p>
        </p:txBody>
      </p:sp>
    </p:spTree>
    <p:extLst>
      <p:ext uri="{BB962C8B-B14F-4D97-AF65-F5344CB8AC3E}">
        <p14:creationId xmlns:p14="http://schemas.microsoft.com/office/powerpoint/2010/main" val="3439448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dirty="0"/>
              <a:t>Don’t freak out, I will make sure you get through it.</a:t>
            </a:r>
          </a:p>
          <a:p>
            <a:pPr lvl="2"/>
            <a:r>
              <a:rPr lang="en-US" dirty="0"/>
              <a:t>It’s absolutely necessary to have a proper understanding of AI.</a:t>
            </a:r>
          </a:p>
          <a:p>
            <a:endParaRPr lang="en-US" dirty="0"/>
          </a:p>
        </p:txBody>
      </p:sp>
      <p:sp>
        <p:nvSpPr>
          <p:cNvPr id="4" name="Slide Number Placeholder 3"/>
          <p:cNvSpPr>
            <a:spLocks noGrp="1"/>
          </p:cNvSpPr>
          <p:nvPr>
            <p:ph type="sldNum" sz="quarter" idx="5"/>
          </p:nvPr>
        </p:nvSpPr>
        <p:spPr/>
        <p:txBody>
          <a:bodyPr/>
          <a:lstStyle/>
          <a:p>
            <a:fld id="{4686331C-0961-4650-81D2-244443F2FAFC}" type="slidenum">
              <a:rPr lang="en-US" smtClean="0"/>
              <a:t>6</a:t>
            </a:fld>
            <a:endParaRPr lang="en-US"/>
          </a:p>
        </p:txBody>
      </p:sp>
    </p:spTree>
    <p:extLst>
      <p:ext uri="{BB962C8B-B14F-4D97-AF65-F5344CB8AC3E}">
        <p14:creationId xmlns:p14="http://schemas.microsoft.com/office/powerpoint/2010/main" val="168143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86331C-0961-4650-81D2-244443F2FAFC}" type="slidenum">
              <a:rPr lang="en-US" smtClean="0"/>
              <a:t>8</a:t>
            </a:fld>
            <a:endParaRPr lang="en-US"/>
          </a:p>
        </p:txBody>
      </p:sp>
    </p:spTree>
    <p:extLst>
      <p:ext uri="{BB962C8B-B14F-4D97-AF65-F5344CB8AC3E}">
        <p14:creationId xmlns:p14="http://schemas.microsoft.com/office/powerpoint/2010/main" val="2782685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goes back to the different mindset, but it’s something that will help your understanding here and moving forward</a:t>
            </a:r>
          </a:p>
        </p:txBody>
      </p:sp>
      <p:sp>
        <p:nvSpPr>
          <p:cNvPr id="4" name="Slide Number Placeholder 3"/>
          <p:cNvSpPr>
            <a:spLocks noGrp="1"/>
          </p:cNvSpPr>
          <p:nvPr>
            <p:ph type="sldNum" sz="quarter" idx="5"/>
          </p:nvPr>
        </p:nvSpPr>
        <p:spPr/>
        <p:txBody>
          <a:bodyPr/>
          <a:lstStyle/>
          <a:p>
            <a:fld id="{4686331C-0961-4650-81D2-244443F2FAFC}" type="slidenum">
              <a:rPr lang="en-US" smtClean="0"/>
              <a:t>12</a:t>
            </a:fld>
            <a:endParaRPr lang="en-US"/>
          </a:p>
        </p:txBody>
      </p:sp>
    </p:spTree>
    <p:extLst>
      <p:ext uri="{BB962C8B-B14F-4D97-AF65-F5344CB8AC3E}">
        <p14:creationId xmlns:p14="http://schemas.microsoft.com/office/powerpoint/2010/main" val="2224311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for breaking down modern AI</a:t>
            </a:r>
          </a:p>
        </p:txBody>
      </p:sp>
      <p:sp>
        <p:nvSpPr>
          <p:cNvPr id="4" name="Slide Number Placeholder 3"/>
          <p:cNvSpPr>
            <a:spLocks noGrp="1"/>
          </p:cNvSpPr>
          <p:nvPr>
            <p:ph type="sldNum" sz="quarter" idx="5"/>
          </p:nvPr>
        </p:nvSpPr>
        <p:spPr/>
        <p:txBody>
          <a:bodyPr/>
          <a:lstStyle/>
          <a:p>
            <a:fld id="{4686331C-0961-4650-81D2-244443F2FAFC}" type="slidenum">
              <a:rPr lang="en-US" smtClean="0"/>
              <a:t>14</a:t>
            </a:fld>
            <a:endParaRPr lang="en-US"/>
          </a:p>
        </p:txBody>
      </p:sp>
    </p:spTree>
    <p:extLst>
      <p:ext uri="{BB962C8B-B14F-4D97-AF65-F5344CB8AC3E}">
        <p14:creationId xmlns:p14="http://schemas.microsoft.com/office/powerpoint/2010/main" val="532740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ownership and apply to your own career</a:t>
            </a:r>
          </a:p>
          <a:p>
            <a:r>
              <a:rPr lang="en-US" dirty="0"/>
              <a:t>Dig deeper in topics that confuse and interest you</a:t>
            </a:r>
          </a:p>
          <a:p>
            <a:r>
              <a:rPr lang="en-US" dirty="0"/>
              <a:t>We have time!</a:t>
            </a:r>
          </a:p>
          <a:p>
            <a:endParaRPr lang="en-US" dirty="0"/>
          </a:p>
          <a:p>
            <a:pPr lvl="1"/>
            <a:r>
              <a:rPr lang="en-US" dirty="0"/>
              <a:t>Bottom up understanding</a:t>
            </a:r>
          </a:p>
          <a:p>
            <a:pPr lvl="1"/>
            <a:r>
              <a:rPr lang="en-US" dirty="0"/>
              <a:t>Medicine much more often is top down</a:t>
            </a:r>
          </a:p>
          <a:p>
            <a:pPr lvl="1"/>
            <a:r>
              <a:rPr lang="en-US" dirty="0"/>
              <a:t>Understand things start to finish</a:t>
            </a:r>
          </a:p>
          <a:p>
            <a:pPr lvl="2"/>
            <a:r>
              <a:rPr lang="en-US" dirty="0"/>
              <a:t>Someone thought about and built everything</a:t>
            </a:r>
          </a:p>
          <a:p>
            <a:pPr lvl="2"/>
            <a:r>
              <a:rPr lang="en-US" dirty="0"/>
              <a:t>If I can’t explain it, I will help you and that’s a chance for me to learn too</a:t>
            </a:r>
          </a:p>
          <a:p>
            <a:endParaRPr lang="en-US" dirty="0"/>
          </a:p>
        </p:txBody>
      </p:sp>
      <p:sp>
        <p:nvSpPr>
          <p:cNvPr id="4" name="Slide Number Placeholder 3"/>
          <p:cNvSpPr>
            <a:spLocks noGrp="1"/>
          </p:cNvSpPr>
          <p:nvPr>
            <p:ph type="sldNum" sz="quarter" idx="5"/>
          </p:nvPr>
        </p:nvSpPr>
        <p:spPr/>
        <p:txBody>
          <a:bodyPr/>
          <a:lstStyle/>
          <a:p>
            <a:fld id="{4686331C-0961-4650-81D2-244443F2FAFC}" type="slidenum">
              <a:rPr lang="en-US" smtClean="0"/>
              <a:t>16</a:t>
            </a:fld>
            <a:endParaRPr lang="en-US"/>
          </a:p>
        </p:txBody>
      </p:sp>
    </p:spTree>
    <p:extLst>
      <p:ext uri="{BB962C8B-B14F-4D97-AF65-F5344CB8AC3E}">
        <p14:creationId xmlns:p14="http://schemas.microsoft.com/office/powerpoint/2010/main" val="1480583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1950s, father of computing </a:t>
            </a:r>
            <a:r>
              <a:rPr lang="en-US" dirty="0" err="1"/>
              <a:t>alan</a:t>
            </a:r>
            <a:r>
              <a:rPr lang="en-US" dirty="0"/>
              <a:t> </a:t>
            </a:r>
            <a:r>
              <a:rPr lang="en-US" dirty="0" err="1"/>
              <a:t>turing</a:t>
            </a:r>
            <a:r>
              <a:rPr lang="en-US" dirty="0"/>
              <a:t> devised the task of determining whether a text was human or AI generated.</a:t>
            </a:r>
          </a:p>
          <a:p>
            <a:r>
              <a:rPr lang="en-US" dirty="0"/>
              <a:t>Faced scrutiny because intelligence need not always resemble the form of a human</a:t>
            </a:r>
          </a:p>
        </p:txBody>
      </p:sp>
      <p:sp>
        <p:nvSpPr>
          <p:cNvPr id="4" name="Slide Number Placeholder 3"/>
          <p:cNvSpPr>
            <a:spLocks noGrp="1"/>
          </p:cNvSpPr>
          <p:nvPr>
            <p:ph type="sldNum" sz="quarter" idx="5"/>
          </p:nvPr>
        </p:nvSpPr>
        <p:spPr/>
        <p:txBody>
          <a:bodyPr/>
          <a:lstStyle/>
          <a:p>
            <a:fld id="{4686331C-0961-4650-81D2-244443F2FAFC}" type="slidenum">
              <a:rPr lang="en-US" smtClean="0"/>
              <a:t>20</a:t>
            </a:fld>
            <a:endParaRPr lang="en-US"/>
          </a:p>
        </p:txBody>
      </p:sp>
    </p:spTree>
    <p:extLst>
      <p:ext uri="{BB962C8B-B14F-4D97-AF65-F5344CB8AC3E}">
        <p14:creationId xmlns:p14="http://schemas.microsoft.com/office/powerpoint/2010/main" val="1089014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 is the most successful subfield of AI</a:t>
            </a:r>
          </a:p>
          <a:p>
            <a:r>
              <a:rPr lang="en-US" dirty="0"/>
              <a:t>Essentially synonymous for modern applications </a:t>
            </a:r>
          </a:p>
          <a:p>
            <a:r>
              <a:rPr lang="en-US" dirty="0"/>
              <a:t>DL is an advanced application of ML</a:t>
            </a:r>
          </a:p>
          <a:p>
            <a:endParaRPr lang="en-US" dirty="0"/>
          </a:p>
          <a:p>
            <a:r>
              <a:rPr lang="en-US" dirty="0"/>
              <a:t>For the rest of this class, we’ll talk about how we got from AI to ML.</a:t>
            </a:r>
          </a:p>
        </p:txBody>
      </p:sp>
      <p:sp>
        <p:nvSpPr>
          <p:cNvPr id="4" name="Slide Number Placeholder 3"/>
          <p:cNvSpPr>
            <a:spLocks noGrp="1"/>
          </p:cNvSpPr>
          <p:nvPr>
            <p:ph type="sldNum" sz="quarter" idx="5"/>
          </p:nvPr>
        </p:nvSpPr>
        <p:spPr/>
        <p:txBody>
          <a:bodyPr/>
          <a:lstStyle/>
          <a:p>
            <a:fld id="{4686331C-0961-4650-81D2-244443F2FAFC}" type="slidenum">
              <a:rPr lang="en-US" smtClean="0"/>
              <a:t>22</a:t>
            </a:fld>
            <a:endParaRPr lang="en-US"/>
          </a:p>
        </p:txBody>
      </p:sp>
    </p:spTree>
    <p:extLst>
      <p:ext uri="{BB962C8B-B14F-4D97-AF65-F5344CB8AC3E}">
        <p14:creationId xmlns:p14="http://schemas.microsoft.com/office/powerpoint/2010/main" val="2704560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Talos: bronze guardian of Crete. Walks the perimeter, defending it from invaders</a:t>
            </a:r>
          </a:p>
          <a:p>
            <a:r>
              <a:rPr lang="en-US" dirty="0"/>
              <a:t>The golem: A clay figure given the gift of intelligence by inserting an inscribed piece of paper</a:t>
            </a:r>
          </a:p>
          <a:p>
            <a:r>
              <a:rPr lang="en-US" dirty="0"/>
              <a:t>Al Jazari’s automata: figures that could answer questions posed to them</a:t>
            </a:r>
          </a:p>
          <a:p>
            <a:r>
              <a:rPr lang="en-US" dirty="0"/>
              <a:t>Figures imbued with life: Frankenstein</a:t>
            </a:r>
          </a:p>
          <a:p>
            <a:r>
              <a:rPr lang="en-US" dirty="0"/>
              <a:t>Of course, much more than can be shown here</a:t>
            </a:r>
          </a:p>
          <a:p>
            <a:r>
              <a:rPr lang="en-US" dirty="0"/>
              <a:t>People have been dreaming of man made intelligence throughout history.</a:t>
            </a:r>
          </a:p>
        </p:txBody>
      </p:sp>
      <p:sp>
        <p:nvSpPr>
          <p:cNvPr id="4" name="Slide Number Placeholder 3"/>
          <p:cNvSpPr>
            <a:spLocks noGrp="1"/>
          </p:cNvSpPr>
          <p:nvPr>
            <p:ph type="sldNum" sz="quarter" idx="5"/>
          </p:nvPr>
        </p:nvSpPr>
        <p:spPr/>
        <p:txBody>
          <a:bodyPr/>
          <a:lstStyle/>
          <a:p>
            <a:fld id="{4686331C-0961-4650-81D2-244443F2FAFC}" type="slidenum">
              <a:rPr lang="en-US" smtClean="0"/>
              <a:t>23</a:t>
            </a:fld>
            <a:endParaRPr lang="en-US"/>
          </a:p>
        </p:txBody>
      </p:sp>
    </p:spTree>
    <p:extLst>
      <p:ext uri="{BB962C8B-B14F-4D97-AF65-F5344CB8AC3E}">
        <p14:creationId xmlns:p14="http://schemas.microsoft.com/office/powerpoint/2010/main" val="1365818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Reduction of knowledge to simple logical operations -  can it be done?</a:t>
            </a:r>
          </a:p>
          <a:p>
            <a:r>
              <a:rPr lang="en-US" dirty="0"/>
              <a:t>Formal framework for defining logic mathematically</a:t>
            </a:r>
          </a:p>
        </p:txBody>
      </p:sp>
      <p:sp>
        <p:nvSpPr>
          <p:cNvPr id="4" name="Slide Number Placeholder 3"/>
          <p:cNvSpPr>
            <a:spLocks noGrp="1"/>
          </p:cNvSpPr>
          <p:nvPr>
            <p:ph type="sldNum" sz="quarter" idx="5"/>
          </p:nvPr>
        </p:nvSpPr>
        <p:spPr/>
        <p:txBody>
          <a:bodyPr/>
          <a:lstStyle/>
          <a:p>
            <a:fld id="{4686331C-0961-4650-81D2-244443F2FAFC}" type="slidenum">
              <a:rPr lang="en-US" smtClean="0"/>
              <a:t>24</a:t>
            </a:fld>
            <a:endParaRPr lang="en-US"/>
          </a:p>
        </p:txBody>
      </p:sp>
    </p:spTree>
    <p:extLst>
      <p:ext uri="{BB962C8B-B14F-4D97-AF65-F5344CB8AC3E}">
        <p14:creationId xmlns:p14="http://schemas.microsoft.com/office/powerpoint/2010/main" val="3099779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based system – structures info, then goes through a chain of logical steps to deduce the bacteria at cause and the appropriate </a:t>
            </a:r>
            <a:r>
              <a:rPr lang="en-US" dirty="0" err="1"/>
              <a:t>abx</a:t>
            </a:r>
            <a:endParaRPr lang="en-US" dirty="0"/>
          </a:p>
          <a:p>
            <a:r>
              <a:rPr lang="en-US" dirty="0"/>
              <a:t>If patient has fever, jaundice, </a:t>
            </a:r>
            <a:r>
              <a:rPr lang="en-US" dirty="0" err="1"/>
              <a:t>ruq</a:t>
            </a:r>
            <a:r>
              <a:rPr lang="en-US" dirty="0"/>
              <a:t> pain -&gt;</a:t>
            </a:r>
          </a:p>
          <a:p>
            <a:r>
              <a:rPr lang="en-US" dirty="0"/>
              <a:t>Then, patient has… cholecystitis.</a:t>
            </a:r>
          </a:p>
        </p:txBody>
      </p:sp>
      <p:sp>
        <p:nvSpPr>
          <p:cNvPr id="4" name="Slide Number Placeholder 3"/>
          <p:cNvSpPr>
            <a:spLocks noGrp="1"/>
          </p:cNvSpPr>
          <p:nvPr>
            <p:ph type="sldNum" sz="quarter" idx="5"/>
          </p:nvPr>
        </p:nvSpPr>
        <p:spPr/>
        <p:txBody>
          <a:bodyPr/>
          <a:lstStyle/>
          <a:p>
            <a:fld id="{4686331C-0961-4650-81D2-244443F2FAFC}" type="slidenum">
              <a:rPr lang="en-US" smtClean="0"/>
              <a:t>28</a:t>
            </a:fld>
            <a:endParaRPr lang="en-US"/>
          </a:p>
        </p:txBody>
      </p:sp>
    </p:spTree>
    <p:extLst>
      <p:ext uri="{BB962C8B-B14F-4D97-AF65-F5344CB8AC3E}">
        <p14:creationId xmlns:p14="http://schemas.microsoft.com/office/powerpoint/2010/main" val="3555302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just a snapshot that left out many intermediate questions.</a:t>
            </a:r>
          </a:p>
        </p:txBody>
      </p:sp>
      <p:sp>
        <p:nvSpPr>
          <p:cNvPr id="4" name="Slide Number Placeholder 3"/>
          <p:cNvSpPr>
            <a:spLocks noGrp="1"/>
          </p:cNvSpPr>
          <p:nvPr>
            <p:ph type="sldNum" sz="quarter" idx="5"/>
          </p:nvPr>
        </p:nvSpPr>
        <p:spPr/>
        <p:txBody>
          <a:bodyPr/>
          <a:lstStyle/>
          <a:p>
            <a:fld id="{4686331C-0961-4650-81D2-244443F2FAFC}" type="slidenum">
              <a:rPr lang="en-US" smtClean="0"/>
              <a:t>29</a:t>
            </a:fld>
            <a:endParaRPr lang="en-US"/>
          </a:p>
        </p:txBody>
      </p:sp>
    </p:spTree>
    <p:extLst>
      <p:ext uri="{BB962C8B-B14F-4D97-AF65-F5344CB8AC3E}">
        <p14:creationId xmlns:p14="http://schemas.microsoft.com/office/powerpoint/2010/main" val="2778201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Issues:  (let students try)</a:t>
            </a:r>
          </a:p>
          <a:p>
            <a:r>
              <a:rPr lang="en-US" dirty="0"/>
              <a:t>Manual symptom entry</a:t>
            </a:r>
          </a:p>
          <a:p>
            <a:r>
              <a:rPr lang="en-US" dirty="0"/>
              <a:t>Difficult to generalize</a:t>
            </a:r>
          </a:p>
        </p:txBody>
      </p:sp>
      <p:sp>
        <p:nvSpPr>
          <p:cNvPr id="4" name="Slide Number Placeholder 3"/>
          <p:cNvSpPr>
            <a:spLocks noGrp="1"/>
          </p:cNvSpPr>
          <p:nvPr>
            <p:ph type="sldNum" sz="quarter" idx="5"/>
          </p:nvPr>
        </p:nvSpPr>
        <p:spPr/>
        <p:txBody>
          <a:bodyPr/>
          <a:lstStyle/>
          <a:p>
            <a:fld id="{4686331C-0961-4650-81D2-244443F2FAFC}" type="slidenum">
              <a:rPr lang="en-US" smtClean="0"/>
              <a:t>30</a:t>
            </a:fld>
            <a:endParaRPr lang="en-US"/>
          </a:p>
        </p:txBody>
      </p:sp>
    </p:spTree>
    <p:extLst>
      <p:ext uri="{BB962C8B-B14F-4D97-AF65-F5344CB8AC3E}">
        <p14:creationId xmlns:p14="http://schemas.microsoft.com/office/powerpoint/2010/main" val="3539262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out of Stanford,</a:t>
            </a:r>
          </a:p>
          <a:p>
            <a:r>
              <a:rPr lang="en-US" dirty="0"/>
              <a:t>Hypothesis based </a:t>
            </a:r>
            <a:r>
              <a:rPr lang="en-US" dirty="0" err="1"/>
              <a:t>if:then</a:t>
            </a:r>
            <a:r>
              <a:rPr lang="en-US" dirty="0"/>
              <a:t> architecture which continually updates a knowledge base</a:t>
            </a:r>
          </a:p>
        </p:txBody>
      </p:sp>
      <p:sp>
        <p:nvSpPr>
          <p:cNvPr id="4" name="Slide Number Placeholder 3"/>
          <p:cNvSpPr>
            <a:spLocks noGrp="1"/>
          </p:cNvSpPr>
          <p:nvPr>
            <p:ph type="sldNum" sz="quarter" idx="5"/>
          </p:nvPr>
        </p:nvSpPr>
        <p:spPr/>
        <p:txBody>
          <a:bodyPr/>
          <a:lstStyle/>
          <a:p>
            <a:fld id="{4686331C-0961-4650-81D2-244443F2FAFC}" type="slidenum">
              <a:rPr lang="en-US" smtClean="0"/>
              <a:t>31</a:t>
            </a:fld>
            <a:endParaRPr lang="en-US"/>
          </a:p>
        </p:txBody>
      </p:sp>
    </p:spTree>
    <p:extLst>
      <p:ext uri="{BB962C8B-B14F-4D97-AF65-F5344CB8AC3E}">
        <p14:creationId xmlns:p14="http://schemas.microsoft.com/office/powerpoint/2010/main" val="4089035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we model everything with fixed rules?</a:t>
            </a:r>
          </a:p>
          <a:p>
            <a:r>
              <a:rPr lang="en-US" dirty="0"/>
              <a:t>How do we say “I don’t know?”</a:t>
            </a:r>
          </a:p>
          <a:p>
            <a:endParaRPr lang="en-US" dirty="0"/>
          </a:p>
          <a:p>
            <a:r>
              <a:rPr lang="en-US" dirty="0"/>
              <a:t>How can we model “intuition?”</a:t>
            </a:r>
          </a:p>
        </p:txBody>
      </p:sp>
      <p:sp>
        <p:nvSpPr>
          <p:cNvPr id="4" name="Slide Number Placeholder 3"/>
          <p:cNvSpPr>
            <a:spLocks noGrp="1"/>
          </p:cNvSpPr>
          <p:nvPr>
            <p:ph type="sldNum" sz="quarter" idx="5"/>
          </p:nvPr>
        </p:nvSpPr>
        <p:spPr/>
        <p:txBody>
          <a:bodyPr/>
          <a:lstStyle/>
          <a:p>
            <a:fld id="{4686331C-0961-4650-81D2-244443F2FAFC}" type="slidenum">
              <a:rPr lang="en-US" smtClean="0"/>
              <a:t>32</a:t>
            </a:fld>
            <a:endParaRPr lang="en-US"/>
          </a:p>
        </p:txBody>
      </p:sp>
    </p:spTree>
    <p:extLst>
      <p:ext uri="{BB962C8B-B14F-4D97-AF65-F5344CB8AC3E}">
        <p14:creationId xmlns:p14="http://schemas.microsoft.com/office/powerpoint/2010/main" val="436357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Dendrite, cell body, axon</a:t>
            </a:r>
          </a:p>
        </p:txBody>
      </p:sp>
      <p:sp>
        <p:nvSpPr>
          <p:cNvPr id="4" name="Slide Number Placeholder 3"/>
          <p:cNvSpPr>
            <a:spLocks noGrp="1"/>
          </p:cNvSpPr>
          <p:nvPr>
            <p:ph type="sldNum" sz="quarter" idx="5"/>
          </p:nvPr>
        </p:nvSpPr>
        <p:spPr/>
        <p:txBody>
          <a:bodyPr/>
          <a:lstStyle/>
          <a:p>
            <a:fld id="{4686331C-0961-4650-81D2-244443F2FAFC}" type="slidenum">
              <a:rPr lang="en-US" smtClean="0"/>
              <a:t>35</a:t>
            </a:fld>
            <a:endParaRPr lang="en-US"/>
          </a:p>
        </p:txBody>
      </p:sp>
    </p:spTree>
    <p:extLst>
      <p:ext uri="{BB962C8B-B14F-4D97-AF65-F5344CB8AC3E}">
        <p14:creationId xmlns:p14="http://schemas.microsoft.com/office/powerpoint/2010/main" val="3408974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Various inputs lead to outputs</a:t>
            </a:r>
          </a:p>
          <a:p>
            <a:r>
              <a:rPr lang="en-US" dirty="0"/>
              <a:t>Inhibitory neuron 4 cancels whole output</a:t>
            </a:r>
          </a:p>
          <a:p>
            <a:r>
              <a:rPr lang="en-US" dirty="0"/>
              <a:t>Problem: How do we create these, and how do we learn?</a:t>
            </a:r>
          </a:p>
          <a:p>
            <a:r>
              <a:rPr lang="en-US" dirty="0"/>
              <a:t>How many? What connections? What network?</a:t>
            </a:r>
          </a:p>
          <a:p>
            <a:r>
              <a:rPr lang="en-US" dirty="0"/>
              <a:t>How do you handle varied inputs?</a:t>
            </a:r>
          </a:p>
          <a:p>
            <a:endParaRPr lang="en-US" dirty="0"/>
          </a:p>
          <a:p>
            <a:r>
              <a:rPr lang="en-US" dirty="0"/>
              <a:t>Hopfield net: introduced the idea of a “threshold potential” from biology</a:t>
            </a:r>
          </a:p>
        </p:txBody>
      </p:sp>
      <p:sp>
        <p:nvSpPr>
          <p:cNvPr id="4" name="Slide Number Placeholder 3"/>
          <p:cNvSpPr>
            <a:spLocks noGrp="1"/>
          </p:cNvSpPr>
          <p:nvPr>
            <p:ph type="sldNum" sz="quarter" idx="5"/>
          </p:nvPr>
        </p:nvSpPr>
        <p:spPr/>
        <p:txBody>
          <a:bodyPr/>
          <a:lstStyle/>
          <a:p>
            <a:fld id="{4686331C-0961-4650-81D2-244443F2FAFC}" type="slidenum">
              <a:rPr lang="en-US" smtClean="0"/>
              <a:t>36</a:t>
            </a:fld>
            <a:endParaRPr lang="en-US"/>
          </a:p>
        </p:txBody>
      </p:sp>
    </p:spTree>
    <p:extLst>
      <p:ext uri="{BB962C8B-B14F-4D97-AF65-F5344CB8AC3E}">
        <p14:creationId xmlns:p14="http://schemas.microsoft.com/office/powerpoint/2010/main" val="1816290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you take the setting that gives the desired output for a given input? If so, how do you find states for these neurons? There are too many!</a:t>
            </a:r>
          </a:p>
        </p:txBody>
      </p:sp>
      <p:sp>
        <p:nvSpPr>
          <p:cNvPr id="4" name="Slide Number Placeholder 3"/>
          <p:cNvSpPr>
            <a:spLocks noGrp="1"/>
          </p:cNvSpPr>
          <p:nvPr>
            <p:ph type="sldNum" sz="quarter" idx="5"/>
          </p:nvPr>
        </p:nvSpPr>
        <p:spPr/>
        <p:txBody>
          <a:bodyPr/>
          <a:lstStyle/>
          <a:p>
            <a:fld id="{4686331C-0961-4650-81D2-244443F2FAFC}" type="slidenum">
              <a:rPr lang="en-US" smtClean="0"/>
              <a:t>37</a:t>
            </a:fld>
            <a:endParaRPr lang="en-US"/>
          </a:p>
        </p:txBody>
      </p:sp>
    </p:spTree>
    <p:extLst>
      <p:ext uri="{BB962C8B-B14F-4D97-AF65-F5344CB8AC3E}">
        <p14:creationId xmlns:p14="http://schemas.microsoft.com/office/powerpoint/2010/main" val="3069659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86331C-0961-4650-81D2-244443F2FAFC}" type="slidenum">
              <a:rPr lang="en-US" smtClean="0"/>
              <a:t>38</a:t>
            </a:fld>
            <a:endParaRPr lang="en-US"/>
          </a:p>
        </p:txBody>
      </p:sp>
    </p:spTree>
    <p:extLst>
      <p:ext uri="{BB962C8B-B14F-4D97-AF65-F5344CB8AC3E}">
        <p14:creationId xmlns:p14="http://schemas.microsoft.com/office/powerpoint/2010/main" val="120867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55E2-41F5-92AA-9F08-0F5260EE37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F3278A-8C8F-CA20-FCB4-60FA077C7C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499F82-A8BB-C382-2F0A-F2CE8273DC5F}"/>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5" name="Footer Placeholder 4">
            <a:extLst>
              <a:ext uri="{FF2B5EF4-FFF2-40B4-BE49-F238E27FC236}">
                <a16:creationId xmlns:a16="http://schemas.microsoft.com/office/drawing/2014/main" id="{6C7F280F-CC6F-F85B-7DBC-92EB98F36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35818-75A7-CB99-F7C4-89449AC2CB6F}"/>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147169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F794E-8B5A-11D1-FA72-8E0EA91487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539F6F-D093-B39F-5DCB-6A29563F07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51379-EF37-876F-CD36-D8E5AEBA3D57}"/>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5" name="Footer Placeholder 4">
            <a:extLst>
              <a:ext uri="{FF2B5EF4-FFF2-40B4-BE49-F238E27FC236}">
                <a16:creationId xmlns:a16="http://schemas.microsoft.com/office/drawing/2014/main" id="{9088CF03-D5E0-FB97-9C3C-C1D89BE0A2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3BF9F-B675-46E9-9495-553DDD202661}"/>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1406542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C32B1-A7B0-CF18-0348-C6B53EDEC6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A4D6C-D07C-F567-003D-65984257F0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09436E-0E51-E9A1-703C-E8EC6FF839CA}"/>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5" name="Footer Placeholder 4">
            <a:extLst>
              <a:ext uri="{FF2B5EF4-FFF2-40B4-BE49-F238E27FC236}">
                <a16:creationId xmlns:a16="http://schemas.microsoft.com/office/drawing/2014/main" id="{69EC1DEE-D708-52D7-9DD4-7FFC6524D0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9A92F-F95A-987F-BB1E-4D170B4471DB}"/>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545098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8DB6F-C54C-3F80-136D-CBBD3EA79A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06329A-92C7-E679-9110-FAEA1AA71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AB20A5-979C-37B6-59C7-01DCE1A73D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027AC7-8884-98B3-AAAA-4555401C29FA}"/>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6" name="Footer Placeholder 5">
            <a:extLst>
              <a:ext uri="{FF2B5EF4-FFF2-40B4-BE49-F238E27FC236}">
                <a16:creationId xmlns:a16="http://schemas.microsoft.com/office/drawing/2014/main" id="{E38C1610-BD8C-9D53-20AF-6EBC27021F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4393AF-7E22-5436-E28D-8D5A025B6CEF}"/>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1071087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604CA-A4DD-CB3A-E714-60C1D54011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495DCB-76E0-1D45-32BE-8B68683D0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F6E49C-DA38-13D0-C7C1-95983EA6B6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A4FDAA-0610-B76C-0B49-28DF41586C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0A7E7A-19BE-115A-1643-B5917AE4F8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319DF4-983D-6E99-5DE3-CC81C12E5444}"/>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8" name="Footer Placeholder 7">
            <a:extLst>
              <a:ext uri="{FF2B5EF4-FFF2-40B4-BE49-F238E27FC236}">
                <a16:creationId xmlns:a16="http://schemas.microsoft.com/office/drawing/2014/main" id="{F59D24F1-6DBD-584E-4550-A792CED183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4E9D22-8C10-DA05-CB88-2C1E03D0A2D3}"/>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1054072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BB3C5-4397-1958-0468-012AE94C40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72BBFC-ED19-DA5B-5274-4905BC4142E5}"/>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4" name="Footer Placeholder 3">
            <a:extLst>
              <a:ext uri="{FF2B5EF4-FFF2-40B4-BE49-F238E27FC236}">
                <a16:creationId xmlns:a16="http://schemas.microsoft.com/office/drawing/2014/main" id="{2A2A9F0A-B697-90FA-7511-05BBA65864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0F7A9A-3EC7-8190-7F61-555E21B523F8}"/>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1805292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7BCBC1-D3F8-AD07-4B39-570EEDE9C92A}"/>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3" name="Footer Placeholder 2">
            <a:extLst>
              <a:ext uri="{FF2B5EF4-FFF2-40B4-BE49-F238E27FC236}">
                <a16:creationId xmlns:a16="http://schemas.microsoft.com/office/drawing/2014/main" id="{9BC0E4DD-6A3F-C252-74A7-18C0409B0D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4BF184-B660-FD4B-4BA2-E168EC311461}"/>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3397525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E443F-6165-8C4A-37C9-B988F9C60A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326E1B-3A12-CBBF-AD3B-545F13CD53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80A2AC-2C63-B2F0-21F3-AEA54D943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A09E8E-E383-D3A1-A8E6-8C7C356A63B1}"/>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6" name="Footer Placeholder 5">
            <a:extLst>
              <a:ext uri="{FF2B5EF4-FFF2-40B4-BE49-F238E27FC236}">
                <a16:creationId xmlns:a16="http://schemas.microsoft.com/office/drawing/2014/main" id="{0DE9712D-5892-487E-0C91-20534B5A66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6E09D4-6178-D109-103A-120295B7CDE3}"/>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28417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7AA0-4F2D-D728-BD11-C2F9C252DB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00EFB3-95EB-E579-7EB4-E4E3851D7E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5C5D6C-0197-40AB-012B-AE5508D3A4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E6EF2B-AE26-ED0C-A219-ABC7522B2BA9}"/>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6" name="Footer Placeholder 5">
            <a:extLst>
              <a:ext uri="{FF2B5EF4-FFF2-40B4-BE49-F238E27FC236}">
                <a16:creationId xmlns:a16="http://schemas.microsoft.com/office/drawing/2014/main" id="{227689C3-E7A1-BC92-0F88-860E1A536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92EBD1-0393-278E-F31F-A653FF12F1CB}"/>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976123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E4401-F91D-298F-CA2C-482207A5A5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225A7-7539-0D50-70A8-3E3F3C4105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3C515B-4D35-50C8-AE80-1AB0833A2FF2}"/>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5" name="Footer Placeholder 4">
            <a:extLst>
              <a:ext uri="{FF2B5EF4-FFF2-40B4-BE49-F238E27FC236}">
                <a16:creationId xmlns:a16="http://schemas.microsoft.com/office/drawing/2014/main" id="{FDD1C029-74D1-241D-7266-15C38B3E2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10816A-D23C-78D6-40EB-D27F96FA1023}"/>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3802541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1B5B29-AE4D-76E4-4DF0-02B3FC391D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81C9BE-BAA6-EA87-D2DC-9359BA8FE9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EE241C-33C6-7169-FFB2-573BA9172CE8}"/>
              </a:ext>
            </a:extLst>
          </p:cNvPr>
          <p:cNvSpPr>
            <a:spLocks noGrp="1"/>
          </p:cNvSpPr>
          <p:nvPr>
            <p:ph type="dt" sz="half" idx="10"/>
          </p:nvPr>
        </p:nvSpPr>
        <p:spPr/>
        <p:txBody>
          <a:bodyPr/>
          <a:lstStyle/>
          <a:p>
            <a:fld id="{864583F6-6461-4BC0-9E2B-16B1AD5282C2}" type="datetimeFigureOut">
              <a:rPr lang="en-US" smtClean="0"/>
              <a:t>7/12/2026</a:t>
            </a:fld>
            <a:endParaRPr lang="en-US"/>
          </a:p>
        </p:txBody>
      </p:sp>
      <p:sp>
        <p:nvSpPr>
          <p:cNvPr id="5" name="Footer Placeholder 4">
            <a:extLst>
              <a:ext uri="{FF2B5EF4-FFF2-40B4-BE49-F238E27FC236}">
                <a16:creationId xmlns:a16="http://schemas.microsoft.com/office/drawing/2014/main" id="{71AFFD15-6903-806B-10E3-04D9EAD2AF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3A587E-A638-9E49-537F-0541E21B2151}"/>
              </a:ext>
            </a:extLst>
          </p:cNvPr>
          <p:cNvSpPr>
            <a:spLocks noGrp="1"/>
          </p:cNvSpPr>
          <p:nvPr>
            <p:ph type="sldNum" sz="quarter" idx="12"/>
          </p:nvPr>
        </p:nvSpPr>
        <p:spPr/>
        <p:txBody>
          <a:bodyPr/>
          <a:lstStyle/>
          <a:p>
            <a:fld id="{3FD73605-7086-462F-B11D-3112A2F3B6BE}" type="slidenum">
              <a:rPr lang="en-US" smtClean="0"/>
              <a:t>‹#›</a:t>
            </a:fld>
            <a:endParaRPr lang="en-US"/>
          </a:p>
        </p:txBody>
      </p:sp>
    </p:spTree>
    <p:extLst>
      <p:ext uri="{BB962C8B-B14F-4D97-AF65-F5344CB8AC3E}">
        <p14:creationId xmlns:p14="http://schemas.microsoft.com/office/powerpoint/2010/main" val="3389787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30F3ED-AD50-B271-99FC-A4A795DEC1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DA7A52-463E-DA1D-B7CC-6C0D1ADEA7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5946D6-E52D-7C7B-E292-4F71DB52E4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4583F6-6461-4BC0-9E2B-16B1AD5282C2}" type="datetimeFigureOut">
              <a:rPr lang="en-US" smtClean="0"/>
              <a:t>7/12/2026</a:t>
            </a:fld>
            <a:endParaRPr lang="en-US"/>
          </a:p>
        </p:txBody>
      </p:sp>
      <p:sp>
        <p:nvSpPr>
          <p:cNvPr id="5" name="Footer Placeholder 4">
            <a:extLst>
              <a:ext uri="{FF2B5EF4-FFF2-40B4-BE49-F238E27FC236}">
                <a16:creationId xmlns:a16="http://schemas.microsoft.com/office/drawing/2014/main" id="{C78C58FD-3FC5-08E9-6DFF-B1B344FA63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804456-048C-5922-BD0B-B04EAC7659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D73605-7086-462F-B11D-3112A2F3B6BE}" type="slidenum">
              <a:rPr lang="en-US" smtClean="0"/>
              <a:t>‹#›</a:t>
            </a:fld>
            <a:endParaRPr lang="en-US"/>
          </a:p>
        </p:txBody>
      </p:sp>
    </p:spTree>
    <p:extLst>
      <p:ext uri="{BB962C8B-B14F-4D97-AF65-F5344CB8AC3E}">
        <p14:creationId xmlns:p14="http://schemas.microsoft.com/office/powerpoint/2010/main" val="3426137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fairmlbook.or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9E4E5-6574-A66B-DC3B-65FAE22E61C0}"/>
              </a:ext>
            </a:extLst>
          </p:cNvPr>
          <p:cNvSpPr>
            <a:spLocks noGrp="1"/>
          </p:cNvSpPr>
          <p:nvPr>
            <p:ph type="ctrTitle"/>
          </p:nvPr>
        </p:nvSpPr>
        <p:spPr/>
        <p:txBody>
          <a:bodyPr/>
          <a:lstStyle/>
          <a:p>
            <a:r>
              <a:rPr lang="en-US" dirty="0"/>
              <a:t>Intro to AI for Medicine</a:t>
            </a:r>
          </a:p>
        </p:txBody>
      </p:sp>
      <p:sp>
        <p:nvSpPr>
          <p:cNvPr id="3" name="Subtitle 2">
            <a:extLst>
              <a:ext uri="{FF2B5EF4-FFF2-40B4-BE49-F238E27FC236}">
                <a16:creationId xmlns:a16="http://schemas.microsoft.com/office/drawing/2014/main" id="{1BBF2CCE-8939-F57F-0CC6-4372D291597B}"/>
              </a:ext>
            </a:extLst>
          </p:cNvPr>
          <p:cNvSpPr>
            <a:spLocks noGrp="1"/>
          </p:cNvSpPr>
          <p:nvPr>
            <p:ph type="subTitle" idx="1"/>
          </p:nvPr>
        </p:nvSpPr>
        <p:spPr/>
        <p:txBody>
          <a:bodyPr>
            <a:normAutofit/>
          </a:bodyPr>
          <a:lstStyle/>
          <a:p>
            <a:r>
              <a:rPr lang="en-US" sz="3200" dirty="0" err="1"/>
              <a:t>Lec</a:t>
            </a:r>
            <a:r>
              <a:rPr lang="en-US" sz="3200" dirty="0"/>
              <a:t> 1: Intro </a:t>
            </a:r>
          </a:p>
        </p:txBody>
      </p:sp>
    </p:spTree>
    <p:extLst>
      <p:ext uri="{BB962C8B-B14F-4D97-AF65-F5344CB8AC3E}">
        <p14:creationId xmlns:p14="http://schemas.microsoft.com/office/powerpoint/2010/main" val="262271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6BA8-4488-4A71-8C71-DCF034F5ABBC}"/>
              </a:ext>
            </a:extLst>
          </p:cNvPr>
          <p:cNvSpPr>
            <a:spLocks noGrp="1"/>
          </p:cNvSpPr>
          <p:nvPr>
            <p:ph type="title"/>
          </p:nvPr>
        </p:nvSpPr>
        <p:spPr>
          <a:xfrm>
            <a:off x="4759270" y="2766218"/>
            <a:ext cx="10515600" cy="1325563"/>
          </a:xfrm>
        </p:spPr>
        <p:txBody>
          <a:bodyPr/>
          <a:lstStyle/>
          <a:p>
            <a:r>
              <a:rPr lang="en-US" dirty="0"/>
              <a:t>Welcome!</a:t>
            </a:r>
          </a:p>
        </p:txBody>
      </p:sp>
    </p:spTree>
    <p:extLst>
      <p:ext uri="{BB962C8B-B14F-4D97-AF65-F5344CB8AC3E}">
        <p14:creationId xmlns:p14="http://schemas.microsoft.com/office/powerpoint/2010/main" val="1638846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774B-A8CB-E735-6137-094975C08998}"/>
              </a:ext>
            </a:extLst>
          </p:cNvPr>
          <p:cNvSpPr>
            <a:spLocks noGrp="1"/>
          </p:cNvSpPr>
          <p:nvPr>
            <p:ph type="title"/>
          </p:nvPr>
        </p:nvSpPr>
        <p:spPr/>
        <p:txBody>
          <a:bodyPr/>
          <a:lstStyle/>
          <a:p>
            <a:r>
              <a:rPr lang="en-US" dirty="0"/>
              <a:t>Today’s Agenda</a:t>
            </a:r>
          </a:p>
        </p:txBody>
      </p:sp>
      <p:sp>
        <p:nvSpPr>
          <p:cNvPr id="3" name="Content Placeholder 2">
            <a:extLst>
              <a:ext uri="{FF2B5EF4-FFF2-40B4-BE49-F238E27FC236}">
                <a16:creationId xmlns:a16="http://schemas.microsoft.com/office/drawing/2014/main" id="{9BE0303A-0122-C0B6-F76B-950D51F13405}"/>
              </a:ext>
            </a:extLst>
          </p:cNvPr>
          <p:cNvSpPr>
            <a:spLocks noGrp="1"/>
          </p:cNvSpPr>
          <p:nvPr>
            <p:ph idx="1"/>
          </p:nvPr>
        </p:nvSpPr>
        <p:spPr/>
        <p:txBody>
          <a:bodyPr/>
          <a:lstStyle/>
          <a:p>
            <a:pPr marL="514350" indent="-514350">
              <a:buFont typeface="+mj-lt"/>
              <a:buAutoNum type="arabicPeriod"/>
            </a:pPr>
            <a:r>
              <a:rPr lang="en-US" dirty="0"/>
              <a:t>Logistics, mindset, goals</a:t>
            </a:r>
          </a:p>
          <a:p>
            <a:pPr marL="514350" indent="-514350">
              <a:buFont typeface="+mj-lt"/>
              <a:buAutoNum type="arabicPeriod"/>
            </a:pPr>
            <a:r>
              <a:rPr lang="en-US" dirty="0"/>
              <a:t>History of AI up to 1990</a:t>
            </a:r>
          </a:p>
          <a:p>
            <a:pPr marL="514350" indent="-514350">
              <a:buFont typeface="+mj-lt"/>
              <a:buAutoNum type="arabicPeriod"/>
            </a:pPr>
            <a:endParaRPr lang="en-US" dirty="0"/>
          </a:p>
          <a:p>
            <a:pPr marL="0" indent="0">
              <a:buNone/>
            </a:pPr>
            <a:r>
              <a:rPr lang="en-US" dirty="0"/>
              <a:t>Brief lecture today – expect 45 min </a:t>
            </a:r>
          </a:p>
        </p:txBody>
      </p:sp>
    </p:spTree>
    <p:extLst>
      <p:ext uri="{BB962C8B-B14F-4D97-AF65-F5344CB8AC3E}">
        <p14:creationId xmlns:p14="http://schemas.microsoft.com/office/powerpoint/2010/main" val="3553978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C13A5-CB73-323F-678C-159613A34AE1}"/>
              </a:ext>
            </a:extLst>
          </p:cNvPr>
          <p:cNvSpPr>
            <a:spLocks noGrp="1"/>
          </p:cNvSpPr>
          <p:nvPr>
            <p:ph type="title"/>
          </p:nvPr>
        </p:nvSpPr>
        <p:spPr/>
        <p:txBody>
          <a:bodyPr/>
          <a:lstStyle/>
          <a:p>
            <a:r>
              <a:rPr lang="en-US" dirty="0"/>
              <a:t>Logistics - Format</a:t>
            </a:r>
          </a:p>
        </p:txBody>
      </p:sp>
      <p:sp>
        <p:nvSpPr>
          <p:cNvPr id="3" name="Content Placeholder 2">
            <a:extLst>
              <a:ext uri="{FF2B5EF4-FFF2-40B4-BE49-F238E27FC236}">
                <a16:creationId xmlns:a16="http://schemas.microsoft.com/office/drawing/2014/main" id="{78ACB65B-89A5-EA27-C47C-1ED5ED4F989E}"/>
              </a:ext>
            </a:extLst>
          </p:cNvPr>
          <p:cNvSpPr>
            <a:spLocks noGrp="1"/>
          </p:cNvSpPr>
          <p:nvPr>
            <p:ph idx="1"/>
          </p:nvPr>
        </p:nvSpPr>
        <p:spPr/>
        <p:txBody>
          <a:bodyPr/>
          <a:lstStyle/>
          <a:p>
            <a:r>
              <a:rPr lang="en-US" dirty="0"/>
              <a:t>Lectures 2x weekly, Monday, Wednesday</a:t>
            </a:r>
          </a:p>
          <a:p>
            <a:r>
              <a:rPr lang="en-US" dirty="0"/>
              <a:t>7pm</a:t>
            </a:r>
          </a:p>
          <a:p>
            <a:r>
              <a:rPr lang="en-US" dirty="0"/>
              <a:t>Always on zoom </a:t>
            </a:r>
          </a:p>
          <a:p>
            <a:r>
              <a:rPr lang="en-US" dirty="0"/>
              <a:t>Office hours for 1 hour after class</a:t>
            </a:r>
          </a:p>
        </p:txBody>
      </p:sp>
    </p:spTree>
    <p:extLst>
      <p:ext uri="{BB962C8B-B14F-4D97-AF65-F5344CB8AC3E}">
        <p14:creationId xmlns:p14="http://schemas.microsoft.com/office/powerpoint/2010/main" val="3873126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52DAA-2B90-4DC2-B4A7-EA864FD1BCA2}"/>
              </a:ext>
            </a:extLst>
          </p:cNvPr>
          <p:cNvSpPr>
            <a:spLocks noGrp="1"/>
          </p:cNvSpPr>
          <p:nvPr>
            <p:ph type="title"/>
          </p:nvPr>
        </p:nvSpPr>
        <p:spPr/>
        <p:txBody>
          <a:bodyPr/>
          <a:lstStyle/>
          <a:p>
            <a:r>
              <a:rPr lang="en-US" dirty="0"/>
              <a:t>Logistics - Grading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D03A5E-0FEA-52AB-EADD-06A0D0A80DE9}"/>
                  </a:ext>
                </a:extLst>
              </p:cNvPr>
              <p:cNvSpPr>
                <a:spLocks noGrp="1"/>
              </p:cNvSpPr>
              <p:nvPr>
                <p:ph idx="1"/>
              </p:nvPr>
            </p:nvSpPr>
            <p:spPr/>
            <p:txBody>
              <a:bodyPr/>
              <a:lstStyle/>
              <a:p>
                <a:r>
                  <a:rPr lang="en-US" dirty="0"/>
                  <a:t>Pass/fail class</a:t>
                </a:r>
              </a:p>
              <a:p>
                <a:r>
                  <a:rPr lang="en-US" dirty="0"/>
                  <a:t>Taking attendance at each class via zoom records</a:t>
                </a:r>
              </a:p>
              <a:p>
                <a:r>
                  <a:rPr lang="en-US" dirty="0"/>
                  <a:t>70% is passing per SOM policy, so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23</m:t>
                        </m:r>
                      </m:den>
                    </m:f>
                    <m:r>
                      <a:rPr lang="en-US" b="0" i="1" smtClean="0">
                        <a:latin typeface="Cambria Math" panose="02040503050406030204" pitchFamily="18" charset="0"/>
                      </a:rPr>
                      <m:t>=70%, </m:t>
                    </m:r>
                    <m:r>
                      <a:rPr lang="en-US" b="0" i="1" smtClean="0">
                        <a:latin typeface="Cambria Math" panose="02040503050406030204" pitchFamily="18" charset="0"/>
                      </a:rPr>
                      <m:t>𝑥</m:t>
                    </m:r>
                    <m:r>
                      <a:rPr lang="en-US" b="0" i="1" smtClean="0">
                        <a:latin typeface="Cambria Math" panose="02040503050406030204" pitchFamily="18" charset="0"/>
                      </a:rPr>
                      <m:t>=16.1 </m:t>
                    </m:r>
                  </m:oMath>
                </a14:m>
                <a:endParaRPr lang="en-US" dirty="0"/>
              </a:p>
              <a:p>
                <a:r>
                  <a:rPr lang="en-US" dirty="0"/>
                  <a:t>You can miss 6 lectures and still pass.</a:t>
                </a:r>
              </a:p>
              <a:p>
                <a:pPr lvl="1"/>
                <a:r>
                  <a:rPr lang="en-US" dirty="0"/>
                  <a:t>Must attend 17</a:t>
                </a:r>
              </a:p>
              <a:p>
                <a:pPr lvl="1"/>
                <a:r>
                  <a:rPr lang="en-US" dirty="0"/>
                  <a:t>I encourage attendance of all of the first 6</a:t>
                </a:r>
              </a:p>
              <a:p>
                <a:r>
                  <a:rPr lang="en-US" dirty="0"/>
                  <a:t>50% attendance, 50% final project (will discuss details later)</a:t>
                </a:r>
              </a:p>
              <a:p>
                <a:pPr lvl="1"/>
                <a:r>
                  <a:rPr lang="en-US" dirty="0"/>
                  <a:t>Project will be designing plan for a real-life AI intervention of your own</a:t>
                </a:r>
              </a:p>
            </p:txBody>
          </p:sp>
        </mc:Choice>
        <mc:Fallback xmlns="">
          <p:sp>
            <p:nvSpPr>
              <p:cNvPr id="3" name="Content Placeholder 2">
                <a:extLst>
                  <a:ext uri="{FF2B5EF4-FFF2-40B4-BE49-F238E27FC236}">
                    <a16:creationId xmlns:a16="http://schemas.microsoft.com/office/drawing/2014/main" id="{7BD03A5E-0FEA-52AB-EADD-06A0D0A80DE9}"/>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516411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F192D-43BC-9E53-F16B-0FA630457925}"/>
              </a:ext>
            </a:extLst>
          </p:cNvPr>
          <p:cNvSpPr>
            <a:spLocks noGrp="1"/>
          </p:cNvSpPr>
          <p:nvPr>
            <p:ph type="title"/>
          </p:nvPr>
        </p:nvSpPr>
        <p:spPr/>
        <p:txBody>
          <a:bodyPr/>
          <a:lstStyle/>
          <a:p>
            <a:r>
              <a:rPr lang="en-US" dirty="0"/>
              <a:t>Lecture Schedule</a:t>
            </a:r>
          </a:p>
        </p:txBody>
      </p:sp>
      <p:sp>
        <p:nvSpPr>
          <p:cNvPr id="3" name="Content Placeholder 2">
            <a:extLst>
              <a:ext uri="{FF2B5EF4-FFF2-40B4-BE49-F238E27FC236}">
                <a16:creationId xmlns:a16="http://schemas.microsoft.com/office/drawing/2014/main" id="{F62D3BFA-6756-7C6E-5684-FC67BFA7D64C}"/>
              </a:ext>
            </a:extLst>
          </p:cNvPr>
          <p:cNvSpPr>
            <a:spLocks noGrp="1"/>
          </p:cNvSpPr>
          <p:nvPr>
            <p:ph idx="1"/>
          </p:nvPr>
        </p:nvSpPr>
        <p:spPr>
          <a:xfrm>
            <a:off x="838200" y="1825624"/>
            <a:ext cx="10515600" cy="4879975"/>
          </a:xfrm>
        </p:spPr>
        <p:txBody>
          <a:bodyPr/>
          <a:lstStyle/>
          <a:p>
            <a:r>
              <a:rPr lang="en-US" dirty="0"/>
              <a:t>Foundations Module: 8 lectures</a:t>
            </a:r>
          </a:p>
          <a:p>
            <a:pPr lvl="1"/>
            <a:r>
              <a:rPr lang="en-US" dirty="0"/>
              <a:t>Focuses on how AI works</a:t>
            </a:r>
          </a:p>
          <a:p>
            <a:pPr lvl="1"/>
            <a:r>
              <a:rPr lang="en-US" dirty="0"/>
              <a:t>Mathematical</a:t>
            </a:r>
          </a:p>
          <a:p>
            <a:pPr lvl="1"/>
            <a:r>
              <a:rPr lang="en-US" dirty="0"/>
              <a:t>Will always have a “clinical correlate” </a:t>
            </a:r>
          </a:p>
          <a:p>
            <a:r>
              <a:rPr lang="en-US" dirty="0"/>
              <a:t>Applications Module: 15 lectures</a:t>
            </a:r>
          </a:p>
          <a:p>
            <a:pPr lvl="1"/>
            <a:r>
              <a:rPr lang="en-US" dirty="0"/>
              <a:t>Tech applications (LLMs, Computer Vision, Interpretability)</a:t>
            </a:r>
          </a:p>
          <a:p>
            <a:pPr lvl="1"/>
            <a:r>
              <a:rPr lang="en-US" dirty="0"/>
              <a:t>Practical applications (AI infrastructure, medicolegal concerns, business)</a:t>
            </a:r>
          </a:p>
          <a:p>
            <a:pPr lvl="1"/>
            <a:r>
              <a:rPr lang="en-US" dirty="0"/>
              <a:t>Ethical applications (fairness, bias, ethics, </a:t>
            </a:r>
            <a:r>
              <a:rPr lang="en-US" dirty="0" err="1"/>
              <a:t>etc</a:t>
            </a:r>
            <a:r>
              <a:rPr lang="en-US" dirty="0"/>
              <a:t>)</a:t>
            </a:r>
          </a:p>
          <a:p>
            <a:r>
              <a:rPr lang="en-US" dirty="0"/>
              <a:t>Will sprinkle in general CS knowledge PRN</a:t>
            </a:r>
          </a:p>
        </p:txBody>
      </p:sp>
    </p:spTree>
    <p:extLst>
      <p:ext uri="{BB962C8B-B14F-4D97-AF65-F5344CB8AC3E}">
        <p14:creationId xmlns:p14="http://schemas.microsoft.com/office/powerpoint/2010/main" val="668253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98FEF-9C6E-4026-3652-90B8E66E3A88}"/>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C150BB20-8D8F-5122-B162-3D594BD6ADCE}"/>
              </a:ext>
            </a:extLst>
          </p:cNvPr>
          <p:cNvSpPr>
            <a:spLocks noGrp="1"/>
          </p:cNvSpPr>
          <p:nvPr>
            <p:ph idx="1"/>
          </p:nvPr>
        </p:nvSpPr>
        <p:spPr>
          <a:xfrm>
            <a:off x="838200" y="1825625"/>
            <a:ext cx="10515600" cy="743404"/>
          </a:xfrm>
        </p:spPr>
        <p:txBody>
          <a:bodyPr/>
          <a:lstStyle/>
          <a:p>
            <a:r>
              <a:rPr lang="en-US" dirty="0"/>
              <a:t>Refer to the weekly schedule for readings</a:t>
            </a:r>
          </a:p>
        </p:txBody>
      </p:sp>
      <p:pic>
        <p:nvPicPr>
          <p:cNvPr id="5" name="Picture 4">
            <a:extLst>
              <a:ext uri="{FF2B5EF4-FFF2-40B4-BE49-F238E27FC236}">
                <a16:creationId xmlns:a16="http://schemas.microsoft.com/office/drawing/2014/main" id="{7F1E22C6-F6B1-B268-B6D0-E2C81588CE67}"/>
              </a:ext>
            </a:extLst>
          </p:cNvPr>
          <p:cNvPicPr>
            <a:picLocks noChangeAspect="1"/>
          </p:cNvPicPr>
          <p:nvPr/>
        </p:nvPicPr>
        <p:blipFill>
          <a:blip r:embed="rId2"/>
          <a:stretch>
            <a:fillRect/>
          </a:stretch>
        </p:blipFill>
        <p:spPr>
          <a:xfrm>
            <a:off x="1051808" y="2496458"/>
            <a:ext cx="10088383" cy="4077269"/>
          </a:xfrm>
          <a:prstGeom prst="rect">
            <a:avLst/>
          </a:prstGeom>
        </p:spPr>
      </p:pic>
    </p:spTree>
    <p:extLst>
      <p:ext uri="{BB962C8B-B14F-4D97-AF65-F5344CB8AC3E}">
        <p14:creationId xmlns:p14="http://schemas.microsoft.com/office/powerpoint/2010/main" val="4284784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D90E1-F870-963B-A0FB-09C63FE6B9B6}"/>
              </a:ext>
            </a:extLst>
          </p:cNvPr>
          <p:cNvSpPr>
            <a:spLocks noGrp="1"/>
          </p:cNvSpPr>
          <p:nvPr>
            <p:ph type="title"/>
          </p:nvPr>
        </p:nvSpPr>
        <p:spPr/>
        <p:txBody>
          <a:bodyPr/>
          <a:lstStyle/>
          <a:p>
            <a:r>
              <a:rPr lang="en-US" dirty="0"/>
              <a:t>Textbooks</a:t>
            </a:r>
          </a:p>
        </p:txBody>
      </p:sp>
      <p:sp>
        <p:nvSpPr>
          <p:cNvPr id="3" name="Content Placeholder 2">
            <a:extLst>
              <a:ext uri="{FF2B5EF4-FFF2-40B4-BE49-F238E27FC236}">
                <a16:creationId xmlns:a16="http://schemas.microsoft.com/office/drawing/2014/main" id="{A74D59A9-3393-B20C-7529-5C2445C9B5F2}"/>
              </a:ext>
            </a:extLst>
          </p:cNvPr>
          <p:cNvSpPr>
            <a:spLocks noGrp="1"/>
          </p:cNvSpPr>
          <p:nvPr>
            <p:ph idx="1"/>
          </p:nvPr>
        </p:nvSpPr>
        <p:spPr/>
        <p:txBody>
          <a:bodyPr/>
          <a:lstStyle/>
          <a:p>
            <a:r>
              <a:rPr lang="en-US" dirty="0"/>
              <a:t>Math Textbook: MIT 6.036 </a:t>
            </a:r>
          </a:p>
          <a:p>
            <a:r>
              <a:rPr lang="en-US" dirty="0"/>
              <a:t>Ethics Textbook: </a:t>
            </a:r>
            <a:r>
              <a:rPr lang="en-US" dirty="0" err="1"/>
              <a:t>FairML</a:t>
            </a:r>
            <a:r>
              <a:rPr lang="en-US" dirty="0"/>
              <a:t> Book</a:t>
            </a:r>
          </a:p>
          <a:p>
            <a:r>
              <a:rPr lang="en-US" sz="1400" b="1" dirty="0"/>
              <a:t>Barocas, Solon, Moritz Hardt, and Arvind Narayanan. </a:t>
            </a:r>
            <a:r>
              <a:rPr lang="en-US" sz="1400" b="1" i="1" dirty="0"/>
              <a:t>Fairness and Machine Learning: Limitations and Opportunities</a:t>
            </a:r>
            <a:r>
              <a:rPr lang="en-US" sz="1400" b="1" dirty="0"/>
              <a:t>. MIT Press, Dec. 2023.</a:t>
            </a:r>
            <a:r>
              <a:rPr lang="en-US" sz="1400" dirty="0"/>
              <a:t> </a:t>
            </a:r>
          </a:p>
          <a:p>
            <a:r>
              <a:rPr lang="en-US" sz="1400" dirty="0">
                <a:hlinkClick r:id="rId3"/>
              </a:rPr>
              <a:t>https://fairmlbook.org/</a:t>
            </a:r>
            <a:endParaRPr lang="en-US" sz="1400" dirty="0"/>
          </a:p>
          <a:p>
            <a:endParaRPr lang="en-US" dirty="0"/>
          </a:p>
          <a:p>
            <a:r>
              <a:rPr lang="en-US" dirty="0"/>
              <a:t>No readings required, just a source for extra info if you want to dig deeper</a:t>
            </a:r>
          </a:p>
          <a:p>
            <a:r>
              <a:rPr lang="en-US" dirty="0"/>
              <a:t>At times a source for supplemental material</a:t>
            </a:r>
          </a:p>
        </p:txBody>
      </p:sp>
    </p:spTree>
    <p:extLst>
      <p:ext uri="{BB962C8B-B14F-4D97-AF65-F5344CB8AC3E}">
        <p14:creationId xmlns:p14="http://schemas.microsoft.com/office/powerpoint/2010/main" val="519313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CEC78-683E-419D-33C6-1FB510887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DA8E9-FD82-FCEA-FFAB-768910BCB9A5}"/>
              </a:ext>
            </a:extLst>
          </p:cNvPr>
          <p:cNvSpPr>
            <a:spLocks noGrp="1"/>
          </p:cNvSpPr>
          <p:nvPr>
            <p:ph type="title"/>
          </p:nvPr>
        </p:nvSpPr>
        <p:spPr/>
        <p:txBody>
          <a:bodyPr/>
          <a:lstStyle/>
          <a:p>
            <a:r>
              <a:rPr lang="en-US" dirty="0"/>
              <a:t>Approach to this class</a:t>
            </a:r>
          </a:p>
        </p:txBody>
      </p:sp>
      <p:pic>
        <p:nvPicPr>
          <p:cNvPr id="1026" name="Picture 2" descr="ARCH 365 - Topics in Computational Architecture: Black Box Theory">
            <a:extLst>
              <a:ext uri="{FF2B5EF4-FFF2-40B4-BE49-F238E27FC236}">
                <a16:creationId xmlns:a16="http://schemas.microsoft.com/office/drawing/2014/main" id="{A87046A3-33AC-D35D-585D-276CD7ECFC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6523" y="1801044"/>
            <a:ext cx="7418954" cy="386453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608510F-D66B-923C-2AAB-724959B9933C}"/>
              </a:ext>
            </a:extLst>
          </p:cNvPr>
          <p:cNvSpPr/>
          <p:nvPr/>
        </p:nvSpPr>
        <p:spPr>
          <a:xfrm>
            <a:off x="2209800" y="2971800"/>
            <a:ext cx="2569029" cy="28041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13FFAF3-475D-6C4A-90B5-5D5618756B4B}"/>
              </a:ext>
            </a:extLst>
          </p:cNvPr>
          <p:cNvSpPr/>
          <p:nvPr/>
        </p:nvSpPr>
        <p:spPr>
          <a:xfrm>
            <a:off x="7326086" y="2916622"/>
            <a:ext cx="2569029" cy="28041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F4CBFA9F-CC99-0F26-B710-3E8A28BFF8E0}"/>
              </a:ext>
            </a:extLst>
          </p:cNvPr>
          <p:cNvCxnSpPr>
            <a:cxnSpLocks/>
          </p:cNvCxnSpPr>
          <p:nvPr/>
        </p:nvCxnSpPr>
        <p:spPr>
          <a:xfrm>
            <a:off x="2852057" y="3831771"/>
            <a:ext cx="1926772" cy="0"/>
          </a:xfrm>
          <a:prstGeom prst="straightConnector1">
            <a:avLst/>
          </a:prstGeom>
          <a:ln w="47625">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0B135AE7-B11F-F6E6-430F-C7B5D297858C}"/>
              </a:ext>
            </a:extLst>
          </p:cNvPr>
          <p:cNvCxnSpPr>
            <a:cxnSpLocks/>
          </p:cNvCxnSpPr>
          <p:nvPr/>
        </p:nvCxnSpPr>
        <p:spPr>
          <a:xfrm>
            <a:off x="7326086" y="3777342"/>
            <a:ext cx="1926772" cy="0"/>
          </a:xfrm>
          <a:prstGeom prst="straightConnector1">
            <a:avLst/>
          </a:prstGeom>
          <a:ln w="47625">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0EE1298-71A5-7540-35FE-8E190D96B4B1}"/>
              </a:ext>
            </a:extLst>
          </p:cNvPr>
          <p:cNvSpPr txBox="1"/>
          <p:nvPr/>
        </p:nvSpPr>
        <p:spPr>
          <a:xfrm>
            <a:off x="1461237" y="3508605"/>
            <a:ext cx="1850571" cy="923330"/>
          </a:xfrm>
          <a:prstGeom prst="rect">
            <a:avLst/>
          </a:prstGeom>
          <a:noFill/>
        </p:spPr>
        <p:txBody>
          <a:bodyPr wrap="square" rtlCol="0">
            <a:spAutoFit/>
          </a:bodyPr>
          <a:lstStyle/>
          <a:p>
            <a:r>
              <a:rPr lang="en-US" dirty="0"/>
              <a:t>Patient has + swab for Gonorrhea</a:t>
            </a:r>
          </a:p>
        </p:txBody>
      </p:sp>
      <p:sp>
        <p:nvSpPr>
          <p:cNvPr id="11" name="TextBox 10">
            <a:extLst>
              <a:ext uri="{FF2B5EF4-FFF2-40B4-BE49-F238E27FC236}">
                <a16:creationId xmlns:a16="http://schemas.microsoft.com/office/drawing/2014/main" id="{AA508789-4B66-4766-1692-CE48BF49E511}"/>
              </a:ext>
            </a:extLst>
          </p:cNvPr>
          <p:cNvSpPr txBox="1"/>
          <p:nvPr/>
        </p:nvSpPr>
        <p:spPr>
          <a:xfrm>
            <a:off x="9345725" y="3454176"/>
            <a:ext cx="1850571" cy="923330"/>
          </a:xfrm>
          <a:prstGeom prst="rect">
            <a:avLst/>
          </a:prstGeom>
          <a:noFill/>
        </p:spPr>
        <p:txBody>
          <a:bodyPr wrap="square" rtlCol="0">
            <a:spAutoFit/>
          </a:bodyPr>
          <a:lstStyle/>
          <a:p>
            <a:r>
              <a:rPr lang="en-US" dirty="0"/>
              <a:t>Treat with </a:t>
            </a:r>
          </a:p>
          <a:p>
            <a:r>
              <a:rPr lang="en-US" dirty="0"/>
              <a:t>Ceftriaxone +</a:t>
            </a:r>
          </a:p>
          <a:p>
            <a:r>
              <a:rPr lang="en-US" dirty="0"/>
              <a:t>doxycycline </a:t>
            </a:r>
          </a:p>
        </p:txBody>
      </p:sp>
      <p:sp>
        <p:nvSpPr>
          <p:cNvPr id="12" name="TextBox 11">
            <a:extLst>
              <a:ext uri="{FF2B5EF4-FFF2-40B4-BE49-F238E27FC236}">
                <a16:creationId xmlns:a16="http://schemas.microsoft.com/office/drawing/2014/main" id="{384B477E-8C0F-13CB-9244-FF60AA6C5E4F}"/>
              </a:ext>
            </a:extLst>
          </p:cNvPr>
          <p:cNvSpPr txBox="1"/>
          <p:nvPr/>
        </p:nvSpPr>
        <p:spPr>
          <a:xfrm>
            <a:off x="5236028" y="5775936"/>
            <a:ext cx="2764972" cy="523220"/>
          </a:xfrm>
          <a:prstGeom prst="rect">
            <a:avLst/>
          </a:prstGeom>
          <a:noFill/>
        </p:spPr>
        <p:txBody>
          <a:bodyPr wrap="square" rtlCol="0">
            <a:spAutoFit/>
          </a:bodyPr>
          <a:lstStyle/>
          <a:p>
            <a:r>
              <a:rPr lang="en-US" sz="2800" dirty="0"/>
              <a:t>But why?</a:t>
            </a:r>
          </a:p>
        </p:txBody>
      </p:sp>
    </p:spTree>
    <p:extLst>
      <p:ext uri="{BB962C8B-B14F-4D97-AF65-F5344CB8AC3E}">
        <p14:creationId xmlns:p14="http://schemas.microsoft.com/office/powerpoint/2010/main" val="86145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75EAE-4A73-B351-4702-5CE871D81541}"/>
              </a:ext>
            </a:extLst>
          </p:cNvPr>
          <p:cNvSpPr>
            <a:spLocks noGrp="1"/>
          </p:cNvSpPr>
          <p:nvPr>
            <p:ph type="title"/>
          </p:nvPr>
        </p:nvSpPr>
        <p:spPr/>
        <p:txBody>
          <a:bodyPr/>
          <a:lstStyle/>
          <a:p>
            <a:r>
              <a:rPr lang="en-US" dirty="0"/>
              <a:t>Approach to this class</a:t>
            </a:r>
          </a:p>
        </p:txBody>
      </p:sp>
      <p:sp>
        <p:nvSpPr>
          <p:cNvPr id="4" name="Rectangle 3">
            <a:extLst>
              <a:ext uri="{FF2B5EF4-FFF2-40B4-BE49-F238E27FC236}">
                <a16:creationId xmlns:a16="http://schemas.microsoft.com/office/drawing/2014/main" id="{FE3B7836-FE98-7248-9A52-4C8A222531C7}"/>
              </a:ext>
            </a:extLst>
          </p:cNvPr>
          <p:cNvSpPr/>
          <p:nvPr/>
        </p:nvSpPr>
        <p:spPr>
          <a:xfrm>
            <a:off x="2677886" y="1839686"/>
            <a:ext cx="6291943" cy="427808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62E22F1-4438-59A3-BEAE-192439E840E4}"/>
              </a:ext>
            </a:extLst>
          </p:cNvPr>
          <p:cNvSpPr txBox="1"/>
          <p:nvPr/>
        </p:nvSpPr>
        <p:spPr>
          <a:xfrm>
            <a:off x="2677886" y="1393371"/>
            <a:ext cx="2536371" cy="369332"/>
          </a:xfrm>
          <a:prstGeom prst="rect">
            <a:avLst/>
          </a:prstGeom>
          <a:noFill/>
        </p:spPr>
        <p:txBody>
          <a:bodyPr wrap="square" rtlCol="0">
            <a:spAutoFit/>
          </a:bodyPr>
          <a:lstStyle/>
          <a:p>
            <a:r>
              <a:rPr lang="en-US" dirty="0"/>
              <a:t>Look inside the box!</a:t>
            </a:r>
          </a:p>
        </p:txBody>
      </p:sp>
      <p:pic>
        <p:nvPicPr>
          <p:cNvPr id="2052" name="Picture 4" descr="Transmission electron microscopy (TEM) of Chlamydial in | Open-i">
            <a:extLst>
              <a:ext uri="{FF2B5EF4-FFF2-40B4-BE49-F238E27FC236}">
                <a16:creationId xmlns:a16="http://schemas.microsoft.com/office/drawing/2014/main" id="{A2E1D7EE-2449-B32C-ACA4-7F6B622B97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000" b="50000"/>
          <a:stretch>
            <a:fillRect/>
          </a:stretch>
        </p:blipFill>
        <p:spPr bwMode="auto">
          <a:xfrm>
            <a:off x="9067799" y="512348"/>
            <a:ext cx="2780229" cy="23566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A29901A-3155-E1FC-6BA4-E737B0B7552E}"/>
              </a:ext>
            </a:extLst>
          </p:cNvPr>
          <p:cNvSpPr txBox="1"/>
          <p:nvPr/>
        </p:nvSpPr>
        <p:spPr>
          <a:xfrm>
            <a:off x="2699659" y="1911701"/>
            <a:ext cx="6270170" cy="369332"/>
          </a:xfrm>
          <a:prstGeom prst="rect">
            <a:avLst/>
          </a:prstGeom>
          <a:noFill/>
        </p:spPr>
        <p:txBody>
          <a:bodyPr wrap="square" rtlCol="0">
            <a:spAutoFit/>
          </a:bodyPr>
          <a:lstStyle/>
          <a:p>
            <a:r>
              <a:rPr lang="en-US" dirty="0"/>
              <a:t>Chlamydia is intracellular – won’t be detected unless released</a:t>
            </a:r>
          </a:p>
        </p:txBody>
      </p:sp>
      <p:cxnSp>
        <p:nvCxnSpPr>
          <p:cNvPr id="8" name="Straight Arrow Connector 7">
            <a:extLst>
              <a:ext uri="{FF2B5EF4-FFF2-40B4-BE49-F238E27FC236}">
                <a16:creationId xmlns:a16="http://schemas.microsoft.com/office/drawing/2014/main" id="{B7D4690B-5F4D-5A76-4228-732A584D73AD}"/>
              </a:ext>
            </a:extLst>
          </p:cNvPr>
          <p:cNvCxnSpPr>
            <a:stCxn id="6" idx="2"/>
          </p:cNvCxnSpPr>
          <p:nvPr/>
        </p:nvCxnSpPr>
        <p:spPr>
          <a:xfrm>
            <a:off x="5834744" y="2281033"/>
            <a:ext cx="0" cy="3750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E2627BF-CD04-A8A7-8942-0F8142366FA6}"/>
              </a:ext>
            </a:extLst>
          </p:cNvPr>
          <p:cNvSpPr txBox="1"/>
          <p:nvPr/>
        </p:nvSpPr>
        <p:spPr>
          <a:xfrm>
            <a:off x="2819409" y="2713185"/>
            <a:ext cx="5959920" cy="375081"/>
          </a:xfrm>
          <a:prstGeom prst="rect">
            <a:avLst/>
          </a:prstGeom>
          <a:noFill/>
        </p:spPr>
        <p:txBody>
          <a:bodyPr wrap="square" rtlCol="0">
            <a:spAutoFit/>
          </a:bodyPr>
          <a:lstStyle/>
          <a:p>
            <a:pPr algn="ctr"/>
            <a:r>
              <a:rPr lang="en-US" dirty="0"/>
              <a:t>Treat like it’s there</a:t>
            </a:r>
          </a:p>
        </p:txBody>
      </p:sp>
      <p:cxnSp>
        <p:nvCxnSpPr>
          <p:cNvPr id="10" name="Straight Arrow Connector 9">
            <a:extLst>
              <a:ext uri="{FF2B5EF4-FFF2-40B4-BE49-F238E27FC236}">
                <a16:creationId xmlns:a16="http://schemas.microsoft.com/office/drawing/2014/main" id="{F5B798E4-7E41-4782-95FE-ED5D390B5839}"/>
              </a:ext>
            </a:extLst>
          </p:cNvPr>
          <p:cNvCxnSpPr/>
          <p:nvPr/>
        </p:nvCxnSpPr>
        <p:spPr>
          <a:xfrm>
            <a:off x="5834744" y="3061379"/>
            <a:ext cx="0" cy="3750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FB0FA0D-4F9A-0CC8-49D1-201EF34B858E}"/>
              </a:ext>
            </a:extLst>
          </p:cNvPr>
          <p:cNvSpPr txBox="1"/>
          <p:nvPr/>
        </p:nvSpPr>
        <p:spPr>
          <a:xfrm>
            <a:off x="2819409" y="3493531"/>
            <a:ext cx="5959920" cy="646331"/>
          </a:xfrm>
          <a:prstGeom prst="rect">
            <a:avLst/>
          </a:prstGeom>
          <a:noFill/>
        </p:spPr>
        <p:txBody>
          <a:bodyPr wrap="square" rtlCol="0">
            <a:spAutoFit/>
          </a:bodyPr>
          <a:lstStyle/>
          <a:p>
            <a:pPr algn="ctr"/>
            <a:r>
              <a:rPr lang="en-US" dirty="0"/>
              <a:t>Treat with an antibiotic that’s small and nonpolar, easily crosses cell membranes and can get intracellular</a:t>
            </a:r>
          </a:p>
        </p:txBody>
      </p:sp>
      <p:pic>
        <p:nvPicPr>
          <p:cNvPr id="2054" name="Picture 6" descr="Doxycycline - Wikipedia">
            <a:extLst>
              <a:ext uri="{FF2B5EF4-FFF2-40B4-BE49-F238E27FC236}">
                <a16:creationId xmlns:a16="http://schemas.microsoft.com/office/drawing/2014/main" id="{4AAD4ACA-2E2B-0F85-2AB5-64C05C2742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7799" y="3016251"/>
            <a:ext cx="2867025" cy="15906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D8EC7D3-1AE3-74C3-3A3B-914DC3E1946B}"/>
              </a:ext>
            </a:extLst>
          </p:cNvPr>
          <p:cNvSpPr txBox="1"/>
          <p:nvPr/>
        </p:nvSpPr>
        <p:spPr>
          <a:xfrm>
            <a:off x="9873343" y="4595258"/>
            <a:ext cx="1883229" cy="369332"/>
          </a:xfrm>
          <a:prstGeom prst="rect">
            <a:avLst/>
          </a:prstGeom>
          <a:noFill/>
        </p:spPr>
        <p:txBody>
          <a:bodyPr wrap="square" rtlCol="0">
            <a:spAutoFit/>
          </a:bodyPr>
          <a:lstStyle/>
          <a:p>
            <a:r>
              <a:rPr lang="en-US" dirty="0"/>
              <a:t>doxycycline</a:t>
            </a:r>
          </a:p>
        </p:txBody>
      </p:sp>
      <p:pic>
        <p:nvPicPr>
          <p:cNvPr id="2056" name="Picture 8">
            <a:extLst>
              <a:ext uri="{FF2B5EF4-FFF2-40B4-BE49-F238E27FC236}">
                <a16:creationId xmlns:a16="http://schemas.microsoft.com/office/drawing/2014/main" id="{031D6DB0-DD93-085C-4F18-8B63566B2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320" y="2353048"/>
            <a:ext cx="3143250" cy="231457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5157857-BC16-14C2-E0B4-9A90E0A1426F}"/>
              </a:ext>
            </a:extLst>
          </p:cNvPr>
          <p:cNvSpPr txBox="1"/>
          <p:nvPr/>
        </p:nvSpPr>
        <p:spPr>
          <a:xfrm>
            <a:off x="304800" y="4779924"/>
            <a:ext cx="1926771" cy="369332"/>
          </a:xfrm>
          <a:prstGeom prst="rect">
            <a:avLst/>
          </a:prstGeom>
          <a:noFill/>
        </p:spPr>
        <p:txBody>
          <a:bodyPr wrap="square" rtlCol="0">
            <a:spAutoFit/>
          </a:bodyPr>
          <a:lstStyle/>
          <a:p>
            <a:r>
              <a:rPr lang="en-US" dirty="0"/>
              <a:t>Vancomycin</a:t>
            </a:r>
          </a:p>
        </p:txBody>
      </p:sp>
      <p:cxnSp>
        <p:nvCxnSpPr>
          <p:cNvPr id="14" name="Straight Arrow Connector 13">
            <a:extLst>
              <a:ext uri="{FF2B5EF4-FFF2-40B4-BE49-F238E27FC236}">
                <a16:creationId xmlns:a16="http://schemas.microsoft.com/office/drawing/2014/main" id="{8713509A-735E-7BB6-2603-A6D31050419B}"/>
              </a:ext>
            </a:extLst>
          </p:cNvPr>
          <p:cNvCxnSpPr/>
          <p:nvPr/>
        </p:nvCxnSpPr>
        <p:spPr>
          <a:xfrm>
            <a:off x="5834744" y="4094961"/>
            <a:ext cx="0" cy="3750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8092338-F6F7-705F-4E52-B4CCFDFD6CD3}"/>
              </a:ext>
            </a:extLst>
          </p:cNvPr>
          <p:cNvSpPr txBox="1"/>
          <p:nvPr/>
        </p:nvSpPr>
        <p:spPr>
          <a:xfrm>
            <a:off x="2819409" y="4527113"/>
            <a:ext cx="5959920" cy="375081"/>
          </a:xfrm>
          <a:prstGeom prst="rect">
            <a:avLst/>
          </a:prstGeom>
          <a:noFill/>
        </p:spPr>
        <p:txBody>
          <a:bodyPr wrap="square" rtlCol="0">
            <a:spAutoFit/>
          </a:bodyPr>
          <a:lstStyle/>
          <a:p>
            <a:pPr algn="ctr"/>
            <a:r>
              <a:rPr lang="en-US" dirty="0"/>
              <a:t>Treat chlamydia with doxycycline</a:t>
            </a:r>
          </a:p>
        </p:txBody>
      </p:sp>
    </p:spTree>
    <p:extLst>
      <p:ext uri="{BB962C8B-B14F-4D97-AF65-F5344CB8AC3E}">
        <p14:creationId xmlns:p14="http://schemas.microsoft.com/office/powerpoint/2010/main" val="244711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2" grpId="0"/>
      <p:bldP spid="13"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61245-830C-A7CA-A325-8BAA5B970F93}"/>
              </a:ext>
            </a:extLst>
          </p:cNvPr>
          <p:cNvSpPr>
            <a:spLocks noGrp="1"/>
          </p:cNvSpPr>
          <p:nvPr>
            <p:ph type="title"/>
          </p:nvPr>
        </p:nvSpPr>
        <p:spPr/>
        <p:txBody>
          <a:bodyPr/>
          <a:lstStyle/>
          <a:p>
            <a:r>
              <a:rPr lang="en-US" dirty="0"/>
              <a:t>Approach to this class</a:t>
            </a:r>
          </a:p>
        </p:txBody>
      </p:sp>
      <p:pic>
        <p:nvPicPr>
          <p:cNvPr id="3074" name="Picture 2" descr="Isolation of Rickettsia parkeri and Identification of a Novel Spotted Fever  Group Rickettsia sp. from Gulf Coast Ticks (Amblyomma maculatum) in the  United States | Applied and Environmental Microbiology">
            <a:extLst>
              <a:ext uri="{FF2B5EF4-FFF2-40B4-BE49-F238E27FC236}">
                <a16:creationId xmlns:a16="http://schemas.microsoft.com/office/drawing/2014/main" id="{3E60ED1D-A9C7-AE38-413F-DFED462E20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3135" y="1456569"/>
            <a:ext cx="6645729" cy="34767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AF87750-6891-1270-5382-65977B69D646}"/>
              </a:ext>
            </a:extLst>
          </p:cNvPr>
          <p:cNvSpPr txBox="1"/>
          <p:nvPr/>
        </p:nvSpPr>
        <p:spPr>
          <a:xfrm>
            <a:off x="4653642" y="5032099"/>
            <a:ext cx="2884713" cy="369332"/>
          </a:xfrm>
          <a:prstGeom prst="rect">
            <a:avLst/>
          </a:prstGeom>
          <a:noFill/>
        </p:spPr>
        <p:txBody>
          <a:bodyPr wrap="square" rtlCol="0">
            <a:spAutoFit/>
          </a:bodyPr>
          <a:lstStyle/>
          <a:p>
            <a:r>
              <a:rPr lang="en-US"/>
              <a:t>What would you treat with?</a:t>
            </a:r>
            <a:endParaRPr lang="en-US" dirty="0"/>
          </a:p>
        </p:txBody>
      </p:sp>
      <p:sp>
        <p:nvSpPr>
          <p:cNvPr id="10" name="TextBox 9">
            <a:extLst>
              <a:ext uri="{FF2B5EF4-FFF2-40B4-BE49-F238E27FC236}">
                <a16:creationId xmlns:a16="http://schemas.microsoft.com/office/drawing/2014/main" id="{5DD26E61-E4B5-13F8-E705-5E55C08F6326}"/>
              </a:ext>
            </a:extLst>
          </p:cNvPr>
          <p:cNvSpPr txBox="1"/>
          <p:nvPr/>
        </p:nvSpPr>
        <p:spPr>
          <a:xfrm>
            <a:off x="655864" y="2825587"/>
            <a:ext cx="2299608" cy="369332"/>
          </a:xfrm>
          <a:prstGeom prst="rect">
            <a:avLst/>
          </a:prstGeom>
          <a:noFill/>
        </p:spPr>
        <p:txBody>
          <a:bodyPr wrap="square" rtlCol="0">
            <a:spAutoFit/>
          </a:bodyPr>
          <a:lstStyle/>
          <a:p>
            <a:r>
              <a:rPr lang="en-US" dirty="0"/>
              <a:t>Rickettsia </a:t>
            </a:r>
            <a:r>
              <a:rPr lang="en-US" dirty="0" err="1"/>
              <a:t>Rickettsii</a:t>
            </a:r>
            <a:endParaRPr lang="en-US" dirty="0"/>
          </a:p>
        </p:txBody>
      </p:sp>
      <p:sp>
        <p:nvSpPr>
          <p:cNvPr id="12" name="TextBox 11">
            <a:extLst>
              <a:ext uri="{FF2B5EF4-FFF2-40B4-BE49-F238E27FC236}">
                <a16:creationId xmlns:a16="http://schemas.microsoft.com/office/drawing/2014/main" id="{1AE354FB-DE04-D2AA-A663-4BBCF93F5D08}"/>
              </a:ext>
            </a:extLst>
          </p:cNvPr>
          <p:cNvSpPr txBox="1"/>
          <p:nvPr/>
        </p:nvSpPr>
        <p:spPr>
          <a:xfrm>
            <a:off x="4653642" y="5726743"/>
            <a:ext cx="6188528" cy="369332"/>
          </a:xfrm>
          <a:prstGeom prst="rect">
            <a:avLst/>
          </a:prstGeom>
          <a:noFill/>
        </p:spPr>
        <p:txBody>
          <a:bodyPr wrap="square" rtlCol="0">
            <a:spAutoFit/>
          </a:bodyPr>
          <a:lstStyle/>
          <a:p>
            <a:r>
              <a:rPr lang="en-US" dirty="0"/>
              <a:t>Treat RMSF with Doxycycline.</a:t>
            </a:r>
          </a:p>
        </p:txBody>
      </p:sp>
    </p:spTree>
    <p:extLst>
      <p:ext uri="{BB962C8B-B14F-4D97-AF65-F5344CB8AC3E}">
        <p14:creationId xmlns:p14="http://schemas.microsoft.com/office/powerpoint/2010/main" val="210856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000CF-1542-3E32-C020-4BA74778B2A8}"/>
              </a:ext>
            </a:extLst>
          </p:cNvPr>
          <p:cNvSpPr>
            <a:spLocks noGrp="1"/>
          </p:cNvSpPr>
          <p:nvPr>
            <p:ph type="title"/>
          </p:nvPr>
        </p:nvSpPr>
        <p:spPr/>
        <p:txBody>
          <a:bodyPr/>
          <a:lstStyle/>
          <a:p>
            <a:r>
              <a:rPr lang="en-US" dirty="0"/>
              <a:t>Approach to this class</a:t>
            </a:r>
          </a:p>
        </p:txBody>
      </p:sp>
      <p:sp>
        <p:nvSpPr>
          <p:cNvPr id="3" name="Content Placeholder 2">
            <a:extLst>
              <a:ext uri="{FF2B5EF4-FFF2-40B4-BE49-F238E27FC236}">
                <a16:creationId xmlns:a16="http://schemas.microsoft.com/office/drawing/2014/main" id="{5B88879F-EEBF-F0DA-A748-0D6FFCC31D30}"/>
              </a:ext>
            </a:extLst>
          </p:cNvPr>
          <p:cNvSpPr>
            <a:spLocks noGrp="1"/>
          </p:cNvSpPr>
          <p:nvPr>
            <p:ph idx="1"/>
          </p:nvPr>
        </p:nvSpPr>
        <p:spPr/>
        <p:txBody>
          <a:bodyPr/>
          <a:lstStyle/>
          <a:p>
            <a:r>
              <a:rPr lang="en-US" dirty="0"/>
              <a:t>Give information to make decisions on your own</a:t>
            </a:r>
          </a:p>
          <a:p>
            <a:pPr lvl="1"/>
            <a:r>
              <a:rPr lang="en-US" dirty="0"/>
              <a:t>Who knows what technology will be out there in 2, 5, 10 years.</a:t>
            </a:r>
          </a:p>
          <a:p>
            <a:pPr lvl="1"/>
            <a:r>
              <a:rPr lang="en-US" dirty="0"/>
              <a:t>I want to give you tools to tackle new problems</a:t>
            </a:r>
          </a:p>
          <a:p>
            <a:r>
              <a:rPr lang="en-US" dirty="0"/>
              <a:t>Can learn way more info in much less time</a:t>
            </a:r>
          </a:p>
          <a:p>
            <a:pPr lvl="1"/>
            <a:r>
              <a:rPr lang="en-US" dirty="0"/>
              <a:t>Sticks better too</a:t>
            </a:r>
          </a:p>
          <a:p>
            <a:r>
              <a:rPr lang="en-US" dirty="0"/>
              <a:t>Teach you another way of thinking about problems, including in medicine</a:t>
            </a:r>
          </a:p>
        </p:txBody>
      </p:sp>
    </p:spTree>
    <p:extLst>
      <p:ext uri="{BB962C8B-B14F-4D97-AF65-F5344CB8AC3E}">
        <p14:creationId xmlns:p14="http://schemas.microsoft.com/office/powerpoint/2010/main" val="125023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609C83B-F7F5-050F-F715-44EDB3D05640}"/>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My Goals For The Class</a:t>
            </a:r>
          </a:p>
        </p:txBody>
      </p:sp>
      <p:graphicFrame>
        <p:nvGraphicFramePr>
          <p:cNvPr id="5" name="Content Placeholder 2">
            <a:extLst>
              <a:ext uri="{FF2B5EF4-FFF2-40B4-BE49-F238E27FC236}">
                <a16:creationId xmlns:a16="http://schemas.microsoft.com/office/drawing/2014/main" id="{D2B1F117-E3A8-9D3B-0306-9CC98C8BE95F}"/>
              </a:ext>
            </a:extLst>
          </p:cNvPr>
          <p:cNvGraphicFramePr>
            <a:graphicFrameLocks noGrp="1"/>
          </p:cNvGraphicFramePr>
          <p:nvPr>
            <p:ph idx="1"/>
            <p:extLst>
              <p:ext uri="{D42A27DB-BD31-4B8C-83A1-F6EECF244321}">
                <p14:modId xmlns:p14="http://schemas.microsoft.com/office/powerpoint/2010/main" val="180567910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AB1640C9-27BF-AF40-7260-E517D2C75555}"/>
              </a:ext>
            </a:extLst>
          </p:cNvPr>
          <p:cNvSpPr txBox="1"/>
          <p:nvPr/>
        </p:nvSpPr>
        <p:spPr>
          <a:xfrm>
            <a:off x="3570514" y="5936052"/>
            <a:ext cx="6096000" cy="369332"/>
          </a:xfrm>
          <a:prstGeom prst="rect">
            <a:avLst/>
          </a:prstGeom>
          <a:noFill/>
        </p:spPr>
        <p:txBody>
          <a:bodyPr wrap="square">
            <a:spAutoFit/>
          </a:bodyPr>
          <a:lstStyle/>
          <a:p>
            <a:r>
              <a:rPr lang="en-US" dirty="0"/>
              <a:t>You will be shocked how far we will get in 3 months!</a:t>
            </a:r>
          </a:p>
        </p:txBody>
      </p:sp>
    </p:spTree>
    <p:extLst>
      <p:ext uri="{BB962C8B-B14F-4D97-AF65-F5344CB8AC3E}">
        <p14:creationId xmlns:p14="http://schemas.microsoft.com/office/powerpoint/2010/main" val="428770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050357-2382-487F-343A-D1E67E3F5ED1}"/>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4 Pillars Diagram</a:t>
            </a:r>
          </a:p>
        </p:txBody>
      </p:sp>
      <p:pic>
        <p:nvPicPr>
          <p:cNvPr id="5" name="Picture 4">
            <a:extLst>
              <a:ext uri="{FF2B5EF4-FFF2-40B4-BE49-F238E27FC236}">
                <a16:creationId xmlns:a16="http://schemas.microsoft.com/office/drawing/2014/main" id="{BC363307-C557-48D4-BEBC-1D218EE82EE0}"/>
              </a:ext>
            </a:extLst>
          </p:cNvPr>
          <p:cNvPicPr>
            <a:picLocks noChangeAspect="1"/>
          </p:cNvPicPr>
          <p:nvPr/>
        </p:nvPicPr>
        <p:blipFill>
          <a:blip r:embed="rId3"/>
          <a:stretch>
            <a:fillRect/>
          </a:stretch>
        </p:blipFill>
        <p:spPr>
          <a:xfrm>
            <a:off x="4777316" y="1156301"/>
            <a:ext cx="6780700" cy="4543068"/>
          </a:xfrm>
          <a:prstGeom prst="rect">
            <a:avLst/>
          </a:prstGeom>
        </p:spPr>
      </p:pic>
    </p:spTree>
    <p:extLst>
      <p:ext uri="{BB962C8B-B14F-4D97-AF65-F5344CB8AC3E}">
        <p14:creationId xmlns:p14="http://schemas.microsoft.com/office/powerpoint/2010/main" val="1721877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86BAB-EA37-0BBF-CF58-FC76A67D2D0D}"/>
              </a:ext>
            </a:extLst>
          </p:cNvPr>
          <p:cNvSpPr>
            <a:spLocks noGrp="1"/>
          </p:cNvSpPr>
          <p:nvPr>
            <p:ph type="title"/>
          </p:nvPr>
        </p:nvSpPr>
        <p:spPr/>
        <p:txBody>
          <a:bodyPr/>
          <a:lstStyle/>
          <a:p>
            <a:r>
              <a:rPr lang="en-US" dirty="0"/>
              <a:t>Your Goals Should Be</a:t>
            </a:r>
          </a:p>
        </p:txBody>
      </p:sp>
      <p:sp>
        <p:nvSpPr>
          <p:cNvPr id="3" name="Content Placeholder 2">
            <a:extLst>
              <a:ext uri="{FF2B5EF4-FFF2-40B4-BE49-F238E27FC236}">
                <a16:creationId xmlns:a16="http://schemas.microsoft.com/office/drawing/2014/main" id="{FF7273E5-03C4-BFC8-F9A1-D06533B15A57}"/>
              </a:ext>
            </a:extLst>
          </p:cNvPr>
          <p:cNvSpPr>
            <a:spLocks noGrp="1"/>
          </p:cNvSpPr>
          <p:nvPr>
            <p:ph idx="1"/>
          </p:nvPr>
        </p:nvSpPr>
        <p:spPr>
          <a:xfrm>
            <a:off x="838200" y="1825625"/>
            <a:ext cx="10832024" cy="4351338"/>
          </a:xfrm>
        </p:spPr>
        <p:txBody>
          <a:bodyPr/>
          <a:lstStyle/>
          <a:p>
            <a:r>
              <a:rPr lang="en-US" dirty="0"/>
              <a:t>Don’t treat this class as a joke – try to learn something</a:t>
            </a:r>
          </a:p>
          <a:p>
            <a:pPr lvl="1"/>
            <a:r>
              <a:rPr lang="en-US" dirty="0"/>
              <a:t>Take breaks, absences as you need them</a:t>
            </a:r>
          </a:p>
          <a:p>
            <a:r>
              <a:rPr lang="en-US" dirty="0"/>
              <a:t>Be open minded to learning from many disciplines</a:t>
            </a:r>
          </a:p>
          <a:p>
            <a:r>
              <a:rPr lang="en-US" dirty="0"/>
              <a:t>Try to imagine how your practice and research can adapt</a:t>
            </a:r>
          </a:p>
          <a:p>
            <a:r>
              <a:rPr lang="en-US" dirty="0"/>
              <a:t>Give feedback!</a:t>
            </a:r>
          </a:p>
          <a:p>
            <a:endParaRPr lang="en-US" dirty="0"/>
          </a:p>
        </p:txBody>
      </p:sp>
    </p:spTree>
    <p:extLst>
      <p:ext uri="{BB962C8B-B14F-4D97-AF65-F5344CB8AC3E}">
        <p14:creationId xmlns:p14="http://schemas.microsoft.com/office/powerpoint/2010/main" val="3843541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8EFB-CF4B-BAF6-E39E-31222F4E172D}"/>
              </a:ext>
            </a:extLst>
          </p:cNvPr>
          <p:cNvSpPr>
            <a:spLocks noGrp="1"/>
          </p:cNvSpPr>
          <p:nvPr>
            <p:ph type="title"/>
          </p:nvPr>
        </p:nvSpPr>
        <p:spPr/>
        <p:txBody>
          <a:bodyPr/>
          <a:lstStyle/>
          <a:p>
            <a:r>
              <a:rPr lang="en-US" dirty="0"/>
              <a:t>Tips for Success in This Class</a:t>
            </a:r>
          </a:p>
        </p:txBody>
      </p:sp>
      <p:sp>
        <p:nvSpPr>
          <p:cNvPr id="3" name="Content Placeholder 2">
            <a:extLst>
              <a:ext uri="{FF2B5EF4-FFF2-40B4-BE49-F238E27FC236}">
                <a16:creationId xmlns:a16="http://schemas.microsoft.com/office/drawing/2014/main" id="{CDF0E7F7-0716-DEA1-4198-8BE5ACEFE0BA}"/>
              </a:ext>
            </a:extLst>
          </p:cNvPr>
          <p:cNvSpPr>
            <a:spLocks noGrp="1"/>
          </p:cNvSpPr>
          <p:nvPr>
            <p:ph idx="1"/>
          </p:nvPr>
        </p:nvSpPr>
        <p:spPr>
          <a:xfrm>
            <a:off x="587829" y="1825625"/>
            <a:ext cx="7652657" cy="4667250"/>
          </a:xfrm>
        </p:spPr>
        <p:txBody>
          <a:bodyPr>
            <a:normAutofit/>
          </a:bodyPr>
          <a:lstStyle/>
          <a:p>
            <a:r>
              <a:rPr lang="en-US" dirty="0"/>
              <a:t>You get out what you put in</a:t>
            </a:r>
          </a:p>
          <a:p>
            <a:r>
              <a:rPr lang="en-US" dirty="0"/>
              <a:t>This class is truly multidisciplinary, so learn to think like an engineer</a:t>
            </a:r>
          </a:p>
          <a:p>
            <a:pPr lvl="1"/>
            <a:r>
              <a:rPr lang="en-US" dirty="0"/>
              <a:t>Ask lots of questions!</a:t>
            </a:r>
          </a:p>
          <a:p>
            <a:r>
              <a:rPr lang="en-US" dirty="0"/>
              <a:t>Give feedback in real time</a:t>
            </a:r>
          </a:p>
        </p:txBody>
      </p:sp>
    </p:spTree>
    <p:extLst>
      <p:ext uri="{BB962C8B-B14F-4D97-AF65-F5344CB8AC3E}">
        <p14:creationId xmlns:p14="http://schemas.microsoft.com/office/powerpoint/2010/main" val="3998197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38DE9-AD12-DC33-C6D7-CE1FFBFDA3A4}"/>
              </a:ext>
            </a:extLst>
          </p:cNvPr>
          <p:cNvSpPr>
            <a:spLocks noGrp="1"/>
          </p:cNvSpPr>
          <p:nvPr>
            <p:ph type="title"/>
          </p:nvPr>
        </p:nvSpPr>
        <p:spPr>
          <a:xfrm>
            <a:off x="4635284" y="2766218"/>
            <a:ext cx="10515600" cy="1325563"/>
          </a:xfrm>
        </p:spPr>
        <p:txBody>
          <a:bodyPr/>
          <a:lstStyle/>
          <a:p>
            <a:r>
              <a:rPr lang="en-US" dirty="0"/>
              <a:t>What is AI?</a:t>
            </a:r>
          </a:p>
        </p:txBody>
      </p:sp>
    </p:spTree>
    <p:extLst>
      <p:ext uri="{BB962C8B-B14F-4D97-AF65-F5344CB8AC3E}">
        <p14:creationId xmlns:p14="http://schemas.microsoft.com/office/powerpoint/2010/main" val="3379120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5C3D1-27F2-6ED6-349A-8CC4EC06F77C}"/>
              </a:ext>
            </a:extLst>
          </p:cNvPr>
          <p:cNvSpPr>
            <a:spLocks noGrp="1"/>
          </p:cNvSpPr>
          <p:nvPr>
            <p:ph type="title"/>
          </p:nvPr>
        </p:nvSpPr>
        <p:spPr/>
        <p:txBody>
          <a:bodyPr/>
          <a:lstStyle/>
          <a:p>
            <a:r>
              <a:rPr lang="en-US" dirty="0"/>
              <a:t>What is AI? (Two More Definitions)</a:t>
            </a:r>
          </a:p>
        </p:txBody>
      </p:sp>
      <p:sp>
        <p:nvSpPr>
          <p:cNvPr id="3" name="Content Placeholder 2">
            <a:extLst>
              <a:ext uri="{FF2B5EF4-FFF2-40B4-BE49-F238E27FC236}">
                <a16:creationId xmlns:a16="http://schemas.microsoft.com/office/drawing/2014/main" id="{0333EB53-DBF4-5441-7987-EC9C9F83D217}"/>
              </a:ext>
            </a:extLst>
          </p:cNvPr>
          <p:cNvSpPr>
            <a:spLocks noGrp="1"/>
          </p:cNvSpPr>
          <p:nvPr>
            <p:ph idx="1"/>
          </p:nvPr>
        </p:nvSpPr>
        <p:spPr/>
        <p:txBody>
          <a:bodyPr/>
          <a:lstStyle/>
          <a:p>
            <a:r>
              <a:rPr lang="en-US" dirty="0"/>
              <a:t>Artificial intelligence (AI) is the capability of computational systems to perform tasks typically associated with human intelligence, such as learning, reasoning, problem-solving, perception, and decision-making.</a:t>
            </a:r>
          </a:p>
          <a:p>
            <a:endParaRPr lang="en-US" dirty="0"/>
          </a:p>
          <a:p>
            <a:r>
              <a:rPr lang="en-US" dirty="0"/>
              <a:t>It is a field of research in computer science that develops and studies methods and software that enable machines to perceive their environment and use learning and intelligence to take actions that maximize their chances of achieving defined goals.</a:t>
            </a:r>
          </a:p>
        </p:txBody>
      </p:sp>
    </p:spTree>
    <p:extLst>
      <p:ext uri="{BB962C8B-B14F-4D97-AF65-F5344CB8AC3E}">
        <p14:creationId xmlns:p14="http://schemas.microsoft.com/office/powerpoint/2010/main" val="179299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13650-2861-981B-130D-315DE5157EB9}"/>
              </a:ext>
            </a:extLst>
          </p:cNvPr>
          <p:cNvSpPr>
            <a:spLocks noGrp="1"/>
          </p:cNvSpPr>
          <p:nvPr>
            <p:ph type="title"/>
          </p:nvPr>
        </p:nvSpPr>
        <p:spPr/>
        <p:txBody>
          <a:bodyPr/>
          <a:lstStyle/>
          <a:p>
            <a:r>
              <a:rPr lang="en-US" dirty="0"/>
              <a:t>What is AI?</a:t>
            </a:r>
          </a:p>
        </p:txBody>
      </p:sp>
      <p:sp>
        <p:nvSpPr>
          <p:cNvPr id="3" name="Content Placeholder 2">
            <a:extLst>
              <a:ext uri="{FF2B5EF4-FFF2-40B4-BE49-F238E27FC236}">
                <a16:creationId xmlns:a16="http://schemas.microsoft.com/office/drawing/2014/main" id="{9009E584-1A96-720B-2AE3-351AB79A466D}"/>
              </a:ext>
            </a:extLst>
          </p:cNvPr>
          <p:cNvSpPr>
            <a:spLocks noGrp="1"/>
          </p:cNvSpPr>
          <p:nvPr>
            <p:ph idx="1"/>
          </p:nvPr>
        </p:nvSpPr>
        <p:spPr/>
        <p:txBody>
          <a:bodyPr/>
          <a:lstStyle/>
          <a:p>
            <a:r>
              <a:rPr lang="en-US" dirty="0"/>
              <a:t>Approximation based on iterative improvement of operations performed on data based on a mathematical definition of </a:t>
            </a:r>
            <a:r>
              <a:rPr lang="en-US" dirty="0" err="1"/>
              <a:t>succss</a:t>
            </a:r>
            <a:r>
              <a:rPr lang="en-US" dirty="0"/>
              <a:t> </a:t>
            </a:r>
          </a:p>
          <a:p>
            <a:endParaRPr lang="en-US" dirty="0"/>
          </a:p>
          <a:p>
            <a:r>
              <a:rPr lang="en-US" dirty="0"/>
              <a:t>Maybe by the end, you’ll agree with me.</a:t>
            </a:r>
          </a:p>
        </p:txBody>
      </p:sp>
    </p:spTree>
    <p:extLst>
      <p:ext uri="{BB962C8B-B14F-4D97-AF65-F5344CB8AC3E}">
        <p14:creationId xmlns:p14="http://schemas.microsoft.com/office/powerpoint/2010/main" val="136694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570F0-1E73-3ABC-006F-199D6DEAA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69E81-C735-D5A3-4C4F-4C5F67CC13E5}"/>
              </a:ext>
            </a:extLst>
          </p:cNvPr>
          <p:cNvSpPr>
            <a:spLocks noGrp="1"/>
          </p:cNvSpPr>
          <p:nvPr>
            <p:ph type="title"/>
          </p:nvPr>
        </p:nvSpPr>
        <p:spPr/>
        <p:txBody>
          <a:bodyPr/>
          <a:lstStyle/>
          <a:p>
            <a:r>
              <a:rPr lang="en-US" dirty="0"/>
              <a:t>What is AI? Turing Test</a:t>
            </a:r>
          </a:p>
        </p:txBody>
      </p:sp>
      <p:pic>
        <p:nvPicPr>
          <p:cNvPr id="5122" name="Picture 2">
            <a:extLst>
              <a:ext uri="{FF2B5EF4-FFF2-40B4-BE49-F238E27FC236}">
                <a16:creationId xmlns:a16="http://schemas.microsoft.com/office/drawing/2014/main" id="{67B91F7D-1E9A-85C2-5B31-8A6D2BE40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7987" y="1355272"/>
            <a:ext cx="6296025"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3753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05432-42AF-3F04-200F-014AE338A15A}"/>
              </a:ext>
            </a:extLst>
          </p:cNvPr>
          <p:cNvSpPr>
            <a:spLocks noGrp="1"/>
          </p:cNvSpPr>
          <p:nvPr>
            <p:ph type="title"/>
          </p:nvPr>
        </p:nvSpPr>
        <p:spPr/>
        <p:txBody>
          <a:bodyPr/>
          <a:lstStyle/>
          <a:p>
            <a:r>
              <a:rPr lang="en-US" dirty="0"/>
              <a:t>What is AI?</a:t>
            </a:r>
          </a:p>
        </p:txBody>
      </p:sp>
      <p:sp>
        <p:nvSpPr>
          <p:cNvPr id="3" name="Content Placeholder 2">
            <a:extLst>
              <a:ext uri="{FF2B5EF4-FFF2-40B4-BE49-F238E27FC236}">
                <a16:creationId xmlns:a16="http://schemas.microsoft.com/office/drawing/2014/main" id="{2397FD13-894F-FCEB-2104-DC7624DED8EC}"/>
              </a:ext>
            </a:extLst>
          </p:cNvPr>
          <p:cNvSpPr>
            <a:spLocks noGrp="1"/>
          </p:cNvSpPr>
          <p:nvPr>
            <p:ph idx="1"/>
          </p:nvPr>
        </p:nvSpPr>
        <p:spPr/>
        <p:txBody>
          <a:bodyPr/>
          <a:lstStyle/>
          <a:p>
            <a:r>
              <a:rPr lang="en-US" dirty="0"/>
              <a:t>You know it when you see it?</a:t>
            </a:r>
          </a:p>
          <a:p>
            <a:r>
              <a:rPr lang="en-US" dirty="0"/>
              <a:t>No widely accepted definition.</a:t>
            </a:r>
          </a:p>
          <a:p>
            <a:endParaRPr lang="en-US" dirty="0"/>
          </a:p>
          <a:p>
            <a:r>
              <a:rPr lang="en-US" dirty="0"/>
              <a:t>For the purposes of this class:</a:t>
            </a:r>
          </a:p>
          <a:p>
            <a:pPr lvl="1"/>
            <a:r>
              <a:rPr lang="en-US" dirty="0"/>
              <a:t>Any computer assisted decision making system</a:t>
            </a:r>
          </a:p>
        </p:txBody>
      </p:sp>
    </p:spTree>
    <p:extLst>
      <p:ext uri="{BB962C8B-B14F-4D97-AF65-F5344CB8AC3E}">
        <p14:creationId xmlns:p14="http://schemas.microsoft.com/office/powerpoint/2010/main" val="2883335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4814-8446-C355-A814-B975D97DC805}"/>
              </a:ext>
            </a:extLst>
          </p:cNvPr>
          <p:cNvSpPr>
            <a:spLocks noGrp="1"/>
          </p:cNvSpPr>
          <p:nvPr>
            <p:ph type="title"/>
          </p:nvPr>
        </p:nvSpPr>
        <p:spPr/>
        <p:txBody>
          <a:bodyPr/>
          <a:lstStyle/>
          <a:p>
            <a:r>
              <a:rPr lang="en-US" dirty="0"/>
              <a:t>AI vs ML</a:t>
            </a:r>
          </a:p>
        </p:txBody>
      </p:sp>
      <p:pic>
        <p:nvPicPr>
          <p:cNvPr id="1026" name="Picture 2" descr="AI vs Machine Learning vs Deep Learning: Understanding the ...">
            <a:extLst>
              <a:ext uri="{FF2B5EF4-FFF2-40B4-BE49-F238E27FC236}">
                <a16:creationId xmlns:a16="http://schemas.microsoft.com/office/drawing/2014/main" id="{0C6E2EA7-962A-C98F-6299-4D8FCE61F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645" y="1792288"/>
            <a:ext cx="10332155" cy="4344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301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72" name="Rectangle 617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27B88EDE-993A-C928-459B-4AF556683246}"/>
              </a:ext>
            </a:extLst>
          </p:cNvPr>
          <p:cNvSpPr>
            <a:spLocks noGrp="1"/>
          </p:cNvSpPr>
          <p:nvPr>
            <p:ph type="title"/>
          </p:nvPr>
        </p:nvSpPr>
        <p:spPr>
          <a:xfrm>
            <a:off x="6745298" y="669925"/>
            <a:ext cx="4208403" cy="1325563"/>
          </a:xfrm>
        </p:spPr>
        <p:txBody>
          <a:bodyPr anchor="b">
            <a:normAutofit/>
          </a:bodyPr>
          <a:lstStyle/>
          <a:p>
            <a:r>
              <a:rPr lang="en-US">
                <a:solidFill>
                  <a:schemeClr val="bg1"/>
                </a:solidFill>
              </a:rPr>
              <a:t>Brief history of AI</a:t>
            </a:r>
          </a:p>
        </p:txBody>
      </p:sp>
      <p:pic>
        <p:nvPicPr>
          <p:cNvPr id="6148" name="Picture 4" descr="undefined">
            <a:extLst>
              <a:ext uri="{FF2B5EF4-FFF2-40B4-BE49-F238E27FC236}">
                <a16:creationId xmlns:a16="http://schemas.microsoft.com/office/drawing/2014/main" id="{152452BE-C509-D938-93DE-674C52B794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9117" r="-1" b="16079"/>
          <a:stretch>
            <a:fillRect/>
          </a:stretch>
        </p:blipFill>
        <p:spPr bwMode="auto">
          <a:xfrm>
            <a:off x="3580306" y="1159416"/>
            <a:ext cx="2971800" cy="2101482"/>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undefined">
            <a:extLst>
              <a:ext uri="{FF2B5EF4-FFF2-40B4-BE49-F238E27FC236}">
                <a16:creationId xmlns:a16="http://schemas.microsoft.com/office/drawing/2014/main" id="{C9A98740-15BA-3399-9AD5-94C6DF37F2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4371" b="20567"/>
          <a:stretch>
            <a:fillRect/>
          </a:stretch>
        </p:blipFill>
        <p:spPr bwMode="auto">
          <a:xfrm>
            <a:off x="3582120" y="3411753"/>
            <a:ext cx="2971800" cy="2111397"/>
          </a:xfrm>
          <a:prstGeom prst="rect">
            <a:avLst/>
          </a:prstGeom>
          <a:noFill/>
          <a:extLst>
            <a:ext uri="{909E8E84-426E-40DD-AFC4-6F175D3DCCD1}">
              <a14:hiddenFill xmlns:a14="http://schemas.microsoft.com/office/drawing/2010/main">
                <a:solidFill>
                  <a:srgbClr val="FFFFFF"/>
                </a:solidFill>
              </a14:hiddenFill>
            </a:ext>
          </a:extLst>
        </p:spPr>
      </p:pic>
      <p:cxnSp>
        <p:nvCxnSpPr>
          <p:cNvPr id="6174" name="Straight Connector 617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45298" y="2026340"/>
            <a:ext cx="544670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FA7C3BB0-7599-9C9E-3F15-E004C8ED82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4367" b="16573"/>
          <a:stretch>
            <a:fillRect/>
          </a:stretch>
        </p:blipFill>
        <p:spPr bwMode="auto">
          <a:xfrm>
            <a:off x="415314" y="1159416"/>
            <a:ext cx="2971800" cy="2052325"/>
          </a:xfrm>
          <a:prstGeom prst="rect">
            <a:avLst/>
          </a:prstGeom>
          <a:noFill/>
          <a:extLst>
            <a:ext uri="{909E8E84-426E-40DD-AFC4-6F175D3DCCD1}">
              <a14:hiddenFill xmlns:a14="http://schemas.microsoft.com/office/drawing/2010/main">
                <a:solidFill>
                  <a:srgbClr val="FFFFFF"/>
                </a:solidFill>
              </a14:hiddenFill>
            </a:ext>
          </a:extLst>
        </p:spPr>
      </p:pic>
      <p:cxnSp>
        <p:nvCxnSpPr>
          <p:cNvPr id="6176" name="Straight Connector 6175">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4776"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152" name="Picture 8" descr="undefined">
            <a:extLst>
              <a:ext uri="{FF2B5EF4-FFF2-40B4-BE49-F238E27FC236}">
                <a16:creationId xmlns:a16="http://schemas.microsoft.com/office/drawing/2014/main" id="{C6450774-A44A-2E1C-AEEC-C55F560027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0136" r="8309" b="1"/>
          <a:stretch>
            <a:fillRect/>
          </a:stretch>
        </p:blipFill>
        <p:spPr bwMode="auto">
          <a:xfrm>
            <a:off x="415314" y="3429000"/>
            <a:ext cx="2971800" cy="203016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A062D46-4715-0EA5-F4E6-1A04E7B7D0C0}"/>
              </a:ext>
            </a:extLst>
          </p:cNvPr>
          <p:cNvSpPr>
            <a:spLocks noGrp="1"/>
          </p:cNvSpPr>
          <p:nvPr>
            <p:ph idx="1"/>
          </p:nvPr>
        </p:nvSpPr>
        <p:spPr>
          <a:xfrm>
            <a:off x="6745298" y="2288833"/>
            <a:ext cx="4208403" cy="3711571"/>
          </a:xfrm>
        </p:spPr>
        <p:txBody>
          <a:bodyPr>
            <a:normAutofit/>
          </a:bodyPr>
          <a:lstStyle/>
          <a:p>
            <a:r>
              <a:rPr lang="en-US" sz="2000">
                <a:solidFill>
                  <a:schemeClr val="bg1"/>
                </a:solidFill>
              </a:rPr>
              <a:t>Ancient myths and legends:</a:t>
            </a:r>
          </a:p>
          <a:p>
            <a:pPr lvl="1"/>
            <a:r>
              <a:rPr lang="en-US" sz="2000">
                <a:solidFill>
                  <a:schemeClr val="bg1"/>
                </a:solidFill>
              </a:rPr>
              <a:t>Talus</a:t>
            </a:r>
          </a:p>
          <a:p>
            <a:pPr lvl="1"/>
            <a:r>
              <a:rPr lang="en-US" sz="2000">
                <a:solidFill>
                  <a:schemeClr val="bg1"/>
                </a:solidFill>
              </a:rPr>
              <a:t>The Golem</a:t>
            </a:r>
          </a:p>
          <a:p>
            <a:pPr lvl="1"/>
            <a:r>
              <a:rPr lang="en-US" sz="2000">
                <a:solidFill>
                  <a:schemeClr val="bg1"/>
                </a:solidFill>
              </a:rPr>
              <a:t>Automata</a:t>
            </a:r>
          </a:p>
          <a:p>
            <a:pPr lvl="1"/>
            <a:r>
              <a:rPr lang="en-US" sz="2000">
                <a:solidFill>
                  <a:schemeClr val="bg1"/>
                </a:solidFill>
              </a:rPr>
              <a:t>Frankenstein</a:t>
            </a:r>
          </a:p>
          <a:p>
            <a:pPr lvl="1"/>
            <a:endParaRPr lang="en-US" sz="2000">
              <a:solidFill>
                <a:schemeClr val="bg1"/>
              </a:solidFill>
            </a:endParaRPr>
          </a:p>
          <a:p>
            <a:endParaRPr lang="en-US" sz="2000">
              <a:solidFill>
                <a:schemeClr val="bg1"/>
              </a:solidFill>
            </a:endParaRPr>
          </a:p>
        </p:txBody>
      </p:sp>
    </p:spTree>
    <p:extLst>
      <p:ext uri="{BB962C8B-B14F-4D97-AF65-F5344CB8AC3E}">
        <p14:creationId xmlns:p14="http://schemas.microsoft.com/office/powerpoint/2010/main" val="2963230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BCDE-48CA-13FF-ED82-473763136B01}"/>
              </a:ext>
            </a:extLst>
          </p:cNvPr>
          <p:cNvSpPr>
            <a:spLocks noGrp="1"/>
          </p:cNvSpPr>
          <p:nvPr>
            <p:ph type="title"/>
          </p:nvPr>
        </p:nvSpPr>
        <p:spPr/>
        <p:txBody>
          <a:bodyPr/>
          <a:lstStyle/>
          <a:p>
            <a:r>
              <a:rPr lang="en-US" dirty="0"/>
              <a:t>Brief History of AI</a:t>
            </a:r>
          </a:p>
        </p:txBody>
      </p:sp>
      <p:sp>
        <p:nvSpPr>
          <p:cNvPr id="3" name="Content Placeholder 2">
            <a:extLst>
              <a:ext uri="{FF2B5EF4-FFF2-40B4-BE49-F238E27FC236}">
                <a16:creationId xmlns:a16="http://schemas.microsoft.com/office/drawing/2014/main" id="{FA285D0B-1A24-FCD7-50CC-9A996C3392C6}"/>
              </a:ext>
            </a:extLst>
          </p:cNvPr>
          <p:cNvSpPr>
            <a:spLocks noGrp="1"/>
          </p:cNvSpPr>
          <p:nvPr>
            <p:ph idx="1"/>
          </p:nvPr>
        </p:nvSpPr>
        <p:spPr>
          <a:xfrm>
            <a:off x="838200" y="1825625"/>
            <a:ext cx="4430486" cy="4836432"/>
          </a:xfrm>
        </p:spPr>
        <p:txBody>
          <a:bodyPr>
            <a:normAutofit fontScale="92500" lnSpcReduction="10000"/>
          </a:bodyPr>
          <a:lstStyle/>
          <a:p>
            <a:r>
              <a:rPr lang="en-US" dirty="0"/>
              <a:t>Great logicians: </a:t>
            </a:r>
          </a:p>
          <a:p>
            <a:pPr lvl="1"/>
            <a:r>
              <a:rPr lang="en-US" dirty="0"/>
              <a:t>Al Khwarizmi</a:t>
            </a:r>
          </a:p>
          <a:p>
            <a:pPr lvl="1"/>
            <a:r>
              <a:rPr lang="en-US" dirty="0"/>
              <a:t>Leibniz</a:t>
            </a:r>
          </a:p>
          <a:p>
            <a:r>
              <a:rPr lang="en-US" dirty="0"/>
              <a:t>Formalization of the laws of logic</a:t>
            </a:r>
          </a:p>
          <a:p>
            <a:pPr lvl="1"/>
            <a:r>
              <a:rPr lang="en-US" dirty="0"/>
              <a:t>Boolean logic</a:t>
            </a:r>
          </a:p>
          <a:p>
            <a:r>
              <a:rPr lang="en-US" dirty="0"/>
              <a:t>Turing’s machine</a:t>
            </a:r>
          </a:p>
          <a:p>
            <a:pPr lvl="1"/>
            <a:r>
              <a:rPr lang="en-US" dirty="0"/>
              <a:t>Limitations to machine representation of logic</a:t>
            </a:r>
          </a:p>
          <a:p>
            <a:pPr lvl="1"/>
            <a:r>
              <a:rPr lang="en-US" dirty="0"/>
              <a:t>Within that, all problems mathematically representable</a:t>
            </a:r>
          </a:p>
          <a:p>
            <a:pPr lvl="1"/>
            <a:r>
              <a:rPr lang="en-US" dirty="0"/>
              <a:t>Outlined the theoretical capabilities of a computer</a:t>
            </a:r>
          </a:p>
          <a:p>
            <a:endParaRPr lang="en-US" dirty="0"/>
          </a:p>
          <a:p>
            <a:pPr lvl="1"/>
            <a:endParaRPr lang="en-US" dirty="0"/>
          </a:p>
        </p:txBody>
      </p:sp>
      <p:pic>
        <p:nvPicPr>
          <p:cNvPr id="7172" name="Picture 4" descr="Chest-length metal statue of bearded man in robes and turban holding a book and a cubic model.">
            <a:extLst>
              <a:ext uri="{FF2B5EF4-FFF2-40B4-BE49-F238E27FC236}">
                <a16:creationId xmlns:a16="http://schemas.microsoft.com/office/drawing/2014/main" id="{0470ED05-6909-F7BB-D3A5-A4DE6EA44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4543" y="151800"/>
            <a:ext cx="2889793" cy="38494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8F19184-E07B-CE8C-BD22-E8385B32B12A}"/>
              </a:ext>
            </a:extLst>
          </p:cNvPr>
          <p:cNvPicPr>
            <a:picLocks noChangeAspect="1"/>
          </p:cNvPicPr>
          <p:nvPr/>
        </p:nvPicPr>
        <p:blipFill>
          <a:blip r:embed="rId4"/>
          <a:stretch>
            <a:fillRect/>
          </a:stretch>
        </p:blipFill>
        <p:spPr>
          <a:xfrm>
            <a:off x="5372666" y="4298156"/>
            <a:ext cx="3562847" cy="1629002"/>
          </a:xfrm>
          <a:prstGeom prst="rect">
            <a:avLst/>
          </a:prstGeom>
        </p:spPr>
      </p:pic>
      <p:pic>
        <p:nvPicPr>
          <p:cNvPr id="7" name="Picture 6">
            <a:extLst>
              <a:ext uri="{FF2B5EF4-FFF2-40B4-BE49-F238E27FC236}">
                <a16:creationId xmlns:a16="http://schemas.microsoft.com/office/drawing/2014/main" id="{071CE495-4BF8-DB57-4524-3D53DDC98A9B}"/>
              </a:ext>
            </a:extLst>
          </p:cNvPr>
          <p:cNvPicPr>
            <a:picLocks noChangeAspect="1"/>
          </p:cNvPicPr>
          <p:nvPr/>
        </p:nvPicPr>
        <p:blipFill>
          <a:blip r:embed="rId5"/>
          <a:stretch>
            <a:fillRect/>
          </a:stretch>
        </p:blipFill>
        <p:spPr>
          <a:xfrm>
            <a:off x="8964543" y="4188507"/>
            <a:ext cx="2897840" cy="2209346"/>
          </a:xfrm>
          <a:prstGeom prst="rect">
            <a:avLst/>
          </a:prstGeom>
        </p:spPr>
      </p:pic>
    </p:spTree>
    <p:extLst>
      <p:ext uri="{BB962C8B-B14F-4D97-AF65-F5344CB8AC3E}">
        <p14:creationId xmlns:p14="http://schemas.microsoft.com/office/powerpoint/2010/main" val="1555743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17F5-3486-2A78-8D58-10E57CA2D35B}"/>
              </a:ext>
            </a:extLst>
          </p:cNvPr>
          <p:cNvSpPr>
            <a:spLocks noGrp="1"/>
          </p:cNvSpPr>
          <p:nvPr>
            <p:ph type="title"/>
          </p:nvPr>
        </p:nvSpPr>
        <p:spPr/>
        <p:txBody>
          <a:bodyPr/>
          <a:lstStyle/>
          <a:p>
            <a:r>
              <a:rPr lang="en-US" dirty="0"/>
              <a:t>Aside: Logic Gates</a:t>
            </a:r>
          </a:p>
        </p:txBody>
      </p:sp>
      <p:pic>
        <p:nvPicPr>
          <p:cNvPr id="5" name="Picture 4">
            <a:extLst>
              <a:ext uri="{FF2B5EF4-FFF2-40B4-BE49-F238E27FC236}">
                <a16:creationId xmlns:a16="http://schemas.microsoft.com/office/drawing/2014/main" id="{C71EE35E-28FB-5C03-EBC1-BDDC7072AAAC}"/>
              </a:ext>
            </a:extLst>
          </p:cNvPr>
          <p:cNvPicPr>
            <a:picLocks noChangeAspect="1"/>
          </p:cNvPicPr>
          <p:nvPr/>
        </p:nvPicPr>
        <p:blipFill>
          <a:blip r:embed="rId2"/>
          <a:srcRect l="7861" t="10543" r="6812" b="10545"/>
          <a:stretch>
            <a:fillRect/>
          </a:stretch>
        </p:blipFill>
        <p:spPr>
          <a:xfrm>
            <a:off x="968828" y="1838346"/>
            <a:ext cx="2064657" cy="1105054"/>
          </a:xfrm>
          <a:prstGeom prst="rect">
            <a:avLst/>
          </a:prstGeom>
        </p:spPr>
      </p:pic>
      <p:sp>
        <p:nvSpPr>
          <p:cNvPr id="6" name="TextBox 5">
            <a:extLst>
              <a:ext uri="{FF2B5EF4-FFF2-40B4-BE49-F238E27FC236}">
                <a16:creationId xmlns:a16="http://schemas.microsoft.com/office/drawing/2014/main" id="{DAFC9038-0CBF-36A9-9638-F61F0C34D51D}"/>
              </a:ext>
            </a:extLst>
          </p:cNvPr>
          <p:cNvSpPr txBox="1"/>
          <p:nvPr/>
        </p:nvSpPr>
        <p:spPr>
          <a:xfrm>
            <a:off x="1553028" y="3091058"/>
            <a:ext cx="1480457" cy="369332"/>
          </a:xfrm>
          <a:prstGeom prst="rect">
            <a:avLst/>
          </a:prstGeom>
          <a:noFill/>
        </p:spPr>
        <p:txBody>
          <a:bodyPr wrap="square" rtlCol="0">
            <a:spAutoFit/>
          </a:bodyPr>
          <a:lstStyle/>
          <a:p>
            <a:r>
              <a:rPr lang="en-US" dirty="0"/>
              <a:t>AND</a:t>
            </a:r>
          </a:p>
        </p:txBody>
      </p:sp>
      <p:pic>
        <p:nvPicPr>
          <p:cNvPr id="8" name="Picture 7">
            <a:extLst>
              <a:ext uri="{FF2B5EF4-FFF2-40B4-BE49-F238E27FC236}">
                <a16:creationId xmlns:a16="http://schemas.microsoft.com/office/drawing/2014/main" id="{D9A316DB-BFBC-FB2C-B8A6-2E39549621E9}"/>
              </a:ext>
            </a:extLst>
          </p:cNvPr>
          <p:cNvPicPr>
            <a:picLocks noChangeAspect="1"/>
          </p:cNvPicPr>
          <p:nvPr/>
        </p:nvPicPr>
        <p:blipFill>
          <a:blip r:embed="rId3"/>
          <a:stretch>
            <a:fillRect/>
          </a:stretch>
        </p:blipFill>
        <p:spPr>
          <a:xfrm>
            <a:off x="1196199" y="3925730"/>
            <a:ext cx="1381318" cy="2257740"/>
          </a:xfrm>
          <a:prstGeom prst="rect">
            <a:avLst/>
          </a:prstGeom>
        </p:spPr>
      </p:pic>
      <p:pic>
        <p:nvPicPr>
          <p:cNvPr id="10" name="Picture 9">
            <a:extLst>
              <a:ext uri="{FF2B5EF4-FFF2-40B4-BE49-F238E27FC236}">
                <a16:creationId xmlns:a16="http://schemas.microsoft.com/office/drawing/2014/main" id="{A14DA6E8-0988-29F1-4E61-3795F21FB602}"/>
              </a:ext>
            </a:extLst>
          </p:cNvPr>
          <p:cNvPicPr>
            <a:picLocks noChangeAspect="1"/>
          </p:cNvPicPr>
          <p:nvPr/>
        </p:nvPicPr>
        <p:blipFill>
          <a:blip r:embed="rId4"/>
          <a:srcRect t="13250" b="14701"/>
          <a:stretch>
            <a:fillRect/>
          </a:stretch>
        </p:blipFill>
        <p:spPr>
          <a:xfrm>
            <a:off x="3661228" y="1827217"/>
            <a:ext cx="1971950" cy="1105054"/>
          </a:xfrm>
          <a:prstGeom prst="rect">
            <a:avLst/>
          </a:prstGeom>
        </p:spPr>
      </p:pic>
      <p:sp>
        <p:nvSpPr>
          <p:cNvPr id="11" name="TextBox 10">
            <a:extLst>
              <a:ext uri="{FF2B5EF4-FFF2-40B4-BE49-F238E27FC236}">
                <a16:creationId xmlns:a16="http://schemas.microsoft.com/office/drawing/2014/main" id="{51DA04E2-DEB7-EDD7-223C-B7CBE5E643C7}"/>
              </a:ext>
            </a:extLst>
          </p:cNvPr>
          <p:cNvSpPr txBox="1"/>
          <p:nvPr/>
        </p:nvSpPr>
        <p:spPr>
          <a:xfrm>
            <a:off x="4355921" y="3091058"/>
            <a:ext cx="1277257" cy="369332"/>
          </a:xfrm>
          <a:prstGeom prst="rect">
            <a:avLst/>
          </a:prstGeom>
          <a:noFill/>
        </p:spPr>
        <p:txBody>
          <a:bodyPr wrap="square" rtlCol="0">
            <a:spAutoFit/>
          </a:bodyPr>
          <a:lstStyle/>
          <a:p>
            <a:r>
              <a:rPr lang="en-US" dirty="0"/>
              <a:t>OR</a:t>
            </a:r>
          </a:p>
        </p:txBody>
      </p:sp>
      <p:pic>
        <p:nvPicPr>
          <p:cNvPr id="13" name="Picture 12">
            <a:extLst>
              <a:ext uri="{FF2B5EF4-FFF2-40B4-BE49-F238E27FC236}">
                <a16:creationId xmlns:a16="http://schemas.microsoft.com/office/drawing/2014/main" id="{4FAF2DCB-4962-4C2B-FCA7-E33A0823DC4A}"/>
              </a:ext>
            </a:extLst>
          </p:cNvPr>
          <p:cNvPicPr>
            <a:picLocks noChangeAspect="1"/>
          </p:cNvPicPr>
          <p:nvPr/>
        </p:nvPicPr>
        <p:blipFill>
          <a:blip r:embed="rId5"/>
          <a:stretch>
            <a:fillRect/>
          </a:stretch>
        </p:blipFill>
        <p:spPr>
          <a:xfrm>
            <a:off x="3966070" y="3925730"/>
            <a:ext cx="1362265" cy="2267266"/>
          </a:xfrm>
          <a:prstGeom prst="rect">
            <a:avLst/>
          </a:prstGeom>
        </p:spPr>
      </p:pic>
      <p:pic>
        <p:nvPicPr>
          <p:cNvPr id="15" name="Picture 14">
            <a:extLst>
              <a:ext uri="{FF2B5EF4-FFF2-40B4-BE49-F238E27FC236}">
                <a16:creationId xmlns:a16="http://schemas.microsoft.com/office/drawing/2014/main" id="{3CA0820D-6145-BC67-7127-1A7178C3750C}"/>
              </a:ext>
            </a:extLst>
          </p:cNvPr>
          <p:cNvPicPr>
            <a:picLocks noChangeAspect="1"/>
          </p:cNvPicPr>
          <p:nvPr/>
        </p:nvPicPr>
        <p:blipFill>
          <a:blip r:embed="rId6"/>
          <a:stretch>
            <a:fillRect/>
          </a:stretch>
        </p:blipFill>
        <p:spPr>
          <a:xfrm>
            <a:off x="6260921" y="1838346"/>
            <a:ext cx="2229161" cy="1105054"/>
          </a:xfrm>
          <a:prstGeom prst="rect">
            <a:avLst/>
          </a:prstGeom>
        </p:spPr>
      </p:pic>
      <p:sp>
        <p:nvSpPr>
          <p:cNvPr id="16" name="TextBox 15">
            <a:extLst>
              <a:ext uri="{FF2B5EF4-FFF2-40B4-BE49-F238E27FC236}">
                <a16:creationId xmlns:a16="http://schemas.microsoft.com/office/drawing/2014/main" id="{FF7D3E24-FB17-DEE9-A588-F458F47BB1DA}"/>
              </a:ext>
            </a:extLst>
          </p:cNvPr>
          <p:cNvSpPr txBox="1"/>
          <p:nvPr/>
        </p:nvSpPr>
        <p:spPr>
          <a:xfrm>
            <a:off x="6955614" y="3091058"/>
            <a:ext cx="1277257" cy="369332"/>
          </a:xfrm>
          <a:prstGeom prst="rect">
            <a:avLst/>
          </a:prstGeom>
          <a:noFill/>
        </p:spPr>
        <p:txBody>
          <a:bodyPr wrap="square" rtlCol="0">
            <a:spAutoFit/>
          </a:bodyPr>
          <a:lstStyle/>
          <a:p>
            <a:r>
              <a:rPr lang="en-US" dirty="0"/>
              <a:t>XOR</a:t>
            </a:r>
          </a:p>
        </p:txBody>
      </p:sp>
      <p:pic>
        <p:nvPicPr>
          <p:cNvPr id="18" name="Picture 17">
            <a:extLst>
              <a:ext uri="{FF2B5EF4-FFF2-40B4-BE49-F238E27FC236}">
                <a16:creationId xmlns:a16="http://schemas.microsoft.com/office/drawing/2014/main" id="{87AD0FB7-5D40-E308-6B17-D8C5BEB4C039}"/>
              </a:ext>
            </a:extLst>
          </p:cNvPr>
          <p:cNvPicPr>
            <a:picLocks noChangeAspect="1"/>
          </p:cNvPicPr>
          <p:nvPr/>
        </p:nvPicPr>
        <p:blipFill>
          <a:blip r:embed="rId7"/>
          <a:stretch>
            <a:fillRect/>
          </a:stretch>
        </p:blipFill>
        <p:spPr>
          <a:xfrm>
            <a:off x="6680079" y="3882861"/>
            <a:ext cx="1390844" cy="2343477"/>
          </a:xfrm>
          <a:prstGeom prst="rect">
            <a:avLst/>
          </a:prstGeom>
        </p:spPr>
      </p:pic>
      <p:pic>
        <p:nvPicPr>
          <p:cNvPr id="20" name="Picture 19">
            <a:extLst>
              <a:ext uri="{FF2B5EF4-FFF2-40B4-BE49-F238E27FC236}">
                <a16:creationId xmlns:a16="http://schemas.microsoft.com/office/drawing/2014/main" id="{91E1FBEE-A142-960D-944E-7A840EAB8D1C}"/>
              </a:ext>
            </a:extLst>
          </p:cNvPr>
          <p:cNvPicPr>
            <a:picLocks noChangeAspect="1"/>
          </p:cNvPicPr>
          <p:nvPr/>
        </p:nvPicPr>
        <p:blipFill>
          <a:blip r:embed="rId8"/>
          <a:stretch>
            <a:fillRect/>
          </a:stretch>
        </p:blipFill>
        <p:spPr>
          <a:xfrm>
            <a:off x="9027324" y="1838346"/>
            <a:ext cx="2114845" cy="1124107"/>
          </a:xfrm>
          <a:prstGeom prst="rect">
            <a:avLst/>
          </a:prstGeom>
        </p:spPr>
      </p:pic>
      <p:pic>
        <p:nvPicPr>
          <p:cNvPr id="22" name="Picture 21">
            <a:extLst>
              <a:ext uri="{FF2B5EF4-FFF2-40B4-BE49-F238E27FC236}">
                <a16:creationId xmlns:a16="http://schemas.microsoft.com/office/drawing/2014/main" id="{A16A2AD6-7BB4-B85E-6936-E9996D232411}"/>
              </a:ext>
            </a:extLst>
          </p:cNvPr>
          <p:cNvPicPr>
            <a:picLocks noChangeAspect="1"/>
          </p:cNvPicPr>
          <p:nvPr/>
        </p:nvPicPr>
        <p:blipFill>
          <a:blip r:embed="rId9"/>
          <a:stretch>
            <a:fillRect/>
          </a:stretch>
        </p:blipFill>
        <p:spPr>
          <a:xfrm>
            <a:off x="9422666" y="3930492"/>
            <a:ext cx="1324160" cy="2248214"/>
          </a:xfrm>
          <a:prstGeom prst="rect">
            <a:avLst/>
          </a:prstGeom>
        </p:spPr>
      </p:pic>
      <p:sp>
        <p:nvSpPr>
          <p:cNvPr id="23" name="TextBox 22">
            <a:extLst>
              <a:ext uri="{FF2B5EF4-FFF2-40B4-BE49-F238E27FC236}">
                <a16:creationId xmlns:a16="http://schemas.microsoft.com/office/drawing/2014/main" id="{DD5258B6-C4E9-C4E1-A0AA-DBDCD87C7D09}"/>
              </a:ext>
            </a:extLst>
          </p:cNvPr>
          <p:cNvSpPr txBox="1"/>
          <p:nvPr/>
        </p:nvSpPr>
        <p:spPr>
          <a:xfrm>
            <a:off x="9701895" y="3059668"/>
            <a:ext cx="1324160" cy="369332"/>
          </a:xfrm>
          <a:prstGeom prst="rect">
            <a:avLst/>
          </a:prstGeom>
          <a:noFill/>
        </p:spPr>
        <p:txBody>
          <a:bodyPr wrap="square" rtlCol="0">
            <a:spAutoFit/>
          </a:bodyPr>
          <a:lstStyle/>
          <a:p>
            <a:r>
              <a:rPr lang="en-US" dirty="0"/>
              <a:t>IMPLY</a:t>
            </a:r>
          </a:p>
        </p:txBody>
      </p:sp>
      <p:cxnSp>
        <p:nvCxnSpPr>
          <p:cNvPr id="25" name="Straight Connector 24">
            <a:extLst>
              <a:ext uri="{FF2B5EF4-FFF2-40B4-BE49-F238E27FC236}">
                <a16:creationId xmlns:a16="http://schemas.microsoft.com/office/drawing/2014/main" id="{E24076F9-9626-2D15-A967-7056FEC6580E}"/>
              </a:ext>
            </a:extLst>
          </p:cNvPr>
          <p:cNvCxnSpPr>
            <a:stCxn id="2" idx="0"/>
          </p:cNvCxnSpPr>
          <p:nvPr/>
        </p:nvCxnSpPr>
        <p:spPr>
          <a:xfrm>
            <a:off x="6096000" y="365125"/>
            <a:ext cx="0" cy="62388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 name="Picture 3">
            <a:extLst>
              <a:ext uri="{FF2B5EF4-FFF2-40B4-BE49-F238E27FC236}">
                <a16:creationId xmlns:a16="http://schemas.microsoft.com/office/drawing/2014/main" id="{64179DD6-8FC1-A31F-BD4A-4F474899F21C}"/>
              </a:ext>
            </a:extLst>
          </p:cNvPr>
          <p:cNvPicPr>
            <a:picLocks noChangeAspect="1"/>
          </p:cNvPicPr>
          <p:nvPr/>
        </p:nvPicPr>
        <p:blipFill>
          <a:blip r:embed="rId10"/>
          <a:stretch>
            <a:fillRect/>
          </a:stretch>
        </p:blipFill>
        <p:spPr>
          <a:xfrm>
            <a:off x="1552563" y="1874071"/>
            <a:ext cx="3481813" cy="4352267"/>
          </a:xfrm>
          <a:prstGeom prst="rect">
            <a:avLst/>
          </a:prstGeom>
        </p:spPr>
      </p:pic>
    </p:spTree>
    <p:extLst>
      <p:ext uri="{BB962C8B-B14F-4D97-AF65-F5344CB8AC3E}">
        <p14:creationId xmlns:p14="http://schemas.microsoft.com/office/powerpoint/2010/main" val="273515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7FFF-F0AC-D100-E654-2142D0AAAB54}"/>
              </a:ext>
            </a:extLst>
          </p:cNvPr>
          <p:cNvSpPr>
            <a:spLocks noGrp="1"/>
          </p:cNvSpPr>
          <p:nvPr>
            <p:ph type="title"/>
          </p:nvPr>
        </p:nvSpPr>
        <p:spPr/>
        <p:txBody>
          <a:bodyPr/>
          <a:lstStyle/>
          <a:p>
            <a:r>
              <a:rPr lang="en-US" dirty="0"/>
              <a:t>Brief History of AI</a:t>
            </a:r>
          </a:p>
        </p:txBody>
      </p:sp>
      <p:sp>
        <p:nvSpPr>
          <p:cNvPr id="3" name="Content Placeholder 2">
            <a:extLst>
              <a:ext uri="{FF2B5EF4-FFF2-40B4-BE49-F238E27FC236}">
                <a16:creationId xmlns:a16="http://schemas.microsoft.com/office/drawing/2014/main" id="{32F8E91C-27AA-C9F4-F2B0-C02C681EC4EB}"/>
              </a:ext>
            </a:extLst>
          </p:cNvPr>
          <p:cNvSpPr>
            <a:spLocks noGrp="1"/>
          </p:cNvSpPr>
          <p:nvPr>
            <p:ph idx="1"/>
          </p:nvPr>
        </p:nvSpPr>
        <p:spPr>
          <a:xfrm>
            <a:off x="838200" y="1825625"/>
            <a:ext cx="5257800" cy="4351338"/>
          </a:xfrm>
        </p:spPr>
        <p:txBody>
          <a:bodyPr/>
          <a:lstStyle/>
          <a:p>
            <a:r>
              <a:rPr lang="en-US" dirty="0"/>
              <a:t>Realization of Turing’s machine</a:t>
            </a:r>
          </a:p>
          <a:p>
            <a:pPr lvl="1"/>
            <a:r>
              <a:rPr lang="en-US" dirty="0"/>
              <a:t>Current state, input can perform certain transitions to new state</a:t>
            </a:r>
          </a:p>
          <a:p>
            <a:pPr lvl="1"/>
            <a:r>
              <a:rPr lang="en-US" dirty="0"/>
              <a:t>Stored program computer</a:t>
            </a:r>
          </a:p>
          <a:p>
            <a:r>
              <a:rPr lang="en-US" dirty="0"/>
              <a:t>Supercomputers in the 1940s</a:t>
            </a:r>
          </a:p>
          <a:p>
            <a:pPr lvl="1"/>
            <a:r>
              <a:rPr lang="en-US" dirty="0"/>
              <a:t>Colossal machines meant to replicate Turing’s machine</a:t>
            </a:r>
          </a:p>
          <a:p>
            <a:r>
              <a:rPr lang="en-US" dirty="0"/>
              <a:t>In the 1960s, first applications to medicine begin.</a:t>
            </a:r>
          </a:p>
        </p:txBody>
      </p:sp>
      <p:pic>
        <p:nvPicPr>
          <p:cNvPr id="8194" name="Picture 2" descr="undefined">
            <a:extLst>
              <a:ext uri="{FF2B5EF4-FFF2-40B4-BE49-F238E27FC236}">
                <a16:creationId xmlns:a16="http://schemas.microsoft.com/office/drawing/2014/main" id="{F3F3D5EA-0B0E-D319-F144-AEA205862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8113" y="111125"/>
            <a:ext cx="4572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5DF740DF-1103-AB97-6DB0-65EE329D2C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8112" y="3540125"/>
            <a:ext cx="4571999" cy="3310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220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1ECAB1E8-8195-4748-BE71-FF806D868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249" name="!!text rectangle">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42D85B-B04B-807F-DCE0-2090BEC8BA3B}"/>
              </a:ext>
            </a:extLst>
          </p:cNvPr>
          <p:cNvSpPr>
            <a:spLocks noGrp="1"/>
          </p:cNvSpPr>
          <p:nvPr>
            <p:ph type="title"/>
          </p:nvPr>
        </p:nvSpPr>
        <p:spPr>
          <a:xfrm>
            <a:off x="841247" y="978619"/>
            <a:ext cx="3410712" cy="1106424"/>
          </a:xfrm>
        </p:spPr>
        <p:txBody>
          <a:bodyPr>
            <a:normAutofit/>
          </a:bodyPr>
          <a:lstStyle/>
          <a:p>
            <a:r>
              <a:rPr lang="en-US" sz="2800"/>
              <a:t>1960s: ELIZA</a:t>
            </a:r>
          </a:p>
        </p:txBody>
      </p:sp>
      <p:sp>
        <p:nvSpPr>
          <p:cNvPr id="10251" name="!!accent">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253" name="Rectangle 10252">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4758999-1678-D313-3002-605CF4F09378}"/>
              </a:ext>
            </a:extLst>
          </p:cNvPr>
          <p:cNvSpPr>
            <a:spLocks noGrp="1"/>
          </p:cNvSpPr>
          <p:nvPr>
            <p:ph idx="1"/>
          </p:nvPr>
        </p:nvSpPr>
        <p:spPr>
          <a:xfrm>
            <a:off x="841247" y="2359152"/>
            <a:ext cx="3410712" cy="3425043"/>
          </a:xfrm>
        </p:spPr>
        <p:txBody>
          <a:bodyPr>
            <a:normAutofit/>
          </a:bodyPr>
          <a:lstStyle/>
          <a:p>
            <a:r>
              <a:rPr lang="en-US" sz="1700" dirty="0"/>
              <a:t>First “chatterbot”</a:t>
            </a:r>
          </a:p>
          <a:p>
            <a:r>
              <a:rPr lang="en-US" sz="1700" dirty="0"/>
              <a:t>Psychotherapy bot</a:t>
            </a:r>
          </a:p>
          <a:p>
            <a:r>
              <a:rPr lang="en-US" sz="1700" dirty="0"/>
              <a:t>Looks for keywords, then flips question back to user</a:t>
            </a:r>
          </a:p>
          <a:p>
            <a:pPr lvl="1"/>
            <a:r>
              <a:rPr lang="en-US" sz="1300" dirty="0"/>
              <a:t>Logic to restructure sentences, ask questions based on certain keywords</a:t>
            </a:r>
          </a:p>
          <a:p>
            <a:r>
              <a:rPr lang="en-US" sz="1700" dirty="0"/>
              <a:t>First time Turing test was passed</a:t>
            </a:r>
          </a:p>
        </p:txBody>
      </p:sp>
      <p:pic>
        <p:nvPicPr>
          <p:cNvPr id="10242" name="Picture 2" descr="Screenshot showing a terminal-based conversation with the ELIZA program">
            <a:extLst>
              <a:ext uri="{FF2B5EF4-FFF2-40B4-BE49-F238E27FC236}">
                <a16:creationId xmlns:a16="http://schemas.microsoft.com/office/drawing/2014/main" id="{CFD9529D-42DA-9133-AB97-2438F8E3D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1442" b="3"/>
          <a:stretch>
            <a:fillRect/>
          </a:stretch>
        </p:blipFill>
        <p:spPr bwMode="auto">
          <a:xfrm>
            <a:off x="5124450" y="634382"/>
            <a:ext cx="6657213" cy="5495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138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3A6D-E69F-D1FC-6124-4B9211DB16EF}"/>
              </a:ext>
            </a:extLst>
          </p:cNvPr>
          <p:cNvSpPr>
            <a:spLocks noGrp="1"/>
          </p:cNvSpPr>
          <p:nvPr>
            <p:ph type="title"/>
          </p:nvPr>
        </p:nvSpPr>
        <p:spPr/>
        <p:txBody>
          <a:bodyPr/>
          <a:lstStyle/>
          <a:p>
            <a:r>
              <a:rPr lang="en-US" dirty="0"/>
              <a:t>1970’s: MYCIN system</a:t>
            </a:r>
          </a:p>
        </p:txBody>
      </p:sp>
      <p:sp>
        <p:nvSpPr>
          <p:cNvPr id="3" name="Content Placeholder 2">
            <a:extLst>
              <a:ext uri="{FF2B5EF4-FFF2-40B4-BE49-F238E27FC236}">
                <a16:creationId xmlns:a16="http://schemas.microsoft.com/office/drawing/2014/main" id="{22D0EFE2-3C7A-FFA3-B059-E0C62DF20AB8}"/>
              </a:ext>
            </a:extLst>
          </p:cNvPr>
          <p:cNvSpPr>
            <a:spLocks noGrp="1"/>
          </p:cNvSpPr>
          <p:nvPr>
            <p:ph idx="1"/>
          </p:nvPr>
        </p:nvSpPr>
        <p:spPr>
          <a:xfrm>
            <a:off x="-203451" y="1477282"/>
            <a:ext cx="6491514" cy="4351338"/>
          </a:xfrm>
        </p:spPr>
        <p:txBody>
          <a:bodyPr/>
          <a:lstStyle/>
          <a:p>
            <a:pPr lvl="1"/>
            <a:r>
              <a:rPr lang="en-US" dirty="0"/>
              <a:t>1970’s (Stanford): MYCIN expert </a:t>
            </a:r>
          </a:p>
          <a:p>
            <a:pPr lvl="1"/>
            <a:r>
              <a:rPr lang="en-US" dirty="0"/>
              <a:t>System for identifying bacteremia</a:t>
            </a:r>
          </a:p>
          <a:p>
            <a:pPr lvl="1"/>
            <a:r>
              <a:rPr lang="en-US" dirty="0"/>
              <a:t>Proposed a good therapy in ~69% of cases. </a:t>
            </a:r>
          </a:p>
        </p:txBody>
      </p:sp>
      <p:sp>
        <p:nvSpPr>
          <p:cNvPr id="4" name="TextBox 3">
            <a:extLst>
              <a:ext uri="{FF2B5EF4-FFF2-40B4-BE49-F238E27FC236}">
                <a16:creationId xmlns:a16="http://schemas.microsoft.com/office/drawing/2014/main" id="{32B0C6D1-D934-4062-3808-E5995FAB1C75}"/>
              </a:ext>
            </a:extLst>
          </p:cNvPr>
          <p:cNvSpPr txBox="1"/>
          <p:nvPr/>
        </p:nvSpPr>
        <p:spPr>
          <a:xfrm>
            <a:off x="8857343" y="6565446"/>
            <a:ext cx="4992914" cy="276999"/>
          </a:xfrm>
          <a:prstGeom prst="rect">
            <a:avLst/>
          </a:prstGeom>
          <a:noFill/>
        </p:spPr>
        <p:txBody>
          <a:bodyPr wrap="square" rtlCol="0">
            <a:spAutoFit/>
          </a:bodyPr>
          <a:lstStyle/>
          <a:p>
            <a:r>
              <a:rPr lang="en-US" sz="1200" dirty="0"/>
              <a:t>Thanks to MIT 6.S867 for these slides.</a:t>
            </a:r>
          </a:p>
        </p:txBody>
      </p:sp>
      <p:pic>
        <p:nvPicPr>
          <p:cNvPr id="6" name="Picture 5">
            <a:extLst>
              <a:ext uri="{FF2B5EF4-FFF2-40B4-BE49-F238E27FC236}">
                <a16:creationId xmlns:a16="http://schemas.microsoft.com/office/drawing/2014/main" id="{52D14795-549A-6C3D-3A7C-D6AE8B5C4C8D}"/>
              </a:ext>
            </a:extLst>
          </p:cNvPr>
          <p:cNvPicPr>
            <a:picLocks noChangeAspect="1"/>
          </p:cNvPicPr>
          <p:nvPr/>
        </p:nvPicPr>
        <p:blipFill>
          <a:blip r:embed="rId3"/>
          <a:stretch>
            <a:fillRect/>
          </a:stretch>
        </p:blipFill>
        <p:spPr>
          <a:xfrm>
            <a:off x="6288063" y="830942"/>
            <a:ext cx="5720326" cy="5196115"/>
          </a:xfrm>
          <a:prstGeom prst="rect">
            <a:avLst/>
          </a:prstGeom>
        </p:spPr>
      </p:pic>
      <p:pic>
        <p:nvPicPr>
          <p:cNvPr id="8" name="Picture 7">
            <a:extLst>
              <a:ext uri="{FF2B5EF4-FFF2-40B4-BE49-F238E27FC236}">
                <a16:creationId xmlns:a16="http://schemas.microsoft.com/office/drawing/2014/main" id="{07DFA9EF-059A-267A-8D6A-960CCCB56DB4}"/>
              </a:ext>
            </a:extLst>
          </p:cNvPr>
          <p:cNvPicPr>
            <a:picLocks noChangeAspect="1"/>
          </p:cNvPicPr>
          <p:nvPr/>
        </p:nvPicPr>
        <p:blipFill>
          <a:blip r:embed="rId4"/>
          <a:stretch>
            <a:fillRect/>
          </a:stretch>
        </p:blipFill>
        <p:spPr>
          <a:xfrm>
            <a:off x="464456" y="3428999"/>
            <a:ext cx="5439481" cy="3215648"/>
          </a:xfrm>
          <a:prstGeom prst="rect">
            <a:avLst/>
          </a:prstGeom>
        </p:spPr>
      </p:pic>
    </p:spTree>
    <p:extLst>
      <p:ext uri="{BB962C8B-B14F-4D97-AF65-F5344CB8AC3E}">
        <p14:creationId xmlns:p14="http://schemas.microsoft.com/office/powerpoint/2010/main" val="2020672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4A1B-0485-56A7-9C17-A555A4D856B8}"/>
              </a:ext>
            </a:extLst>
          </p:cNvPr>
          <p:cNvSpPr>
            <a:spLocks noGrp="1"/>
          </p:cNvSpPr>
          <p:nvPr>
            <p:ph type="title"/>
          </p:nvPr>
        </p:nvSpPr>
        <p:spPr/>
        <p:txBody>
          <a:bodyPr/>
          <a:lstStyle/>
          <a:p>
            <a:r>
              <a:rPr lang="en-US" dirty="0"/>
              <a:t>1970’s: MYCIN system</a:t>
            </a:r>
          </a:p>
        </p:txBody>
      </p:sp>
      <p:sp>
        <p:nvSpPr>
          <p:cNvPr id="4" name="TextBox 3">
            <a:extLst>
              <a:ext uri="{FF2B5EF4-FFF2-40B4-BE49-F238E27FC236}">
                <a16:creationId xmlns:a16="http://schemas.microsoft.com/office/drawing/2014/main" id="{5A4D8567-95C6-3F94-D73D-8A4CDAA9C508}"/>
              </a:ext>
            </a:extLst>
          </p:cNvPr>
          <p:cNvSpPr txBox="1"/>
          <p:nvPr/>
        </p:nvSpPr>
        <p:spPr>
          <a:xfrm>
            <a:off x="3585028" y="1459855"/>
            <a:ext cx="6749143" cy="461665"/>
          </a:xfrm>
          <a:prstGeom prst="rect">
            <a:avLst/>
          </a:prstGeom>
          <a:noFill/>
        </p:spPr>
        <p:txBody>
          <a:bodyPr wrap="square" rtlCol="0">
            <a:spAutoFit/>
          </a:bodyPr>
          <a:lstStyle/>
          <a:p>
            <a:r>
              <a:rPr lang="en-US" sz="2400" dirty="0"/>
              <a:t>If: Patient with streptococcal bacteremia</a:t>
            </a:r>
          </a:p>
        </p:txBody>
      </p:sp>
      <p:cxnSp>
        <p:nvCxnSpPr>
          <p:cNvPr id="6" name="Straight Arrow Connector 5">
            <a:extLst>
              <a:ext uri="{FF2B5EF4-FFF2-40B4-BE49-F238E27FC236}">
                <a16:creationId xmlns:a16="http://schemas.microsoft.com/office/drawing/2014/main" id="{8381346F-A0C1-2D5C-5A00-383102C69628}"/>
              </a:ext>
            </a:extLst>
          </p:cNvPr>
          <p:cNvCxnSpPr>
            <a:stCxn id="4" idx="2"/>
          </p:cNvCxnSpPr>
          <p:nvPr/>
        </p:nvCxnSpPr>
        <p:spPr>
          <a:xfrm flipH="1">
            <a:off x="4963886" y="1921520"/>
            <a:ext cx="1995714" cy="1068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17D2D186-5E27-2F91-7BE1-56A44F7577BD}"/>
              </a:ext>
            </a:extLst>
          </p:cNvPr>
          <p:cNvCxnSpPr>
            <a:stCxn id="4" idx="2"/>
          </p:cNvCxnSpPr>
          <p:nvPr/>
        </p:nvCxnSpPr>
        <p:spPr>
          <a:xfrm>
            <a:off x="6959600" y="1921520"/>
            <a:ext cx="2300514" cy="1039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EA7746C-304C-96A7-E545-AE6E5A472F80}"/>
              </a:ext>
            </a:extLst>
          </p:cNvPr>
          <p:cNvSpPr txBox="1"/>
          <p:nvPr/>
        </p:nvSpPr>
        <p:spPr>
          <a:xfrm>
            <a:off x="2569029" y="3091543"/>
            <a:ext cx="5254171" cy="461665"/>
          </a:xfrm>
          <a:prstGeom prst="rect">
            <a:avLst/>
          </a:prstGeom>
          <a:noFill/>
        </p:spPr>
        <p:txBody>
          <a:bodyPr wrap="square" rtlCol="0">
            <a:spAutoFit/>
          </a:bodyPr>
          <a:lstStyle/>
          <a:p>
            <a:r>
              <a:rPr lang="en-US" sz="2400" dirty="0"/>
              <a:t>If: patient allergic to penicillin</a:t>
            </a:r>
          </a:p>
        </p:txBody>
      </p:sp>
      <p:sp>
        <p:nvSpPr>
          <p:cNvPr id="11" name="TextBox 10">
            <a:extLst>
              <a:ext uri="{FF2B5EF4-FFF2-40B4-BE49-F238E27FC236}">
                <a16:creationId xmlns:a16="http://schemas.microsoft.com/office/drawing/2014/main" id="{68388410-284B-2EBC-7CAE-633D7BBE9D75}"/>
              </a:ext>
            </a:extLst>
          </p:cNvPr>
          <p:cNvSpPr txBox="1"/>
          <p:nvPr/>
        </p:nvSpPr>
        <p:spPr>
          <a:xfrm>
            <a:off x="7605486" y="3091543"/>
            <a:ext cx="4368800" cy="461665"/>
          </a:xfrm>
          <a:prstGeom prst="rect">
            <a:avLst/>
          </a:prstGeom>
          <a:noFill/>
        </p:spPr>
        <p:txBody>
          <a:bodyPr wrap="square" rtlCol="0">
            <a:spAutoFit/>
          </a:bodyPr>
          <a:lstStyle/>
          <a:p>
            <a:r>
              <a:rPr lang="en-US" sz="2400" dirty="0"/>
              <a:t>Back to knowledge base</a:t>
            </a:r>
          </a:p>
        </p:txBody>
      </p:sp>
      <p:cxnSp>
        <p:nvCxnSpPr>
          <p:cNvPr id="13" name="Straight Arrow Connector 12">
            <a:extLst>
              <a:ext uri="{FF2B5EF4-FFF2-40B4-BE49-F238E27FC236}">
                <a16:creationId xmlns:a16="http://schemas.microsoft.com/office/drawing/2014/main" id="{E2741D00-B527-A94D-89F5-049E441250E4}"/>
              </a:ext>
            </a:extLst>
          </p:cNvPr>
          <p:cNvCxnSpPr>
            <a:stCxn id="11" idx="0"/>
          </p:cNvCxnSpPr>
          <p:nvPr/>
        </p:nvCxnSpPr>
        <p:spPr>
          <a:xfrm flipV="1">
            <a:off x="9789886" y="2090057"/>
            <a:ext cx="2184400" cy="10014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830C7C0-7ADB-D7E7-00AF-75B43924EEC3}"/>
              </a:ext>
            </a:extLst>
          </p:cNvPr>
          <p:cNvCxnSpPr>
            <a:stCxn id="9" idx="2"/>
          </p:cNvCxnSpPr>
          <p:nvPr/>
        </p:nvCxnSpPr>
        <p:spPr>
          <a:xfrm flipH="1">
            <a:off x="3062514" y="3553208"/>
            <a:ext cx="2133601" cy="14251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D04B6BF-A9F5-E37A-7D64-7FAF66AC1D6B}"/>
              </a:ext>
            </a:extLst>
          </p:cNvPr>
          <p:cNvCxnSpPr>
            <a:stCxn id="9" idx="2"/>
          </p:cNvCxnSpPr>
          <p:nvPr/>
        </p:nvCxnSpPr>
        <p:spPr>
          <a:xfrm>
            <a:off x="5196115" y="3553208"/>
            <a:ext cx="1930399" cy="13090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D98BB3B-CABB-45CB-F6CE-202EF2126264}"/>
              </a:ext>
            </a:extLst>
          </p:cNvPr>
          <p:cNvSpPr txBox="1"/>
          <p:nvPr/>
        </p:nvSpPr>
        <p:spPr>
          <a:xfrm>
            <a:off x="3490685" y="3925500"/>
            <a:ext cx="1277257" cy="369332"/>
          </a:xfrm>
          <a:prstGeom prst="rect">
            <a:avLst/>
          </a:prstGeom>
          <a:noFill/>
        </p:spPr>
        <p:txBody>
          <a:bodyPr wrap="square" rtlCol="0">
            <a:spAutoFit/>
          </a:bodyPr>
          <a:lstStyle/>
          <a:p>
            <a:r>
              <a:rPr lang="en-US" dirty="0"/>
              <a:t>Yes</a:t>
            </a:r>
          </a:p>
        </p:txBody>
      </p:sp>
      <p:sp>
        <p:nvSpPr>
          <p:cNvPr id="19" name="TextBox 18">
            <a:extLst>
              <a:ext uri="{FF2B5EF4-FFF2-40B4-BE49-F238E27FC236}">
                <a16:creationId xmlns:a16="http://schemas.microsoft.com/office/drawing/2014/main" id="{80B63B27-7BA6-3B1B-CD16-631C6C7C37C9}"/>
              </a:ext>
            </a:extLst>
          </p:cNvPr>
          <p:cNvSpPr txBox="1"/>
          <p:nvPr/>
        </p:nvSpPr>
        <p:spPr>
          <a:xfrm>
            <a:off x="6161314" y="3899095"/>
            <a:ext cx="1277257" cy="369332"/>
          </a:xfrm>
          <a:prstGeom prst="rect">
            <a:avLst/>
          </a:prstGeom>
          <a:noFill/>
        </p:spPr>
        <p:txBody>
          <a:bodyPr wrap="square" rtlCol="0">
            <a:spAutoFit/>
          </a:bodyPr>
          <a:lstStyle/>
          <a:p>
            <a:r>
              <a:rPr lang="en-US" dirty="0"/>
              <a:t>No</a:t>
            </a:r>
          </a:p>
        </p:txBody>
      </p:sp>
      <p:sp>
        <p:nvSpPr>
          <p:cNvPr id="20" name="TextBox 19">
            <a:extLst>
              <a:ext uri="{FF2B5EF4-FFF2-40B4-BE49-F238E27FC236}">
                <a16:creationId xmlns:a16="http://schemas.microsoft.com/office/drawing/2014/main" id="{C8077223-AC33-0013-E33B-AF2518C1C7AB}"/>
              </a:ext>
            </a:extLst>
          </p:cNvPr>
          <p:cNvSpPr txBox="1"/>
          <p:nvPr/>
        </p:nvSpPr>
        <p:spPr>
          <a:xfrm>
            <a:off x="522513" y="5109029"/>
            <a:ext cx="4673602" cy="830997"/>
          </a:xfrm>
          <a:prstGeom prst="rect">
            <a:avLst/>
          </a:prstGeom>
          <a:noFill/>
        </p:spPr>
        <p:txBody>
          <a:bodyPr wrap="square" rtlCol="0">
            <a:spAutoFit/>
          </a:bodyPr>
          <a:lstStyle/>
          <a:p>
            <a:r>
              <a:rPr lang="en-US" sz="2400" dirty="0"/>
              <a:t>Then: treat with erythromycin or clindamycin</a:t>
            </a:r>
          </a:p>
        </p:txBody>
      </p:sp>
      <p:sp>
        <p:nvSpPr>
          <p:cNvPr id="21" name="TextBox 20">
            <a:extLst>
              <a:ext uri="{FF2B5EF4-FFF2-40B4-BE49-F238E27FC236}">
                <a16:creationId xmlns:a16="http://schemas.microsoft.com/office/drawing/2014/main" id="{C82B16F4-8983-8113-233F-CA52A6D945EC}"/>
              </a:ext>
            </a:extLst>
          </p:cNvPr>
          <p:cNvSpPr txBox="1"/>
          <p:nvPr/>
        </p:nvSpPr>
        <p:spPr>
          <a:xfrm>
            <a:off x="5773056" y="5062862"/>
            <a:ext cx="4673602" cy="461665"/>
          </a:xfrm>
          <a:prstGeom prst="rect">
            <a:avLst/>
          </a:prstGeom>
          <a:noFill/>
        </p:spPr>
        <p:txBody>
          <a:bodyPr wrap="square" rtlCol="0">
            <a:spAutoFit/>
          </a:bodyPr>
          <a:lstStyle/>
          <a:p>
            <a:r>
              <a:rPr lang="en-US" sz="2400" dirty="0"/>
              <a:t>Then: treat with Penicillin V</a:t>
            </a:r>
          </a:p>
        </p:txBody>
      </p:sp>
    </p:spTree>
    <p:extLst>
      <p:ext uri="{BB962C8B-B14F-4D97-AF65-F5344CB8AC3E}">
        <p14:creationId xmlns:p14="http://schemas.microsoft.com/office/powerpoint/2010/main" val="1513570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BE0DA-6855-694E-11CD-C03BA50F2A1D}"/>
              </a:ext>
            </a:extLst>
          </p:cNvPr>
          <p:cNvSpPr>
            <a:spLocks noGrp="1"/>
          </p:cNvSpPr>
          <p:nvPr>
            <p:ph type="title"/>
          </p:nvPr>
        </p:nvSpPr>
        <p:spPr/>
        <p:txBody>
          <a:bodyPr/>
          <a:lstStyle/>
          <a:p>
            <a:r>
              <a:rPr lang="en-US" dirty="0"/>
              <a:t>1980s: INTERNIST-1/Quick Medical Reference</a:t>
            </a:r>
          </a:p>
        </p:txBody>
      </p:sp>
      <p:sp>
        <p:nvSpPr>
          <p:cNvPr id="3" name="Content Placeholder 2">
            <a:extLst>
              <a:ext uri="{FF2B5EF4-FFF2-40B4-BE49-F238E27FC236}">
                <a16:creationId xmlns:a16="http://schemas.microsoft.com/office/drawing/2014/main" id="{FDC9B0EE-6B55-C2BD-D823-699126E82731}"/>
              </a:ext>
            </a:extLst>
          </p:cNvPr>
          <p:cNvSpPr>
            <a:spLocks noGrp="1"/>
          </p:cNvSpPr>
          <p:nvPr>
            <p:ph idx="1"/>
          </p:nvPr>
        </p:nvSpPr>
        <p:spPr/>
        <p:txBody>
          <a:bodyPr/>
          <a:lstStyle/>
          <a:p>
            <a:r>
              <a:rPr lang="en-US" dirty="0"/>
              <a:t>Internal Medicine diagnostic model</a:t>
            </a:r>
          </a:p>
          <a:p>
            <a:r>
              <a:rPr lang="en-US" dirty="0"/>
              <a:t>Probabilistic model relating:</a:t>
            </a:r>
          </a:p>
          <a:p>
            <a:pPr lvl="1"/>
            <a:r>
              <a:rPr lang="en-US" dirty="0"/>
              <a:t>570 disease variables</a:t>
            </a:r>
          </a:p>
          <a:p>
            <a:pPr lvl="1"/>
            <a:r>
              <a:rPr lang="en-US" dirty="0"/>
              <a:t>4075 binary (yes/no) symptom variables</a:t>
            </a:r>
          </a:p>
          <a:p>
            <a:pPr lvl="1"/>
            <a:r>
              <a:rPr lang="en-US" dirty="0"/>
              <a:t>45470 connections</a:t>
            </a:r>
          </a:p>
        </p:txBody>
      </p:sp>
      <p:sp>
        <p:nvSpPr>
          <p:cNvPr id="4" name="TextBox 3">
            <a:extLst>
              <a:ext uri="{FF2B5EF4-FFF2-40B4-BE49-F238E27FC236}">
                <a16:creationId xmlns:a16="http://schemas.microsoft.com/office/drawing/2014/main" id="{BF88718B-A395-B96A-DF45-5318BCFB9216}"/>
              </a:ext>
            </a:extLst>
          </p:cNvPr>
          <p:cNvSpPr txBox="1"/>
          <p:nvPr/>
        </p:nvSpPr>
        <p:spPr>
          <a:xfrm>
            <a:off x="8857343" y="6565446"/>
            <a:ext cx="4992914" cy="276999"/>
          </a:xfrm>
          <a:prstGeom prst="rect">
            <a:avLst/>
          </a:prstGeom>
          <a:noFill/>
        </p:spPr>
        <p:txBody>
          <a:bodyPr wrap="square" rtlCol="0">
            <a:spAutoFit/>
          </a:bodyPr>
          <a:lstStyle/>
          <a:p>
            <a:r>
              <a:rPr lang="en-US" sz="1200" dirty="0"/>
              <a:t>Thanks to MIT 6.S867 for these slides.</a:t>
            </a:r>
          </a:p>
        </p:txBody>
      </p:sp>
      <p:pic>
        <p:nvPicPr>
          <p:cNvPr id="6" name="Picture 5">
            <a:extLst>
              <a:ext uri="{FF2B5EF4-FFF2-40B4-BE49-F238E27FC236}">
                <a16:creationId xmlns:a16="http://schemas.microsoft.com/office/drawing/2014/main" id="{A3DAE1C0-1AE8-91A2-F912-BBF307D5BC24}"/>
              </a:ext>
            </a:extLst>
          </p:cNvPr>
          <p:cNvPicPr>
            <a:picLocks noChangeAspect="1"/>
          </p:cNvPicPr>
          <p:nvPr/>
        </p:nvPicPr>
        <p:blipFill>
          <a:blip r:embed="rId3"/>
          <a:stretch>
            <a:fillRect/>
          </a:stretch>
        </p:blipFill>
        <p:spPr>
          <a:xfrm>
            <a:off x="4949371" y="3590398"/>
            <a:ext cx="5910943" cy="2902477"/>
          </a:xfrm>
          <a:prstGeom prst="rect">
            <a:avLst/>
          </a:prstGeom>
        </p:spPr>
      </p:pic>
    </p:spTree>
    <p:extLst>
      <p:ext uri="{BB962C8B-B14F-4D97-AF65-F5344CB8AC3E}">
        <p14:creationId xmlns:p14="http://schemas.microsoft.com/office/powerpoint/2010/main" val="3106612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F6298-4684-14FE-7FA2-6304E9F557F6}"/>
              </a:ext>
            </a:extLst>
          </p:cNvPr>
          <p:cNvSpPr>
            <a:spLocks noGrp="1"/>
          </p:cNvSpPr>
          <p:nvPr>
            <p:ph type="title"/>
          </p:nvPr>
        </p:nvSpPr>
        <p:spPr/>
        <p:txBody>
          <a:bodyPr/>
          <a:lstStyle/>
          <a:p>
            <a:r>
              <a:rPr lang="en-US" dirty="0"/>
              <a:t>1980’s: The RX Project</a:t>
            </a:r>
          </a:p>
        </p:txBody>
      </p:sp>
      <p:sp>
        <p:nvSpPr>
          <p:cNvPr id="6" name="TextBox 5">
            <a:extLst>
              <a:ext uri="{FF2B5EF4-FFF2-40B4-BE49-F238E27FC236}">
                <a16:creationId xmlns:a16="http://schemas.microsoft.com/office/drawing/2014/main" id="{9EB2FB50-FBDE-0DA0-1F79-90E6AEAD73DF}"/>
              </a:ext>
            </a:extLst>
          </p:cNvPr>
          <p:cNvSpPr txBox="1"/>
          <p:nvPr/>
        </p:nvSpPr>
        <p:spPr>
          <a:xfrm>
            <a:off x="8857343" y="6565446"/>
            <a:ext cx="4992914" cy="276999"/>
          </a:xfrm>
          <a:prstGeom prst="rect">
            <a:avLst/>
          </a:prstGeom>
          <a:noFill/>
        </p:spPr>
        <p:txBody>
          <a:bodyPr wrap="square" rtlCol="0">
            <a:spAutoFit/>
          </a:bodyPr>
          <a:lstStyle/>
          <a:p>
            <a:r>
              <a:rPr lang="en-US" sz="1200" dirty="0"/>
              <a:t>Thanks to MIT 6.S867 for these slides.</a:t>
            </a:r>
          </a:p>
        </p:txBody>
      </p:sp>
      <p:pic>
        <p:nvPicPr>
          <p:cNvPr id="8" name="Picture 7">
            <a:extLst>
              <a:ext uri="{FF2B5EF4-FFF2-40B4-BE49-F238E27FC236}">
                <a16:creationId xmlns:a16="http://schemas.microsoft.com/office/drawing/2014/main" id="{EE5395D4-6DB6-E91E-4600-BCE80D56C4F9}"/>
              </a:ext>
            </a:extLst>
          </p:cNvPr>
          <p:cNvPicPr>
            <a:picLocks noChangeAspect="1"/>
          </p:cNvPicPr>
          <p:nvPr/>
        </p:nvPicPr>
        <p:blipFill>
          <a:blip r:embed="rId3"/>
          <a:stretch>
            <a:fillRect/>
          </a:stretch>
        </p:blipFill>
        <p:spPr>
          <a:xfrm>
            <a:off x="1466769" y="1690688"/>
            <a:ext cx="4629231" cy="3769373"/>
          </a:xfrm>
          <a:prstGeom prst="rect">
            <a:avLst/>
          </a:prstGeom>
        </p:spPr>
      </p:pic>
      <p:pic>
        <p:nvPicPr>
          <p:cNvPr id="10" name="Picture 9">
            <a:extLst>
              <a:ext uri="{FF2B5EF4-FFF2-40B4-BE49-F238E27FC236}">
                <a16:creationId xmlns:a16="http://schemas.microsoft.com/office/drawing/2014/main" id="{2496C162-461F-BD65-94BE-20D76905A7B1}"/>
              </a:ext>
            </a:extLst>
          </p:cNvPr>
          <p:cNvPicPr>
            <a:picLocks noChangeAspect="1"/>
          </p:cNvPicPr>
          <p:nvPr/>
        </p:nvPicPr>
        <p:blipFill>
          <a:blip r:embed="rId4"/>
          <a:stretch>
            <a:fillRect/>
          </a:stretch>
        </p:blipFill>
        <p:spPr>
          <a:xfrm>
            <a:off x="6512294" y="1663322"/>
            <a:ext cx="4212937" cy="3796739"/>
          </a:xfrm>
          <a:prstGeom prst="rect">
            <a:avLst/>
          </a:prstGeom>
        </p:spPr>
      </p:pic>
      <p:pic>
        <p:nvPicPr>
          <p:cNvPr id="12" name="Picture 11">
            <a:extLst>
              <a:ext uri="{FF2B5EF4-FFF2-40B4-BE49-F238E27FC236}">
                <a16:creationId xmlns:a16="http://schemas.microsoft.com/office/drawing/2014/main" id="{9D69C076-DE70-2148-E897-643FF02D2A03}"/>
              </a:ext>
            </a:extLst>
          </p:cNvPr>
          <p:cNvPicPr>
            <a:picLocks noChangeAspect="1"/>
          </p:cNvPicPr>
          <p:nvPr/>
        </p:nvPicPr>
        <p:blipFill>
          <a:blip r:embed="rId5"/>
          <a:stretch>
            <a:fillRect/>
          </a:stretch>
        </p:blipFill>
        <p:spPr>
          <a:xfrm>
            <a:off x="313045" y="1736114"/>
            <a:ext cx="11565910" cy="3723947"/>
          </a:xfrm>
          <a:prstGeom prst="rect">
            <a:avLst/>
          </a:prstGeom>
        </p:spPr>
      </p:pic>
    </p:spTree>
    <p:extLst>
      <p:ext uri="{BB962C8B-B14F-4D97-AF65-F5344CB8AC3E}">
        <p14:creationId xmlns:p14="http://schemas.microsoft.com/office/powerpoint/2010/main" val="158536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ABE37-BFB5-C6FE-D0C9-290F600D153C}"/>
              </a:ext>
            </a:extLst>
          </p:cNvPr>
          <p:cNvSpPr>
            <a:spLocks noGrp="1"/>
          </p:cNvSpPr>
          <p:nvPr>
            <p:ph type="title"/>
          </p:nvPr>
        </p:nvSpPr>
        <p:spPr/>
        <p:txBody>
          <a:bodyPr/>
          <a:lstStyle/>
          <a:p>
            <a:r>
              <a:rPr lang="en-US" dirty="0"/>
              <a:t>Trend</a:t>
            </a:r>
          </a:p>
        </p:txBody>
      </p:sp>
      <p:sp>
        <p:nvSpPr>
          <p:cNvPr id="3" name="Content Placeholder 2">
            <a:extLst>
              <a:ext uri="{FF2B5EF4-FFF2-40B4-BE49-F238E27FC236}">
                <a16:creationId xmlns:a16="http://schemas.microsoft.com/office/drawing/2014/main" id="{6AECA5A8-8734-297C-5E45-03AD17B4B40B}"/>
              </a:ext>
            </a:extLst>
          </p:cNvPr>
          <p:cNvSpPr>
            <a:spLocks noGrp="1"/>
          </p:cNvSpPr>
          <p:nvPr>
            <p:ph idx="1"/>
          </p:nvPr>
        </p:nvSpPr>
        <p:spPr/>
        <p:txBody>
          <a:bodyPr/>
          <a:lstStyle/>
          <a:p>
            <a:r>
              <a:rPr lang="en-US" dirty="0"/>
              <a:t>Notice the trend over time: moving from fixed rules to more probabilistic</a:t>
            </a:r>
          </a:p>
          <a:p>
            <a:r>
              <a:rPr lang="en-US" dirty="0"/>
              <a:t>This will continue into 21</a:t>
            </a:r>
            <a:r>
              <a:rPr lang="en-US" baseline="30000" dirty="0"/>
              <a:t>st</a:t>
            </a:r>
            <a:r>
              <a:rPr lang="en-US" dirty="0"/>
              <a:t> century as we move into next lecture</a:t>
            </a:r>
          </a:p>
          <a:p>
            <a:pPr marL="0" indent="0">
              <a:buNone/>
            </a:pPr>
            <a:endParaRPr lang="en-US" dirty="0"/>
          </a:p>
          <a:p>
            <a:r>
              <a:rPr lang="en-US" dirty="0"/>
              <a:t>What does this say about intelligence, knowledge?</a:t>
            </a:r>
          </a:p>
        </p:txBody>
      </p:sp>
    </p:spTree>
    <p:extLst>
      <p:ext uri="{BB962C8B-B14F-4D97-AF65-F5344CB8AC3E}">
        <p14:creationId xmlns:p14="http://schemas.microsoft.com/office/powerpoint/2010/main" val="3365453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DF2AF-A3C0-D6B2-5AA8-187B889F88E6}"/>
              </a:ext>
            </a:extLst>
          </p:cNvPr>
          <p:cNvSpPr>
            <a:spLocks noGrp="1"/>
          </p:cNvSpPr>
          <p:nvPr>
            <p:ph type="title"/>
          </p:nvPr>
        </p:nvSpPr>
        <p:spPr/>
        <p:txBody>
          <a:bodyPr/>
          <a:lstStyle/>
          <a:p>
            <a:r>
              <a:rPr lang="en-US" dirty="0"/>
              <a:t>Timeline</a:t>
            </a:r>
          </a:p>
        </p:txBody>
      </p:sp>
      <p:sp>
        <p:nvSpPr>
          <p:cNvPr id="4" name="TextBox 3">
            <a:extLst>
              <a:ext uri="{FF2B5EF4-FFF2-40B4-BE49-F238E27FC236}">
                <a16:creationId xmlns:a16="http://schemas.microsoft.com/office/drawing/2014/main" id="{6BA39675-5ECA-5D79-D811-016F04848253}"/>
              </a:ext>
            </a:extLst>
          </p:cNvPr>
          <p:cNvSpPr txBox="1"/>
          <p:nvPr/>
        </p:nvSpPr>
        <p:spPr>
          <a:xfrm>
            <a:off x="401665" y="3198167"/>
            <a:ext cx="1121754" cy="1200329"/>
          </a:xfrm>
          <a:prstGeom prst="rect">
            <a:avLst/>
          </a:prstGeom>
          <a:noFill/>
        </p:spPr>
        <p:txBody>
          <a:bodyPr wrap="square" rtlCol="0">
            <a:spAutoFit/>
          </a:bodyPr>
          <a:lstStyle/>
          <a:p>
            <a:r>
              <a:rPr lang="en-US" sz="2400" dirty="0"/>
              <a:t>Rules</a:t>
            </a:r>
          </a:p>
          <a:p>
            <a:endParaRPr lang="en-US" sz="2400" dirty="0"/>
          </a:p>
          <a:p>
            <a:r>
              <a:rPr lang="en-US" sz="2400" dirty="0"/>
              <a:t>1980s</a:t>
            </a:r>
          </a:p>
        </p:txBody>
      </p:sp>
      <p:sp>
        <p:nvSpPr>
          <p:cNvPr id="5" name="TextBox 4">
            <a:extLst>
              <a:ext uri="{FF2B5EF4-FFF2-40B4-BE49-F238E27FC236}">
                <a16:creationId xmlns:a16="http://schemas.microsoft.com/office/drawing/2014/main" id="{5A01D17B-18D4-1669-3D06-214EBF6A9C10}"/>
              </a:ext>
            </a:extLst>
          </p:cNvPr>
          <p:cNvSpPr txBox="1"/>
          <p:nvPr/>
        </p:nvSpPr>
        <p:spPr>
          <a:xfrm>
            <a:off x="1748664" y="3196920"/>
            <a:ext cx="2318996" cy="1200329"/>
          </a:xfrm>
          <a:prstGeom prst="rect">
            <a:avLst/>
          </a:prstGeom>
          <a:noFill/>
        </p:spPr>
        <p:txBody>
          <a:bodyPr wrap="square" rtlCol="0">
            <a:spAutoFit/>
          </a:bodyPr>
          <a:lstStyle/>
          <a:p>
            <a:pPr algn="ctr"/>
            <a:r>
              <a:rPr lang="en-US" sz="2400" dirty="0"/>
              <a:t>Probabilities</a:t>
            </a:r>
          </a:p>
          <a:p>
            <a:endParaRPr lang="en-US" sz="2400" dirty="0"/>
          </a:p>
          <a:p>
            <a:pPr algn="ctr"/>
            <a:r>
              <a:rPr lang="en-US" sz="2400" dirty="0"/>
              <a:t>1990s</a:t>
            </a:r>
          </a:p>
        </p:txBody>
      </p:sp>
      <p:sp>
        <p:nvSpPr>
          <p:cNvPr id="6" name="TextBox 5">
            <a:extLst>
              <a:ext uri="{FF2B5EF4-FFF2-40B4-BE49-F238E27FC236}">
                <a16:creationId xmlns:a16="http://schemas.microsoft.com/office/drawing/2014/main" id="{CC1E3770-7EC7-E09A-C6B2-C6F00F2EC281}"/>
              </a:ext>
            </a:extLst>
          </p:cNvPr>
          <p:cNvSpPr txBox="1"/>
          <p:nvPr/>
        </p:nvSpPr>
        <p:spPr>
          <a:xfrm>
            <a:off x="4280115" y="3198167"/>
            <a:ext cx="2318996" cy="1200329"/>
          </a:xfrm>
          <a:prstGeom prst="rect">
            <a:avLst/>
          </a:prstGeom>
          <a:noFill/>
        </p:spPr>
        <p:txBody>
          <a:bodyPr wrap="square" rtlCol="0">
            <a:spAutoFit/>
          </a:bodyPr>
          <a:lstStyle/>
          <a:p>
            <a:pPr algn="ctr"/>
            <a:r>
              <a:rPr lang="en-US" sz="2400" dirty="0"/>
              <a:t>Classical ML</a:t>
            </a:r>
          </a:p>
          <a:p>
            <a:endParaRPr lang="en-US" sz="2400" dirty="0"/>
          </a:p>
          <a:p>
            <a:pPr algn="ctr"/>
            <a:r>
              <a:rPr lang="en-US" sz="2400" dirty="0"/>
              <a:t>2000s</a:t>
            </a:r>
          </a:p>
        </p:txBody>
      </p:sp>
      <p:sp>
        <p:nvSpPr>
          <p:cNvPr id="7" name="TextBox 6">
            <a:extLst>
              <a:ext uri="{FF2B5EF4-FFF2-40B4-BE49-F238E27FC236}">
                <a16:creationId xmlns:a16="http://schemas.microsoft.com/office/drawing/2014/main" id="{714841AE-39C9-99D0-1740-A8A24B36059B}"/>
              </a:ext>
            </a:extLst>
          </p:cNvPr>
          <p:cNvSpPr txBox="1"/>
          <p:nvPr/>
        </p:nvSpPr>
        <p:spPr>
          <a:xfrm>
            <a:off x="6579030" y="3195675"/>
            <a:ext cx="2318996" cy="1200329"/>
          </a:xfrm>
          <a:prstGeom prst="rect">
            <a:avLst/>
          </a:prstGeom>
          <a:noFill/>
        </p:spPr>
        <p:txBody>
          <a:bodyPr wrap="square" rtlCol="0">
            <a:spAutoFit/>
          </a:bodyPr>
          <a:lstStyle/>
          <a:p>
            <a:pPr algn="ctr"/>
            <a:r>
              <a:rPr lang="en-US" sz="2400" dirty="0"/>
              <a:t>Deep Learning</a:t>
            </a:r>
          </a:p>
          <a:p>
            <a:pPr algn="ctr"/>
            <a:endParaRPr lang="en-US" sz="2400" dirty="0"/>
          </a:p>
          <a:p>
            <a:pPr algn="ctr"/>
            <a:r>
              <a:rPr lang="en-US" sz="2400" dirty="0"/>
              <a:t>2010s</a:t>
            </a:r>
          </a:p>
        </p:txBody>
      </p:sp>
      <p:sp>
        <p:nvSpPr>
          <p:cNvPr id="8" name="TextBox 7">
            <a:extLst>
              <a:ext uri="{FF2B5EF4-FFF2-40B4-BE49-F238E27FC236}">
                <a16:creationId xmlns:a16="http://schemas.microsoft.com/office/drawing/2014/main" id="{6C29BBFE-BDEE-7BA3-73B8-5328304654EC}"/>
              </a:ext>
            </a:extLst>
          </p:cNvPr>
          <p:cNvSpPr txBox="1"/>
          <p:nvPr/>
        </p:nvSpPr>
        <p:spPr>
          <a:xfrm>
            <a:off x="8930898" y="3198167"/>
            <a:ext cx="2832316" cy="1200329"/>
          </a:xfrm>
          <a:prstGeom prst="rect">
            <a:avLst/>
          </a:prstGeom>
          <a:noFill/>
        </p:spPr>
        <p:txBody>
          <a:bodyPr wrap="square" rtlCol="0">
            <a:spAutoFit/>
          </a:bodyPr>
          <a:lstStyle/>
          <a:p>
            <a:pPr algn="ctr"/>
            <a:r>
              <a:rPr lang="en-US" sz="2400" dirty="0"/>
              <a:t>Foundation models</a:t>
            </a:r>
          </a:p>
          <a:p>
            <a:pPr algn="ctr"/>
            <a:endParaRPr lang="en-US" sz="2400" dirty="0"/>
          </a:p>
          <a:p>
            <a:pPr algn="ctr"/>
            <a:r>
              <a:rPr lang="en-US" sz="2400" dirty="0"/>
              <a:t>2020s</a:t>
            </a:r>
          </a:p>
        </p:txBody>
      </p:sp>
      <p:cxnSp>
        <p:nvCxnSpPr>
          <p:cNvPr id="10" name="Straight Arrow Connector 9">
            <a:extLst>
              <a:ext uri="{FF2B5EF4-FFF2-40B4-BE49-F238E27FC236}">
                <a16:creationId xmlns:a16="http://schemas.microsoft.com/office/drawing/2014/main" id="{7FD538F8-6A6E-E33C-6046-602524EED6A8}"/>
              </a:ext>
            </a:extLst>
          </p:cNvPr>
          <p:cNvCxnSpPr/>
          <p:nvPr/>
        </p:nvCxnSpPr>
        <p:spPr>
          <a:xfrm>
            <a:off x="401665" y="3797085"/>
            <a:ext cx="11329262" cy="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7477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F6538-09FD-5015-2C84-8300AEAFA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EF138-103E-E68D-CBD2-D799FEFAA9E2}"/>
              </a:ext>
            </a:extLst>
          </p:cNvPr>
          <p:cNvSpPr>
            <a:spLocks noGrp="1"/>
          </p:cNvSpPr>
          <p:nvPr>
            <p:ph type="title"/>
          </p:nvPr>
        </p:nvSpPr>
        <p:spPr/>
        <p:txBody>
          <a:bodyPr/>
          <a:lstStyle/>
          <a:p>
            <a:r>
              <a:rPr lang="en-US" dirty="0"/>
              <a:t>Timeline</a:t>
            </a:r>
          </a:p>
        </p:txBody>
      </p:sp>
      <p:sp>
        <p:nvSpPr>
          <p:cNvPr id="4" name="TextBox 3">
            <a:extLst>
              <a:ext uri="{FF2B5EF4-FFF2-40B4-BE49-F238E27FC236}">
                <a16:creationId xmlns:a16="http://schemas.microsoft.com/office/drawing/2014/main" id="{9119DEEE-B67E-7D34-95C8-53E8B4026D18}"/>
              </a:ext>
            </a:extLst>
          </p:cNvPr>
          <p:cNvSpPr txBox="1"/>
          <p:nvPr/>
        </p:nvSpPr>
        <p:spPr>
          <a:xfrm>
            <a:off x="401665" y="3198167"/>
            <a:ext cx="1121754" cy="1200329"/>
          </a:xfrm>
          <a:prstGeom prst="rect">
            <a:avLst/>
          </a:prstGeom>
          <a:noFill/>
        </p:spPr>
        <p:txBody>
          <a:bodyPr wrap="square" rtlCol="0">
            <a:spAutoFit/>
          </a:bodyPr>
          <a:lstStyle/>
          <a:p>
            <a:r>
              <a:rPr lang="en-US" sz="2400" dirty="0"/>
              <a:t>Rules</a:t>
            </a:r>
          </a:p>
          <a:p>
            <a:endParaRPr lang="en-US" sz="2400" dirty="0"/>
          </a:p>
          <a:p>
            <a:r>
              <a:rPr lang="en-US" sz="2400" dirty="0"/>
              <a:t>1980s</a:t>
            </a:r>
          </a:p>
        </p:txBody>
      </p:sp>
      <p:sp>
        <p:nvSpPr>
          <p:cNvPr id="5" name="TextBox 4">
            <a:extLst>
              <a:ext uri="{FF2B5EF4-FFF2-40B4-BE49-F238E27FC236}">
                <a16:creationId xmlns:a16="http://schemas.microsoft.com/office/drawing/2014/main" id="{4DE32979-EB84-FCEA-EA8D-401ED93A17FE}"/>
              </a:ext>
            </a:extLst>
          </p:cNvPr>
          <p:cNvSpPr txBox="1"/>
          <p:nvPr/>
        </p:nvSpPr>
        <p:spPr>
          <a:xfrm>
            <a:off x="1748664" y="3196920"/>
            <a:ext cx="2318996" cy="1200329"/>
          </a:xfrm>
          <a:prstGeom prst="rect">
            <a:avLst/>
          </a:prstGeom>
          <a:noFill/>
        </p:spPr>
        <p:txBody>
          <a:bodyPr wrap="square" rtlCol="0">
            <a:spAutoFit/>
          </a:bodyPr>
          <a:lstStyle/>
          <a:p>
            <a:pPr algn="ctr"/>
            <a:r>
              <a:rPr lang="en-US" sz="2400" dirty="0"/>
              <a:t>Probabilities</a:t>
            </a:r>
          </a:p>
          <a:p>
            <a:endParaRPr lang="en-US" sz="2400" dirty="0"/>
          </a:p>
          <a:p>
            <a:pPr algn="ctr"/>
            <a:r>
              <a:rPr lang="en-US" sz="2400" dirty="0"/>
              <a:t>1990s</a:t>
            </a:r>
          </a:p>
        </p:txBody>
      </p:sp>
      <p:sp>
        <p:nvSpPr>
          <p:cNvPr id="6" name="TextBox 5">
            <a:extLst>
              <a:ext uri="{FF2B5EF4-FFF2-40B4-BE49-F238E27FC236}">
                <a16:creationId xmlns:a16="http://schemas.microsoft.com/office/drawing/2014/main" id="{2BF45AF2-E72D-078E-1C20-8936F51C12F0}"/>
              </a:ext>
            </a:extLst>
          </p:cNvPr>
          <p:cNvSpPr txBox="1"/>
          <p:nvPr/>
        </p:nvSpPr>
        <p:spPr>
          <a:xfrm>
            <a:off x="4280115" y="3198167"/>
            <a:ext cx="2318996" cy="1200329"/>
          </a:xfrm>
          <a:prstGeom prst="rect">
            <a:avLst/>
          </a:prstGeom>
          <a:noFill/>
        </p:spPr>
        <p:txBody>
          <a:bodyPr wrap="square" rtlCol="0">
            <a:spAutoFit/>
          </a:bodyPr>
          <a:lstStyle/>
          <a:p>
            <a:pPr algn="ctr"/>
            <a:r>
              <a:rPr lang="en-US" sz="2400" dirty="0"/>
              <a:t>???</a:t>
            </a:r>
          </a:p>
          <a:p>
            <a:endParaRPr lang="en-US" sz="2400" dirty="0"/>
          </a:p>
          <a:p>
            <a:pPr algn="ctr"/>
            <a:r>
              <a:rPr lang="en-US" sz="2400" dirty="0"/>
              <a:t>2000s</a:t>
            </a:r>
          </a:p>
        </p:txBody>
      </p:sp>
      <p:sp>
        <p:nvSpPr>
          <p:cNvPr id="7" name="TextBox 6">
            <a:extLst>
              <a:ext uri="{FF2B5EF4-FFF2-40B4-BE49-F238E27FC236}">
                <a16:creationId xmlns:a16="http://schemas.microsoft.com/office/drawing/2014/main" id="{4D3CE2EA-950E-6BC3-BA7C-BDA8644ABBCB}"/>
              </a:ext>
            </a:extLst>
          </p:cNvPr>
          <p:cNvSpPr txBox="1"/>
          <p:nvPr/>
        </p:nvSpPr>
        <p:spPr>
          <a:xfrm>
            <a:off x="6579030" y="3195675"/>
            <a:ext cx="2318996" cy="1200329"/>
          </a:xfrm>
          <a:prstGeom prst="rect">
            <a:avLst/>
          </a:prstGeom>
          <a:noFill/>
        </p:spPr>
        <p:txBody>
          <a:bodyPr wrap="square" rtlCol="0">
            <a:spAutoFit/>
          </a:bodyPr>
          <a:lstStyle/>
          <a:p>
            <a:pPr algn="ctr"/>
            <a:r>
              <a:rPr lang="en-US" sz="2400" dirty="0"/>
              <a:t>???</a:t>
            </a:r>
          </a:p>
          <a:p>
            <a:pPr algn="ctr"/>
            <a:endParaRPr lang="en-US" sz="2400" dirty="0"/>
          </a:p>
          <a:p>
            <a:pPr algn="ctr"/>
            <a:r>
              <a:rPr lang="en-US" sz="2400" dirty="0"/>
              <a:t>2010s</a:t>
            </a:r>
          </a:p>
        </p:txBody>
      </p:sp>
      <p:sp>
        <p:nvSpPr>
          <p:cNvPr id="8" name="TextBox 7">
            <a:extLst>
              <a:ext uri="{FF2B5EF4-FFF2-40B4-BE49-F238E27FC236}">
                <a16:creationId xmlns:a16="http://schemas.microsoft.com/office/drawing/2014/main" id="{9CFFC8F8-7871-CA8F-7D2C-90BD8ECCA631}"/>
              </a:ext>
            </a:extLst>
          </p:cNvPr>
          <p:cNvSpPr txBox="1"/>
          <p:nvPr/>
        </p:nvSpPr>
        <p:spPr>
          <a:xfrm>
            <a:off x="8930898" y="3198167"/>
            <a:ext cx="2832316" cy="1200329"/>
          </a:xfrm>
          <a:prstGeom prst="rect">
            <a:avLst/>
          </a:prstGeom>
          <a:noFill/>
        </p:spPr>
        <p:txBody>
          <a:bodyPr wrap="square" rtlCol="0">
            <a:spAutoFit/>
          </a:bodyPr>
          <a:lstStyle/>
          <a:p>
            <a:pPr algn="ctr"/>
            <a:r>
              <a:rPr lang="en-US" sz="2400" dirty="0"/>
              <a:t>???</a:t>
            </a:r>
          </a:p>
          <a:p>
            <a:pPr algn="ctr"/>
            <a:endParaRPr lang="en-US" sz="2400" dirty="0"/>
          </a:p>
          <a:p>
            <a:pPr algn="ctr"/>
            <a:r>
              <a:rPr lang="en-US" sz="2400" dirty="0"/>
              <a:t>2020s</a:t>
            </a:r>
          </a:p>
        </p:txBody>
      </p:sp>
      <p:cxnSp>
        <p:nvCxnSpPr>
          <p:cNvPr id="10" name="Straight Arrow Connector 9">
            <a:extLst>
              <a:ext uri="{FF2B5EF4-FFF2-40B4-BE49-F238E27FC236}">
                <a16:creationId xmlns:a16="http://schemas.microsoft.com/office/drawing/2014/main" id="{903FA305-A497-BBE2-B561-39B1ABFFD85F}"/>
              </a:ext>
            </a:extLst>
          </p:cNvPr>
          <p:cNvCxnSpPr/>
          <p:nvPr/>
        </p:nvCxnSpPr>
        <p:spPr>
          <a:xfrm>
            <a:off x="401665" y="3797085"/>
            <a:ext cx="11329262" cy="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2142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4F83C-7F09-53F1-AB7C-9E752F7F3BD9}"/>
              </a:ext>
            </a:extLst>
          </p:cNvPr>
          <p:cNvSpPr>
            <a:spLocks noGrp="1"/>
          </p:cNvSpPr>
          <p:nvPr>
            <p:ph type="title"/>
          </p:nvPr>
        </p:nvSpPr>
        <p:spPr/>
        <p:txBody>
          <a:bodyPr/>
          <a:lstStyle/>
          <a:p>
            <a:r>
              <a:rPr lang="en-US" dirty="0"/>
              <a:t>Medicine Inspires AI</a:t>
            </a:r>
          </a:p>
        </p:txBody>
      </p:sp>
      <p:sp>
        <p:nvSpPr>
          <p:cNvPr id="3" name="Content Placeholder 2">
            <a:extLst>
              <a:ext uri="{FF2B5EF4-FFF2-40B4-BE49-F238E27FC236}">
                <a16:creationId xmlns:a16="http://schemas.microsoft.com/office/drawing/2014/main" id="{E0B85DD5-8823-CCDF-C72C-6909B6FC3B5F}"/>
              </a:ext>
            </a:extLst>
          </p:cNvPr>
          <p:cNvSpPr>
            <a:spLocks noGrp="1"/>
          </p:cNvSpPr>
          <p:nvPr>
            <p:ph idx="1"/>
          </p:nvPr>
        </p:nvSpPr>
        <p:spPr>
          <a:xfrm>
            <a:off x="326346" y="1825625"/>
            <a:ext cx="6103484" cy="4351338"/>
          </a:xfrm>
        </p:spPr>
        <p:txBody>
          <a:bodyPr/>
          <a:lstStyle/>
          <a:p>
            <a:r>
              <a:rPr lang="en-US" dirty="0"/>
              <a:t>1940s – The neuron cell is discovered</a:t>
            </a:r>
          </a:p>
          <a:p>
            <a:r>
              <a:rPr lang="en-US" dirty="0"/>
              <a:t>Computer scientists wonder – can this be replicated to form the basis of Artificial intelligence?</a:t>
            </a:r>
          </a:p>
        </p:txBody>
      </p:sp>
      <p:pic>
        <p:nvPicPr>
          <p:cNvPr id="9218" name="Picture 2" descr="undefined">
            <a:extLst>
              <a:ext uri="{FF2B5EF4-FFF2-40B4-BE49-F238E27FC236}">
                <a16:creationId xmlns:a16="http://schemas.microsoft.com/office/drawing/2014/main" id="{48133FF2-01AD-8AAF-E616-E6C7B4A84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1085" y="365125"/>
            <a:ext cx="5174570" cy="3334946"/>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rtificial neuron structure">
            <a:extLst>
              <a:ext uri="{FF2B5EF4-FFF2-40B4-BE49-F238E27FC236}">
                <a16:creationId xmlns:a16="http://schemas.microsoft.com/office/drawing/2014/main" id="{21578A35-4483-331C-C183-DF1F2BAAD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1085" y="3770041"/>
            <a:ext cx="4905829" cy="2406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400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D7BC-F604-09FF-867F-B708898B1DDF}"/>
              </a:ext>
            </a:extLst>
          </p:cNvPr>
          <p:cNvSpPr>
            <a:spLocks noGrp="1"/>
          </p:cNvSpPr>
          <p:nvPr>
            <p:ph type="title"/>
          </p:nvPr>
        </p:nvSpPr>
        <p:spPr/>
        <p:txBody>
          <a:bodyPr/>
          <a:lstStyle/>
          <a:p>
            <a:r>
              <a:rPr lang="en-US" dirty="0"/>
              <a:t>1960s: The Artificial Neural Network</a:t>
            </a:r>
          </a:p>
        </p:txBody>
      </p:sp>
      <p:pic>
        <p:nvPicPr>
          <p:cNvPr id="2052" name="Picture 4" descr="McCulloch and Pitts">
            <a:extLst>
              <a:ext uri="{FF2B5EF4-FFF2-40B4-BE49-F238E27FC236}">
                <a16:creationId xmlns:a16="http://schemas.microsoft.com/office/drawing/2014/main" id="{90C6FEAD-E122-C613-6DB2-99068D0FD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114" y="1566862"/>
            <a:ext cx="12192000" cy="492601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undefined">
            <a:extLst>
              <a:ext uri="{FF2B5EF4-FFF2-40B4-BE49-F238E27FC236}">
                <a16:creationId xmlns:a16="http://schemas.microsoft.com/office/drawing/2014/main" id="{7E08D40C-423A-387B-D117-F8677667EE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9077" y="1814285"/>
            <a:ext cx="3399609" cy="38883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3CB4DF5-DFBC-CF92-29AB-58045E690C56}"/>
              </a:ext>
            </a:extLst>
          </p:cNvPr>
          <p:cNvSpPr txBox="1"/>
          <p:nvPr/>
        </p:nvSpPr>
        <p:spPr>
          <a:xfrm>
            <a:off x="9056915" y="5641570"/>
            <a:ext cx="2670628" cy="369332"/>
          </a:xfrm>
          <a:prstGeom prst="rect">
            <a:avLst/>
          </a:prstGeom>
          <a:noFill/>
        </p:spPr>
        <p:txBody>
          <a:bodyPr wrap="square" rtlCol="0">
            <a:spAutoFit/>
          </a:bodyPr>
          <a:lstStyle/>
          <a:p>
            <a:r>
              <a:rPr lang="en-US" dirty="0"/>
              <a:t>Hopfield network</a:t>
            </a:r>
          </a:p>
        </p:txBody>
      </p:sp>
    </p:spTree>
    <p:extLst>
      <p:ext uri="{BB962C8B-B14F-4D97-AF65-F5344CB8AC3E}">
        <p14:creationId xmlns:p14="http://schemas.microsoft.com/office/powerpoint/2010/main" val="1539971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42639-C811-C766-2299-691A9B89DFC5}"/>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FFDB986D-A24E-2A64-A770-147F80C29129}"/>
              </a:ext>
            </a:extLst>
          </p:cNvPr>
          <p:cNvSpPr>
            <a:spLocks noGrp="1"/>
          </p:cNvSpPr>
          <p:nvPr>
            <p:ph idx="1"/>
          </p:nvPr>
        </p:nvSpPr>
        <p:spPr>
          <a:xfrm>
            <a:off x="838200" y="1825625"/>
            <a:ext cx="7060595" cy="4351338"/>
          </a:xfrm>
        </p:spPr>
        <p:txBody>
          <a:bodyPr/>
          <a:lstStyle/>
          <a:p>
            <a:r>
              <a:rPr lang="en-US" dirty="0"/>
              <a:t>Cannot model certain functions</a:t>
            </a:r>
          </a:p>
          <a:p>
            <a:r>
              <a:rPr lang="en-US" dirty="0"/>
              <a:t>Takes many, many neurons to model</a:t>
            </a:r>
          </a:p>
          <a:p>
            <a:r>
              <a:rPr lang="en-US" dirty="0"/>
              <a:t>Sounds great in theory, but not effective in practice</a:t>
            </a:r>
          </a:p>
          <a:p>
            <a:pPr lvl="1"/>
            <a:r>
              <a:rPr lang="en-US" dirty="0"/>
              <a:t>How do you set a global learning objective?</a:t>
            </a:r>
          </a:p>
          <a:p>
            <a:pPr lvl="1"/>
            <a:r>
              <a:rPr lang="en-US" dirty="0"/>
              <a:t>How do we set a goal and get better at it?</a:t>
            </a:r>
          </a:p>
        </p:txBody>
      </p:sp>
      <p:pic>
        <p:nvPicPr>
          <p:cNvPr id="4098" name="Picture 2" descr="XOR Gate - Logic Gates Tutorial">
            <a:extLst>
              <a:ext uri="{FF2B5EF4-FFF2-40B4-BE49-F238E27FC236}">
                <a16:creationId xmlns:a16="http://schemas.microsoft.com/office/drawing/2014/main" id="{784E8145-3C78-B641-625A-889AF16C3C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8795" y="681037"/>
            <a:ext cx="3455005" cy="4146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782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7CBA3-22A1-4D11-E9AE-767BF02D108F}"/>
              </a:ext>
            </a:extLst>
          </p:cNvPr>
          <p:cNvSpPr>
            <a:spLocks noGrp="1"/>
          </p:cNvSpPr>
          <p:nvPr>
            <p:ph type="title"/>
          </p:nvPr>
        </p:nvSpPr>
        <p:spPr/>
        <p:txBody>
          <a:bodyPr/>
          <a:lstStyle/>
          <a:p>
            <a:r>
              <a:rPr lang="en-US" dirty="0"/>
              <a:t>1980s/1990s: Backpropagation</a:t>
            </a:r>
          </a:p>
        </p:txBody>
      </p:sp>
      <p:pic>
        <p:nvPicPr>
          <p:cNvPr id="3078" name="Picture 6" descr="Neural Networks in 10mins. Simply Explained! | by Sadaf Saleem | Medium">
            <a:extLst>
              <a:ext uri="{FF2B5EF4-FFF2-40B4-BE49-F238E27FC236}">
                <a16:creationId xmlns:a16="http://schemas.microsoft.com/office/drawing/2014/main" id="{EB414CC7-CD3C-E729-9A78-327F2FE92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308" y="1496790"/>
            <a:ext cx="8075384" cy="45461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2702576-2C87-1934-2217-41AF46523681}"/>
              </a:ext>
            </a:extLst>
          </p:cNvPr>
          <p:cNvSpPr txBox="1"/>
          <p:nvPr/>
        </p:nvSpPr>
        <p:spPr>
          <a:xfrm>
            <a:off x="4223657" y="6241142"/>
            <a:ext cx="6836228" cy="461665"/>
          </a:xfrm>
          <a:prstGeom prst="rect">
            <a:avLst/>
          </a:prstGeom>
          <a:noFill/>
        </p:spPr>
        <p:txBody>
          <a:bodyPr wrap="square" rtlCol="0">
            <a:spAutoFit/>
          </a:bodyPr>
          <a:lstStyle/>
          <a:p>
            <a:r>
              <a:rPr lang="en-US" sz="2400" dirty="0"/>
              <a:t>We’ll pick up here next lecture…</a:t>
            </a:r>
          </a:p>
        </p:txBody>
      </p:sp>
    </p:spTree>
    <p:extLst>
      <p:ext uri="{BB962C8B-B14F-4D97-AF65-F5344CB8AC3E}">
        <p14:creationId xmlns:p14="http://schemas.microsoft.com/office/powerpoint/2010/main" val="423695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4A158-B79A-F851-C206-FD6AD096664A}"/>
              </a:ext>
            </a:extLst>
          </p:cNvPr>
          <p:cNvSpPr>
            <a:spLocks noGrp="1"/>
          </p:cNvSpPr>
          <p:nvPr>
            <p:ph type="title"/>
          </p:nvPr>
        </p:nvSpPr>
        <p:spPr>
          <a:xfrm>
            <a:off x="5069238" y="2766218"/>
            <a:ext cx="10515600" cy="1325563"/>
          </a:xfrm>
        </p:spPr>
        <p:txBody>
          <a:bodyPr/>
          <a:lstStyle/>
          <a:p>
            <a:r>
              <a:rPr lang="en-US" dirty="0"/>
              <a:t>Thanks!</a:t>
            </a:r>
          </a:p>
        </p:txBody>
      </p:sp>
    </p:spTree>
    <p:extLst>
      <p:ext uri="{BB962C8B-B14F-4D97-AF65-F5344CB8AC3E}">
        <p14:creationId xmlns:p14="http://schemas.microsoft.com/office/powerpoint/2010/main" val="3748527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8359</TotalTime>
  <Words>1716</Words>
  <Application>Microsoft Office PowerPoint</Application>
  <PresentationFormat>Widescreen</PresentationFormat>
  <Paragraphs>293</Paragraphs>
  <Slides>39</Slides>
  <Notes>21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Calibri</vt:lpstr>
      <vt:lpstr>Cambria Math</vt:lpstr>
      <vt:lpstr>Office Theme</vt:lpstr>
      <vt:lpstr>Intro to AI for Medicine</vt:lpstr>
      <vt:lpstr>Welcome!</vt:lpstr>
      <vt:lpstr>Today’s Agenda</vt:lpstr>
      <vt:lpstr>Logistics - Format</vt:lpstr>
      <vt:lpstr>Logistics - Grading</vt:lpstr>
      <vt:lpstr>Lecture Schedule</vt:lpstr>
      <vt:lpstr>Homework</vt:lpstr>
      <vt:lpstr>Textbooks</vt:lpstr>
      <vt:lpstr>Approach to this class</vt:lpstr>
      <vt:lpstr>Approach to this class</vt:lpstr>
      <vt:lpstr>Approach to this class</vt:lpstr>
      <vt:lpstr>Approach to this class</vt:lpstr>
      <vt:lpstr>My Goals For The Class</vt:lpstr>
      <vt:lpstr>4 Pillars Diagram</vt:lpstr>
      <vt:lpstr>Your Goals Should Be</vt:lpstr>
      <vt:lpstr>Tips for Success in This Class</vt:lpstr>
      <vt:lpstr>What is AI?</vt:lpstr>
      <vt:lpstr>What is AI? (Two More Definitions)</vt:lpstr>
      <vt:lpstr>What is AI?</vt:lpstr>
      <vt:lpstr>What is AI? Turing Test</vt:lpstr>
      <vt:lpstr>What is AI?</vt:lpstr>
      <vt:lpstr>AI vs ML</vt:lpstr>
      <vt:lpstr>Brief history of AI</vt:lpstr>
      <vt:lpstr>Brief History of AI</vt:lpstr>
      <vt:lpstr>Aside: Logic Gates</vt:lpstr>
      <vt:lpstr>Brief History of AI</vt:lpstr>
      <vt:lpstr>1960s: ELIZA</vt:lpstr>
      <vt:lpstr>1970’s: MYCIN system</vt:lpstr>
      <vt:lpstr>1970’s: MYCIN system</vt:lpstr>
      <vt:lpstr>1980s: INTERNIST-1/Quick Medical Reference</vt:lpstr>
      <vt:lpstr>1980’s: The RX Project</vt:lpstr>
      <vt:lpstr>Trend</vt:lpstr>
      <vt:lpstr>Timeline</vt:lpstr>
      <vt:lpstr>Timeline</vt:lpstr>
      <vt:lpstr>Medicine Inspires AI</vt:lpstr>
      <vt:lpstr>1960s: The Artificial Neural Network</vt:lpstr>
      <vt:lpstr>Limitations</vt:lpstr>
      <vt:lpstr>1980s/1990s: Backpropagation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Lostetter</dc:creator>
  <cp:lastModifiedBy>Stephen Lostetter</cp:lastModifiedBy>
  <cp:revision>11</cp:revision>
  <dcterms:created xsi:type="dcterms:W3CDTF">2025-08-14T15:33:13Z</dcterms:created>
  <dcterms:modified xsi:type="dcterms:W3CDTF">2026-07-12T21:01:03Z</dcterms:modified>
</cp:coreProperties>
</file>
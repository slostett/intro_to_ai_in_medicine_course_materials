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384" r:id="rId4"/>
    <p:sldId id="258" r:id="rId5"/>
    <p:sldId id="362" r:id="rId6"/>
    <p:sldId id="363" r:id="rId7"/>
    <p:sldId id="364" r:id="rId8"/>
    <p:sldId id="365" r:id="rId9"/>
    <p:sldId id="367" r:id="rId10"/>
    <p:sldId id="366" r:id="rId11"/>
    <p:sldId id="369" r:id="rId12"/>
    <p:sldId id="370" r:id="rId13"/>
    <p:sldId id="382" r:id="rId14"/>
    <p:sldId id="368" r:id="rId15"/>
    <p:sldId id="385" r:id="rId16"/>
    <p:sldId id="375" r:id="rId17"/>
    <p:sldId id="376" r:id="rId18"/>
    <p:sldId id="377" r:id="rId19"/>
    <p:sldId id="379" r:id="rId20"/>
    <p:sldId id="381" r:id="rId21"/>
    <p:sldId id="319" r:id="rId22"/>
    <p:sldId id="371" r:id="rId23"/>
    <p:sldId id="372" r:id="rId24"/>
    <p:sldId id="373" r:id="rId25"/>
    <p:sldId id="383" r:id="rId26"/>
    <p:sldId id="374" r:id="rId27"/>
    <p:sldId id="388" r:id="rId28"/>
    <p:sldId id="386" r:id="rId29"/>
    <p:sldId id="387" r:id="rId30"/>
    <p:sldId id="389" r:id="rId31"/>
    <p:sldId id="390" r:id="rId32"/>
    <p:sldId id="391" r:id="rId33"/>
    <p:sldId id="392" r:id="rId34"/>
    <p:sldId id="38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350" autoAdjust="0"/>
  </p:normalViewPr>
  <p:slideViewPr>
    <p:cSldViewPr snapToGrid="0">
      <p:cViewPr varScale="1">
        <p:scale>
          <a:sx n="28" d="100"/>
          <a:sy n="28" d="100"/>
        </p:scale>
        <p:origin x="128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657A4-24B3-42F4-B0A2-42171A74652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25334-9EF1-4263-80D2-EEE0A1325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8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just used our eyes.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08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participation</a:t>
            </a:r>
          </a:p>
          <a:p>
            <a:r>
              <a:rPr lang="en-US" dirty="0"/>
              <a:t>Hold for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60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24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Overfitting: Memorizing the data rather than learning a meaningful relationship</a:t>
            </a:r>
          </a:p>
          <a:p>
            <a:r>
              <a:rPr lang="en-US" dirty="0"/>
              <a:t>The issue is that this data does not generalize well</a:t>
            </a:r>
          </a:p>
          <a:p>
            <a:r>
              <a:rPr lang="en-US" dirty="0"/>
              <a:t>Our model knows these cases too well – it’s memorizing what data points go in what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05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2: there’s not enough data to distinguish signal from noise</a:t>
            </a:r>
          </a:p>
          <a:p>
            <a:r>
              <a:rPr lang="en-US" dirty="0"/>
              <a:t>There will be random fluctuations in the data – we don’t want to be focusing on those more than the information we can reliably measure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2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overfitting, we think noise is signal</a:t>
            </a:r>
          </a:p>
          <a:p>
            <a:r>
              <a:rPr lang="en-US" dirty="0"/>
              <a:t>In underfitting, we don’t even know what signal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9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77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wouldn’t hold. Test error would be low because signal for one group can be lower than the others</a:t>
            </a:r>
          </a:p>
          <a:p>
            <a:r>
              <a:rPr lang="en-US" dirty="0"/>
              <a:t>Note that this doesn’t affect how good our network is at generating predictions, but evaluates how good it is on average.</a:t>
            </a:r>
          </a:p>
          <a:p>
            <a:endParaRPr lang="en-US" dirty="0"/>
          </a:p>
          <a:p>
            <a:r>
              <a:rPr lang="en-US" dirty="0"/>
              <a:t>Who decides what k is? We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4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Batch norm -&gt; scale down the inputs so that each layer receives an input around same order of magnitude</a:t>
            </a:r>
          </a:p>
          <a:p>
            <a:r>
              <a:rPr lang="en-US" dirty="0"/>
              <a:t>Used in transformers (LLMs)</a:t>
            </a:r>
          </a:p>
          <a:p>
            <a:r>
              <a:rPr lang="en-US" dirty="0"/>
              <a:t>Dropout: Hold some neurons constant at each step s.t. the trend must be learned in part by the whole network -&gt; can’t rely on few neurons to do the heavy lifting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05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critical more of an FYI slide</a:t>
            </a:r>
          </a:p>
          <a:p>
            <a:r>
              <a:rPr lang="en-US" dirty="0"/>
              <a:t>The bigger our weights (theta) get, the bigger the loss gets.</a:t>
            </a:r>
          </a:p>
          <a:p>
            <a:r>
              <a:rPr lang="en-US" dirty="0"/>
              <a:t>So our weights are biased toward zero, as can be seen in the 1d case above.</a:t>
            </a:r>
          </a:p>
          <a:p>
            <a:r>
              <a:rPr lang="en-US" dirty="0"/>
              <a:t>Can have other biases but this is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26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might be what you want if you think the result is sparse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96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Revisiting now to see something crucial about AI algorithms – We’re approximating</a:t>
            </a:r>
          </a:p>
          <a:p>
            <a:r>
              <a:rPr lang="en-US" dirty="0"/>
              <a:t>See how at the bottom of the hill we come to the end but don’t really find the bottom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23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9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possible to just skip over the global minimum entirely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89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Need to use intuition and understanding of the problem to select these – not feasible to try them all.</a:t>
            </a:r>
          </a:p>
          <a:p>
            <a:r>
              <a:rPr lang="en-US" dirty="0"/>
              <a:t>Approximations mean AI currently better for creativity than closed form problem solving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160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left: freedom in general after 1 procedure. Top right: after 1 or 2</a:t>
            </a:r>
          </a:p>
          <a:p>
            <a:r>
              <a:rPr lang="en-US" dirty="0"/>
              <a:t>Bottom L: AF&gt;6months, one procedure</a:t>
            </a:r>
          </a:p>
          <a:p>
            <a:r>
              <a:rPr lang="en-US" dirty="0"/>
              <a:t>Significant after multiple procedures or with sustained AF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knows what other subgroups were not chosen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65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your problem? How will you solve it? Classification vs regression vs other</a:t>
            </a:r>
          </a:p>
          <a:p>
            <a:endParaRPr lang="en-US" dirty="0"/>
          </a:p>
          <a:p>
            <a:r>
              <a:rPr lang="en-US" dirty="0"/>
              <a:t>Split can be binary, or into k folds</a:t>
            </a:r>
          </a:p>
          <a:p>
            <a:endParaRPr lang="en-US" dirty="0"/>
          </a:p>
          <a:p>
            <a:r>
              <a:rPr lang="en-US" dirty="0"/>
              <a:t>For those interested there’s a good link in the folder with much more detail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25334-9EF1-4263-80D2-EEE0A1325C0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20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31B1-437F-2C91-E44A-8ED589240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51F43-6776-84EE-0938-F5523C2BB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E7CAB-A9FD-21C7-C889-DEEBF5396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FB80-D3B7-4DD5-5B92-032E3DAA1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9F1DF-C680-24C9-F4AC-6FDC0468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56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AF59-B703-44A4-704A-8E2A4810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03886-F943-02C2-7C08-2F28BD786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3B7FA-933C-31C3-D69D-CEC4C4B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6942E-9521-2CF6-2B99-8CD8E094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E13F3-FF5E-D9D0-028A-3C51E8CE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F970F-B623-1932-45D6-58049C8C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F49E6-4A4C-9707-7971-A069CE017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39216-E592-428F-5559-10461A69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79EBB-2B84-29A1-0969-9365B67B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9E379-D04D-896D-F378-75FE33F5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43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5DEB-F31C-0CA6-65B2-7C194686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4329F-EB11-0B3B-65DA-1C2203DE7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6A181-7463-B2AE-AC3C-F896D6A37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87B27-B24C-4646-B86E-CDB896365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8D477-3E15-A1A6-4C25-F2DF54AF6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2369A-DF08-619C-41E8-632A5D83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8988-FD14-896D-64DA-5CF7AC9F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B64CB-93AC-7287-2CC3-AC3960F87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83306-7E37-FE02-D762-B1DADD406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11F01-6FF0-F0EB-781B-DA22AD0A7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85BF0-8443-6F97-5817-2CA6E6FF7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2B7E5-0CF7-3047-22B5-9A787A08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DB284-9F3A-2F1D-8D74-098B5F3E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586019-7F6E-142E-3571-E17B89CC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9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4587-651E-DFEA-E4B6-F01C001C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355870-D7FF-B144-50C6-B796EFA4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E9AF4-73BB-0B9E-841C-EE98602D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EBB56-3B1A-C293-2369-811D0352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77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8B922-9BE7-8535-3A2E-1EE2AFB9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328C3-DDDA-DB33-3BC5-D847136E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C3CE2-2495-5BEA-3E14-65D54DE6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39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E5F1-ED5F-2376-BA30-340897C3D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7403D-85A4-5B0A-3A1A-7F38A14E9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5BD7C-B927-946D-C433-C9A675422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ECB08-EEF0-B5B3-2078-5E9A7DF7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7A81D-E04E-201B-B459-8F6B8FC64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04290-E05A-8762-7B5F-DBEDD338A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14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F4577-61E1-87AA-DB76-9682E10B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931A3-72B1-A746-1EF8-5CDC5A137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F6921-A8C4-DB9D-20A2-54957B9D1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80196-DE42-2EF2-CE21-B3E535B1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F9EF2-7117-4B68-2191-ED1D2DE5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6CF0-1E8C-176B-EE4D-845F127B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0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A9AD-C74A-F9FC-0400-87F92E971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2BED7-8394-CF78-DC17-F4D0ACE15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7E027-E774-4DD3-8B26-1C19A8DB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398A2-6923-248D-AF58-032CE34D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622BC-6423-C9FE-5798-A3A0F790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09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BF95F2-4E15-040C-B1B6-CBF078929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5798D-5221-DD81-402F-64025E008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6E449-F649-EB21-0884-5426D2AE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E59D8-14F1-B1C6-B3F5-2AE38873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B7100-F829-2C83-6AF8-12471C8D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82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F69FBD-F2E7-6165-F086-15C4F4638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054EC-8DBB-E104-BF06-9BFB64039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A63CE-A654-EC23-F7CB-E0475F479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AECC4-B7C2-4048-8709-9E7EC812EA0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5F825-3C82-BADF-834C-8597C0FB7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077AF-DED0-9E91-4D6C-D1E70AAA1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28011-60BA-40CB-B3DB-DC02C42F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5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A42C-A7CE-ED9B-3983-8DF9EA10D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for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3554F-CE14-BE15-C4EA-B40381068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4: Training</a:t>
            </a:r>
          </a:p>
        </p:txBody>
      </p:sp>
    </p:spTree>
    <p:extLst>
      <p:ext uri="{BB962C8B-B14F-4D97-AF65-F5344CB8AC3E}">
        <p14:creationId xmlns:p14="http://schemas.microsoft.com/office/powerpoint/2010/main" val="305387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32815-1549-7A70-67A6-9F454CBA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34E6-7743-07D7-2CC0-37E3B02D1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Learned about loss functions, finishing neural net structure</a:t>
            </a:r>
          </a:p>
          <a:p>
            <a:r>
              <a:rPr lang="en-US" dirty="0"/>
              <a:t>Defined regression, classification (including multiclass)</a:t>
            </a:r>
          </a:p>
          <a:p>
            <a:r>
              <a:rPr lang="en-US" dirty="0"/>
              <a:t>Associated final activation with loss function and problem type</a:t>
            </a:r>
          </a:p>
          <a:p>
            <a:r>
              <a:rPr lang="en-US" dirty="0"/>
              <a:t>Discussed some metrics for measuring how good our networks are</a:t>
            </a:r>
          </a:p>
        </p:txBody>
      </p:sp>
    </p:spTree>
    <p:extLst>
      <p:ext uri="{BB962C8B-B14F-4D97-AF65-F5344CB8AC3E}">
        <p14:creationId xmlns:p14="http://schemas.microsoft.com/office/powerpoint/2010/main" val="249337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F7E0-1D4B-6CCB-903A-F1FD49D7C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58875-2C8E-2F78-4036-FA648CE76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Overfitting v underfitting</a:t>
            </a:r>
          </a:p>
          <a:p>
            <a:r>
              <a:rPr lang="en-US" dirty="0"/>
              <a:t>Internal/external validity</a:t>
            </a:r>
          </a:p>
          <a:p>
            <a:r>
              <a:rPr lang="en-US" dirty="0"/>
              <a:t>Hyperparameters</a:t>
            </a:r>
          </a:p>
          <a:p>
            <a:r>
              <a:rPr lang="en-US" dirty="0"/>
              <a:t>Revisit GD</a:t>
            </a:r>
          </a:p>
          <a:p>
            <a:r>
              <a:rPr lang="en-US" dirty="0" err="1"/>
              <a:t>Ensembling</a:t>
            </a:r>
            <a:endParaRPr lang="en-US" dirty="0"/>
          </a:p>
          <a:p>
            <a:r>
              <a:rPr lang="en-US" dirty="0"/>
              <a:t>Case study – </a:t>
            </a:r>
            <a:r>
              <a:rPr lang="en-US" dirty="0" err="1"/>
              <a:t>afib</a:t>
            </a:r>
            <a:r>
              <a:rPr lang="en-US" dirty="0"/>
              <a:t> ablations w/wo AI tool RCT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50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8741-4421-78CA-FB1C-3E79CC39B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70D5-732B-1D5B-ABB0-364E07C4B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5056"/>
          </a:xfrm>
        </p:spPr>
        <p:txBody>
          <a:bodyPr/>
          <a:lstStyle/>
          <a:p>
            <a:r>
              <a:rPr lang="en-US" dirty="0"/>
              <a:t>We’ve seen plots like below, and assumed a good fit</a:t>
            </a:r>
          </a:p>
          <a:p>
            <a:r>
              <a:rPr lang="en-US" dirty="0"/>
              <a:t>How can we leverage metrics to tell us if we’re really fitting the trend?</a:t>
            </a:r>
          </a:p>
          <a:p>
            <a:r>
              <a:rPr lang="en-US" dirty="0"/>
              <a:t>How do we know if our model will work on other populations?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A69DAEA6-1A9C-CDF0-2CAA-FE864F3E3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04041" y="4155618"/>
            <a:ext cx="8583918" cy="219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30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C368-C926-767E-4F52-EE3442E6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2C415B-EF93-81ED-48FB-3956EDA7C8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57" b="44662"/>
          <a:stretch>
            <a:fillRect/>
          </a:stretch>
        </p:blipFill>
        <p:spPr>
          <a:xfrm>
            <a:off x="0" y="2521720"/>
            <a:ext cx="12192000" cy="265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2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7104-84A1-5828-4292-CB473B4A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A3A9-EA40-9FE3-FA4D-B1842FD6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E04D64-FC3E-D602-C580-81B1C28433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530"/>
          <a:stretch>
            <a:fillRect/>
          </a:stretch>
        </p:blipFill>
        <p:spPr>
          <a:xfrm>
            <a:off x="279854" y="2508069"/>
            <a:ext cx="11632292" cy="231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09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1834-ACE9-433E-ABD8-9641EE9A6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0889B-6A8F-8BC8-360D-462B4002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A01FD2-F0E6-E2B9-94E6-06B7055FD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274" y="1509033"/>
            <a:ext cx="9491452" cy="477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0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C3BF-704C-4424-FED1-549F4902C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660C7-6930-E900-3218-BFF27863E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Overfitting: model is so closely aligned to the training data that it does not know how to respond to new data. </a:t>
            </a:r>
          </a:p>
          <a:p>
            <a:r>
              <a:rPr lang="en-US" dirty="0"/>
              <a:t>Overfitting can happen because:</a:t>
            </a:r>
          </a:p>
          <a:p>
            <a:pPr lvl="1"/>
            <a:r>
              <a:rPr lang="en-US" dirty="0"/>
              <a:t>model is too complex; it memorizes very subtle patterns in the training data that don’t generalize well.</a:t>
            </a:r>
          </a:p>
          <a:p>
            <a:pPr lvl="1"/>
            <a:r>
              <a:rPr lang="en-US" dirty="0"/>
              <a:t>The training data size is too small for the model complexity and/or contains large amounts of irrelevant information.</a:t>
            </a:r>
          </a:p>
          <a:p>
            <a:endParaRPr lang="en-US" dirty="0"/>
          </a:p>
        </p:txBody>
      </p:sp>
      <p:pic>
        <p:nvPicPr>
          <p:cNvPr id="2050" name="Picture 2" descr="All About Signal to Noise Ratio - Hollyland">
            <a:extLst>
              <a:ext uri="{FF2B5EF4-FFF2-40B4-BE49-F238E27FC236}">
                <a16:creationId xmlns:a16="http://schemas.microsoft.com/office/drawing/2014/main" id="{A2AC5C08-B79F-CD3D-F741-3CC095550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623" y="4632282"/>
            <a:ext cx="3955052" cy="222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18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B03A-FF89-7FA9-2EF3-6115E4738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FE965-02DD-9EC2-D3BD-BDA71CEED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couldn’t see the trend</a:t>
            </a:r>
          </a:p>
          <a:p>
            <a:r>
              <a:rPr lang="en-US" dirty="0"/>
              <a:t>Model is too simple to capture the underlying patterns and complexities of the data</a:t>
            </a:r>
          </a:p>
        </p:txBody>
      </p:sp>
    </p:spTree>
    <p:extLst>
      <p:ext uri="{BB962C8B-B14F-4D97-AF65-F5344CB8AC3E}">
        <p14:creationId xmlns:p14="http://schemas.microsoft.com/office/powerpoint/2010/main" val="95775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6804-A7CA-A00B-FC26-9C4604F8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Did We Overfit?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B56E7C-2359-B15E-1815-BEAF66705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77861"/>
            <a:ext cx="10515600" cy="2446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59EC2D-E5CD-B3EC-EAF7-D007EF386250}"/>
              </a:ext>
            </a:extLst>
          </p:cNvPr>
          <p:cNvSpPr txBox="1"/>
          <p:nvPr/>
        </p:nvSpPr>
        <p:spPr>
          <a:xfrm>
            <a:off x="1463040" y="2299063"/>
            <a:ext cx="129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(loss)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FC6281-2738-4475-3ED5-6A2663765DB3}"/>
              </a:ext>
            </a:extLst>
          </p:cNvPr>
          <p:cNvSpPr/>
          <p:nvPr/>
        </p:nvSpPr>
        <p:spPr>
          <a:xfrm>
            <a:off x="3696789" y="3429000"/>
            <a:ext cx="1214845" cy="16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1209B6-5F4A-2E8A-DD83-FD51187444AD}"/>
              </a:ext>
            </a:extLst>
          </p:cNvPr>
          <p:cNvSpPr/>
          <p:nvPr/>
        </p:nvSpPr>
        <p:spPr>
          <a:xfrm>
            <a:off x="8891452" y="3429000"/>
            <a:ext cx="1214845" cy="16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6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4C63-148A-F9F4-5D07-8B641F27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308"/>
            <a:ext cx="10515600" cy="1325563"/>
          </a:xfrm>
        </p:spPr>
        <p:txBody>
          <a:bodyPr/>
          <a:lstStyle/>
          <a:p>
            <a:r>
              <a:rPr lang="en-US" dirty="0"/>
              <a:t>Training vs Test Loss and Accuracy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D29EE5B-4DB7-DF66-A8D2-BC9D916FA6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95" y="1082823"/>
            <a:ext cx="8000764" cy="557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CD5AC1-DEE5-8F51-13A0-13BD118A008C}"/>
              </a:ext>
            </a:extLst>
          </p:cNvPr>
          <p:cNvSpPr txBox="1"/>
          <p:nvPr/>
        </p:nvSpPr>
        <p:spPr>
          <a:xfrm>
            <a:off x="8464731" y="1520871"/>
            <a:ext cx="2889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 Epoch:</a:t>
            </a:r>
          </a:p>
          <a:p>
            <a:r>
              <a:rPr lang="en-US" sz="2400" dirty="0"/>
              <a:t>1 pass over all training samples</a:t>
            </a:r>
          </a:p>
        </p:txBody>
      </p:sp>
    </p:spTree>
    <p:extLst>
      <p:ext uri="{BB962C8B-B14F-4D97-AF65-F5344CB8AC3E}">
        <p14:creationId xmlns:p14="http://schemas.microsoft.com/office/powerpoint/2010/main" val="4167073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B50E9-11A2-48C1-C170-10FBF71A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7494"/>
            <a:ext cx="10515600" cy="1325563"/>
          </a:xfrm>
        </p:spPr>
        <p:txBody>
          <a:bodyPr/>
          <a:lstStyle/>
          <a:p>
            <a:r>
              <a:rPr lang="en-US" dirty="0"/>
              <a:t>Training in Real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B37902-99C7-E489-8236-9999531AD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810" y="864406"/>
            <a:ext cx="8462379" cy="568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10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C4B3-E415-8E15-DD81-6252E267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For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2E57D-37D4-BE23-AEAD-D418F156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models vs large models -&gt; which would be more likely to overfit or underfit?</a:t>
            </a:r>
          </a:p>
        </p:txBody>
      </p:sp>
    </p:spTree>
    <p:extLst>
      <p:ext uri="{BB962C8B-B14F-4D97-AF65-F5344CB8AC3E}">
        <p14:creationId xmlns:p14="http://schemas.microsoft.com/office/powerpoint/2010/main" val="778205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E8E2-B78B-4675-96B5-445388C6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External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83E7C-FDE4-76A5-5DF9-1A4BD0354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data into parts</a:t>
            </a:r>
          </a:p>
          <a:p>
            <a:r>
              <a:rPr lang="en-US" dirty="0"/>
              <a:t>Train data: Data we actually use to check loss and update weights</a:t>
            </a:r>
          </a:p>
          <a:p>
            <a:r>
              <a:rPr lang="en-US" dirty="0"/>
              <a:t>Test data: Data we then use to compute accuracy to see if our model works on new data</a:t>
            </a:r>
          </a:p>
        </p:txBody>
      </p:sp>
    </p:spTree>
    <p:extLst>
      <p:ext uri="{BB962C8B-B14F-4D97-AF65-F5344CB8AC3E}">
        <p14:creationId xmlns:p14="http://schemas.microsoft.com/office/powerpoint/2010/main" val="88403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023A1-0782-A728-B0D4-A750EDB5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v External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E4117-D13C-7225-4CA3-2F816672C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validity: Is the model a good reflection of the data?</a:t>
            </a:r>
          </a:p>
          <a:p>
            <a:r>
              <a:rPr lang="en-US" dirty="0"/>
              <a:t>External validity: Can the model be used on other data?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06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5AC6-253E-A8A0-13AF-755F0BF2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Train/Test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A986D-47C8-1D62-A7D3-94DA42A6A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get a non-representative train/test split?</a:t>
            </a:r>
          </a:p>
          <a:p>
            <a:r>
              <a:rPr lang="en-US" dirty="0"/>
              <a:t>Cross validation</a:t>
            </a:r>
          </a:p>
          <a:p>
            <a:pPr lvl="1"/>
            <a:r>
              <a:rPr lang="en-US" dirty="0"/>
              <a:t>Divide data into a certain number of groups</a:t>
            </a:r>
          </a:p>
          <a:p>
            <a:pPr lvl="2"/>
            <a:r>
              <a:rPr lang="en-US" dirty="0"/>
              <a:t>K of them</a:t>
            </a:r>
          </a:p>
          <a:p>
            <a:pPr lvl="2"/>
            <a:r>
              <a:rPr lang="en-US" dirty="0"/>
              <a:t>Each group is called a “fold”</a:t>
            </a:r>
          </a:p>
          <a:p>
            <a:pPr lvl="1"/>
            <a:r>
              <a:rPr lang="en-US" dirty="0"/>
              <a:t>Take turns on which group is test data, the rest are training data</a:t>
            </a:r>
          </a:p>
          <a:p>
            <a:pPr lvl="1"/>
            <a:r>
              <a:rPr lang="en-US" dirty="0"/>
              <a:t>Average accuracy across runs</a:t>
            </a:r>
          </a:p>
        </p:txBody>
      </p:sp>
    </p:spTree>
    <p:extLst>
      <p:ext uri="{BB962C8B-B14F-4D97-AF65-F5344CB8AC3E}">
        <p14:creationId xmlns:p14="http://schemas.microsoft.com/office/powerpoint/2010/main" val="3729906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3A899-C4D3-EE96-BFD0-A8018CF16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C9D5A-4E98-0635-58B2-57670B0C1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Values that are </a:t>
            </a:r>
            <a:r>
              <a:rPr lang="en-US" b="1" dirty="0"/>
              <a:t>chosen</a:t>
            </a:r>
            <a:r>
              <a:rPr lang="en-US" dirty="0"/>
              <a:t>, not learned</a:t>
            </a:r>
          </a:p>
          <a:p>
            <a:r>
              <a:rPr lang="en-US" dirty="0"/>
              <a:t>Contrast with parameters, which are the weights improved via gradient descent </a:t>
            </a:r>
          </a:p>
        </p:txBody>
      </p:sp>
    </p:spTree>
    <p:extLst>
      <p:ext uri="{BB962C8B-B14F-4D97-AF65-F5344CB8AC3E}">
        <p14:creationId xmlns:p14="http://schemas.microsoft.com/office/powerpoint/2010/main" val="2803739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10964-E424-061D-7B60-3791876B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6A34-15FE-ED7B-048C-2F0FC891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A09E3-DE75-D3E3-DDA5-53F2B2165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51598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Mandatory</a:t>
            </a:r>
          </a:p>
          <a:p>
            <a:pPr lvl="1"/>
            <a:r>
              <a:rPr lang="en-US" dirty="0"/>
              <a:t>Initial weights </a:t>
            </a:r>
          </a:p>
          <a:p>
            <a:pPr lvl="1"/>
            <a:r>
              <a:rPr lang="en-US" dirty="0"/>
              <a:t>Learning rate</a:t>
            </a:r>
          </a:p>
          <a:p>
            <a:pPr lvl="1"/>
            <a:r>
              <a:rPr lang="en-US" dirty="0"/>
              <a:t>Stopping condition</a:t>
            </a:r>
          </a:p>
          <a:p>
            <a:r>
              <a:rPr lang="en-US" dirty="0"/>
              <a:t>Network architecture (covered in 2 lectures)</a:t>
            </a:r>
          </a:p>
          <a:p>
            <a:pPr lvl="1"/>
            <a:r>
              <a:rPr lang="en-US" dirty="0"/>
              <a:t>Depth of the network (how many layers)</a:t>
            </a:r>
          </a:p>
          <a:p>
            <a:pPr lvl="1"/>
            <a:r>
              <a:rPr lang="en-US" dirty="0"/>
              <a:t>Thickness of the network (how many neurons in parallel per layer)</a:t>
            </a:r>
          </a:p>
          <a:p>
            <a:r>
              <a:rPr lang="en-US" dirty="0"/>
              <a:t>Data related (next lecture)</a:t>
            </a:r>
          </a:p>
          <a:p>
            <a:pPr lvl="1"/>
            <a:r>
              <a:rPr lang="en-US" dirty="0"/>
              <a:t>Augmentations</a:t>
            </a:r>
          </a:p>
          <a:p>
            <a:r>
              <a:rPr lang="en-US" dirty="0"/>
              <a:t>Loss function bias </a:t>
            </a:r>
          </a:p>
          <a:p>
            <a:pPr lvl="1"/>
            <a:r>
              <a:rPr lang="en-US" dirty="0"/>
              <a:t>Batch norming</a:t>
            </a:r>
          </a:p>
          <a:p>
            <a:pPr lvl="1"/>
            <a:r>
              <a:rPr lang="en-US" dirty="0"/>
              <a:t>Dropout</a:t>
            </a:r>
          </a:p>
          <a:p>
            <a:pPr lvl="1"/>
            <a:r>
              <a:rPr lang="en-US" dirty="0"/>
              <a:t>Regularization</a:t>
            </a:r>
          </a:p>
          <a:p>
            <a:pPr lvl="1"/>
            <a:r>
              <a:rPr lang="en-US" dirty="0"/>
              <a:t>Many, many more	</a:t>
            </a:r>
          </a:p>
        </p:txBody>
      </p:sp>
      <p:pic>
        <p:nvPicPr>
          <p:cNvPr id="4" name="Picture 4" descr="Neural Networks - step by step | Lasse Hansen">
            <a:extLst>
              <a:ext uri="{FF2B5EF4-FFF2-40B4-BE49-F238E27FC236}">
                <a16:creationId xmlns:a16="http://schemas.microsoft.com/office/drawing/2014/main" id="{7D03E993-5227-91C4-ED99-38A206A25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857" y="742566"/>
            <a:ext cx="3367930" cy="2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951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8036-0090-7028-C62B-E94CBDE1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8D9FA7-FBE0-67D3-A0E0-5E1F6DF2F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449649"/>
            <a:ext cx="10515600" cy="39587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A643BB-72C2-6117-DC67-B71631725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411" y="5819630"/>
            <a:ext cx="6906589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59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DD66-3593-9802-8A08-4F1B7100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6B745-AA44-F9FA-5E35-133D4AB2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94569"/>
          </a:xfrm>
        </p:spPr>
        <p:txBody>
          <a:bodyPr/>
          <a:lstStyle/>
          <a:p>
            <a:r>
              <a:rPr lang="en-US" dirty="0"/>
              <a:t>Regression with a regularization term</a:t>
            </a:r>
          </a:p>
          <a:p>
            <a:r>
              <a:rPr lang="en-US" dirty="0"/>
              <a:t>Lasso the same but without the square (absolute)</a:t>
            </a:r>
          </a:p>
          <a:p>
            <a:pPr lvl="1"/>
            <a:r>
              <a:rPr lang="en-US" dirty="0"/>
              <a:t>Tends to remove many parameters from the model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886C03-043F-C90B-436C-04A04FBC2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113" y="4616859"/>
            <a:ext cx="7471347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45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FDC8-21C9-A28B-10D7-C1D7DF30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- Revisit</a:t>
            </a:r>
          </a:p>
        </p:txBody>
      </p:sp>
      <p:pic>
        <p:nvPicPr>
          <p:cNvPr id="17410" name="Picture 2" descr="Guide to Gradient Descent in 3 Steps and 12 Drawings - Charles Bordet">
            <a:extLst>
              <a:ext uri="{FF2B5EF4-FFF2-40B4-BE49-F238E27FC236}">
                <a16:creationId xmlns:a16="http://schemas.microsoft.com/office/drawing/2014/main" id="{B2661F6B-F5DE-0E4B-4D40-D481B0217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31900"/>
            <a:ext cx="544830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7C63DC-EC79-8C3D-2CC9-BDBE7AF09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011" y="6280094"/>
            <a:ext cx="2162477" cy="400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381B52-0435-CAA9-8927-7C6F7EC1BA32}"/>
              </a:ext>
            </a:extLst>
          </p:cNvPr>
          <p:cNvSpPr txBox="1"/>
          <p:nvPr/>
        </p:nvSpPr>
        <p:spPr>
          <a:xfrm>
            <a:off x="6692900" y="1409700"/>
            <a:ext cx="5029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Algorithm: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Find gradient at start point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Move opposite that direction by an amount = gradient magnitude times a constant (learning rate)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Repeat until the value between steps changes less than a set amount (or a fixed number of times)</a:t>
            </a:r>
          </a:p>
        </p:txBody>
      </p:sp>
    </p:spTree>
    <p:extLst>
      <p:ext uri="{BB962C8B-B14F-4D97-AF65-F5344CB8AC3E}">
        <p14:creationId xmlns:p14="http://schemas.microsoft.com/office/powerpoint/2010/main" val="2781569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B0D3-727E-864E-5D86-666F7D5B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- Revisit</a:t>
            </a:r>
          </a:p>
        </p:txBody>
      </p:sp>
      <p:pic>
        <p:nvPicPr>
          <p:cNvPr id="1026" name="Picture 2" descr="Gradient Descent Stuck at Local Minima [18] | Download Scientific Diagram">
            <a:extLst>
              <a:ext uri="{FF2B5EF4-FFF2-40B4-BE49-F238E27FC236}">
                <a16:creationId xmlns:a16="http://schemas.microsoft.com/office/drawing/2014/main" id="{B7BF6CC5-9BB3-5CCB-0395-893E471645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874" y="1930592"/>
            <a:ext cx="6036252" cy="456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838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D1DAC-AF0B-9135-DA0E-5EF99937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- Revisit</a:t>
            </a:r>
          </a:p>
        </p:txBody>
      </p:sp>
      <p:pic>
        <p:nvPicPr>
          <p:cNvPr id="2050" name="Picture 2" descr="Understanding Gradient Descent. Let's reach the global minimum | by NVS  Yashwanth | Analytics Vidhya | Medium">
            <a:extLst>
              <a:ext uri="{FF2B5EF4-FFF2-40B4-BE49-F238E27FC236}">
                <a16:creationId xmlns:a16="http://schemas.microsoft.com/office/drawing/2014/main" id="{CD63BF14-3C35-EFE2-C5D3-D579725ED8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931" y="1995055"/>
            <a:ext cx="8924138" cy="4192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867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2F41-614B-5F88-EC28-53B3A98EB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- Revisit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4C75E-6818-DBD4-3907-D08A06F21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Takeaway: All AI algorithms are, by definition, </a:t>
            </a:r>
            <a:r>
              <a:rPr lang="en-US" b="1" dirty="0"/>
              <a:t>approximations</a:t>
            </a:r>
          </a:p>
          <a:p>
            <a:r>
              <a:rPr lang="en-US" dirty="0"/>
              <a:t>Lots of work is happening under the hood to help us find the global min/max</a:t>
            </a:r>
          </a:p>
          <a:p>
            <a:r>
              <a:rPr lang="en-US" dirty="0"/>
              <a:t>Often worth retraining networks with different parameters if result isn’t good </a:t>
            </a:r>
          </a:p>
          <a:p>
            <a:r>
              <a:rPr lang="en-US" dirty="0"/>
              <a:t>Choice of hyperparameters can greatly affect your loss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43726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EB37-643A-D9A3-2275-DA2AD0F3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53689-A224-325A-A5B6-D2E1FA3D8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Avoiding pitfalls in GD via introducing random element</a:t>
            </a:r>
          </a:p>
          <a:p>
            <a:r>
              <a:rPr lang="en-US" dirty="0"/>
              <a:t>Instead of descending down gradient of all points together, choose 1 point and make weights better for just that point</a:t>
            </a:r>
          </a:p>
          <a:p>
            <a:r>
              <a:rPr lang="en-US" dirty="0"/>
              <a:t>On average, processes like the normal way would</a:t>
            </a:r>
          </a:p>
        </p:txBody>
      </p:sp>
    </p:spTree>
    <p:extLst>
      <p:ext uri="{BB962C8B-B14F-4D97-AF65-F5344CB8AC3E}">
        <p14:creationId xmlns:p14="http://schemas.microsoft.com/office/powerpoint/2010/main" val="4011486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67D7-3633-D796-937E-18BB04D9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Gradient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5887-B41A-369E-6CBF-242A241D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many layers, gradient can either blow up (if values large) or vanish (if values close to 0)</a:t>
            </a:r>
          </a:p>
          <a:p>
            <a:r>
              <a:rPr lang="en-US" dirty="0"/>
              <a:t>Many things under the hood happening to prevent this</a:t>
            </a:r>
          </a:p>
          <a:p>
            <a:pPr lvl="1"/>
            <a:r>
              <a:rPr lang="en-US" dirty="0"/>
              <a:t>Batch norm</a:t>
            </a:r>
          </a:p>
          <a:p>
            <a:pPr lvl="1"/>
            <a:r>
              <a:rPr lang="en-US" dirty="0"/>
              <a:t>Choice of activation (</a:t>
            </a:r>
            <a:r>
              <a:rPr lang="en-US" dirty="0" err="1"/>
              <a:t>ReLU</a:t>
            </a:r>
            <a:r>
              <a:rPr lang="en-US" dirty="0"/>
              <a:t> safer than Sigmoid, Tanh)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554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31EC1-F4D5-619B-B60C-308CE279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3E650-6DD1-CBBE-0D6E-04452F275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Methods for training multiple models on same data, then averaging or combining in smart way to get better performance</a:t>
            </a:r>
          </a:p>
          <a:p>
            <a:r>
              <a:rPr lang="en-US" dirty="0"/>
              <a:t>Bootstrapping: Training many models and averaging their results</a:t>
            </a:r>
          </a:p>
          <a:p>
            <a:pPr lvl="1"/>
            <a:r>
              <a:rPr lang="en-US" dirty="0"/>
              <a:t>Build datasets by sampling w replacement, then train</a:t>
            </a:r>
          </a:p>
          <a:p>
            <a:pPr lvl="1"/>
            <a:r>
              <a:rPr lang="en-US" dirty="0"/>
              <a:t>Often used in cases with little data</a:t>
            </a:r>
          </a:p>
          <a:p>
            <a:r>
              <a:rPr lang="en-US" dirty="0"/>
              <a:t>Boosting:</a:t>
            </a:r>
          </a:p>
          <a:p>
            <a:pPr lvl="1"/>
            <a:r>
              <a:rPr lang="en-US" dirty="0"/>
              <a:t>Train model, then train new model whose goal is to take output of first one and reduce its loss when applied to data</a:t>
            </a:r>
          </a:p>
          <a:p>
            <a:r>
              <a:rPr lang="en-US" dirty="0"/>
              <a:t>Random Forest</a:t>
            </a:r>
          </a:p>
          <a:p>
            <a:pPr lvl="1"/>
            <a:r>
              <a:rPr lang="en-US" dirty="0"/>
              <a:t>To be discussed later</a:t>
            </a:r>
          </a:p>
        </p:txBody>
      </p:sp>
    </p:spTree>
    <p:extLst>
      <p:ext uri="{BB962C8B-B14F-4D97-AF65-F5344CB8AC3E}">
        <p14:creationId xmlns:p14="http://schemas.microsoft.com/office/powerpoint/2010/main" val="1697073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B7F5-9621-7534-4B95-961ACEA4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05A515-EC4E-54D7-5586-70E97254E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739" y="1825625"/>
            <a:ext cx="82025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87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EE957E2-57A6-F8E6-A85F-C6D2E88672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7315412"/>
              </p:ext>
            </p:extLst>
          </p:nvPr>
        </p:nvGraphicFramePr>
        <p:xfrm>
          <a:off x="1" y="-1"/>
          <a:ext cx="12191999" cy="7078370"/>
        </p:xfrm>
        <a:graphic>
          <a:graphicData uri="http://schemas.openxmlformats.org/drawingml/2006/table">
            <a:tbl>
              <a:tblPr/>
              <a:tblGrid>
                <a:gridCol w="6095989">
                  <a:extLst>
                    <a:ext uri="{9D8B030D-6E8A-4147-A177-3AD203B41FA5}">
                      <a16:colId xmlns:a16="http://schemas.microsoft.com/office/drawing/2014/main" val="1066187513"/>
                    </a:ext>
                  </a:extLst>
                </a:gridCol>
                <a:gridCol w="6096010">
                  <a:extLst>
                    <a:ext uri="{9D8B030D-6E8A-4147-A177-3AD203B41FA5}">
                      <a16:colId xmlns:a16="http://schemas.microsoft.com/office/drawing/2014/main" val="729878784"/>
                    </a:ext>
                  </a:extLst>
                </a:gridCol>
              </a:tblGrid>
              <a:tr h="615300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Problem Statement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27053"/>
                  </a:ext>
                </a:extLst>
              </a:tr>
              <a:tr h="543713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Measure </a:t>
                      </a:r>
                      <a:r>
                        <a:rPr lang="en-US" sz="2000" kern="14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afib</a:t>
                      </a: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recurrence in 2 groups, one informed by AI, one not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006767"/>
                  </a:ext>
                </a:extLst>
              </a:tr>
              <a:tr h="568683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Technical Problem Statement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5C5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440160"/>
                  </a:ext>
                </a:extLst>
              </a:tr>
              <a:tr h="556789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RCT comparing humans to classification model, which predicts regions which should be ablated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917909"/>
                  </a:ext>
                </a:extLst>
              </a:tr>
              <a:tr h="568683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058476"/>
                  </a:ext>
                </a:extLst>
              </a:tr>
              <a:tr h="1718075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Proprietary dataset of 275k (train) and 113k (test) mappings 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Annotations by EP doctors in France/USA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Not listed – assume creative combo of cross entropy with DICE or other 3d loss d/t problem construction (</a:t>
                      </a:r>
                      <a:r>
                        <a:rPr lang="en-US" sz="2000" kern="14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classification+CNN</a:t>
                      </a: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Study aim: Compare inter observer variability to network/observer</a:t>
                      </a:r>
                      <a:endParaRPr lang="en-US" sz="2000" dirty="0"/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879990"/>
                  </a:ext>
                </a:extLst>
              </a:tr>
              <a:tr h="568683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932619"/>
                  </a:ext>
                </a:extLst>
              </a:tr>
              <a:tr h="1718075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Multimodal network integrating </a:t>
                      </a:r>
                    </a:p>
                    <a:p>
                      <a:pPr marL="457200" marR="0" indent="-45720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AutoNum type="arabicPeriod"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Classifier</a:t>
                      </a:r>
                    </a:p>
                    <a:p>
                      <a:pPr marL="457200" marR="0" indent="-45720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AutoNum type="arabicPeriod"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Convolutional network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Single train/test split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Extreme gradient boosting (</a:t>
                      </a:r>
                      <a:r>
                        <a:rPr lang="en-US" sz="2000" kern="14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ensembling</a:t>
                      </a: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64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284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8789-54E5-A90F-711B-6EEC238A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955CF-3A3E-D75B-3A6A-1D13DE46E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370 patients underwent catheter ablation</a:t>
            </a:r>
          </a:p>
          <a:p>
            <a:r>
              <a:rPr lang="en-US" dirty="0"/>
              <a:t>Divided randomly into 2 groups: 1 with AI assistance during procedure, 1 without</a:t>
            </a:r>
          </a:p>
          <a:p>
            <a:pPr lvl="1"/>
            <a:r>
              <a:rPr lang="en-US" dirty="0"/>
              <a:t>Assistance is highlighted locations which might represent “dispersion” or sites from which electrical waves originate</a:t>
            </a:r>
          </a:p>
          <a:p>
            <a:pPr lvl="1"/>
            <a:r>
              <a:rPr lang="en-US" dirty="0"/>
              <a:t>Essentially sites of dispersion become ablation targets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553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621F-6B54-A94C-4078-0F0E0AF7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CFD24-7C86-3BBB-ED0A-489874AC9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AUROC = .93 -&gt; better when experts all agreed on location of dispersion or lack thereof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4F910-18EB-29F1-3455-9E9AEB33F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4821"/>
            <a:ext cx="12192000" cy="415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35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CF355F-D99B-7C5A-98D8-83B19B8BD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828800" y="156634"/>
            <a:ext cx="7576457" cy="6557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178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52C39-5582-F132-78B4-1F972BC0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FBAAA-6782-41BE-E27D-FA196BA09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Authors have clear conflict of interest</a:t>
            </a:r>
          </a:p>
          <a:p>
            <a:r>
              <a:rPr lang="en-US" dirty="0"/>
              <a:t>With that said, results were significant in 2 ablation, and sustained </a:t>
            </a:r>
            <a:r>
              <a:rPr lang="en-US" dirty="0" err="1"/>
              <a:t>Afib</a:t>
            </a:r>
            <a:r>
              <a:rPr lang="en-US" dirty="0"/>
              <a:t> groups</a:t>
            </a:r>
          </a:p>
          <a:p>
            <a:pPr lvl="1"/>
            <a:r>
              <a:rPr lang="en-US" dirty="0"/>
              <a:t>Of course, be skeptical of subgrouping </a:t>
            </a:r>
          </a:p>
          <a:p>
            <a:r>
              <a:rPr lang="en-US" dirty="0"/>
              <a:t>Noted qualitative increase in complication rate in AI assisted group</a:t>
            </a:r>
          </a:p>
          <a:p>
            <a:r>
              <a:rPr lang="en-US" dirty="0"/>
              <a:t>As algorithms improve could be a useful tool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314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196B-88CD-51A9-E412-7C2EEA96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for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09081-84E5-15CA-91C9-A240CFFAD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 formulation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Mapping between inputs and outputs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loss function (often informed by problem formulation)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Train/test split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Train according to loss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training and average across many runs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Adjust hyperparameters as needed and repeat</a:t>
            </a:r>
          </a:p>
        </p:txBody>
      </p:sp>
    </p:spTree>
    <p:extLst>
      <p:ext uri="{BB962C8B-B14F-4D97-AF65-F5344CB8AC3E}">
        <p14:creationId xmlns:p14="http://schemas.microsoft.com/office/powerpoint/2010/main" val="471654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5959</TotalTime>
  <Words>1477</Words>
  <Application>Microsoft Office PowerPoint</Application>
  <PresentationFormat>Widescreen</PresentationFormat>
  <Paragraphs>201</Paragraphs>
  <Slides>34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Office Theme</vt:lpstr>
      <vt:lpstr>Intro to AI for Medicine</vt:lpstr>
      <vt:lpstr>Last Time</vt:lpstr>
      <vt:lpstr>Agenda</vt:lpstr>
      <vt:lpstr>So Far…</vt:lpstr>
      <vt:lpstr>Fitting Data</vt:lpstr>
      <vt:lpstr>Fitting Data</vt:lpstr>
      <vt:lpstr>Fitting Data</vt:lpstr>
      <vt:lpstr>Overfitting</vt:lpstr>
      <vt:lpstr>Underfitting</vt:lpstr>
      <vt:lpstr>Did We Overfit?</vt:lpstr>
      <vt:lpstr>Training vs Test Loss and Accuracy</vt:lpstr>
      <vt:lpstr>Training in Real Time</vt:lpstr>
      <vt:lpstr>Intuition For Fit</vt:lpstr>
      <vt:lpstr>Checking External Validity</vt:lpstr>
      <vt:lpstr>Internal v External Validity</vt:lpstr>
      <vt:lpstr>Train/Test Splitting</vt:lpstr>
      <vt:lpstr>Hyperparameters</vt:lpstr>
      <vt:lpstr>Hyperparameters - Examples</vt:lpstr>
      <vt:lpstr>Regularization</vt:lpstr>
      <vt:lpstr>Ridge Regression</vt:lpstr>
      <vt:lpstr>Gradient Descent - Revisit</vt:lpstr>
      <vt:lpstr>Gradient Descent - Revisit</vt:lpstr>
      <vt:lpstr>Gradient Descent - Revisit</vt:lpstr>
      <vt:lpstr>Gradient Descent - Revisit</vt:lpstr>
      <vt:lpstr>Stochastic GD</vt:lpstr>
      <vt:lpstr>Vanishing Gradient Problem</vt:lpstr>
      <vt:lpstr>Ensembling</vt:lpstr>
      <vt:lpstr>Case Study</vt:lpstr>
      <vt:lpstr>PowerPoint Presentation</vt:lpstr>
      <vt:lpstr>RCT Design</vt:lpstr>
      <vt:lpstr>Algorithm Results</vt:lpstr>
      <vt:lpstr>PowerPoint Presentation</vt:lpstr>
      <vt:lpstr>Takeaways</vt:lpstr>
      <vt:lpstr>Recipe for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4</cp:revision>
  <dcterms:created xsi:type="dcterms:W3CDTF">2025-09-12T01:35:55Z</dcterms:created>
  <dcterms:modified xsi:type="dcterms:W3CDTF">2026-07-12T21:04:47Z</dcterms:modified>
</cp:coreProperties>
</file>
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301" r:id="rId11"/>
    <p:sldId id="302" r:id="rId12"/>
    <p:sldId id="303" r:id="rId13"/>
    <p:sldId id="319" r:id="rId14"/>
    <p:sldId id="304" r:id="rId15"/>
    <p:sldId id="305" r:id="rId16"/>
    <p:sldId id="306" r:id="rId17"/>
    <p:sldId id="307" r:id="rId18"/>
    <p:sldId id="309" r:id="rId19"/>
    <p:sldId id="308" r:id="rId20"/>
    <p:sldId id="310" r:id="rId21"/>
    <p:sldId id="311" r:id="rId22"/>
    <p:sldId id="312" r:id="rId23"/>
    <p:sldId id="314" r:id="rId24"/>
    <p:sldId id="313" r:id="rId25"/>
    <p:sldId id="316" r:id="rId26"/>
    <p:sldId id="317" r:id="rId27"/>
    <p:sldId id="320" r:id="rId28"/>
    <p:sldId id="321" r:id="rId29"/>
    <p:sldId id="322" r:id="rId30"/>
    <p:sldId id="328" r:id="rId31"/>
    <p:sldId id="327" r:id="rId32"/>
    <p:sldId id="329" r:id="rId33"/>
    <p:sldId id="330" r:id="rId34"/>
    <p:sldId id="332" r:id="rId35"/>
    <p:sldId id="325" r:id="rId36"/>
    <p:sldId id="326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1937" autoAdjust="0"/>
  </p:normalViewPr>
  <p:slideViewPr>
    <p:cSldViewPr snapToGrid="0">
      <p:cViewPr varScale="1">
        <p:scale>
          <a:sx n="26" d="100"/>
          <a:sy n="26" d="100"/>
        </p:scale>
        <p:origin x="13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50BB5E-055D-4213-81F7-C0D9F64EF7C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4692F-6BD4-4D72-8352-56558A83A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52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embeddings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4692F-6BD4-4D72-8352-56558A83A12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309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this?</a:t>
            </a:r>
          </a:p>
          <a:p>
            <a:r>
              <a:rPr lang="en-US" dirty="0"/>
              <a:t>What was it used for before AI training </a:t>
            </a:r>
          </a:p>
          <a:p>
            <a:r>
              <a:rPr lang="en-US" dirty="0"/>
              <a:t>Gaming</a:t>
            </a:r>
          </a:p>
          <a:p>
            <a:r>
              <a:rPr lang="en-US" dirty="0"/>
              <a:t>Why is gaming so computationally demanding that you need a whole new piece of hardware?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4692F-6BD4-4D72-8352-56558A83A12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7428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contain a number of cores that are able to do binary math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4692F-6BD4-4D72-8352-56558A83A12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7177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say our operation is 1+1, then we’ll assign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4692F-6BD4-4D72-8352-56558A83A12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709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910BA-D4D6-F668-0AEA-EAA1C0CAC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61A844-C018-9F35-3A64-9DFE7B5E4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1508DE-C7C8-5D82-65E5-26A31B01C3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an issue if we have a few operations at a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A1429-38D0-6449-8574-C730157D99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4692F-6BD4-4D72-8352-56558A83A12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8685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2F824-3A97-7A2F-E69C-8A641DD2C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A5C0F1-32DC-3FAA-9C6C-41BD31F0BA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6F3B45-9348-B15A-5E8B-2A4320935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an issue if we have a few operations at a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872C8-A14F-0ED0-461F-29FF59F291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4692F-6BD4-4D72-8352-56558A83A12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6489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really have 9 products in C, then</a:t>
            </a:r>
          </a:p>
          <a:p>
            <a:r>
              <a:rPr lang="en-US" dirty="0"/>
              <a:t>By doing this, you’ve applied the dot products in B to A in every possible combination. </a:t>
            </a:r>
          </a:p>
          <a:p>
            <a:endParaRPr lang="en-US" dirty="0"/>
          </a:p>
          <a:p>
            <a:r>
              <a:rPr lang="en-US" dirty="0"/>
              <a:t>Now, we can rejoin our story from last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0335-CF4D-4074-A39F-62C4C7BE77D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0817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4692F-6BD4-4D72-8352-56558A83A12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0746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48E39-D5E3-65BC-6B5A-495044E3C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919FA2-4133-579A-ADA4-F10415983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8079ED-1124-106D-C8E3-63A2B2DDB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an issue if we have a few operations at a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BB75A-EDBF-BB2E-AB72-5F6B2BBD13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4692F-6BD4-4D72-8352-56558A83A12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6250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4692F-6BD4-4D72-8352-56558A83A12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6743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Matthew establishes a GPU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4692F-6BD4-4D72-8352-56558A83A12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7649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0B5F6-8246-A47C-E724-94B2F922B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C88EE4-474E-B912-34A3-143E7FEB66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6F7218-6E86-5AB1-373B-718870BD97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Overfit: </a:t>
            </a:r>
          </a:p>
          <a:p>
            <a:r>
              <a:rPr lang="en-US" dirty="0"/>
              <a:t>Options:</a:t>
            </a:r>
          </a:p>
          <a:p>
            <a:r>
              <a:rPr lang="en-US" dirty="0"/>
              <a:t>Scale back the model</a:t>
            </a:r>
          </a:p>
          <a:p>
            <a:r>
              <a:rPr lang="en-US" dirty="0"/>
              <a:t>Get more train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89B1D-8FE6-4764-28A1-AE22831FC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4692F-6BD4-4D72-8352-56558A83A12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546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9383-FCCB-73C8-7436-1AF0F8035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A2FD9C-0F89-2852-6C13-A92ACDCFD7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EFF3FB-13AC-5A2A-9A12-5E681B802E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hospital has some more training data they can share</a:t>
            </a:r>
          </a:p>
          <a:p>
            <a:r>
              <a:rPr lang="en-US" dirty="0"/>
              <a:t>What are their options for sharing this HIPAA protected data?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FCAD0-E5EE-925D-5BE6-7FA5E56AF3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4692F-6BD4-4D72-8352-56558A83A12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8193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Readme.md -&gt; markdown file where you can read more about the project</a:t>
            </a:r>
          </a:p>
          <a:p>
            <a:r>
              <a:rPr lang="en-US" dirty="0"/>
              <a:t>Model weights saved under .</a:t>
            </a:r>
            <a:r>
              <a:rPr lang="en-US" dirty="0" err="1"/>
              <a:t>ckpt</a:t>
            </a:r>
            <a:r>
              <a:rPr lang="en-US" dirty="0"/>
              <a:t> .</a:t>
            </a:r>
            <a:r>
              <a:rPr lang="en-US" dirty="0" err="1"/>
              <a:t>safetensors</a:t>
            </a:r>
            <a:r>
              <a:rPr lang="en-US" dirty="0"/>
              <a:t> files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4692F-6BD4-4D72-8352-56558A83A12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4803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Machine code = binary = 101001001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4692F-6BD4-4D72-8352-56558A83A12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035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CA988-CB34-CA8D-DF9E-FE445A293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4B1094-F822-A16C-769E-C1799145DD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DB11D-F725-437C-F54D-D7816DA28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93F44-6908-460A-BB0E-6CC11317AA70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07211-A4D9-940D-E71C-F4D66B9B0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D17A7-2AF1-9864-8201-0007292AE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AE58C-B786-491F-ACF3-451913941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36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C2948-BCFE-FA1C-A934-C96D055BE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75DC1-A520-14C1-EC03-77136DA8A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39874-D8E7-7BF3-242F-12D676B7F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93F44-6908-460A-BB0E-6CC11317AA70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21AF9-7011-0EEF-0F33-4AC3ACB39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D7102-4F02-78C6-E9FB-0AC2632F9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AE58C-B786-491F-ACF3-451913941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143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FD142-720D-EEE1-7D81-17D05EAE8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E2F7A-C88F-C3CC-3F9D-821A42E5F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E1AA3-7460-FDE3-51D2-A0BFFA947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93F44-6908-460A-BB0E-6CC11317AA70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613D7-BCAB-B4FE-75FF-98ABEA65E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689DD-09DA-32E6-3FEF-329844967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AE58C-B786-491F-ACF3-451913941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19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E02EF-0DE6-998E-576B-B7A1FB801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F9632-60DE-A43A-1338-071693193D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6E21C7-DDFA-C992-C06D-C6EF031637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0AF900-2D1F-E059-7126-E9F7F7143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93F44-6908-460A-BB0E-6CC11317AA70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0EBDA2-D62D-B4A7-4786-503E9706D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2EE263-B68A-3E1A-56ED-1C5F42905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AE58C-B786-491F-ACF3-451913941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684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5535F-EB73-67D0-0C15-BA0AF5B9D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90516-AF2E-996A-552D-75AEDA6C9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40840-952C-29C7-6C5A-A695ED4D5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685A98-8940-4F3D-6FF1-B4B95F9C5A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1A499-1172-70A3-546E-03E484C9B4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5872B4-6790-5BDD-6F0A-4177549C2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93F44-6908-460A-BB0E-6CC11317AA70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CCD183-77F9-C6D5-D8DC-BCF0AC7B1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41C1A6-6609-4784-7ABB-E776DA23D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AE58C-B786-491F-ACF3-451913941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719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C28DD-CAEE-7BAF-4A15-A09B16C0A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A13A90-729C-37EC-AC78-98A5AE25D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93F44-6908-460A-BB0E-6CC11317AA70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6863C3-8812-9958-FA66-EA5A1BA9C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F1A013-50FF-750E-6C1A-95D3E8C09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AE58C-B786-491F-ACF3-451913941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733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9AF4D9-CB22-D125-BA9D-FA9B252F5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93F44-6908-460A-BB0E-6CC11317AA70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CEA499-45E4-A3DA-74FE-A5E2D818F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8D594-6F40-A5C2-EEB1-C026430D2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AE58C-B786-491F-ACF3-451913941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100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A173D-6F7A-DC73-391F-841D55386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5EB5C-E3D5-2E3D-A5AF-3B1BDA856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0A5C5D-593A-4A7E-06B6-48497B187D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CEAFB0-66B0-779B-435C-90E3EB0C9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93F44-6908-460A-BB0E-6CC11317AA70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E5BFC3-27CC-DD60-7129-A30AFECF7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661200-E60D-01A8-BF32-D164FEC80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AE58C-B786-491F-ACF3-451913941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880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3BDA3-53B7-B65F-32E5-6E3219F2F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A272F4-6C95-E11C-9EFE-7EDAFA78F5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96BBC-A460-A600-A5F9-BEB77A6E0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D77C71-4BD2-A57D-B867-CB8679F2F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93F44-6908-460A-BB0E-6CC11317AA70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69A0B4-7703-C2E8-68C2-3E3F658B3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7F48AC-A026-1D64-07EE-AC67F44A2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AE58C-B786-491F-ACF3-451913941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372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CDFB8-A2A1-D217-A38E-BC656AE87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D4B22A-C76F-46F8-FB3B-A78E000B1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41D35-402B-9250-7D5C-DFC6836B3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93F44-6908-460A-BB0E-6CC11317AA70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5FE4D-FDC8-436D-6F17-3E7000BB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3F03B-45F7-A513-06D9-889F524F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AE58C-B786-491F-ACF3-451913941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05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DC7F07-3A6D-D14F-100E-B466EA6765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C8D700-347D-F6FB-47DF-C354529436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F30BC-46A3-DFA5-6ADE-4567CDC31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93F44-6908-460A-BB0E-6CC11317AA70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D1959-2CC0-A4B8-C897-6000BFEF7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F80C0-08D8-679B-B8FF-01550CD3D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AE58C-B786-491F-ACF3-451913941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652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01F725-E1F7-F1A5-FEBE-8BFE90215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B0C84-C8AE-3B6C-6A67-56CE49DDA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E7818-20DA-7B6F-54AF-5B34286A87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B93F44-6908-460A-BB0E-6CC11317AA70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DEDF5-DF04-E4BC-52F8-7390F0C2F8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DC4E5-909E-CB82-1358-34A8683D4F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BAE58C-B786-491F-ACF3-451913941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993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8A42C-A7CE-ED9B-3983-8DF9EA10D6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 to AI for Medicine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13554F-CE14-BE15-C4EA-B40381068C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Lec</a:t>
            </a:r>
            <a:r>
              <a:rPr lang="en-US" dirty="0"/>
              <a:t> 10: Practicalities of ML</a:t>
            </a:r>
          </a:p>
        </p:txBody>
      </p:sp>
    </p:spTree>
    <p:extLst>
      <p:ext uri="{BB962C8B-B14F-4D97-AF65-F5344CB8AC3E}">
        <p14:creationId xmlns:p14="http://schemas.microsoft.com/office/powerpoint/2010/main" val="3053875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BBA53-73FD-35FB-9B5E-894C0707F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EB5D9-E08B-B370-05B1-DF82B4E2E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5143"/>
            <a:ext cx="10515600" cy="4870677"/>
          </a:xfrm>
        </p:spPr>
        <p:txBody>
          <a:bodyPr/>
          <a:lstStyle/>
          <a:p>
            <a:r>
              <a:rPr lang="en-US" dirty="0"/>
              <a:t>Discussed the inner workings of LLMs</a:t>
            </a:r>
          </a:p>
          <a:p>
            <a:pPr lvl="1"/>
            <a:r>
              <a:rPr lang="en-US" dirty="0"/>
              <a:t>Language embeddings</a:t>
            </a:r>
          </a:p>
          <a:p>
            <a:pPr lvl="1"/>
            <a:r>
              <a:rPr lang="en-US" dirty="0"/>
              <a:t>Tokenization</a:t>
            </a:r>
          </a:p>
          <a:p>
            <a:pPr lvl="1"/>
            <a:r>
              <a:rPr lang="en-US" dirty="0"/>
              <a:t>Training regime -&gt; self-supervised multiclass classification</a:t>
            </a:r>
          </a:p>
          <a:p>
            <a:pPr lvl="1"/>
            <a:r>
              <a:rPr lang="en-US" dirty="0"/>
              <a:t>Attention Block (which is inside the Transformer)</a:t>
            </a:r>
          </a:p>
          <a:p>
            <a:r>
              <a:rPr lang="en-US" dirty="0"/>
              <a:t>Real world ramifications of LLMs</a:t>
            </a:r>
          </a:p>
          <a:p>
            <a:pPr lvl="1"/>
            <a:r>
              <a:rPr lang="en-US" dirty="0"/>
              <a:t>Environmental concerns</a:t>
            </a:r>
          </a:p>
          <a:p>
            <a:pPr lvl="1"/>
            <a:r>
              <a:rPr lang="en-US" dirty="0"/>
              <a:t>Hallucinations and Bias (look to the data!)</a:t>
            </a:r>
          </a:p>
          <a:p>
            <a:r>
              <a:rPr lang="en-US" dirty="0"/>
              <a:t>Ways LLMs are innovating in medicine</a:t>
            </a:r>
          </a:p>
          <a:p>
            <a:pPr lvl="1"/>
            <a:r>
              <a:rPr lang="en-US" dirty="0"/>
              <a:t>RAGs and document embeddings -&gt; </a:t>
            </a:r>
            <a:r>
              <a:rPr lang="en-US" dirty="0" err="1"/>
              <a:t>OpenEvidence</a:t>
            </a:r>
            <a:endParaRPr lang="en-US" dirty="0"/>
          </a:p>
          <a:p>
            <a:pPr lvl="1"/>
            <a:r>
              <a:rPr lang="en-US" dirty="0"/>
              <a:t>Multimodality learning and foundation models</a:t>
            </a:r>
          </a:p>
        </p:txBody>
      </p:sp>
    </p:spTree>
    <p:extLst>
      <p:ext uri="{BB962C8B-B14F-4D97-AF65-F5344CB8AC3E}">
        <p14:creationId xmlns:p14="http://schemas.microsoft.com/office/powerpoint/2010/main" val="4182401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23AB0-5BDB-527B-7EE0-B0899EE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1502D-07C8-6D82-4FC9-BF5080CAA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 the rubber meets the road: Infrastructure supporting AI/ML</a:t>
            </a:r>
          </a:p>
          <a:p>
            <a:r>
              <a:rPr lang="en-US" dirty="0"/>
              <a:t>Out of context learning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530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GeForce 10 Series Graphics Cards">
            <a:extLst>
              <a:ext uri="{FF2B5EF4-FFF2-40B4-BE49-F238E27FC236}">
                <a16:creationId xmlns:a16="http://schemas.microsoft.com/office/drawing/2014/main" id="{360987D8-3BFF-74B3-BFBF-49E85827B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19100"/>
            <a:ext cx="11430000" cy="601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2560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A60D5-B647-5820-8575-DAA48043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vs GPU</a:t>
            </a:r>
          </a:p>
        </p:txBody>
      </p:sp>
      <p:pic>
        <p:nvPicPr>
          <p:cNvPr id="4" name="Picture 4" descr="GeForce 10 Series Graphics Cards">
            <a:extLst>
              <a:ext uri="{FF2B5EF4-FFF2-40B4-BE49-F238E27FC236}">
                <a16:creationId xmlns:a16="http://schemas.microsoft.com/office/drawing/2014/main" id="{49A1FF77-9AEE-3289-695E-4833F2DBD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261" y="3208893"/>
            <a:ext cx="5881687" cy="3097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ntel's Upcoming 12-Core CPU May Clock Well Below AMD's Threadripper |  Extremetech">
            <a:extLst>
              <a:ext uri="{FF2B5EF4-FFF2-40B4-BE49-F238E27FC236}">
                <a16:creationId xmlns:a16="http://schemas.microsoft.com/office/drawing/2014/main" id="{A07B0823-FD92-A4FF-1BF5-C342872AD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4641" y="551419"/>
            <a:ext cx="4352925" cy="2450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1DE1888-FAF2-A02E-5F72-30688B794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214" y="1825625"/>
            <a:ext cx="5186362" cy="4351338"/>
          </a:xfrm>
        </p:spPr>
        <p:txBody>
          <a:bodyPr/>
          <a:lstStyle/>
          <a:p>
            <a:r>
              <a:rPr lang="en-US" dirty="0"/>
              <a:t>CPU: Central Processing Unit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GPU: Graphics Processing Unit</a:t>
            </a:r>
          </a:p>
        </p:txBody>
      </p:sp>
    </p:spTree>
    <p:extLst>
      <p:ext uri="{BB962C8B-B14F-4D97-AF65-F5344CB8AC3E}">
        <p14:creationId xmlns:p14="http://schemas.microsoft.com/office/powerpoint/2010/main" val="1378054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6D7CF-551A-1AC5-BDCC-3183982A2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5E211-5B8D-C59A-E3A3-E0E789C78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vs GPU</a:t>
            </a:r>
          </a:p>
        </p:txBody>
      </p:sp>
      <p:pic>
        <p:nvPicPr>
          <p:cNvPr id="2050" name="Picture 2" descr="Intel's Upcoming 12-Core CPU May Clock Well Below AMD's Threadripper |  Extremetech">
            <a:extLst>
              <a:ext uri="{FF2B5EF4-FFF2-40B4-BE49-F238E27FC236}">
                <a16:creationId xmlns:a16="http://schemas.microsoft.com/office/drawing/2014/main" id="{FEC730AC-4DDB-F702-1499-48365C9BB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3732"/>
            <a:ext cx="4352925" cy="2450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FE09983-17AE-15EA-76E0-9C2525A337FD}"/>
              </a:ext>
            </a:extLst>
          </p:cNvPr>
          <p:cNvCxnSpPr>
            <a:stCxn id="2050" idx="3"/>
          </p:cNvCxnSpPr>
          <p:nvPr/>
        </p:nvCxnSpPr>
        <p:spPr>
          <a:xfrm>
            <a:off x="4352925" y="3429000"/>
            <a:ext cx="134778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8331159A-D578-AAC0-E3E4-F38C9480F6B5}"/>
              </a:ext>
            </a:extLst>
          </p:cNvPr>
          <p:cNvSpPr/>
          <p:nvPr/>
        </p:nvSpPr>
        <p:spPr>
          <a:xfrm>
            <a:off x="6050751" y="661988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67A4170-BB68-BE95-51D6-4B30CFDD0F1B}"/>
              </a:ext>
            </a:extLst>
          </p:cNvPr>
          <p:cNvSpPr/>
          <p:nvPr/>
        </p:nvSpPr>
        <p:spPr>
          <a:xfrm>
            <a:off x="6050754" y="1347788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BDC623D-DBB2-F12B-72A5-33EB074D4272}"/>
              </a:ext>
            </a:extLst>
          </p:cNvPr>
          <p:cNvSpPr/>
          <p:nvPr/>
        </p:nvSpPr>
        <p:spPr>
          <a:xfrm>
            <a:off x="6050754" y="2033588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03B055A-6916-7C0D-EBCD-71948AED57DE}"/>
              </a:ext>
            </a:extLst>
          </p:cNvPr>
          <p:cNvSpPr/>
          <p:nvPr/>
        </p:nvSpPr>
        <p:spPr>
          <a:xfrm>
            <a:off x="6050754" y="2719388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6BB1084-906D-6B6E-0ABD-F32ED5F03490}"/>
              </a:ext>
            </a:extLst>
          </p:cNvPr>
          <p:cNvSpPr/>
          <p:nvPr/>
        </p:nvSpPr>
        <p:spPr>
          <a:xfrm>
            <a:off x="6050752" y="3371850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B94407B-5C31-9084-4F0A-A5AF3BEF84EA}"/>
              </a:ext>
            </a:extLst>
          </p:cNvPr>
          <p:cNvSpPr/>
          <p:nvPr/>
        </p:nvSpPr>
        <p:spPr>
          <a:xfrm>
            <a:off x="6050753" y="4057650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A9A5E2B-E8C9-992B-3572-AA2DB11C68E4}"/>
              </a:ext>
            </a:extLst>
          </p:cNvPr>
          <p:cNvSpPr/>
          <p:nvPr/>
        </p:nvSpPr>
        <p:spPr>
          <a:xfrm>
            <a:off x="6050753" y="4743450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7BE17FD-EA7B-3208-1122-E54A6E35DB02}"/>
              </a:ext>
            </a:extLst>
          </p:cNvPr>
          <p:cNvSpPr/>
          <p:nvPr/>
        </p:nvSpPr>
        <p:spPr>
          <a:xfrm>
            <a:off x="6050753" y="5429250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AFB20C-2845-AE9C-39B7-83E67AEE24BF}"/>
              </a:ext>
            </a:extLst>
          </p:cNvPr>
          <p:cNvSpPr txBox="1"/>
          <p:nvPr/>
        </p:nvSpPr>
        <p:spPr>
          <a:xfrm>
            <a:off x="7096126" y="796676"/>
            <a:ext cx="486726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Inside the CPU are “cores”</a:t>
            </a:r>
          </a:p>
          <a:p>
            <a:endParaRPr lang="en-US" sz="2800" dirty="0"/>
          </a:p>
          <a:p>
            <a:r>
              <a:rPr lang="en-US" sz="2800" dirty="0"/>
              <a:t>These cores are assigned operations individually as they come</a:t>
            </a:r>
          </a:p>
        </p:txBody>
      </p:sp>
    </p:spTree>
    <p:extLst>
      <p:ext uri="{BB962C8B-B14F-4D97-AF65-F5344CB8AC3E}">
        <p14:creationId xmlns:p14="http://schemas.microsoft.com/office/powerpoint/2010/main" val="2577098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EF6FE-408C-7FC6-4E6E-B198813D8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EBA07-CE23-A2DB-D5CF-018D37EFE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vs GPU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F2FD989-4EC4-6F8D-EC13-3D35B3081212}"/>
              </a:ext>
            </a:extLst>
          </p:cNvPr>
          <p:cNvSpPr/>
          <p:nvPr/>
        </p:nvSpPr>
        <p:spPr>
          <a:xfrm>
            <a:off x="5745956" y="790576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4E01640-BAE0-0279-6BF6-4324386C9644}"/>
              </a:ext>
            </a:extLst>
          </p:cNvPr>
          <p:cNvSpPr/>
          <p:nvPr/>
        </p:nvSpPr>
        <p:spPr>
          <a:xfrm>
            <a:off x="5745959" y="1476376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CF4761C-A357-636A-E58A-D7B60B505EA5}"/>
              </a:ext>
            </a:extLst>
          </p:cNvPr>
          <p:cNvSpPr/>
          <p:nvPr/>
        </p:nvSpPr>
        <p:spPr>
          <a:xfrm>
            <a:off x="5745959" y="2162176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82557E-B56F-4E17-D5D4-1358FC839B68}"/>
              </a:ext>
            </a:extLst>
          </p:cNvPr>
          <p:cNvSpPr/>
          <p:nvPr/>
        </p:nvSpPr>
        <p:spPr>
          <a:xfrm>
            <a:off x="5745959" y="2847976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1F50D1-EACF-E036-A707-22888C1B9C38}"/>
              </a:ext>
            </a:extLst>
          </p:cNvPr>
          <p:cNvSpPr/>
          <p:nvPr/>
        </p:nvSpPr>
        <p:spPr>
          <a:xfrm>
            <a:off x="5745957" y="3500438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6863DEC-B9ED-019B-E153-CFC12D1BE444}"/>
              </a:ext>
            </a:extLst>
          </p:cNvPr>
          <p:cNvSpPr/>
          <p:nvPr/>
        </p:nvSpPr>
        <p:spPr>
          <a:xfrm>
            <a:off x="5745958" y="4186238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A12701E-0AED-9A56-05C7-C25CE2F9306F}"/>
              </a:ext>
            </a:extLst>
          </p:cNvPr>
          <p:cNvSpPr/>
          <p:nvPr/>
        </p:nvSpPr>
        <p:spPr>
          <a:xfrm>
            <a:off x="5745958" y="4872038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3998381-3E35-3B88-A328-5DDC16A08B34}"/>
              </a:ext>
            </a:extLst>
          </p:cNvPr>
          <p:cNvSpPr/>
          <p:nvPr/>
        </p:nvSpPr>
        <p:spPr>
          <a:xfrm>
            <a:off x="5745958" y="5557838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FA4762-4225-6AD7-D179-CD2358CF3C78}"/>
              </a:ext>
            </a:extLst>
          </p:cNvPr>
          <p:cNvSpPr txBox="1"/>
          <p:nvPr/>
        </p:nvSpPr>
        <p:spPr>
          <a:xfrm>
            <a:off x="1243605" y="3190876"/>
            <a:ext cx="2800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1+1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88ABBB-C75C-6745-360F-49DFADEB6C42}"/>
              </a:ext>
            </a:extLst>
          </p:cNvPr>
          <p:cNvSpPr/>
          <p:nvPr/>
        </p:nvSpPr>
        <p:spPr>
          <a:xfrm>
            <a:off x="3436737" y="3086100"/>
            <a:ext cx="1214438" cy="6858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F7CF582-3B2C-16F8-9B6C-24B7024F78B6}"/>
              </a:ext>
            </a:extLst>
          </p:cNvPr>
          <p:cNvCxnSpPr>
            <a:cxnSpLocks/>
          </p:cNvCxnSpPr>
          <p:nvPr/>
        </p:nvCxnSpPr>
        <p:spPr>
          <a:xfrm>
            <a:off x="2163960" y="3429000"/>
            <a:ext cx="115847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D2922CD-E97E-0F19-9810-9EEEF695DDFD}"/>
              </a:ext>
            </a:extLst>
          </p:cNvPr>
          <p:cNvSpPr txBox="1"/>
          <p:nvPr/>
        </p:nvSpPr>
        <p:spPr>
          <a:xfrm>
            <a:off x="5553670" y="202735"/>
            <a:ext cx="2800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Cores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83A75C-9DD5-2CFA-FBDD-A8325C98AE76}"/>
              </a:ext>
            </a:extLst>
          </p:cNvPr>
          <p:cNvSpPr txBox="1"/>
          <p:nvPr/>
        </p:nvSpPr>
        <p:spPr>
          <a:xfrm>
            <a:off x="3150987" y="2548594"/>
            <a:ext cx="2800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Scheduler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6CF1676-6109-20F8-9033-673D347E5F46}"/>
              </a:ext>
            </a:extLst>
          </p:cNvPr>
          <p:cNvCxnSpPr>
            <a:cxnSpLocks/>
          </p:cNvCxnSpPr>
          <p:nvPr/>
        </p:nvCxnSpPr>
        <p:spPr>
          <a:xfrm flipV="1">
            <a:off x="4765475" y="1373983"/>
            <a:ext cx="980481" cy="205501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79532860-2019-72A1-7E24-FF6EBEFB9687}"/>
              </a:ext>
            </a:extLst>
          </p:cNvPr>
          <p:cNvSpPr/>
          <p:nvPr/>
        </p:nvSpPr>
        <p:spPr>
          <a:xfrm>
            <a:off x="5900143" y="954883"/>
            <a:ext cx="391712" cy="342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39111F-93BF-40F8-01C1-0BEB290F223C}"/>
              </a:ext>
            </a:extLst>
          </p:cNvPr>
          <p:cNvSpPr txBox="1"/>
          <p:nvPr/>
        </p:nvSpPr>
        <p:spPr>
          <a:xfrm>
            <a:off x="7096126" y="796676"/>
            <a:ext cx="48672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scheduler assigns to cores that aren’t busy</a:t>
            </a:r>
          </a:p>
        </p:txBody>
      </p:sp>
    </p:spTree>
    <p:extLst>
      <p:ext uri="{BB962C8B-B14F-4D97-AF65-F5344CB8AC3E}">
        <p14:creationId xmlns:p14="http://schemas.microsoft.com/office/powerpoint/2010/main" val="1066960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75C91-F4C5-4D29-EA1B-6B395984A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431B3-4EEB-AD2A-1C29-FC67E9C1A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vs GPU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1EDB8FC-6A49-2AAB-E9F6-BF263FA902D3}"/>
              </a:ext>
            </a:extLst>
          </p:cNvPr>
          <p:cNvSpPr/>
          <p:nvPr/>
        </p:nvSpPr>
        <p:spPr>
          <a:xfrm>
            <a:off x="5745956" y="790576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BA4BBE-1F2C-CD54-4695-7246E67DA924}"/>
              </a:ext>
            </a:extLst>
          </p:cNvPr>
          <p:cNvSpPr txBox="1"/>
          <p:nvPr/>
        </p:nvSpPr>
        <p:spPr>
          <a:xfrm>
            <a:off x="1243605" y="3190876"/>
            <a:ext cx="2800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1+1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114A911-E5E5-2A06-DBAA-BD19692E3266}"/>
              </a:ext>
            </a:extLst>
          </p:cNvPr>
          <p:cNvSpPr/>
          <p:nvPr/>
        </p:nvSpPr>
        <p:spPr>
          <a:xfrm>
            <a:off x="3436737" y="3086100"/>
            <a:ext cx="1214438" cy="6858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A4932D1-143C-598B-EEE5-80999EABD55E}"/>
              </a:ext>
            </a:extLst>
          </p:cNvPr>
          <p:cNvCxnSpPr>
            <a:cxnSpLocks/>
          </p:cNvCxnSpPr>
          <p:nvPr/>
        </p:nvCxnSpPr>
        <p:spPr>
          <a:xfrm>
            <a:off x="2163960" y="3429000"/>
            <a:ext cx="115847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2F00EB5-2F6D-2C85-D36C-E68F078276F2}"/>
              </a:ext>
            </a:extLst>
          </p:cNvPr>
          <p:cNvSpPr txBox="1"/>
          <p:nvPr/>
        </p:nvSpPr>
        <p:spPr>
          <a:xfrm>
            <a:off x="5553670" y="202735"/>
            <a:ext cx="2800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Cores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22730B-359F-FE3C-76B1-24F891C34D1F}"/>
              </a:ext>
            </a:extLst>
          </p:cNvPr>
          <p:cNvSpPr txBox="1"/>
          <p:nvPr/>
        </p:nvSpPr>
        <p:spPr>
          <a:xfrm>
            <a:off x="3150987" y="2548594"/>
            <a:ext cx="2800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Scheduler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6229F3-735F-4207-07E0-5C602F83D60D}"/>
              </a:ext>
            </a:extLst>
          </p:cNvPr>
          <p:cNvSpPr/>
          <p:nvPr/>
        </p:nvSpPr>
        <p:spPr>
          <a:xfrm>
            <a:off x="5900143" y="954883"/>
            <a:ext cx="391712" cy="342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847E4B-0E63-CCC4-C62F-BF86592F7224}"/>
              </a:ext>
            </a:extLst>
          </p:cNvPr>
          <p:cNvSpPr txBox="1"/>
          <p:nvPr/>
        </p:nvSpPr>
        <p:spPr>
          <a:xfrm>
            <a:off x="7096126" y="796676"/>
            <a:ext cx="486726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What if all our cores are busy?</a:t>
            </a:r>
          </a:p>
          <a:p>
            <a:endParaRPr lang="en-US" sz="2800" dirty="0"/>
          </a:p>
          <a:p>
            <a:r>
              <a:rPr lang="en-US" sz="2800" dirty="0"/>
              <a:t>Then we have to wait</a:t>
            </a:r>
          </a:p>
          <a:p>
            <a:endParaRPr lang="en-US" sz="2800" dirty="0"/>
          </a:p>
          <a:p>
            <a:r>
              <a:rPr lang="en-US" sz="2800" dirty="0"/>
              <a:t>Not an issue if we have only a few operations at a time – even if complex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21D239F-4115-3343-AA34-D6A1E4AC5905}"/>
              </a:ext>
            </a:extLst>
          </p:cNvPr>
          <p:cNvSpPr/>
          <p:nvPr/>
        </p:nvSpPr>
        <p:spPr>
          <a:xfrm>
            <a:off x="5745956" y="1467508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9BE79CC-5CF6-51F2-5540-B31D9BE9EAA2}"/>
              </a:ext>
            </a:extLst>
          </p:cNvPr>
          <p:cNvSpPr/>
          <p:nvPr/>
        </p:nvSpPr>
        <p:spPr>
          <a:xfrm>
            <a:off x="5900143" y="1631815"/>
            <a:ext cx="391712" cy="342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044B6F3-3BEA-0078-74C1-938090A49968}"/>
              </a:ext>
            </a:extLst>
          </p:cNvPr>
          <p:cNvSpPr/>
          <p:nvPr/>
        </p:nvSpPr>
        <p:spPr>
          <a:xfrm>
            <a:off x="5745956" y="2144440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671C12A-8477-10B0-7678-E67E93AED64D}"/>
              </a:ext>
            </a:extLst>
          </p:cNvPr>
          <p:cNvSpPr/>
          <p:nvPr/>
        </p:nvSpPr>
        <p:spPr>
          <a:xfrm>
            <a:off x="5900143" y="2308747"/>
            <a:ext cx="391712" cy="342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088FF5B-9454-A7EE-A75F-20C90108AF11}"/>
              </a:ext>
            </a:extLst>
          </p:cNvPr>
          <p:cNvSpPr/>
          <p:nvPr/>
        </p:nvSpPr>
        <p:spPr>
          <a:xfrm>
            <a:off x="5745956" y="2821372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443E44C-49C8-5C19-C6DA-50799CFCAC4F}"/>
              </a:ext>
            </a:extLst>
          </p:cNvPr>
          <p:cNvSpPr/>
          <p:nvPr/>
        </p:nvSpPr>
        <p:spPr>
          <a:xfrm>
            <a:off x="5900143" y="2985679"/>
            <a:ext cx="391712" cy="342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EC95D69-ED7B-2F98-5DFC-D3A5E61BDA30}"/>
              </a:ext>
            </a:extLst>
          </p:cNvPr>
          <p:cNvSpPr/>
          <p:nvPr/>
        </p:nvSpPr>
        <p:spPr>
          <a:xfrm>
            <a:off x="5745957" y="3510212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F70AD1C-B196-70F2-B11F-941520F62EFA}"/>
              </a:ext>
            </a:extLst>
          </p:cNvPr>
          <p:cNvSpPr/>
          <p:nvPr/>
        </p:nvSpPr>
        <p:spPr>
          <a:xfrm>
            <a:off x="5900144" y="3674519"/>
            <a:ext cx="391712" cy="342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0755B54-9550-FFC5-51E8-441473E71C7B}"/>
              </a:ext>
            </a:extLst>
          </p:cNvPr>
          <p:cNvSpPr/>
          <p:nvPr/>
        </p:nvSpPr>
        <p:spPr>
          <a:xfrm>
            <a:off x="5745957" y="4187144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BDC003C-EEDF-026C-991E-A29B27D0F11E}"/>
              </a:ext>
            </a:extLst>
          </p:cNvPr>
          <p:cNvSpPr/>
          <p:nvPr/>
        </p:nvSpPr>
        <p:spPr>
          <a:xfrm>
            <a:off x="5900144" y="4351451"/>
            <a:ext cx="391712" cy="342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0D8953D-39CF-0AFE-9003-E59289FCAE52}"/>
              </a:ext>
            </a:extLst>
          </p:cNvPr>
          <p:cNvSpPr/>
          <p:nvPr/>
        </p:nvSpPr>
        <p:spPr>
          <a:xfrm>
            <a:off x="5745957" y="4864076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11FAA6A-355B-B29B-2EDC-AA5B2805954E}"/>
              </a:ext>
            </a:extLst>
          </p:cNvPr>
          <p:cNvSpPr/>
          <p:nvPr/>
        </p:nvSpPr>
        <p:spPr>
          <a:xfrm>
            <a:off x="5900144" y="5028383"/>
            <a:ext cx="391712" cy="342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3AC915F-4277-781D-D5FA-8CC91D052E91}"/>
              </a:ext>
            </a:extLst>
          </p:cNvPr>
          <p:cNvSpPr/>
          <p:nvPr/>
        </p:nvSpPr>
        <p:spPr>
          <a:xfrm>
            <a:off x="5745957" y="5541008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D8A82B4-42B7-E97A-2685-3DCE20450C92}"/>
              </a:ext>
            </a:extLst>
          </p:cNvPr>
          <p:cNvSpPr/>
          <p:nvPr/>
        </p:nvSpPr>
        <p:spPr>
          <a:xfrm>
            <a:off x="5900144" y="5705315"/>
            <a:ext cx="391712" cy="342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402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50F66-C7E6-48D8-DDD1-190417AE8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0967B-594A-43C2-4397-917F61E86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vs GPU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371B609-631D-6102-AD85-50A1506613FC}"/>
              </a:ext>
            </a:extLst>
          </p:cNvPr>
          <p:cNvSpPr/>
          <p:nvPr/>
        </p:nvSpPr>
        <p:spPr>
          <a:xfrm>
            <a:off x="5745956" y="790576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8CB9D-362F-1827-CED9-DD1851BEA12A}"/>
              </a:ext>
            </a:extLst>
          </p:cNvPr>
          <p:cNvSpPr txBox="1"/>
          <p:nvPr/>
        </p:nvSpPr>
        <p:spPr>
          <a:xfrm>
            <a:off x="1243605" y="3190876"/>
            <a:ext cx="766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3*9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BA945B8-8BC0-CCA1-FE9D-E9351C3BBA32}"/>
              </a:ext>
            </a:extLst>
          </p:cNvPr>
          <p:cNvSpPr/>
          <p:nvPr/>
        </p:nvSpPr>
        <p:spPr>
          <a:xfrm>
            <a:off x="3436737" y="3086100"/>
            <a:ext cx="1214438" cy="6858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2AF4792-0F34-707F-66A9-6475643E70BD}"/>
              </a:ext>
            </a:extLst>
          </p:cNvPr>
          <p:cNvCxnSpPr>
            <a:cxnSpLocks/>
          </p:cNvCxnSpPr>
          <p:nvPr/>
        </p:nvCxnSpPr>
        <p:spPr>
          <a:xfrm>
            <a:off x="2163960" y="3429000"/>
            <a:ext cx="115847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92A42D0-A853-C597-9B74-0FC699DEBADE}"/>
              </a:ext>
            </a:extLst>
          </p:cNvPr>
          <p:cNvSpPr txBox="1"/>
          <p:nvPr/>
        </p:nvSpPr>
        <p:spPr>
          <a:xfrm>
            <a:off x="5553670" y="202735"/>
            <a:ext cx="2800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Cores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7FC0C7-B254-3944-7A7B-67125C12DB5E}"/>
              </a:ext>
            </a:extLst>
          </p:cNvPr>
          <p:cNvSpPr txBox="1"/>
          <p:nvPr/>
        </p:nvSpPr>
        <p:spPr>
          <a:xfrm>
            <a:off x="3150987" y="2548594"/>
            <a:ext cx="2800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Scheduler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9638298-1E1A-5995-F10D-E294964A66CC}"/>
              </a:ext>
            </a:extLst>
          </p:cNvPr>
          <p:cNvSpPr/>
          <p:nvPr/>
        </p:nvSpPr>
        <p:spPr>
          <a:xfrm>
            <a:off x="5900143" y="954883"/>
            <a:ext cx="391712" cy="342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879B24-6512-F341-1E08-56F06FA69F05}"/>
              </a:ext>
            </a:extLst>
          </p:cNvPr>
          <p:cNvSpPr txBox="1"/>
          <p:nvPr/>
        </p:nvSpPr>
        <p:spPr>
          <a:xfrm>
            <a:off x="7096126" y="796676"/>
            <a:ext cx="486726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What if we have a bunch of simple operations?</a:t>
            </a:r>
          </a:p>
          <a:p>
            <a:endParaRPr lang="en-US" sz="2800" dirty="0"/>
          </a:p>
          <a:p>
            <a:r>
              <a:rPr lang="en-US" sz="2800" dirty="0"/>
              <a:t>It would be better if we had a bunch of cores – even if they were less powerful individually</a:t>
            </a:r>
          </a:p>
          <a:p>
            <a:endParaRPr lang="en-US" sz="2800" dirty="0"/>
          </a:p>
          <a:p>
            <a:r>
              <a:rPr lang="en-US" sz="2800" b="1" dirty="0"/>
              <a:t>What kind of operation packages a ton of simple multiplications and additions into one?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A218AFE-496D-CDE0-804D-AB83591480F5}"/>
              </a:ext>
            </a:extLst>
          </p:cNvPr>
          <p:cNvSpPr/>
          <p:nvPr/>
        </p:nvSpPr>
        <p:spPr>
          <a:xfrm>
            <a:off x="5745956" y="1467508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FD13F6B-EB67-318B-3540-01DA3FC4CD27}"/>
              </a:ext>
            </a:extLst>
          </p:cNvPr>
          <p:cNvSpPr/>
          <p:nvPr/>
        </p:nvSpPr>
        <p:spPr>
          <a:xfrm>
            <a:off x="5900143" y="1631815"/>
            <a:ext cx="391712" cy="342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CECC67F-078F-7E18-D863-380F87233B73}"/>
              </a:ext>
            </a:extLst>
          </p:cNvPr>
          <p:cNvSpPr/>
          <p:nvPr/>
        </p:nvSpPr>
        <p:spPr>
          <a:xfrm>
            <a:off x="5745956" y="2144440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6816CA7-6357-97AB-B920-D407E505FDC1}"/>
              </a:ext>
            </a:extLst>
          </p:cNvPr>
          <p:cNvSpPr/>
          <p:nvPr/>
        </p:nvSpPr>
        <p:spPr>
          <a:xfrm>
            <a:off x="5900143" y="2308747"/>
            <a:ext cx="391712" cy="342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5ED10FB-8DC0-E8B4-AD7A-2160DBDBBF2F}"/>
              </a:ext>
            </a:extLst>
          </p:cNvPr>
          <p:cNvSpPr/>
          <p:nvPr/>
        </p:nvSpPr>
        <p:spPr>
          <a:xfrm>
            <a:off x="5745956" y="2821372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0AC1E10-520A-F518-7E33-CDD4E79873BA}"/>
              </a:ext>
            </a:extLst>
          </p:cNvPr>
          <p:cNvSpPr/>
          <p:nvPr/>
        </p:nvSpPr>
        <p:spPr>
          <a:xfrm>
            <a:off x="5900143" y="2985679"/>
            <a:ext cx="391712" cy="342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1033633-F209-02B0-D81B-913F4CBB4DA4}"/>
              </a:ext>
            </a:extLst>
          </p:cNvPr>
          <p:cNvSpPr/>
          <p:nvPr/>
        </p:nvSpPr>
        <p:spPr>
          <a:xfrm>
            <a:off x="5745957" y="3510212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5CDBA44-E3EE-FA33-E221-951CEBBAB074}"/>
              </a:ext>
            </a:extLst>
          </p:cNvPr>
          <p:cNvSpPr/>
          <p:nvPr/>
        </p:nvSpPr>
        <p:spPr>
          <a:xfrm>
            <a:off x="5900144" y="3674519"/>
            <a:ext cx="391712" cy="342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23E0CCC-CC60-5773-44AF-16692F046D47}"/>
              </a:ext>
            </a:extLst>
          </p:cNvPr>
          <p:cNvSpPr/>
          <p:nvPr/>
        </p:nvSpPr>
        <p:spPr>
          <a:xfrm>
            <a:off x="5745957" y="4187144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A7F4DA6-26E7-7A27-FC64-BDEC5A2540D8}"/>
              </a:ext>
            </a:extLst>
          </p:cNvPr>
          <p:cNvSpPr/>
          <p:nvPr/>
        </p:nvSpPr>
        <p:spPr>
          <a:xfrm>
            <a:off x="5900144" y="4351451"/>
            <a:ext cx="391712" cy="342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F6FF041-3CD6-6143-FEE2-097544C215C2}"/>
              </a:ext>
            </a:extLst>
          </p:cNvPr>
          <p:cNvSpPr/>
          <p:nvPr/>
        </p:nvSpPr>
        <p:spPr>
          <a:xfrm>
            <a:off x="5745957" y="4864076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2AF07E4-6F05-0637-C99A-C9FC1A33A874}"/>
              </a:ext>
            </a:extLst>
          </p:cNvPr>
          <p:cNvSpPr/>
          <p:nvPr/>
        </p:nvSpPr>
        <p:spPr>
          <a:xfrm>
            <a:off x="5900144" y="5028383"/>
            <a:ext cx="391712" cy="342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BF7B99B-E7EC-BC31-7655-81D31CAA6FF3}"/>
              </a:ext>
            </a:extLst>
          </p:cNvPr>
          <p:cNvSpPr/>
          <p:nvPr/>
        </p:nvSpPr>
        <p:spPr>
          <a:xfrm>
            <a:off x="5745957" y="5541008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39D03D4-FA06-85D3-CE29-FA367E0531B7}"/>
              </a:ext>
            </a:extLst>
          </p:cNvPr>
          <p:cNvSpPr/>
          <p:nvPr/>
        </p:nvSpPr>
        <p:spPr>
          <a:xfrm>
            <a:off x="5900144" y="5705315"/>
            <a:ext cx="391712" cy="342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8BBA04-F7EA-9955-DBB0-15562CF5B8FD}"/>
              </a:ext>
            </a:extLst>
          </p:cNvPr>
          <p:cNvSpPr txBox="1"/>
          <p:nvPr/>
        </p:nvSpPr>
        <p:spPr>
          <a:xfrm>
            <a:off x="927193" y="3714096"/>
            <a:ext cx="766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4*2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D716E7-7F80-8614-C3E1-AA87CB35B81F}"/>
              </a:ext>
            </a:extLst>
          </p:cNvPr>
          <p:cNvSpPr txBox="1"/>
          <p:nvPr/>
        </p:nvSpPr>
        <p:spPr>
          <a:xfrm>
            <a:off x="610781" y="4237316"/>
            <a:ext cx="766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8*1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44AB81-49E4-EA21-B538-1BC033996C6B}"/>
              </a:ext>
            </a:extLst>
          </p:cNvPr>
          <p:cNvSpPr txBox="1"/>
          <p:nvPr/>
        </p:nvSpPr>
        <p:spPr>
          <a:xfrm>
            <a:off x="1693360" y="4030889"/>
            <a:ext cx="949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71*2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69C174-B287-F755-66D8-A54B501782BD}"/>
              </a:ext>
            </a:extLst>
          </p:cNvPr>
          <p:cNvSpPr txBox="1"/>
          <p:nvPr/>
        </p:nvSpPr>
        <p:spPr>
          <a:xfrm>
            <a:off x="467301" y="2838780"/>
            <a:ext cx="10060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12*3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C2104D-233C-1235-3549-820AE12F479B}"/>
              </a:ext>
            </a:extLst>
          </p:cNvPr>
          <p:cNvSpPr txBox="1"/>
          <p:nvPr/>
        </p:nvSpPr>
        <p:spPr>
          <a:xfrm>
            <a:off x="1274264" y="2667656"/>
            <a:ext cx="11584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18*31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3DA9BE-F4D3-FF8C-EAA0-1779CE35F384}"/>
              </a:ext>
            </a:extLst>
          </p:cNvPr>
          <p:cNvSpPr txBox="1"/>
          <p:nvPr/>
        </p:nvSpPr>
        <p:spPr>
          <a:xfrm>
            <a:off x="1221862" y="4243477"/>
            <a:ext cx="949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4*9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FBE7BC-3321-EBC8-F515-891AD718AC3D}"/>
              </a:ext>
            </a:extLst>
          </p:cNvPr>
          <p:cNvSpPr txBox="1"/>
          <p:nvPr/>
        </p:nvSpPr>
        <p:spPr>
          <a:xfrm>
            <a:off x="1951429" y="4925105"/>
            <a:ext cx="766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3*9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865BA7-E82A-14A4-FE67-2D950A96B9AB}"/>
              </a:ext>
            </a:extLst>
          </p:cNvPr>
          <p:cNvSpPr txBox="1"/>
          <p:nvPr/>
        </p:nvSpPr>
        <p:spPr>
          <a:xfrm>
            <a:off x="1635017" y="5448325"/>
            <a:ext cx="766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4*2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1AA6EED-4FDF-E8A8-D29B-3D024A237E6C}"/>
              </a:ext>
            </a:extLst>
          </p:cNvPr>
          <p:cNvSpPr txBox="1"/>
          <p:nvPr/>
        </p:nvSpPr>
        <p:spPr>
          <a:xfrm>
            <a:off x="1318605" y="5971545"/>
            <a:ext cx="766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8*1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B4B1DE-2785-5458-26E0-239E1EE8081E}"/>
              </a:ext>
            </a:extLst>
          </p:cNvPr>
          <p:cNvSpPr txBox="1"/>
          <p:nvPr/>
        </p:nvSpPr>
        <p:spPr>
          <a:xfrm>
            <a:off x="2401184" y="5765118"/>
            <a:ext cx="949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71*2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ED8F5CF-DF8E-03DC-BAA1-37827ACE65C4}"/>
              </a:ext>
            </a:extLst>
          </p:cNvPr>
          <p:cNvSpPr txBox="1"/>
          <p:nvPr/>
        </p:nvSpPr>
        <p:spPr>
          <a:xfrm>
            <a:off x="1175125" y="4573009"/>
            <a:ext cx="10060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12*3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C9F9FD-31CB-B225-4C1C-1666F8A725CD}"/>
              </a:ext>
            </a:extLst>
          </p:cNvPr>
          <p:cNvSpPr txBox="1"/>
          <p:nvPr/>
        </p:nvSpPr>
        <p:spPr>
          <a:xfrm>
            <a:off x="1982088" y="4401885"/>
            <a:ext cx="11584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18*31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9C3957F-0BF1-B1A5-0127-88ABAFF2F0F5}"/>
              </a:ext>
            </a:extLst>
          </p:cNvPr>
          <p:cNvSpPr txBox="1"/>
          <p:nvPr/>
        </p:nvSpPr>
        <p:spPr>
          <a:xfrm>
            <a:off x="1929686" y="5977706"/>
            <a:ext cx="949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4*9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E5205B-868E-9A4E-0D4A-975977ADDDCE}"/>
              </a:ext>
            </a:extLst>
          </p:cNvPr>
          <p:cNvSpPr txBox="1"/>
          <p:nvPr/>
        </p:nvSpPr>
        <p:spPr>
          <a:xfrm>
            <a:off x="1931499" y="1876153"/>
            <a:ext cx="766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3*9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1083460-D570-52A4-AE71-E54F4E116AA6}"/>
              </a:ext>
            </a:extLst>
          </p:cNvPr>
          <p:cNvSpPr txBox="1"/>
          <p:nvPr/>
        </p:nvSpPr>
        <p:spPr>
          <a:xfrm>
            <a:off x="1615087" y="2399373"/>
            <a:ext cx="766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4*2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53221B4-B53C-00E4-9473-B48463729765}"/>
              </a:ext>
            </a:extLst>
          </p:cNvPr>
          <p:cNvSpPr txBox="1"/>
          <p:nvPr/>
        </p:nvSpPr>
        <p:spPr>
          <a:xfrm>
            <a:off x="1298675" y="2922593"/>
            <a:ext cx="766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8*1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C08557E-9488-84A6-2305-1265081D9BA1}"/>
              </a:ext>
            </a:extLst>
          </p:cNvPr>
          <p:cNvSpPr txBox="1"/>
          <p:nvPr/>
        </p:nvSpPr>
        <p:spPr>
          <a:xfrm>
            <a:off x="2381254" y="2716166"/>
            <a:ext cx="949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71*2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0D13BD2-2B5A-539D-D610-54BF1C1C2729}"/>
              </a:ext>
            </a:extLst>
          </p:cNvPr>
          <p:cNvSpPr txBox="1"/>
          <p:nvPr/>
        </p:nvSpPr>
        <p:spPr>
          <a:xfrm>
            <a:off x="1155195" y="1524057"/>
            <a:ext cx="10060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12*3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881E979-7751-5062-A66C-8A3F792A480C}"/>
              </a:ext>
            </a:extLst>
          </p:cNvPr>
          <p:cNvSpPr txBox="1"/>
          <p:nvPr/>
        </p:nvSpPr>
        <p:spPr>
          <a:xfrm>
            <a:off x="1962158" y="1352933"/>
            <a:ext cx="11584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18*31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8E255C1-8A6E-36D8-DB57-E73C4835E710}"/>
              </a:ext>
            </a:extLst>
          </p:cNvPr>
          <p:cNvSpPr txBox="1"/>
          <p:nvPr/>
        </p:nvSpPr>
        <p:spPr>
          <a:xfrm>
            <a:off x="1909756" y="2928754"/>
            <a:ext cx="949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4*9</a:t>
            </a:r>
          </a:p>
        </p:txBody>
      </p:sp>
    </p:spTree>
    <p:extLst>
      <p:ext uri="{BB962C8B-B14F-4D97-AF65-F5344CB8AC3E}">
        <p14:creationId xmlns:p14="http://schemas.microsoft.com/office/powerpoint/2010/main" val="3136669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18DDB-C979-DF01-EB0E-2AE795E91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Matrices: Multiplication</a:t>
            </a:r>
          </a:p>
        </p:txBody>
      </p:sp>
      <p:pic>
        <p:nvPicPr>
          <p:cNvPr id="8194" name="Picture 2" descr="Lock in Emote - Etsy">
            <a:extLst>
              <a:ext uri="{FF2B5EF4-FFF2-40B4-BE49-F238E27FC236}">
                <a16:creationId xmlns:a16="http://schemas.microsoft.com/office/drawing/2014/main" id="{286D4570-2CE7-E2A5-E3E7-41044AD39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9137" y="215899"/>
            <a:ext cx="949325" cy="94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DB9BDE-E51A-7CEC-BDE9-E579428EE2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986" y="5756152"/>
            <a:ext cx="5382376" cy="885949"/>
          </a:xfrm>
          <a:prstGeom prst="rect">
            <a:avLst/>
          </a:prstGeom>
        </p:spPr>
      </p:pic>
      <p:pic>
        <p:nvPicPr>
          <p:cNvPr id="8196" name="Picture 4" descr="Matrix Multiplication-Why is it a big deal? | by Charchithowitzer | Medium">
            <a:extLst>
              <a:ext uri="{FF2B5EF4-FFF2-40B4-BE49-F238E27FC236}">
                <a16:creationId xmlns:a16="http://schemas.microsoft.com/office/drawing/2014/main" id="{0092AD0E-FA44-5D04-B111-878DF965E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764" y="1690688"/>
            <a:ext cx="9288472" cy="313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BAE15F-637E-9948-C419-16FF3D7DF082}"/>
              </a:ext>
            </a:extLst>
          </p:cNvPr>
          <p:cNvSpPr txBox="1"/>
          <p:nvPr/>
        </p:nvSpPr>
        <p:spPr>
          <a:xfrm>
            <a:off x="4508500" y="4797980"/>
            <a:ext cx="3429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  <a:r>
              <a:rPr lang="en-US" sz="2400" baseline="-25000" dirty="0"/>
              <a:t>1</a:t>
            </a:r>
            <a:r>
              <a:rPr lang="en-US" sz="2400" dirty="0"/>
              <a:t>*b</a:t>
            </a:r>
            <a:r>
              <a:rPr lang="en-US" sz="2400" baseline="-25000" dirty="0"/>
              <a:t>1</a:t>
            </a:r>
            <a:r>
              <a:rPr lang="en-US" sz="2400" dirty="0"/>
              <a:t>+ a</a:t>
            </a:r>
            <a:r>
              <a:rPr lang="en-US" sz="2400" baseline="-25000" dirty="0"/>
              <a:t>2</a:t>
            </a:r>
            <a:r>
              <a:rPr lang="en-US" sz="2400" dirty="0"/>
              <a:t>*b</a:t>
            </a:r>
            <a:r>
              <a:rPr lang="en-US" sz="2400" baseline="-25000" dirty="0"/>
              <a:t>4</a:t>
            </a:r>
            <a:r>
              <a:rPr lang="en-US" sz="2400" dirty="0"/>
              <a:t>+ a</a:t>
            </a:r>
            <a:r>
              <a:rPr lang="en-US" sz="2400" baseline="-25000" dirty="0"/>
              <a:t>3</a:t>
            </a:r>
            <a:r>
              <a:rPr lang="en-US" sz="2400" dirty="0"/>
              <a:t>*b</a:t>
            </a:r>
            <a:r>
              <a:rPr lang="en-US" sz="2400" baseline="-25000" dirty="0"/>
              <a:t>7</a:t>
            </a:r>
            <a:r>
              <a:rPr lang="en-US" sz="2400" dirty="0"/>
              <a:t>= c</a:t>
            </a:r>
            <a:r>
              <a:rPr lang="en-US" sz="2400" baseline="-25000" dirty="0"/>
              <a:t>1</a:t>
            </a:r>
            <a:endParaRPr lang="en-US" sz="2400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049C4E-6754-BF8D-45CE-0154ADC76111}"/>
              </a:ext>
            </a:extLst>
          </p:cNvPr>
          <p:cNvSpPr txBox="1"/>
          <p:nvPr/>
        </p:nvSpPr>
        <p:spPr>
          <a:xfrm>
            <a:off x="2794000" y="1499394"/>
            <a:ext cx="965200" cy="382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53E5C5-5B1B-47F2-97B9-96F5B91BCE4D}"/>
              </a:ext>
            </a:extLst>
          </p:cNvPr>
          <p:cNvSpPr txBox="1"/>
          <p:nvPr/>
        </p:nvSpPr>
        <p:spPr>
          <a:xfrm>
            <a:off x="5647531" y="1470582"/>
            <a:ext cx="4484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7F6F1F-9FD2-3352-056D-E4D0CA90CBED}"/>
              </a:ext>
            </a:extLst>
          </p:cNvPr>
          <p:cNvSpPr txBox="1"/>
          <p:nvPr/>
        </p:nvSpPr>
        <p:spPr>
          <a:xfrm>
            <a:off x="9173765" y="1470582"/>
            <a:ext cx="4484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846999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346E4-94FB-B381-64C9-A6EEB4A4A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vs GPU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5FD31-0DC7-B1AD-5501-30EAD7ADB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88963"/>
          </a:xfrm>
        </p:spPr>
        <p:txBody>
          <a:bodyPr/>
          <a:lstStyle/>
          <a:p>
            <a:r>
              <a:rPr lang="en-US" dirty="0"/>
              <a:t>Why were GPUs originally used for computer graphics?</a:t>
            </a:r>
          </a:p>
        </p:txBody>
      </p:sp>
      <p:pic>
        <p:nvPicPr>
          <p:cNvPr id="3074" name="Picture 2" descr="Color image representation and RGB matrix | Download Scientific Diagram">
            <a:extLst>
              <a:ext uri="{FF2B5EF4-FFF2-40B4-BE49-F238E27FC236}">
                <a16:creationId xmlns:a16="http://schemas.microsoft.com/office/drawing/2014/main" id="{A909E2F4-B01C-EBFB-3C1E-6A1DA44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2762250"/>
            <a:ext cx="8096250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9F50884-C795-1908-8EA3-2BE085C16ABF}"/>
              </a:ext>
            </a:extLst>
          </p:cNvPr>
          <p:cNvSpPr txBox="1">
            <a:spLocks/>
          </p:cNvSpPr>
          <p:nvPr/>
        </p:nvSpPr>
        <p:spPr>
          <a:xfrm>
            <a:off x="938212" y="5903912"/>
            <a:ext cx="10515600" cy="588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dirty="0"/>
              <a:t>Computer graphics are just another form of matrices!</a:t>
            </a:r>
          </a:p>
        </p:txBody>
      </p:sp>
    </p:spTree>
    <p:extLst>
      <p:ext uri="{BB962C8B-B14F-4D97-AF65-F5344CB8AC3E}">
        <p14:creationId xmlns:p14="http://schemas.microsoft.com/office/powerpoint/2010/main" val="2102359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0B8ED-EB2A-19B3-AD6F-062D95FDF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D7FB7-4955-EC90-5A23-B06F140F6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vs GPU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F4CCCFA-7809-8651-4D09-7CF643C78729}"/>
              </a:ext>
            </a:extLst>
          </p:cNvPr>
          <p:cNvSpPr/>
          <p:nvPr/>
        </p:nvSpPr>
        <p:spPr>
          <a:xfrm>
            <a:off x="5745956" y="790576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03E0D6-A1CA-9993-25C4-67A64921590A}"/>
              </a:ext>
            </a:extLst>
          </p:cNvPr>
          <p:cNvSpPr txBox="1"/>
          <p:nvPr/>
        </p:nvSpPr>
        <p:spPr>
          <a:xfrm>
            <a:off x="1243605" y="3190876"/>
            <a:ext cx="766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3*9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5831CF3-EA42-E74E-1CA6-B90B9C0612EF}"/>
              </a:ext>
            </a:extLst>
          </p:cNvPr>
          <p:cNvSpPr/>
          <p:nvPr/>
        </p:nvSpPr>
        <p:spPr>
          <a:xfrm>
            <a:off x="3436737" y="3086100"/>
            <a:ext cx="1214438" cy="6858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31963AE-F57A-9168-A30E-D2A7AF745E36}"/>
              </a:ext>
            </a:extLst>
          </p:cNvPr>
          <p:cNvCxnSpPr>
            <a:cxnSpLocks/>
          </p:cNvCxnSpPr>
          <p:nvPr/>
        </p:nvCxnSpPr>
        <p:spPr>
          <a:xfrm>
            <a:off x="2163960" y="3429000"/>
            <a:ext cx="115847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68C1EDB-9185-02B0-BC39-A96C652C8E69}"/>
              </a:ext>
            </a:extLst>
          </p:cNvPr>
          <p:cNvSpPr txBox="1"/>
          <p:nvPr/>
        </p:nvSpPr>
        <p:spPr>
          <a:xfrm>
            <a:off x="6446043" y="239522"/>
            <a:ext cx="58435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How GPU cores would look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213C58-95E7-FAED-D365-D71B1991C368}"/>
              </a:ext>
            </a:extLst>
          </p:cNvPr>
          <p:cNvSpPr txBox="1"/>
          <p:nvPr/>
        </p:nvSpPr>
        <p:spPr>
          <a:xfrm>
            <a:off x="3150987" y="2548594"/>
            <a:ext cx="2800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Scheduler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534DFC3-43B0-703E-75D1-60B6A3E2A885}"/>
              </a:ext>
            </a:extLst>
          </p:cNvPr>
          <p:cNvSpPr/>
          <p:nvPr/>
        </p:nvSpPr>
        <p:spPr>
          <a:xfrm>
            <a:off x="5900143" y="954883"/>
            <a:ext cx="391712" cy="342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9C531BD-9C18-9035-C717-5124460D3429}"/>
              </a:ext>
            </a:extLst>
          </p:cNvPr>
          <p:cNvSpPr/>
          <p:nvPr/>
        </p:nvSpPr>
        <p:spPr>
          <a:xfrm>
            <a:off x="5745956" y="1467508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E28DBD5-2489-8C59-7004-62615D8F1376}"/>
              </a:ext>
            </a:extLst>
          </p:cNvPr>
          <p:cNvSpPr/>
          <p:nvPr/>
        </p:nvSpPr>
        <p:spPr>
          <a:xfrm>
            <a:off x="5745956" y="2144440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A002B41-292F-B0AB-0A7D-104965F67D41}"/>
              </a:ext>
            </a:extLst>
          </p:cNvPr>
          <p:cNvSpPr/>
          <p:nvPr/>
        </p:nvSpPr>
        <p:spPr>
          <a:xfrm>
            <a:off x="5900143" y="2308747"/>
            <a:ext cx="391712" cy="342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B89256B-9997-8D28-A302-9CA0581BFB10}"/>
              </a:ext>
            </a:extLst>
          </p:cNvPr>
          <p:cNvSpPr/>
          <p:nvPr/>
        </p:nvSpPr>
        <p:spPr>
          <a:xfrm>
            <a:off x="5745956" y="2821372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FF825CF-99C1-62A3-A62E-F87E4D748CB2}"/>
              </a:ext>
            </a:extLst>
          </p:cNvPr>
          <p:cNvSpPr/>
          <p:nvPr/>
        </p:nvSpPr>
        <p:spPr>
          <a:xfrm>
            <a:off x="5745957" y="3510212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54E0771-FD48-F6D7-AEF0-F108B56DD453}"/>
              </a:ext>
            </a:extLst>
          </p:cNvPr>
          <p:cNvSpPr/>
          <p:nvPr/>
        </p:nvSpPr>
        <p:spPr>
          <a:xfrm>
            <a:off x="5900144" y="3674519"/>
            <a:ext cx="391712" cy="342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DE866F9-297E-78A8-37FF-9D1A83CED3A1}"/>
              </a:ext>
            </a:extLst>
          </p:cNvPr>
          <p:cNvSpPr/>
          <p:nvPr/>
        </p:nvSpPr>
        <p:spPr>
          <a:xfrm>
            <a:off x="5745957" y="4187144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BE23231-0BCF-5690-CABA-6E3398797687}"/>
              </a:ext>
            </a:extLst>
          </p:cNvPr>
          <p:cNvSpPr/>
          <p:nvPr/>
        </p:nvSpPr>
        <p:spPr>
          <a:xfrm>
            <a:off x="5745957" y="4864076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AE84E3D-B134-337D-A791-883E483399B2}"/>
              </a:ext>
            </a:extLst>
          </p:cNvPr>
          <p:cNvSpPr/>
          <p:nvPr/>
        </p:nvSpPr>
        <p:spPr>
          <a:xfrm>
            <a:off x="5900144" y="5028383"/>
            <a:ext cx="391712" cy="342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B4E1FAA-6303-E1CE-43B1-CBFA87AC1CEA}"/>
              </a:ext>
            </a:extLst>
          </p:cNvPr>
          <p:cNvSpPr/>
          <p:nvPr/>
        </p:nvSpPr>
        <p:spPr>
          <a:xfrm>
            <a:off x="5745957" y="5541008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4CDC7FF-5D5B-133B-4DFA-29FC2B64121B}"/>
              </a:ext>
            </a:extLst>
          </p:cNvPr>
          <p:cNvSpPr/>
          <p:nvPr/>
        </p:nvSpPr>
        <p:spPr>
          <a:xfrm>
            <a:off x="5900144" y="5705315"/>
            <a:ext cx="391712" cy="342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5FA1EB-7EF6-9B49-8306-0761747E02F1}"/>
              </a:ext>
            </a:extLst>
          </p:cNvPr>
          <p:cNvSpPr txBox="1"/>
          <p:nvPr/>
        </p:nvSpPr>
        <p:spPr>
          <a:xfrm>
            <a:off x="927193" y="3714096"/>
            <a:ext cx="766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4*2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EA56F8-C963-8523-4B74-9C5DD7E9E079}"/>
              </a:ext>
            </a:extLst>
          </p:cNvPr>
          <p:cNvSpPr txBox="1"/>
          <p:nvPr/>
        </p:nvSpPr>
        <p:spPr>
          <a:xfrm>
            <a:off x="610781" y="4237316"/>
            <a:ext cx="766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8*1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ED920E-82C1-ABE6-9C0C-D7EA0A71CCF5}"/>
              </a:ext>
            </a:extLst>
          </p:cNvPr>
          <p:cNvSpPr txBox="1"/>
          <p:nvPr/>
        </p:nvSpPr>
        <p:spPr>
          <a:xfrm>
            <a:off x="1693360" y="4030889"/>
            <a:ext cx="949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71*2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5D3B91-1E00-437F-1BD9-9CD6914A0CD8}"/>
              </a:ext>
            </a:extLst>
          </p:cNvPr>
          <p:cNvSpPr txBox="1"/>
          <p:nvPr/>
        </p:nvSpPr>
        <p:spPr>
          <a:xfrm>
            <a:off x="467301" y="2838780"/>
            <a:ext cx="10060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12*3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A38908-09CD-8F3B-27BA-313C338D6E85}"/>
              </a:ext>
            </a:extLst>
          </p:cNvPr>
          <p:cNvSpPr txBox="1"/>
          <p:nvPr/>
        </p:nvSpPr>
        <p:spPr>
          <a:xfrm>
            <a:off x="1274264" y="2667656"/>
            <a:ext cx="11584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18*31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766334-680C-FDC5-AB46-B61660B5C402}"/>
              </a:ext>
            </a:extLst>
          </p:cNvPr>
          <p:cNvSpPr txBox="1"/>
          <p:nvPr/>
        </p:nvSpPr>
        <p:spPr>
          <a:xfrm>
            <a:off x="1221862" y="4243477"/>
            <a:ext cx="949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4*9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69EBDD-5DAD-7BEF-408A-501E6B873374}"/>
              </a:ext>
            </a:extLst>
          </p:cNvPr>
          <p:cNvSpPr txBox="1"/>
          <p:nvPr/>
        </p:nvSpPr>
        <p:spPr>
          <a:xfrm>
            <a:off x="1951429" y="4925105"/>
            <a:ext cx="766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3*9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D1D017-955F-8D36-FACA-59D6DDFFE86D}"/>
              </a:ext>
            </a:extLst>
          </p:cNvPr>
          <p:cNvSpPr txBox="1"/>
          <p:nvPr/>
        </p:nvSpPr>
        <p:spPr>
          <a:xfrm>
            <a:off x="1635017" y="5448325"/>
            <a:ext cx="766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4*2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FF4040-2624-3E35-210F-6231A4BCF66D}"/>
              </a:ext>
            </a:extLst>
          </p:cNvPr>
          <p:cNvSpPr txBox="1"/>
          <p:nvPr/>
        </p:nvSpPr>
        <p:spPr>
          <a:xfrm>
            <a:off x="1318605" y="5971545"/>
            <a:ext cx="766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8*1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C5B3B05-F531-4BF5-F7C4-695F8676B7BC}"/>
              </a:ext>
            </a:extLst>
          </p:cNvPr>
          <p:cNvSpPr txBox="1"/>
          <p:nvPr/>
        </p:nvSpPr>
        <p:spPr>
          <a:xfrm>
            <a:off x="2401184" y="5765118"/>
            <a:ext cx="949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71*2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E78455-AEEC-2ABD-BF20-DC018F7CBCF7}"/>
              </a:ext>
            </a:extLst>
          </p:cNvPr>
          <p:cNvSpPr txBox="1"/>
          <p:nvPr/>
        </p:nvSpPr>
        <p:spPr>
          <a:xfrm>
            <a:off x="1175125" y="4573009"/>
            <a:ext cx="10060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12*3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99E2D5F-C5FB-DE97-031D-F460BBB67CE1}"/>
              </a:ext>
            </a:extLst>
          </p:cNvPr>
          <p:cNvSpPr txBox="1"/>
          <p:nvPr/>
        </p:nvSpPr>
        <p:spPr>
          <a:xfrm>
            <a:off x="1982088" y="4401885"/>
            <a:ext cx="11584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18*31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46408B0-5FBA-D011-B817-FDB151014D36}"/>
              </a:ext>
            </a:extLst>
          </p:cNvPr>
          <p:cNvSpPr txBox="1"/>
          <p:nvPr/>
        </p:nvSpPr>
        <p:spPr>
          <a:xfrm>
            <a:off x="1929686" y="5977706"/>
            <a:ext cx="949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4*9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C75BE29-E176-A943-C16F-6F2831496F2B}"/>
              </a:ext>
            </a:extLst>
          </p:cNvPr>
          <p:cNvSpPr txBox="1"/>
          <p:nvPr/>
        </p:nvSpPr>
        <p:spPr>
          <a:xfrm>
            <a:off x="1931499" y="1876153"/>
            <a:ext cx="766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3*9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92E5222-971A-8E38-D340-72CDB73827B0}"/>
              </a:ext>
            </a:extLst>
          </p:cNvPr>
          <p:cNvSpPr txBox="1"/>
          <p:nvPr/>
        </p:nvSpPr>
        <p:spPr>
          <a:xfrm>
            <a:off x="1615087" y="2399373"/>
            <a:ext cx="766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4*2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BB219CA-2F88-63BA-D272-9CD1B0BADB1E}"/>
              </a:ext>
            </a:extLst>
          </p:cNvPr>
          <p:cNvSpPr txBox="1"/>
          <p:nvPr/>
        </p:nvSpPr>
        <p:spPr>
          <a:xfrm>
            <a:off x="1298675" y="2922593"/>
            <a:ext cx="766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8*1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32C1EFE-DE9D-DC2E-44DE-0EF51F70B736}"/>
              </a:ext>
            </a:extLst>
          </p:cNvPr>
          <p:cNvSpPr txBox="1"/>
          <p:nvPr/>
        </p:nvSpPr>
        <p:spPr>
          <a:xfrm>
            <a:off x="2381254" y="2716166"/>
            <a:ext cx="949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71*2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B5385FF-6585-FB5C-A672-0B6B4BD48E0F}"/>
              </a:ext>
            </a:extLst>
          </p:cNvPr>
          <p:cNvSpPr txBox="1"/>
          <p:nvPr/>
        </p:nvSpPr>
        <p:spPr>
          <a:xfrm>
            <a:off x="1155195" y="1524057"/>
            <a:ext cx="10060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12*3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32A74B5-DEDF-A9A9-9712-42E36E21F06E}"/>
              </a:ext>
            </a:extLst>
          </p:cNvPr>
          <p:cNvSpPr txBox="1"/>
          <p:nvPr/>
        </p:nvSpPr>
        <p:spPr>
          <a:xfrm>
            <a:off x="1962158" y="1352933"/>
            <a:ext cx="11584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18*31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A6C6488-06CA-6A24-A9DF-DC28766E8982}"/>
              </a:ext>
            </a:extLst>
          </p:cNvPr>
          <p:cNvSpPr txBox="1"/>
          <p:nvPr/>
        </p:nvSpPr>
        <p:spPr>
          <a:xfrm>
            <a:off x="1909756" y="2928754"/>
            <a:ext cx="949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4*9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C8E1DDD-B35A-0A9F-1F4A-D34C4E613B8D}"/>
              </a:ext>
            </a:extLst>
          </p:cNvPr>
          <p:cNvGrpSpPr/>
          <p:nvPr/>
        </p:nvGrpSpPr>
        <p:grpSpPr>
          <a:xfrm rot="10800000">
            <a:off x="6446042" y="781708"/>
            <a:ext cx="700088" cy="5436232"/>
            <a:chOff x="6446042" y="781708"/>
            <a:chExt cx="700088" cy="5436232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F20CD810-BDEF-6723-E992-1A739185B7A4}"/>
                </a:ext>
              </a:extLst>
            </p:cNvPr>
            <p:cNvSpPr/>
            <p:nvPr/>
          </p:nvSpPr>
          <p:spPr>
            <a:xfrm>
              <a:off x="6446042" y="781708"/>
              <a:ext cx="700087" cy="685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E9AB080-1FB6-A914-1908-B04C0B05A77C}"/>
                </a:ext>
              </a:extLst>
            </p:cNvPr>
            <p:cNvSpPr/>
            <p:nvPr/>
          </p:nvSpPr>
          <p:spPr>
            <a:xfrm>
              <a:off x="6600229" y="946015"/>
              <a:ext cx="391712" cy="342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A21563A1-B716-7E5C-03EA-99126FF05E53}"/>
                </a:ext>
              </a:extLst>
            </p:cNvPr>
            <p:cNvSpPr/>
            <p:nvPr/>
          </p:nvSpPr>
          <p:spPr>
            <a:xfrm>
              <a:off x="6446042" y="1458640"/>
              <a:ext cx="700087" cy="685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83345465-7F30-9AEB-4DC5-693CAC31C530}"/>
                </a:ext>
              </a:extLst>
            </p:cNvPr>
            <p:cNvSpPr/>
            <p:nvPr/>
          </p:nvSpPr>
          <p:spPr>
            <a:xfrm>
              <a:off x="6446042" y="2135572"/>
              <a:ext cx="700087" cy="685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8F8E7C3-F86E-3E82-AE47-E0D4A25BCAEC}"/>
                </a:ext>
              </a:extLst>
            </p:cNvPr>
            <p:cNvSpPr/>
            <p:nvPr/>
          </p:nvSpPr>
          <p:spPr>
            <a:xfrm>
              <a:off x="6600229" y="2299879"/>
              <a:ext cx="391712" cy="342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990E0AB1-3320-BFE2-ADB6-F60DAC20A10E}"/>
                </a:ext>
              </a:extLst>
            </p:cNvPr>
            <p:cNvSpPr/>
            <p:nvPr/>
          </p:nvSpPr>
          <p:spPr>
            <a:xfrm>
              <a:off x="6446042" y="2812504"/>
              <a:ext cx="700087" cy="685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3997AB98-03EA-2FD2-A314-018F42D4DB6D}"/>
                </a:ext>
              </a:extLst>
            </p:cNvPr>
            <p:cNvSpPr/>
            <p:nvPr/>
          </p:nvSpPr>
          <p:spPr>
            <a:xfrm>
              <a:off x="6446043" y="3501344"/>
              <a:ext cx="700087" cy="685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489EEBA2-B935-5BA1-0963-C94CC6B09F6B}"/>
                </a:ext>
              </a:extLst>
            </p:cNvPr>
            <p:cNvSpPr/>
            <p:nvPr/>
          </p:nvSpPr>
          <p:spPr>
            <a:xfrm>
              <a:off x="6600230" y="3665651"/>
              <a:ext cx="391712" cy="342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F82FC1EE-B044-39FF-7ECF-501BAD57FBFF}"/>
                </a:ext>
              </a:extLst>
            </p:cNvPr>
            <p:cNvSpPr/>
            <p:nvPr/>
          </p:nvSpPr>
          <p:spPr>
            <a:xfrm>
              <a:off x="6446043" y="4178276"/>
              <a:ext cx="700087" cy="685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4936F619-8BDB-F350-CD1C-22F5BCB6DB31}"/>
                </a:ext>
              </a:extLst>
            </p:cNvPr>
            <p:cNvSpPr/>
            <p:nvPr/>
          </p:nvSpPr>
          <p:spPr>
            <a:xfrm>
              <a:off x="6446043" y="4855208"/>
              <a:ext cx="700087" cy="685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7FA01F6-8149-44E1-DB48-41624ED8DC9D}"/>
                </a:ext>
              </a:extLst>
            </p:cNvPr>
            <p:cNvSpPr/>
            <p:nvPr/>
          </p:nvSpPr>
          <p:spPr>
            <a:xfrm>
              <a:off x="6600230" y="5019515"/>
              <a:ext cx="391712" cy="342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D94740A7-F00C-B4A6-E67D-98D36FC509EC}"/>
                </a:ext>
              </a:extLst>
            </p:cNvPr>
            <p:cNvSpPr/>
            <p:nvPr/>
          </p:nvSpPr>
          <p:spPr>
            <a:xfrm>
              <a:off x="6446043" y="5532140"/>
              <a:ext cx="700087" cy="685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085515B3-D245-DBD0-4749-81ECEB0F9C62}"/>
                </a:ext>
              </a:extLst>
            </p:cNvPr>
            <p:cNvSpPr/>
            <p:nvPr/>
          </p:nvSpPr>
          <p:spPr>
            <a:xfrm>
              <a:off x="6600230" y="5696447"/>
              <a:ext cx="391712" cy="342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DB53711-0F72-74B9-6457-B4610496B4B0}"/>
              </a:ext>
            </a:extLst>
          </p:cNvPr>
          <p:cNvGrpSpPr/>
          <p:nvPr/>
        </p:nvGrpSpPr>
        <p:grpSpPr>
          <a:xfrm rot="10800000">
            <a:off x="7146128" y="752806"/>
            <a:ext cx="700088" cy="5436232"/>
            <a:chOff x="6446042" y="781708"/>
            <a:chExt cx="700088" cy="5436232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A28BA94D-B3BA-CE01-9704-485BA2A3CAEE}"/>
                </a:ext>
              </a:extLst>
            </p:cNvPr>
            <p:cNvSpPr/>
            <p:nvPr/>
          </p:nvSpPr>
          <p:spPr>
            <a:xfrm>
              <a:off x="6446042" y="781708"/>
              <a:ext cx="700087" cy="685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F76BC36F-941C-B4A2-ED59-94825D134227}"/>
                </a:ext>
              </a:extLst>
            </p:cNvPr>
            <p:cNvSpPr/>
            <p:nvPr/>
          </p:nvSpPr>
          <p:spPr>
            <a:xfrm>
              <a:off x="6600229" y="946015"/>
              <a:ext cx="391712" cy="342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8CB7C597-992B-0F98-B08B-E4858FD237CE}"/>
                </a:ext>
              </a:extLst>
            </p:cNvPr>
            <p:cNvSpPr/>
            <p:nvPr/>
          </p:nvSpPr>
          <p:spPr>
            <a:xfrm>
              <a:off x="6446042" y="1458640"/>
              <a:ext cx="700087" cy="685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A115828D-D24E-8AD0-BD53-FEE3A1CE6889}"/>
                </a:ext>
              </a:extLst>
            </p:cNvPr>
            <p:cNvSpPr/>
            <p:nvPr/>
          </p:nvSpPr>
          <p:spPr>
            <a:xfrm>
              <a:off x="6446042" y="2135572"/>
              <a:ext cx="700087" cy="685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F24A22E0-F26B-87AC-B371-50061D289D0F}"/>
                </a:ext>
              </a:extLst>
            </p:cNvPr>
            <p:cNvSpPr/>
            <p:nvPr/>
          </p:nvSpPr>
          <p:spPr>
            <a:xfrm>
              <a:off x="6600229" y="2299879"/>
              <a:ext cx="391712" cy="342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C4EDCD46-B7AD-EC91-025F-191629C209BD}"/>
                </a:ext>
              </a:extLst>
            </p:cNvPr>
            <p:cNvSpPr/>
            <p:nvPr/>
          </p:nvSpPr>
          <p:spPr>
            <a:xfrm>
              <a:off x="6446042" y="2812504"/>
              <a:ext cx="700087" cy="685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DE737CB0-BF22-465D-6D3B-E5E2AA085E26}"/>
                </a:ext>
              </a:extLst>
            </p:cNvPr>
            <p:cNvSpPr/>
            <p:nvPr/>
          </p:nvSpPr>
          <p:spPr>
            <a:xfrm>
              <a:off x="6446043" y="3501344"/>
              <a:ext cx="700087" cy="685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091F1C0-E60A-7ABF-9D7F-29398F3A6359}"/>
                </a:ext>
              </a:extLst>
            </p:cNvPr>
            <p:cNvSpPr/>
            <p:nvPr/>
          </p:nvSpPr>
          <p:spPr>
            <a:xfrm>
              <a:off x="6600230" y="3665651"/>
              <a:ext cx="391712" cy="342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7E587561-BD54-2F40-F1EC-594821722C85}"/>
                </a:ext>
              </a:extLst>
            </p:cNvPr>
            <p:cNvSpPr/>
            <p:nvPr/>
          </p:nvSpPr>
          <p:spPr>
            <a:xfrm>
              <a:off x="6446043" y="4178276"/>
              <a:ext cx="700087" cy="685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27978479-95A4-3086-D12D-6FF86644F95C}"/>
                </a:ext>
              </a:extLst>
            </p:cNvPr>
            <p:cNvSpPr/>
            <p:nvPr/>
          </p:nvSpPr>
          <p:spPr>
            <a:xfrm>
              <a:off x="6446043" y="4855208"/>
              <a:ext cx="700087" cy="685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58ABB6D7-043A-FB60-761E-13945E434E93}"/>
                </a:ext>
              </a:extLst>
            </p:cNvPr>
            <p:cNvSpPr/>
            <p:nvPr/>
          </p:nvSpPr>
          <p:spPr>
            <a:xfrm>
              <a:off x="6600230" y="5019515"/>
              <a:ext cx="391712" cy="342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5C532097-ED14-1FE5-A0E9-A0846FA9DF86}"/>
                </a:ext>
              </a:extLst>
            </p:cNvPr>
            <p:cNvSpPr/>
            <p:nvPr/>
          </p:nvSpPr>
          <p:spPr>
            <a:xfrm>
              <a:off x="6446043" y="5532140"/>
              <a:ext cx="700087" cy="685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EBC8AE4A-61CF-B93A-9600-84444A3BBB4A}"/>
                </a:ext>
              </a:extLst>
            </p:cNvPr>
            <p:cNvSpPr/>
            <p:nvPr/>
          </p:nvSpPr>
          <p:spPr>
            <a:xfrm>
              <a:off x="6600230" y="5696447"/>
              <a:ext cx="391712" cy="342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3" name="Oval 72">
            <a:extLst>
              <a:ext uri="{FF2B5EF4-FFF2-40B4-BE49-F238E27FC236}">
                <a16:creationId xmlns:a16="http://schemas.microsoft.com/office/drawing/2014/main" id="{E7B0CC27-6471-147F-C6A0-6CDEA6D3CAF8}"/>
              </a:ext>
            </a:extLst>
          </p:cNvPr>
          <p:cNvSpPr/>
          <p:nvPr/>
        </p:nvSpPr>
        <p:spPr>
          <a:xfrm>
            <a:off x="5900143" y="1674677"/>
            <a:ext cx="391712" cy="342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338D1847-0473-6277-8BB9-3113F1B6DD2C}"/>
              </a:ext>
            </a:extLst>
          </p:cNvPr>
          <p:cNvSpPr/>
          <p:nvPr/>
        </p:nvSpPr>
        <p:spPr>
          <a:xfrm>
            <a:off x="7820312" y="753131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118EADC4-EF83-035E-46BD-F520B7147466}"/>
              </a:ext>
            </a:extLst>
          </p:cNvPr>
          <p:cNvSpPr/>
          <p:nvPr/>
        </p:nvSpPr>
        <p:spPr>
          <a:xfrm>
            <a:off x="7820312" y="1430063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C84E33BE-1CEF-5647-D0BD-ABD8583044EE}"/>
              </a:ext>
            </a:extLst>
          </p:cNvPr>
          <p:cNvSpPr/>
          <p:nvPr/>
        </p:nvSpPr>
        <p:spPr>
          <a:xfrm>
            <a:off x="7820312" y="2106995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2C8BA57D-3FF1-A991-F6D2-5E93E9CD3365}"/>
              </a:ext>
            </a:extLst>
          </p:cNvPr>
          <p:cNvSpPr/>
          <p:nvPr/>
        </p:nvSpPr>
        <p:spPr>
          <a:xfrm>
            <a:off x="7974499" y="2271302"/>
            <a:ext cx="391712" cy="342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B65C77D-AF8B-36CE-9E97-639CD52AB409}"/>
              </a:ext>
            </a:extLst>
          </p:cNvPr>
          <p:cNvSpPr/>
          <p:nvPr/>
        </p:nvSpPr>
        <p:spPr>
          <a:xfrm>
            <a:off x="7820312" y="2783927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DC77BCE3-4F93-44A0-368B-582BF42E2C5A}"/>
              </a:ext>
            </a:extLst>
          </p:cNvPr>
          <p:cNvSpPr/>
          <p:nvPr/>
        </p:nvSpPr>
        <p:spPr>
          <a:xfrm>
            <a:off x="7820313" y="3472767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D640EFC7-DACB-E060-E68F-3ED5BF732F06}"/>
              </a:ext>
            </a:extLst>
          </p:cNvPr>
          <p:cNvSpPr/>
          <p:nvPr/>
        </p:nvSpPr>
        <p:spPr>
          <a:xfrm>
            <a:off x="7974499" y="3696038"/>
            <a:ext cx="391712" cy="342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A30CC489-265B-82B6-DA0B-88697660D6AE}"/>
              </a:ext>
            </a:extLst>
          </p:cNvPr>
          <p:cNvSpPr/>
          <p:nvPr/>
        </p:nvSpPr>
        <p:spPr>
          <a:xfrm>
            <a:off x="7820313" y="4149699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D98D8AAA-AA99-88D1-0EB7-6251E9840A55}"/>
              </a:ext>
            </a:extLst>
          </p:cNvPr>
          <p:cNvSpPr/>
          <p:nvPr/>
        </p:nvSpPr>
        <p:spPr>
          <a:xfrm>
            <a:off x="7820313" y="4826631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71F48DF4-6581-C38C-B473-D97BCBEEFB17}"/>
              </a:ext>
            </a:extLst>
          </p:cNvPr>
          <p:cNvSpPr/>
          <p:nvPr/>
        </p:nvSpPr>
        <p:spPr>
          <a:xfrm>
            <a:off x="7974500" y="4990938"/>
            <a:ext cx="391712" cy="342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81E50F84-9FF8-E1AA-525E-069D5788285B}"/>
              </a:ext>
            </a:extLst>
          </p:cNvPr>
          <p:cNvSpPr/>
          <p:nvPr/>
        </p:nvSpPr>
        <p:spPr>
          <a:xfrm>
            <a:off x="7820313" y="5503563"/>
            <a:ext cx="700087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FE6AEB74-9DF3-4BBC-F8EB-A7DBBED173BB}"/>
              </a:ext>
            </a:extLst>
          </p:cNvPr>
          <p:cNvSpPr/>
          <p:nvPr/>
        </p:nvSpPr>
        <p:spPr>
          <a:xfrm>
            <a:off x="7974499" y="1637232"/>
            <a:ext cx="391712" cy="342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1049FA94-AEE3-04C2-DE7A-C4B60544D12E}"/>
              </a:ext>
            </a:extLst>
          </p:cNvPr>
          <p:cNvSpPr/>
          <p:nvPr/>
        </p:nvSpPr>
        <p:spPr>
          <a:xfrm>
            <a:off x="7974499" y="4333637"/>
            <a:ext cx="391712" cy="342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DDF4FB66-93ED-CC5B-4A68-CBDF624AA54D}"/>
              </a:ext>
            </a:extLst>
          </p:cNvPr>
          <p:cNvGrpSpPr/>
          <p:nvPr/>
        </p:nvGrpSpPr>
        <p:grpSpPr>
          <a:xfrm rot="10800000">
            <a:off x="8520397" y="715485"/>
            <a:ext cx="2774444" cy="5474002"/>
            <a:chOff x="5898356" y="905206"/>
            <a:chExt cx="2774444" cy="5474002"/>
          </a:xfrm>
        </p:grpSpPr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D4C84224-718A-9422-C303-3DA7A09BFD07}"/>
                </a:ext>
              </a:extLst>
            </p:cNvPr>
            <p:cNvSpPr/>
            <p:nvPr/>
          </p:nvSpPr>
          <p:spPr>
            <a:xfrm>
              <a:off x="5898356" y="942976"/>
              <a:ext cx="700087" cy="685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565B5E5F-F66F-8962-5995-FF9AA9E6EA18}"/>
                </a:ext>
              </a:extLst>
            </p:cNvPr>
            <p:cNvSpPr/>
            <p:nvPr/>
          </p:nvSpPr>
          <p:spPr>
            <a:xfrm>
              <a:off x="6052543" y="1107283"/>
              <a:ext cx="391712" cy="342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670FB38C-1CDC-6F22-D863-E6DEE77C8CA2}"/>
                </a:ext>
              </a:extLst>
            </p:cNvPr>
            <p:cNvSpPr/>
            <p:nvPr/>
          </p:nvSpPr>
          <p:spPr>
            <a:xfrm>
              <a:off x="5898356" y="1619908"/>
              <a:ext cx="700087" cy="685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B9866C23-B4CB-3DCD-1E19-2C7FC4420444}"/>
                </a:ext>
              </a:extLst>
            </p:cNvPr>
            <p:cNvSpPr/>
            <p:nvPr/>
          </p:nvSpPr>
          <p:spPr>
            <a:xfrm>
              <a:off x="5898356" y="2296840"/>
              <a:ext cx="700087" cy="685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A5664C68-2A14-B4BC-BDD1-226BC5F6DEF2}"/>
                </a:ext>
              </a:extLst>
            </p:cNvPr>
            <p:cNvSpPr/>
            <p:nvPr/>
          </p:nvSpPr>
          <p:spPr>
            <a:xfrm>
              <a:off x="6052543" y="2461147"/>
              <a:ext cx="391712" cy="342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3890426E-2015-F569-2FA7-915589F18BCD}"/>
                </a:ext>
              </a:extLst>
            </p:cNvPr>
            <p:cNvSpPr/>
            <p:nvPr/>
          </p:nvSpPr>
          <p:spPr>
            <a:xfrm>
              <a:off x="5898356" y="2973772"/>
              <a:ext cx="700087" cy="685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FD2EEAC6-6642-6391-812C-A9997BCD16BB}"/>
                </a:ext>
              </a:extLst>
            </p:cNvPr>
            <p:cNvSpPr/>
            <p:nvPr/>
          </p:nvSpPr>
          <p:spPr>
            <a:xfrm>
              <a:off x="5898357" y="3662612"/>
              <a:ext cx="700087" cy="685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F96AF1B0-C756-4C0E-C808-A03BCBA15120}"/>
                </a:ext>
              </a:extLst>
            </p:cNvPr>
            <p:cNvSpPr/>
            <p:nvPr/>
          </p:nvSpPr>
          <p:spPr>
            <a:xfrm>
              <a:off x="6052544" y="3826919"/>
              <a:ext cx="391712" cy="342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7B9C6271-2CB6-2C10-9BEA-F270354077CA}"/>
                </a:ext>
              </a:extLst>
            </p:cNvPr>
            <p:cNvSpPr/>
            <p:nvPr/>
          </p:nvSpPr>
          <p:spPr>
            <a:xfrm>
              <a:off x="5898357" y="4339544"/>
              <a:ext cx="700087" cy="685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30964B5D-46DC-B052-9E59-4E98DE9B70F0}"/>
                </a:ext>
              </a:extLst>
            </p:cNvPr>
            <p:cNvSpPr/>
            <p:nvPr/>
          </p:nvSpPr>
          <p:spPr>
            <a:xfrm>
              <a:off x="5898357" y="5016476"/>
              <a:ext cx="700087" cy="685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89A1B78-F861-817C-C7FE-86B91C136E10}"/>
                </a:ext>
              </a:extLst>
            </p:cNvPr>
            <p:cNvSpPr/>
            <p:nvPr/>
          </p:nvSpPr>
          <p:spPr>
            <a:xfrm>
              <a:off x="6052544" y="5180783"/>
              <a:ext cx="391712" cy="342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1206C227-0388-43E2-8784-7B4F4E87EA2E}"/>
                </a:ext>
              </a:extLst>
            </p:cNvPr>
            <p:cNvSpPr/>
            <p:nvPr/>
          </p:nvSpPr>
          <p:spPr>
            <a:xfrm>
              <a:off x="5898357" y="5693408"/>
              <a:ext cx="700087" cy="685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F6EA984A-113B-6A53-3BF4-6D55CCFE7811}"/>
                </a:ext>
              </a:extLst>
            </p:cNvPr>
            <p:cNvSpPr/>
            <p:nvPr/>
          </p:nvSpPr>
          <p:spPr>
            <a:xfrm>
              <a:off x="6052544" y="5857715"/>
              <a:ext cx="391712" cy="342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9017C507-C4CE-0395-3C2A-67E3BBF7C7E6}"/>
                </a:ext>
              </a:extLst>
            </p:cNvPr>
            <p:cNvGrpSpPr/>
            <p:nvPr/>
          </p:nvGrpSpPr>
          <p:grpSpPr>
            <a:xfrm rot="10800000">
              <a:off x="6598442" y="934108"/>
              <a:ext cx="700088" cy="5436232"/>
              <a:chOff x="6446042" y="781708"/>
              <a:chExt cx="700088" cy="5436232"/>
            </a:xfrm>
          </p:grpSpPr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860FD745-371A-F60E-D599-7A04819FCA1A}"/>
                  </a:ext>
                </a:extLst>
              </p:cNvPr>
              <p:cNvSpPr/>
              <p:nvPr/>
            </p:nvSpPr>
            <p:spPr>
              <a:xfrm>
                <a:off x="6446042" y="781708"/>
                <a:ext cx="700087" cy="685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0281A572-59B4-9DE9-FBC2-7DACCCC423FD}"/>
                  </a:ext>
                </a:extLst>
              </p:cNvPr>
              <p:cNvSpPr/>
              <p:nvPr/>
            </p:nvSpPr>
            <p:spPr>
              <a:xfrm>
                <a:off x="6600229" y="946015"/>
                <a:ext cx="391712" cy="34290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69DA39F7-FC67-CC24-4D95-13DB8FFE3C5F}"/>
                  </a:ext>
                </a:extLst>
              </p:cNvPr>
              <p:cNvSpPr/>
              <p:nvPr/>
            </p:nvSpPr>
            <p:spPr>
              <a:xfrm>
                <a:off x="6446042" y="1458640"/>
                <a:ext cx="700087" cy="685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09B32ADF-CDD4-5DE2-F6D1-08B36A587581}"/>
                  </a:ext>
                </a:extLst>
              </p:cNvPr>
              <p:cNvSpPr/>
              <p:nvPr/>
            </p:nvSpPr>
            <p:spPr>
              <a:xfrm>
                <a:off x="6446042" y="2135572"/>
                <a:ext cx="700087" cy="685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A9E3AFA9-9B2C-08A9-804F-CBBA171CC30D}"/>
                  </a:ext>
                </a:extLst>
              </p:cNvPr>
              <p:cNvSpPr/>
              <p:nvPr/>
            </p:nvSpPr>
            <p:spPr>
              <a:xfrm>
                <a:off x="6600229" y="2299879"/>
                <a:ext cx="391712" cy="34290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D67972C0-DC50-CD19-D4F0-780A2AFAAAFE}"/>
                  </a:ext>
                </a:extLst>
              </p:cNvPr>
              <p:cNvSpPr/>
              <p:nvPr/>
            </p:nvSpPr>
            <p:spPr>
              <a:xfrm>
                <a:off x="6446042" y="2812504"/>
                <a:ext cx="700087" cy="685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05075155-8E7C-A7CD-BAA1-D4BB7578AD45}"/>
                  </a:ext>
                </a:extLst>
              </p:cNvPr>
              <p:cNvSpPr/>
              <p:nvPr/>
            </p:nvSpPr>
            <p:spPr>
              <a:xfrm>
                <a:off x="6446043" y="3501344"/>
                <a:ext cx="700087" cy="685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69D1C2A2-011C-3AB4-ABED-AFF14A6B2313}"/>
                  </a:ext>
                </a:extLst>
              </p:cNvPr>
              <p:cNvSpPr/>
              <p:nvPr/>
            </p:nvSpPr>
            <p:spPr>
              <a:xfrm>
                <a:off x="6600230" y="3665651"/>
                <a:ext cx="391712" cy="34290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30BCB3CA-7792-1655-BA88-891E6B019296}"/>
                  </a:ext>
                </a:extLst>
              </p:cNvPr>
              <p:cNvSpPr/>
              <p:nvPr/>
            </p:nvSpPr>
            <p:spPr>
              <a:xfrm>
                <a:off x="6446043" y="4178276"/>
                <a:ext cx="700087" cy="685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22628F3C-D6B4-43B7-1D2B-F039508D4381}"/>
                  </a:ext>
                </a:extLst>
              </p:cNvPr>
              <p:cNvSpPr/>
              <p:nvPr/>
            </p:nvSpPr>
            <p:spPr>
              <a:xfrm>
                <a:off x="6446043" y="4855208"/>
                <a:ext cx="700087" cy="685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4D238623-002D-A77C-A8AC-05E97A41DCAF}"/>
                  </a:ext>
                </a:extLst>
              </p:cNvPr>
              <p:cNvSpPr/>
              <p:nvPr/>
            </p:nvSpPr>
            <p:spPr>
              <a:xfrm>
                <a:off x="6600230" y="5019515"/>
                <a:ext cx="391712" cy="34290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E31B9944-B646-732B-F9BD-1F103EFED2F5}"/>
                  </a:ext>
                </a:extLst>
              </p:cNvPr>
              <p:cNvSpPr/>
              <p:nvPr/>
            </p:nvSpPr>
            <p:spPr>
              <a:xfrm>
                <a:off x="6446043" y="5532140"/>
                <a:ext cx="700087" cy="685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95775C53-2718-36D1-9852-A6D8084B7D02}"/>
                  </a:ext>
                </a:extLst>
              </p:cNvPr>
              <p:cNvSpPr/>
              <p:nvPr/>
            </p:nvSpPr>
            <p:spPr>
              <a:xfrm>
                <a:off x="6600230" y="5696447"/>
                <a:ext cx="391712" cy="34290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3306C941-3460-8820-FEA0-90601D8EF375}"/>
                </a:ext>
              </a:extLst>
            </p:cNvPr>
            <p:cNvGrpSpPr/>
            <p:nvPr/>
          </p:nvGrpSpPr>
          <p:grpSpPr>
            <a:xfrm rot="10800000">
              <a:off x="7298528" y="905206"/>
              <a:ext cx="700088" cy="5436232"/>
              <a:chOff x="6446042" y="781708"/>
              <a:chExt cx="700088" cy="5436232"/>
            </a:xfrm>
          </p:grpSpPr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6A6B3ADA-8173-CB3C-7A64-65F36A499D48}"/>
                  </a:ext>
                </a:extLst>
              </p:cNvPr>
              <p:cNvSpPr/>
              <p:nvPr/>
            </p:nvSpPr>
            <p:spPr>
              <a:xfrm>
                <a:off x="6446042" y="781708"/>
                <a:ext cx="700087" cy="685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A407BD9A-0C25-F355-4172-8DDAE8412CDE}"/>
                  </a:ext>
                </a:extLst>
              </p:cNvPr>
              <p:cNvSpPr/>
              <p:nvPr/>
            </p:nvSpPr>
            <p:spPr>
              <a:xfrm>
                <a:off x="6600229" y="946015"/>
                <a:ext cx="391712" cy="34290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8EC2E92C-A2DF-8F64-F690-628B06628B37}"/>
                  </a:ext>
                </a:extLst>
              </p:cNvPr>
              <p:cNvSpPr/>
              <p:nvPr/>
            </p:nvSpPr>
            <p:spPr>
              <a:xfrm>
                <a:off x="6446042" y="1458640"/>
                <a:ext cx="700087" cy="685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4131D989-8E3D-0586-FC72-CEEED975E689}"/>
                  </a:ext>
                </a:extLst>
              </p:cNvPr>
              <p:cNvSpPr/>
              <p:nvPr/>
            </p:nvSpPr>
            <p:spPr>
              <a:xfrm>
                <a:off x="6446042" y="2135572"/>
                <a:ext cx="700087" cy="685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36E68B58-F548-4008-3691-78B351469FE0}"/>
                  </a:ext>
                </a:extLst>
              </p:cNvPr>
              <p:cNvSpPr/>
              <p:nvPr/>
            </p:nvSpPr>
            <p:spPr>
              <a:xfrm>
                <a:off x="6600229" y="2299879"/>
                <a:ext cx="391712" cy="34290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4EE3EDE4-4B2F-7BCB-0258-509E37A97C36}"/>
                  </a:ext>
                </a:extLst>
              </p:cNvPr>
              <p:cNvSpPr/>
              <p:nvPr/>
            </p:nvSpPr>
            <p:spPr>
              <a:xfrm>
                <a:off x="6446042" y="2812504"/>
                <a:ext cx="700087" cy="685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53094A18-0DB9-5713-40F3-3855B915F32E}"/>
                  </a:ext>
                </a:extLst>
              </p:cNvPr>
              <p:cNvSpPr/>
              <p:nvPr/>
            </p:nvSpPr>
            <p:spPr>
              <a:xfrm>
                <a:off x="6446043" y="3501344"/>
                <a:ext cx="700087" cy="685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C6F767D2-9FF0-30FD-DA88-5B828EB94538}"/>
                  </a:ext>
                </a:extLst>
              </p:cNvPr>
              <p:cNvSpPr/>
              <p:nvPr/>
            </p:nvSpPr>
            <p:spPr>
              <a:xfrm>
                <a:off x="6600230" y="3665651"/>
                <a:ext cx="391712" cy="34290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577C1AF5-BE1F-E57B-503E-B4BC725B9E1A}"/>
                  </a:ext>
                </a:extLst>
              </p:cNvPr>
              <p:cNvSpPr/>
              <p:nvPr/>
            </p:nvSpPr>
            <p:spPr>
              <a:xfrm>
                <a:off x="6446043" y="4178276"/>
                <a:ext cx="700087" cy="685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2C827115-3522-4864-75FE-81BB34343A7D}"/>
                  </a:ext>
                </a:extLst>
              </p:cNvPr>
              <p:cNvSpPr/>
              <p:nvPr/>
            </p:nvSpPr>
            <p:spPr>
              <a:xfrm>
                <a:off x="6446043" y="4855208"/>
                <a:ext cx="700087" cy="685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82C55B42-61BB-0A76-71D8-94F7F7BA0D51}"/>
                  </a:ext>
                </a:extLst>
              </p:cNvPr>
              <p:cNvSpPr/>
              <p:nvPr/>
            </p:nvSpPr>
            <p:spPr>
              <a:xfrm>
                <a:off x="6600230" y="5019515"/>
                <a:ext cx="391712" cy="34290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1FA547F4-37C7-2DF8-3FAF-3265F58BE235}"/>
                  </a:ext>
                </a:extLst>
              </p:cNvPr>
              <p:cNvSpPr/>
              <p:nvPr/>
            </p:nvSpPr>
            <p:spPr>
              <a:xfrm>
                <a:off x="6446043" y="5532140"/>
                <a:ext cx="700087" cy="685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17E145F0-9414-CD4B-A23C-1CCC51A8520A}"/>
                  </a:ext>
                </a:extLst>
              </p:cNvPr>
              <p:cNvSpPr/>
              <p:nvPr/>
            </p:nvSpPr>
            <p:spPr>
              <a:xfrm>
                <a:off x="6600230" y="5696447"/>
                <a:ext cx="391712" cy="34290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FA3F15C1-F89A-2DF1-45F0-E449FE053A43}"/>
                </a:ext>
              </a:extLst>
            </p:cNvPr>
            <p:cNvSpPr/>
            <p:nvPr/>
          </p:nvSpPr>
          <p:spPr>
            <a:xfrm>
              <a:off x="6052543" y="1827077"/>
              <a:ext cx="391712" cy="342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F9E5AEF4-C70B-A3E9-22D3-5F7E76821D87}"/>
                </a:ext>
              </a:extLst>
            </p:cNvPr>
            <p:cNvSpPr/>
            <p:nvPr/>
          </p:nvSpPr>
          <p:spPr>
            <a:xfrm>
              <a:off x="7972712" y="905531"/>
              <a:ext cx="700087" cy="685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9387CE85-65A3-B918-0334-6B1FE0F31065}"/>
                </a:ext>
              </a:extLst>
            </p:cNvPr>
            <p:cNvSpPr/>
            <p:nvPr/>
          </p:nvSpPr>
          <p:spPr>
            <a:xfrm>
              <a:off x="7972712" y="1582463"/>
              <a:ext cx="700087" cy="685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E7B2D7F7-1D68-B086-E133-A2A0AAA0C8B8}"/>
                </a:ext>
              </a:extLst>
            </p:cNvPr>
            <p:cNvSpPr/>
            <p:nvPr/>
          </p:nvSpPr>
          <p:spPr>
            <a:xfrm>
              <a:off x="7972712" y="2259395"/>
              <a:ext cx="700087" cy="685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5900BBB1-362C-F78B-8709-F552496078E9}"/>
                </a:ext>
              </a:extLst>
            </p:cNvPr>
            <p:cNvSpPr/>
            <p:nvPr/>
          </p:nvSpPr>
          <p:spPr>
            <a:xfrm>
              <a:off x="8126899" y="2423702"/>
              <a:ext cx="391712" cy="342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A15F4C00-D1AF-F689-2640-F07EE42113E4}"/>
                </a:ext>
              </a:extLst>
            </p:cNvPr>
            <p:cNvSpPr/>
            <p:nvPr/>
          </p:nvSpPr>
          <p:spPr>
            <a:xfrm>
              <a:off x="7972712" y="2936327"/>
              <a:ext cx="700087" cy="685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19AE2880-3EC8-2FE9-7801-D87DE3383737}"/>
                </a:ext>
              </a:extLst>
            </p:cNvPr>
            <p:cNvSpPr/>
            <p:nvPr/>
          </p:nvSpPr>
          <p:spPr>
            <a:xfrm>
              <a:off x="7972713" y="3625167"/>
              <a:ext cx="700087" cy="685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E5242A84-7C3B-33C1-468B-3FB82E0008EA}"/>
                </a:ext>
              </a:extLst>
            </p:cNvPr>
            <p:cNvSpPr/>
            <p:nvPr/>
          </p:nvSpPr>
          <p:spPr>
            <a:xfrm>
              <a:off x="8126899" y="3848438"/>
              <a:ext cx="391712" cy="342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FF455A8D-2AF6-5736-3BAB-CC5F50D4636F}"/>
                </a:ext>
              </a:extLst>
            </p:cNvPr>
            <p:cNvSpPr/>
            <p:nvPr/>
          </p:nvSpPr>
          <p:spPr>
            <a:xfrm>
              <a:off x="7972713" y="4302099"/>
              <a:ext cx="700087" cy="685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D484E948-3BDB-764A-57EC-57843B9B903C}"/>
                </a:ext>
              </a:extLst>
            </p:cNvPr>
            <p:cNvSpPr/>
            <p:nvPr/>
          </p:nvSpPr>
          <p:spPr>
            <a:xfrm>
              <a:off x="7972713" y="4979031"/>
              <a:ext cx="700087" cy="685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ED83D58C-C36B-5FA3-26A0-09009988210E}"/>
                </a:ext>
              </a:extLst>
            </p:cNvPr>
            <p:cNvSpPr/>
            <p:nvPr/>
          </p:nvSpPr>
          <p:spPr>
            <a:xfrm>
              <a:off x="8126900" y="5143338"/>
              <a:ext cx="391712" cy="342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68D422FB-CF59-5896-5B54-028EFEE53CEB}"/>
                </a:ext>
              </a:extLst>
            </p:cNvPr>
            <p:cNvSpPr/>
            <p:nvPr/>
          </p:nvSpPr>
          <p:spPr>
            <a:xfrm>
              <a:off x="7972713" y="5655963"/>
              <a:ext cx="700087" cy="685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9DE65CB1-EBDD-9B50-7410-EB12BDA6886E}"/>
                </a:ext>
              </a:extLst>
            </p:cNvPr>
            <p:cNvSpPr/>
            <p:nvPr/>
          </p:nvSpPr>
          <p:spPr>
            <a:xfrm>
              <a:off x="8126899" y="1789632"/>
              <a:ext cx="391712" cy="342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F6CBA2CA-3E4C-653C-1050-21348D040F29}"/>
                </a:ext>
              </a:extLst>
            </p:cNvPr>
            <p:cNvSpPr/>
            <p:nvPr/>
          </p:nvSpPr>
          <p:spPr>
            <a:xfrm>
              <a:off x="8126899" y="4486037"/>
              <a:ext cx="391712" cy="342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4" name="TextBox 163">
            <a:extLst>
              <a:ext uri="{FF2B5EF4-FFF2-40B4-BE49-F238E27FC236}">
                <a16:creationId xmlns:a16="http://schemas.microsoft.com/office/drawing/2014/main" id="{574025BC-6257-F472-C9CE-EFAC525DB008}"/>
              </a:ext>
            </a:extLst>
          </p:cNvPr>
          <p:cNvSpPr txBox="1"/>
          <p:nvPr/>
        </p:nvSpPr>
        <p:spPr>
          <a:xfrm>
            <a:off x="8170355" y="6418423"/>
            <a:ext cx="58435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Remember, each is weaker</a:t>
            </a:r>
          </a:p>
        </p:txBody>
      </p:sp>
    </p:spTree>
    <p:extLst>
      <p:ext uri="{BB962C8B-B14F-4D97-AF65-F5344CB8AC3E}">
        <p14:creationId xmlns:p14="http://schemas.microsoft.com/office/powerpoint/2010/main" val="2150534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9E415-C386-6CE6-F99F-C36B88C4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423FF-87F6-E089-1B9B-25E5DD57F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Efficient for </a:t>
            </a:r>
            <a:r>
              <a:rPr lang="en-US" b="1" dirty="0"/>
              <a:t>highly parallelized </a:t>
            </a:r>
            <a:r>
              <a:rPr lang="en-US" dirty="0"/>
              <a:t>operations, such as matrix multiplication</a:t>
            </a:r>
          </a:p>
          <a:p>
            <a:pPr lvl="1"/>
            <a:r>
              <a:rPr lang="en-US" dirty="0"/>
              <a:t>When networks don’t play nice with this (RNN), training can take a long time.</a:t>
            </a:r>
          </a:p>
          <a:p>
            <a:pPr lvl="1"/>
            <a:r>
              <a:rPr lang="en-US" dirty="0"/>
              <a:t>Stacking layers as tensors instead of separate matrices is faster!</a:t>
            </a:r>
          </a:p>
          <a:p>
            <a:r>
              <a:rPr lang="en-US" dirty="0"/>
              <a:t>Even more specialized computers, called TPUs (tensor processing units) are available for ML specific applications</a:t>
            </a:r>
          </a:p>
          <a:p>
            <a:r>
              <a:rPr lang="en-US" dirty="0"/>
              <a:t>CPUs are good for operations which must happen one at a time</a:t>
            </a:r>
          </a:p>
        </p:txBody>
      </p:sp>
    </p:spTree>
    <p:extLst>
      <p:ext uri="{BB962C8B-B14F-4D97-AF65-F5344CB8AC3E}">
        <p14:creationId xmlns:p14="http://schemas.microsoft.com/office/powerpoint/2010/main" val="3619920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2FA45-7DAC-5439-DAAA-A84176168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Data Centers</a:t>
            </a:r>
          </a:p>
        </p:txBody>
      </p:sp>
      <p:pic>
        <p:nvPicPr>
          <p:cNvPr id="4098" name="Picture 2" descr="NVIDIA GPU Clusters - Microway">
            <a:extLst>
              <a:ext uri="{FF2B5EF4-FFF2-40B4-BE49-F238E27FC236}">
                <a16:creationId xmlns:a16="http://schemas.microsoft.com/office/drawing/2014/main" id="{FE33E960-55B6-1CA4-127C-EB16C190B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4881" y="2471738"/>
            <a:ext cx="3609975" cy="2707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GeForce 10 Series Graphics Cards">
            <a:extLst>
              <a:ext uri="{FF2B5EF4-FFF2-40B4-BE49-F238E27FC236}">
                <a16:creationId xmlns:a16="http://schemas.microsoft.com/office/drawing/2014/main" id="{B45B6BD5-ADA9-BCB8-BBE0-ED301FD26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70056"/>
            <a:ext cx="3719513" cy="1958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25DB639-E231-C47E-3ECB-609CC0CDB59B}"/>
              </a:ext>
            </a:extLst>
          </p:cNvPr>
          <p:cNvCxnSpPr/>
          <p:nvPr/>
        </p:nvCxnSpPr>
        <p:spPr>
          <a:xfrm>
            <a:off x="3757613" y="2471738"/>
            <a:ext cx="714375" cy="6000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00" name="Picture 4" descr="AI GPU Clusters: A Glimpse into the Future of Supercomputing - Onyx  Aerospace">
            <a:extLst>
              <a:ext uri="{FF2B5EF4-FFF2-40B4-BE49-F238E27FC236}">
                <a16:creationId xmlns:a16="http://schemas.microsoft.com/office/drawing/2014/main" id="{1788AA5C-CC47-64BD-4D94-53D14771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183" y="4425554"/>
            <a:ext cx="4212080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EFB4AE3-11E1-866A-B337-A7D4798462EB}"/>
              </a:ext>
            </a:extLst>
          </p:cNvPr>
          <p:cNvCxnSpPr>
            <a:cxnSpLocks/>
            <a:stCxn id="4098" idx="3"/>
          </p:cNvCxnSpPr>
          <p:nvPr/>
        </p:nvCxnSpPr>
        <p:spPr>
          <a:xfrm>
            <a:off x="7364856" y="3825479"/>
            <a:ext cx="1136207" cy="7322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02" name="Picture 6" descr="$3 billion hyperscale 'AI factory' planned north of Fargo - InForum |  Fargo, Moorhead and West Fargo news, weather and sports">
            <a:extLst>
              <a:ext uri="{FF2B5EF4-FFF2-40B4-BE49-F238E27FC236}">
                <a16:creationId xmlns:a16="http://schemas.microsoft.com/office/drawing/2014/main" id="{31D1E8C0-22DB-BF50-023C-B2B7743B1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183" y="442961"/>
            <a:ext cx="3950461" cy="2628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82EBC81-F8A0-A2C4-9471-5E16215348FD}"/>
              </a:ext>
            </a:extLst>
          </p:cNvPr>
          <p:cNvCxnSpPr>
            <a:cxnSpLocks/>
          </p:cNvCxnSpPr>
          <p:nvPr/>
        </p:nvCxnSpPr>
        <p:spPr>
          <a:xfrm flipV="1">
            <a:off x="9900223" y="3286125"/>
            <a:ext cx="0" cy="90547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403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62BE0-A6DC-EF93-82E0-6EE03AA8B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Hypothetical</a:t>
            </a:r>
          </a:p>
        </p:txBody>
      </p:sp>
      <p:pic>
        <p:nvPicPr>
          <p:cNvPr id="4" name="Picture 2" descr="NVIDIA GPU Clusters - Microway">
            <a:extLst>
              <a:ext uri="{FF2B5EF4-FFF2-40B4-BE49-F238E27FC236}">
                <a16:creationId xmlns:a16="http://schemas.microsoft.com/office/drawing/2014/main" id="{2F4071B2-E8B7-BB29-9A2F-B4A36653C3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6140" y="3629026"/>
            <a:ext cx="3609975" cy="2707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238,700+ Idea Clipart Stock Illustrations, Royalty-Free ...">
            <a:extLst>
              <a:ext uri="{FF2B5EF4-FFF2-40B4-BE49-F238E27FC236}">
                <a16:creationId xmlns:a16="http://schemas.microsoft.com/office/drawing/2014/main" id="{F8EEC616-6A2D-0040-2783-D4062B2DB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2839" y="238125"/>
            <a:ext cx="3076576" cy="3076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1A9FB9-3292-76AC-078F-91A8C8C613E2}"/>
              </a:ext>
            </a:extLst>
          </p:cNvPr>
          <p:cNvSpPr txBox="1"/>
          <p:nvPr/>
        </p:nvSpPr>
        <p:spPr>
          <a:xfrm>
            <a:off x="1385885" y="6148388"/>
            <a:ext cx="9844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What are his options for getting the GPUs to execute his idea? </a:t>
            </a:r>
          </a:p>
        </p:txBody>
      </p:sp>
    </p:spTree>
    <p:extLst>
      <p:ext uri="{BB962C8B-B14F-4D97-AF65-F5344CB8AC3E}">
        <p14:creationId xmlns:p14="http://schemas.microsoft.com/office/powerpoint/2010/main" val="3862512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3D97E-78E0-8029-C5BC-108E48DEA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499" y="4000501"/>
            <a:ext cx="3506289" cy="2428875"/>
          </a:xfrm>
        </p:spPr>
        <p:txBody>
          <a:bodyPr/>
          <a:lstStyle/>
          <a:p>
            <a:r>
              <a:rPr lang="en-US" dirty="0"/>
              <a:t>Most secure</a:t>
            </a:r>
          </a:p>
          <a:p>
            <a:r>
              <a:rPr lang="en-US" dirty="0"/>
              <a:t>Customizable</a:t>
            </a:r>
          </a:p>
          <a:p>
            <a:r>
              <a:rPr lang="en-US" dirty="0"/>
              <a:t>Most expensive</a:t>
            </a:r>
          </a:p>
          <a:p>
            <a:r>
              <a:rPr lang="en-US" dirty="0"/>
              <a:t>Once you buy you’re stuck</a:t>
            </a:r>
          </a:p>
        </p:txBody>
      </p:sp>
      <p:pic>
        <p:nvPicPr>
          <p:cNvPr id="6148" name="Picture 4" descr="GPU Servers For AI, Deep / Machine Learning &amp; HPC | Supermicro">
            <a:extLst>
              <a:ext uri="{FF2B5EF4-FFF2-40B4-BE49-F238E27FC236}">
                <a16:creationId xmlns:a16="http://schemas.microsoft.com/office/drawing/2014/main" id="{568DE9DD-40D5-EE95-3FC5-1B861A0E57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205"/>
          <a:stretch>
            <a:fillRect/>
          </a:stretch>
        </p:blipFill>
        <p:spPr bwMode="auto">
          <a:xfrm>
            <a:off x="508499" y="641538"/>
            <a:ext cx="3506289" cy="3136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NVIDIA H100 GPUs Now Available on AWS Cloud | NVIDIA Blog">
            <a:extLst>
              <a:ext uri="{FF2B5EF4-FFF2-40B4-BE49-F238E27FC236}">
                <a16:creationId xmlns:a16="http://schemas.microsoft.com/office/drawing/2014/main" id="{7D0E9A1F-A23D-F399-D85C-06762E4A5D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" r="49784"/>
          <a:stretch>
            <a:fillRect/>
          </a:stretch>
        </p:blipFill>
        <p:spPr bwMode="auto">
          <a:xfrm>
            <a:off x="8653783" y="641538"/>
            <a:ext cx="2943225" cy="3136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EE5E7BA-F364-D0B3-EA7D-ECEF0CB622C8}"/>
              </a:ext>
            </a:extLst>
          </p:cNvPr>
          <p:cNvSpPr txBox="1">
            <a:spLocks/>
          </p:cNvSpPr>
          <p:nvPr/>
        </p:nvSpPr>
        <p:spPr>
          <a:xfrm>
            <a:off x="6316133" y="3900487"/>
            <a:ext cx="5064715" cy="2428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C62D44-58B2-447E-E347-B8DB0F8C3142}"/>
              </a:ext>
            </a:extLst>
          </p:cNvPr>
          <p:cNvSpPr txBox="1"/>
          <p:nvPr/>
        </p:nvSpPr>
        <p:spPr>
          <a:xfrm>
            <a:off x="1443037" y="147086"/>
            <a:ext cx="3900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GPU Rack</a:t>
            </a:r>
          </a:p>
        </p:txBody>
      </p:sp>
      <p:pic>
        <p:nvPicPr>
          <p:cNvPr id="6152" name="Picture 8" descr="7 decades of difference: Carolina's 1st computer and its current cluster |  UNC-Chapel Hill">
            <a:extLst>
              <a:ext uri="{FF2B5EF4-FFF2-40B4-BE49-F238E27FC236}">
                <a16:creationId xmlns:a16="http://schemas.microsoft.com/office/drawing/2014/main" id="{35FD374D-A6EC-10F1-9124-6D49988576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3387" y="641538"/>
            <a:ext cx="4181797" cy="3136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34D0E8-21A8-85E7-B95F-5224D39E1F87}"/>
              </a:ext>
            </a:extLst>
          </p:cNvPr>
          <p:cNvSpPr txBox="1"/>
          <p:nvPr/>
        </p:nvSpPr>
        <p:spPr>
          <a:xfrm>
            <a:off x="4753295" y="147086"/>
            <a:ext cx="3900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Hospital GPU Cluster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6D2C1C-9A6E-19F3-B5C1-D76CB3F71EA2}"/>
              </a:ext>
            </a:extLst>
          </p:cNvPr>
          <p:cNvSpPr txBox="1"/>
          <p:nvPr/>
        </p:nvSpPr>
        <p:spPr>
          <a:xfrm>
            <a:off x="8973404" y="147086"/>
            <a:ext cx="3900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Cloud Compute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C087D2B-7D99-B207-003F-862B6E4BBB28}"/>
              </a:ext>
            </a:extLst>
          </p:cNvPr>
          <p:cNvSpPr txBox="1">
            <a:spLocks/>
          </p:cNvSpPr>
          <p:nvPr/>
        </p:nvSpPr>
        <p:spPr>
          <a:xfrm>
            <a:off x="4243387" y="4000501"/>
            <a:ext cx="4181797" cy="2710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Secure enough</a:t>
            </a:r>
          </a:p>
          <a:p>
            <a:r>
              <a:rPr lang="en-US" dirty="0"/>
              <a:t>Less expensive</a:t>
            </a:r>
          </a:p>
          <a:p>
            <a:r>
              <a:rPr lang="en-US" dirty="0"/>
              <a:t>Not @ all hospitals</a:t>
            </a:r>
          </a:p>
          <a:p>
            <a:r>
              <a:rPr lang="en-US" dirty="0"/>
              <a:t>You get what you get</a:t>
            </a:r>
          </a:p>
          <a:p>
            <a:r>
              <a:rPr lang="en-US" dirty="0"/>
              <a:t>Subject to availability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1CA193C-F92C-F22C-CA41-8F57816DC9EF}"/>
              </a:ext>
            </a:extLst>
          </p:cNvPr>
          <p:cNvSpPr txBox="1">
            <a:spLocks/>
          </p:cNvSpPr>
          <p:nvPr/>
        </p:nvSpPr>
        <p:spPr>
          <a:xfrm>
            <a:off x="8692096" y="4000500"/>
            <a:ext cx="3352268" cy="2857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Lowest barrier to entry</a:t>
            </a:r>
          </a:p>
          <a:p>
            <a:r>
              <a:rPr lang="en-US" dirty="0"/>
              <a:t>Plenty of options</a:t>
            </a:r>
          </a:p>
          <a:p>
            <a:r>
              <a:rPr lang="en-US" dirty="0"/>
              <a:t>Scales well</a:t>
            </a:r>
          </a:p>
          <a:p>
            <a:r>
              <a:rPr lang="en-US" dirty="0"/>
              <a:t>Must meet strict security protocols</a:t>
            </a:r>
          </a:p>
        </p:txBody>
      </p:sp>
    </p:spTree>
    <p:extLst>
      <p:ext uri="{BB962C8B-B14F-4D97-AF65-F5344CB8AC3E}">
        <p14:creationId xmlns:p14="http://schemas.microsoft.com/office/powerpoint/2010/main" val="4252266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4FA27-15AD-215D-3D78-9C63F9AAD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Happened Next?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C5989C-9AFF-89F2-E5C0-CA74353A7232}"/>
              </a:ext>
            </a:extLst>
          </p:cNvPr>
          <p:cNvSpPr txBox="1"/>
          <p:nvPr/>
        </p:nvSpPr>
        <p:spPr>
          <a:xfrm>
            <a:off x="5757863" y="1690688"/>
            <a:ext cx="528161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Matthew persuades his hospital admin to buy a few GPUs and build a small server cluster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His team trains a model to predict if a kid will develop severe allergies in their first 5 years of life based on maternal/child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He gets the following train/test loss</a:t>
            </a:r>
          </a:p>
        </p:txBody>
      </p:sp>
    </p:spTree>
    <p:extLst>
      <p:ext uri="{BB962C8B-B14F-4D97-AF65-F5344CB8AC3E}">
        <p14:creationId xmlns:p14="http://schemas.microsoft.com/office/powerpoint/2010/main" val="2480736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64ADB-ED47-E66D-DFC8-5999A6485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0A328-FCC1-5963-6324-494F7AA64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Results</a:t>
            </a:r>
          </a:p>
        </p:txBody>
      </p:sp>
      <p:pic>
        <p:nvPicPr>
          <p:cNvPr id="8194" name="Picture 2" descr="How to use Learning Curves to Diagnose Machine Learning Model Performance -  MachineLearningMastery.com">
            <a:extLst>
              <a:ext uri="{FF2B5EF4-FFF2-40B4-BE49-F238E27FC236}">
                <a16:creationId xmlns:a16="http://schemas.microsoft.com/office/drawing/2014/main" id="{1CEA601F-A3A8-EC7E-DCEF-59696FB56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240631"/>
            <a:ext cx="6429376" cy="4822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77F956-6A1F-2FA9-4030-EDA05CD8B049}"/>
              </a:ext>
            </a:extLst>
          </p:cNvPr>
          <p:cNvSpPr txBox="1"/>
          <p:nvPr/>
        </p:nvSpPr>
        <p:spPr>
          <a:xfrm>
            <a:off x="6934200" y="3167390"/>
            <a:ext cx="525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Any remarks about results?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F467B5-4F6B-2B5A-2EE7-FD5673DDA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1432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04E82-9B15-61DC-C9F2-86F24B362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00C65-637D-DF71-1712-8D3C86081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Collaboration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DDA033-93FA-2887-60C9-EC92BB7148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33" r="17167"/>
          <a:stretch>
            <a:fillRect/>
          </a:stretch>
        </p:blipFill>
        <p:spPr>
          <a:xfrm>
            <a:off x="5438775" y="3163881"/>
            <a:ext cx="1843088" cy="1477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3365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4C58D-64A5-6563-D26A-5EAC855E4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323" y="446087"/>
            <a:ext cx="10515600" cy="1325563"/>
          </a:xfrm>
        </p:spPr>
        <p:txBody>
          <a:bodyPr/>
          <a:lstStyle/>
          <a:p>
            <a:r>
              <a:rPr lang="en-US" dirty="0"/>
              <a:t>Federated Learning</a:t>
            </a:r>
          </a:p>
        </p:txBody>
      </p:sp>
    </p:spTree>
    <p:extLst>
      <p:ext uri="{BB962C8B-B14F-4D97-AF65-F5344CB8AC3E}">
        <p14:creationId xmlns:p14="http://schemas.microsoft.com/office/powerpoint/2010/main" val="19403819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23C5C-EB89-AD3E-8E7A-76E230B63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Continuing Our Story…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BA6B400-9C50-8A81-8652-014DC75AA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463" y="1362076"/>
            <a:ext cx="5367337" cy="2281237"/>
          </a:xfrm>
        </p:spPr>
        <p:txBody>
          <a:bodyPr/>
          <a:lstStyle/>
          <a:p>
            <a:r>
              <a:rPr lang="en-US" dirty="0"/>
              <a:t>He decides to publish his paper</a:t>
            </a:r>
          </a:p>
          <a:p>
            <a:r>
              <a:rPr lang="en-US" dirty="0"/>
              <a:t>Since it’s the CS world, his results can be easily verified</a:t>
            </a:r>
          </a:p>
          <a:p>
            <a:pPr lvl="1"/>
            <a:r>
              <a:rPr lang="en-US" dirty="0"/>
              <a:t>Peer review less important</a:t>
            </a:r>
          </a:p>
          <a:p>
            <a:pPr lvl="1"/>
            <a:r>
              <a:rPr lang="en-US" dirty="0"/>
              <a:t>Publish preprint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78F2F58-A09D-97AC-3663-CAAF45C96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139" y="3643313"/>
            <a:ext cx="5120336" cy="262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7904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1D2E4-75AF-9804-BB00-982E5082B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Healthy Skepticism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ACFFA-48D8-813C-4FE5-7E0DAD604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5"/>
            <a:ext cx="5257800" cy="4351338"/>
          </a:xfrm>
        </p:spPr>
        <p:txBody>
          <a:bodyPr/>
          <a:lstStyle/>
          <a:p>
            <a:r>
              <a:rPr lang="en-US" dirty="0"/>
              <a:t>Student 1 doesn’t believe the results and wants to verify before treating his patients</a:t>
            </a:r>
          </a:p>
          <a:p>
            <a:r>
              <a:rPr lang="en-US" dirty="0"/>
              <a:t>Luckily, Matthew’s team shared the model weights online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5432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EC30D-4983-D8AD-C780-52CE49300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Downloading Model Weights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1748EC-234A-A81C-8E1E-306E41765F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27694" y="1825625"/>
            <a:ext cx="93366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4938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6643B-683C-C896-F19D-60507CF3A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	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28FBA9-0FEE-279F-B05E-0DFC2AB172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25025" y="2141537"/>
            <a:ext cx="9193832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13AEF4-FF79-9F53-E7B2-E8F35465A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7225" y="-322500"/>
            <a:ext cx="7710209" cy="40263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1470DB-0226-48EA-87F9-0335638ED2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4141" y="2766317"/>
            <a:ext cx="3418152" cy="3888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1541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B2103-8CD9-7800-099C-47748CAED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3EAF6-11A7-C956-A5E9-640B4A587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Confirmed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2BDB3-BA11-59D6-84B1-372D17477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5"/>
            <a:ext cx="5257800" cy="4351338"/>
          </a:xfrm>
        </p:spPr>
        <p:txBody>
          <a:bodyPr/>
          <a:lstStyle/>
          <a:p>
            <a:r>
              <a:rPr lang="en-US" dirty="0"/>
              <a:t>Parsa downloads the model weights and is able to replicate Matthew &amp; Georgia’s results</a:t>
            </a:r>
          </a:p>
          <a:p>
            <a:r>
              <a:rPr lang="en-US" dirty="0"/>
              <a:t>Now he has a new clinical question: can the same input predict cardiovascular dysfunction in children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B5E3C6-B81D-1579-F67D-BB70549C0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20044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7438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6C984-ED05-4F2F-587E-9E702D95C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Pretraining &amp; Transfer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A8260-0BCF-12EE-F61A-DBA180AA6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3024187"/>
          </a:xfrm>
        </p:spPr>
        <p:txBody>
          <a:bodyPr>
            <a:normAutofit/>
          </a:bodyPr>
          <a:lstStyle/>
          <a:p>
            <a:r>
              <a:rPr lang="en-US" dirty="0"/>
              <a:t>Instead of initializing weights randomly, take them from another task and train a new model</a:t>
            </a:r>
          </a:p>
          <a:p>
            <a:r>
              <a:rPr lang="en-US" dirty="0"/>
              <a:t>Any info extracted in hidden layers by original model can be tweaked with GD/Backprop updates</a:t>
            </a:r>
          </a:p>
          <a:p>
            <a:r>
              <a:rPr lang="en-US" dirty="0"/>
              <a:t>Pretraining: Training on a much larger, more accessible dataset before applying transfer learning on a smaller, targeted dataset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75EE3E-3B5A-8B32-FF06-C6D9B9B49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968" y="4543426"/>
            <a:ext cx="7440063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4988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7D777-9500-9849-483A-35F74AF5A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Few-Shot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74E1E-4D77-2074-A8B5-2EAE8EED7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US" dirty="0"/>
              <a:t>Used in cases where labelled data is scarce</a:t>
            </a:r>
          </a:p>
          <a:p>
            <a:pPr lvl="1"/>
            <a:r>
              <a:rPr lang="en-US" dirty="0"/>
              <a:t>Rare disease</a:t>
            </a:r>
          </a:p>
          <a:p>
            <a:pPr lvl="1"/>
            <a:r>
              <a:rPr lang="en-US" dirty="0"/>
              <a:t>Image segmentation</a:t>
            </a:r>
          </a:p>
          <a:p>
            <a:r>
              <a:rPr lang="en-US" dirty="0"/>
              <a:t>N-way, K-shot learning</a:t>
            </a:r>
          </a:p>
          <a:p>
            <a:pPr lvl="1"/>
            <a:r>
              <a:rPr lang="en-US" dirty="0"/>
              <a:t>N = number of classes</a:t>
            </a:r>
          </a:p>
          <a:p>
            <a:pPr lvl="1"/>
            <a:r>
              <a:rPr lang="en-US" dirty="0"/>
              <a:t>K = number of training examples</a:t>
            </a:r>
          </a:p>
          <a:p>
            <a:pPr lvl="1"/>
            <a:r>
              <a:rPr lang="en-US" dirty="0"/>
              <a:t>So if 3 way 2 shot, three classes with 2 labelled examples each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6922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2C485-D6CE-15E6-02AE-F8FBF1908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 Stuff: Programming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22BCC-DBB1-CB93-854E-A88E462AF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Over time, programming has become “abstracted” or closer to how humans speak</a:t>
            </a:r>
          </a:p>
          <a:p>
            <a:r>
              <a:rPr lang="en-US" dirty="0"/>
              <a:t>Under the hood is code to translate between levels</a:t>
            </a:r>
          </a:p>
          <a:p>
            <a:r>
              <a:rPr lang="en-US" dirty="0"/>
              <a:t>Code closer to how computers speak requires less translation and therefore runs faster</a:t>
            </a:r>
          </a:p>
          <a:p>
            <a:r>
              <a:rPr lang="en-US" dirty="0"/>
              <a:t>All AI coding is done in Python</a:t>
            </a:r>
          </a:p>
        </p:txBody>
      </p:sp>
      <p:pic>
        <p:nvPicPr>
          <p:cNvPr id="12292" name="Picture 4" descr="The Language of Machines">
            <a:extLst>
              <a:ext uri="{FF2B5EF4-FFF2-40B4-BE49-F238E27FC236}">
                <a16:creationId xmlns:a16="http://schemas.microsoft.com/office/drawing/2014/main" id="{5B6C8FE6-4621-AA30-42CD-3F5B8969D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9840" y="1825625"/>
            <a:ext cx="510778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127E854-F7C9-F031-3DA8-3DD224D29339}"/>
              </a:ext>
            </a:extLst>
          </p:cNvPr>
          <p:cNvCxnSpPr>
            <a:cxnSpLocks/>
          </p:cNvCxnSpPr>
          <p:nvPr/>
        </p:nvCxnSpPr>
        <p:spPr>
          <a:xfrm flipV="1">
            <a:off x="11477626" y="1570831"/>
            <a:ext cx="0" cy="448706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20A196B-23CC-EE20-3AE6-D2D38CB0EBE4}"/>
              </a:ext>
            </a:extLst>
          </p:cNvPr>
          <p:cNvSpPr txBox="1"/>
          <p:nvPr/>
        </p:nvSpPr>
        <p:spPr>
          <a:xfrm>
            <a:off x="9134480" y="949365"/>
            <a:ext cx="305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Close to how humans speak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C46147-2693-DCDC-A69E-C369B0DDB226}"/>
              </a:ext>
            </a:extLst>
          </p:cNvPr>
          <p:cNvSpPr txBox="1"/>
          <p:nvPr/>
        </p:nvSpPr>
        <p:spPr>
          <a:xfrm>
            <a:off x="8897547" y="6247091"/>
            <a:ext cx="3294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Close to how computers speak</a:t>
            </a:r>
          </a:p>
        </p:txBody>
      </p:sp>
    </p:spTree>
    <p:extLst>
      <p:ext uri="{BB962C8B-B14F-4D97-AF65-F5344CB8AC3E}">
        <p14:creationId xmlns:p14="http://schemas.microsoft.com/office/powerpoint/2010/main" val="41378350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441A7-2041-501F-B5FA-D9B942B10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Python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BA9E3-500A-6FF9-33B7-854EF20CC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14999" cy="4351338"/>
          </a:xfrm>
        </p:spPr>
        <p:txBody>
          <a:bodyPr/>
          <a:lstStyle/>
          <a:p>
            <a:r>
              <a:rPr lang="en-US" dirty="0"/>
              <a:t>Combines multiple operations together and runs them in low level language to speed up AI</a:t>
            </a:r>
          </a:p>
          <a:p>
            <a:r>
              <a:rPr lang="en-US" dirty="0"/>
              <a:t>Not relevant for medical practice but good to know</a:t>
            </a:r>
          </a:p>
        </p:txBody>
      </p:sp>
      <p:pic>
        <p:nvPicPr>
          <p:cNvPr id="13314" name="Picture 2" descr="Tensorflow Pytorch">
            <a:extLst>
              <a:ext uri="{FF2B5EF4-FFF2-40B4-BE49-F238E27FC236}">
                <a16:creationId xmlns:a16="http://schemas.microsoft.com/office/drawing/2014/main" id="{9B318769-89F0-61E2-5FAE-F30CCF88F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199" y="1429544"/>
            <a:ext cx="5400675" cy="360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BF896C-BCB7-6E8A-C550-009C3CF28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341" y="5164931"/>
            <a:ext cx="5706271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150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99EE3-11DE-027C-52D9-951577538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E320E-6D40-2DF6-552E-1C13DD74C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Clinician: identify clinical pain point or question</a:t>
            </a:r>
          </a:p>
          <a:p>
            <a:r>
              <a:rPr lang="en-US" dirty="0"/>
              <a:t>Data engineer: source and clean data</a:t>
            </a:r>
          </a:p>
          <a:p>
            <a:r>
              <a:rPr lang="en-US" dirty="0"/>
              <a:t>Data scientist: perform analysis on data, including running models</a:t>
            </a:r>
          </a:p>
          <a:p>
            <a:r>
              <a:rPr lang="en-US" dirty="0"/>
              <a:t>Software engineer: build consistent applications that house models</a:t>
            </a:r>
          </a:p>
          <a:p>
            <a:r>
              <a:rPr lang="en-US" dirty="0"/>
              <a:t>Clinical Ethicist: Act as consultant regarding bias/safety of model</a:t>
            </a:r>
          </a:p>
        </p:txBody>
      </p:sp>
    </p:spTree>
    <p:extLst>
      <p:ext uri="{BB962C8B-B14F-4D97-AF65-F5344CB8AC3E}">
        <p14:creationId xmlns:p14="http://schemas.microsoft.com/office/powerpoint/2010/main" val="4972336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DFB46-D354-7A6B-212B-8C79AF1C9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Final Product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F111D-32C8-11C2-A488-47C7119A6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The whole team works together with their software engineers to build &amp; package a program for others to use</a:t>
            </a:r>
          </a:p>
        </p:txBody>
      </p:sp>
      <p:pic>
        <p:nvPicPr>
          <p:cNvPr id="4" name="Picture 10" descr="Matthew Theriault - MIT Class of 2028 / Computational Biology Major |  LinkedIn">
            <a:extLst>
              <a:ext uri="{FF2B5EF4-FFF2-40B4-BE49-F238E27FC236}">
                <a16:creationId xmlns:a16="http://schemas.microsoft.com/office/drawing/2014/main" id="{D198FC96-F23A-116C-EA7A-61EDC9C38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901" y="1295851"/>
            <a:ext cx="2300539" cy="2300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9DB1C7-58BB-0B82-E6C3-8294B927D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3262" y="1295851"/>
            <a:ext cx="2300538" cy="2300538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74256E01-063C-0E37-3CCA-296AB7273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901" y="3763329"/>
            <a:ext cx="2300538" cy="230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19D8CD52-49C9-BB11-4185-E0D1B9351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3262" y="3763329"/>
            <a:ext cx="2300538" cy="230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3DA65E-3CEA-C1C4-42DD-087F01C061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8799" y="3763329"/>
            <a:ext cx="4696602" cy="268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6191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D24CE-B783-0AB3-3FF5-F4D17D609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&amp; </a:t>
            </a:r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49C2D-E695-5221-1A15-E8E98AE9C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Git: version control software so many engineers can work on software independently and later sync</a:t>
            </a:r>
          </a:p>
          <a:p>
            <a:r>
              <a:rPr lang="en-US" dirty="0" err="1"/>
              <a:t>Github</a:t>
            </a:r>
            <a:r>
              <a:rPr lang="en-US" dirty="0"/>
              <a:t>: Hosting site for these versions</a:t>
            </a:r>
          </a:p>
          <a:p>
            <a:r>
              <a:rPr lang="en-US" dirty="0" err="1"/>
              <a:t>Github</a:t>
            </a:r>
            <a:r>
              <a:rPr lang="en-US" dirty="0"/>
              <a:t> contains lots of open source coding projects which can be pulled and repurposed by your engineers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DD54AD92-AC48-443E-EE31-227D64AC3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53194"/>
            <a:ext cx="6096000" cy="320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D25B7E-EC38-B2CF-FCB4-7D5C220B6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599" y="2440405"/>
            <a:ext cx="3473143" cy="441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7503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0063D-A43D-DC3D-2AF0-9869F2091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word on regular algorithms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DF459D5-87F8-0C8C-1E89-F110032061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5617513"/>
              </p:ext>
            </p:extLst>
          </p:nvPr>
        </p:nvGraphicFramePr>
        <p:xfrm>
          <a:off x="838200" y="1825625"/>
          <a:ext cx="105156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33255486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36905932"/>
                    </a:ext>
                  </a:extLst>
                </a:gridCol>
              </a:tblGrid>
              <a:tr h="7635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AI Algorithms</a:t>
                      </a:r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Regular Algorithms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78090"/>
                  </a:ext>
                </a:extLst>
              </a:tr>
              <a:tr h="763588">
                <a:tc>
                  <a:txBody>
                    <a:bodyPr/>
                    <a:lstStyle/>
                    <a:p>
                      <a:r>
                        <a:rPr lang="en-US" sz="2400" dirty="0"/>
                        <a:t>Have randomness involved (can get caught in local minimum)</a:t>
                      </a:r>
                    </a:p>
                    <a:p>
                      <a:r>
                        <a:rPr lang="en-US" sz="2400" b="1" dirty="0"/>
                        <a:t>Stochastic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Always find same answer, every time (usually)</a:t>
                      </a:r>
                    </a:p>
                    <a:p>
                      <a:r>
                        <a:rPr lang="en-US" sz="2400" b="1" dirty="0"/>
                        <a:t>Deterministic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611552"/>
                  </a:ext>
                </a:extLst>
              </a:tr>
              <a:tr h="763588">
                <a:tc>
                  <a:txBody>
                    <a:bodyPr/>
                    <a:lstStyle/>
                    <a:p>
                      <a:r>
                        <a:rPr lang="en-US" sz="2400" dirty="0"/>
                        <a:t>Take in an input and output and find an algorithm mapping them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Takes in an input and algorithm and returns an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412560"/>
                  </a:ext>
                </a:extLst>
              </a:tr>
              <a:tr h="763588">
                <a:tc>
                  <a:txBody>
                    <a:bodyPr/>
                    <a:lstStyle/>
                    <a:p>
                      <a:r>
                        <a:rPr lang="en-US" sz="2400" dirty="0"/>
                        <a:t>Algorithm returned is always an approximation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Algorithm usually is perfectly precise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661142"/>
                  </a:ext>
                </a:extLst>
              </a:tr>
              <a:tr h="763588">
                <a:tc>
                  <a:txBody>
                    <a:bodyPr/>
                    <a:lstStyle/>
                    <a:p>
                      <a:r>
                        <a:rPr lang="en-US" sz="2400" dirty="0"/>
                        <a:t>Advanced techniques needed to explain </a:t>
                      </a:r>
                      <a:r>
                        <a:rPr lang="en-US" sz="2400"/>
                        <a:t>decision making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Choices made completely explainable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792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77492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6E275-D6D8-4BF4-B63C-854997E82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UNC SOM Campus Match</a:t>
            </a:r>
          </a:p>
        </p:txBody>
      </p:sp>
      <p:pic>
        <p:nvPicPr>
          <p:cNvPr id="2050" name="Picture 2" descr="File:Minimum weight bipartite matching.pdf">
            <a:extLst>
              <a:ext uri="{FF2B5EF4-FFF2-40B4-BE49-F238E27FC236}">
                <a16:creationId xmlns:a16="http://schemas.microsoft.com/office/drawing/2014/main" id="{142B61E7-E066-919F-6F3A-04D403EC2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1581" y="1690688"/>
            <a:ext cx="9748838" cy="456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05717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E3275-D693-259B-94D4-50BB17B4E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3D2AE-23AA-03AD-D000-C92B532F5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Discussing challenges with rolling out AI in clinical contexts</a:t>
            </a:r>
          </a:p>
        </p:txBody>
      </p:sp>
    </p:spTree>
    <p:extLst>
      <p:ext uri="{BB962C8B-B14F-4D97-AF65-F5344CB8AC3E}">
        <p14:creationId xmlns:p14="http://schemas.microsoft.com/office/powerpoint/2010/main" val="4963624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9757E-5A2E-4C47-4696-AFE3FABAC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050925"/>
            <a:ext cx="10515600" cy="1325563"/>
          </a:xfrm>
        </p:spPr>
        <p:txBody>
          <a:bodyPr/>
          <a:lstStyle/>
          <a:p>
            <a:r>
              <a:rPr lang="en-US" dirty="0"/>
              <a:t>Thanks!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BED0BF-F931-17EC-1307-2F53B57A5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310" y="835448"/>
            <a:ext cx="5534490" cy="518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788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6747</TotalTime>
  <Words>1213</Words>
  <Application>Microsoft Office PowerPoint</Application>
  <PresentationFormat>Widescreen</PresentationFormat>
  <Paragraphs>239</Paragraphs>
  <Slides>36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Aptos</vt:lpstr>
      <vt:lpstr>Aptos Display</vt:lpstr>
      <vt:lpstr>Arial</vt:lpstr>
      <vt:lpstr>Office Theme</vt:lpstr>
      <vt:lpstr>Intro to AI for Medicine</vt:lpstr>
      <vt:lpstr>Last Time</vt:lpstr>
      <vt:lpstr>This time</vt:lpstr>
      <vt:lpstr>PowerPoint Presentation</vt:lpstr>
      <vt:lpstr>CPU vs GPU</vt:lpstr>
      <vt:lpstr>CPU vs GPU</vt:lpstr>
      <vt:lpstr>CPU vs GPU</vt:lpstr>
      <vt:lpstr>CPU vs GPU</vt:lpstr>
      <vt:lpstr>CPU vs GPU</vt:lpstr>
      <vt:lpstr>Matrices: Multiplication</vt:lpstr>
      <vt:lpstr>CPU vs GPU</vt:lpstr>
      <vt:lpstr>CPU vs GPU</vt:lpstr>
      <vt:lpstr>GPU Takeaways</vt:lpstr>
      <vt:lpstr>AI Data Centers</vt:lpstr>
      <vt:lpstr>Hypothetical</vt:lpstr>
      <vt:lpstr>PowerPoint Presentation</vt:lpstr>
      <vt:lpstr>What Happened Next?</vt:lpstr>
      <vt:lpstr>Preliminary Results</vt:lpstr>
      <vt:lpstr>A Collaboration</vt:lpstr>
      <vt:lpstr>Federated Learning</vt:lpstr>
      <vt:lpstr>Continuing Our Story…</vt:lpstr>
      <vt:lpstr>Healthy Skepticism</vt:lpstr>
      <vt:lpstr>Downloading Model Weights</vt:lpstr>
      <vt:lpstr>Datasets </vt:lpstr>
      <vt:lpstr>Hypothesis Confirmed</vt:lpstr>
      <vt:lpstr>Pretraining &amp; Transfer Learning</vt:lpstr>
      <vt:lpstr>Few-Shot Learning</vt:lpstr>
      <vt:lpstr>CS Stuff: Programming Languages</vt:lpstr>
      <vt:lpstr>Machine Learning Python Packages</vt:lpstr>
      <vt:lpstr>Building a team</vt:lpstr>
      <vt:lpstr>The Final Product</vt:lpstr>
      <vt:lpstr>Git &amp; Github</vt:lpstr>
      <vt:lpstr>A word on regular algorithms</vt:lpstr>
      <vt:lpstr>UNC SOM Campus Match</vt:lpstr>
      <vt:lpstr>Next time…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Lostetter</dc:creator>
  <cp:lastModifiedBy>Stephen Lostetter</cp:lastModifiedBy>
  <cp:revision>8</cp:revision>
  <dcterms:created xsi:type="dcterms:W3CDTF">2025-10-09T21:55:16Z</dcterms:created>
  <dcterms:modified xsi:type="dcterms:W3CDTF">2026-07-12T21:12:36Z</dcterms:modified>
</cp:coreProperties>
</file>
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58" r:id="rId3"/>
    <p:sldId id="259" r:id="rId4"/>
    <p:sldId id="260" r:id="rId5"/>
    <p:sldId id="274" r:id="rId6"/>
    <p:sldId id="277" r:id="rId7"/>
    <p:sldId id="278" r:id="rId8"/>
    <p:sldId id="279" r:id="rId9"/>
    <p:sldId id="280" r:id="rId10"/>
    <p:sldId id="276" r:id="rId11"/>
    <p:sldId id="286" r:id="rId12"/>
    <p:sldId id="281" r:id="rId13"/>
    <p:sldId id="282" r:id="rId14"/>
    <p:sldId id="283" r:id="rId15"/>
    <p:sldId id="284" r:id="rId16"/>
    <p:sldId id="388" r:id="rId17"/>
    <p:sldId id="285" r:id="rId18"/>
    <p:sldId id="387" r:id="rId19"/>
    <p:sldId id="353" r:id="rId20"/>
    <p:sldId id="389" r:id="rId21"/>
    <p:sldId id="391" r:id="rId22"/>
    <p:sldId id="395" r:id="rId23"/>
    <p:sldId id="397" r:id="rId24"/>
    <p:sldId id="390" r:id="rId25"/>
    <p:sldId id="392" r:id="rId26"/>
    <p:sldId id="393" r:id="rId27"/>
    <p:sldId id="394" r:id="rId28"/>
    <p:sldId id="396" r:id="rId29"/>
    <p:sldId id="398" r:id="rId30"/>
    <p:sldId id="402" r:id="rId31"/>
    <p:sldId id="399" r:id="rId32"/>
    <p:sldId id="401" r:id="rId33"/>
    <p:sldId id="400" r:id="rId34"/>
    <p:sldId id="403" r:id="rId35"/>
    <p:sldId id="405" r:id="rId36"/>
    <p:sldId id="404" r:id="rId37"/>
    <p:sldId id="406" r:id="rId38"/>
    <p:sldId id="413" r:id="rId39"/>
    <p:sldId id="407" r:id="rId40"/>
    <p:sldId id="408" r:id="rId41"/>
    <p:sldId id="409" r:id="rId42"/>
    <p:sldId id="410" r:id="rId43"/>
    <p:sldId id="41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83903" autoAdjust="0"/>
  </p:normalViewPr>
  <p:slideViewPr>
    <p:cSldViewPr snapToGrid="0">
      <p:cViewPr varScale="1">
        <p:scale>
          <a:sx n="30" d="100"/>
          <a:sy n="30" d="100"/>
        </p:scale>
        <p:origin x="13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6DCCC-55D1-430D-81F1-79B04A33EC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41BFC-39C1-44E1-AFBB-E56DCC5A8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0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thru it</a:t>
            </a:r>
          </a:p>
          <a:p>
            <a:endParaRPr lang="en-US" dirty="0"/>
          </a:p>
          <a:p>
            <a:r>
              <a:rPr lang="en-US" dirty="0"/>
              <a:t>Before, we considered hyperparameters which force us toward a certain kind of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7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if we know something about our data and what our output should take into account and look like, we can change our network accordingly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52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one point, if you go .0001 to the side it’s not going to be one million higher and then another .0001 right back</a:t>
            </a:r>
          </a:p>
          <a:p>
            <a:r>
              <a:rPr lang="en-US" dirty="0"/>
              <a:t>Neural nets have this assumption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4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Medically: If a patient comes in with a broken leg, you don’t need to be looking at their immunoglobulins to determine the best course of treatment</a:t>
            </a:r>
          </a:p>
          <a:p>
            <a:r>
              <a:rPr lang="en-US" dirty="0" err="1"/>
              <a:t>Relu</a:t>
            </a:r>
            <a:r>
              <a:rPr lang="en-US" dirty="0"/>
              <a:t>: many outputs are set to 0 if they end up in the negative</a:t>
            </a:r>
          </a:p>
          <a:p>
            <a:r>
              <a:rPr lang="en-US" dirty="0"/>
              <a:t>Lasso regularization: the bigger the weights are the bigger the penalty – so many go to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83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could learn that time plays a role… but that would be hard</a:t>
            </a:r>
          </a:p>
          <a:p>
            <a:r>
              <a:rPr lang="en-US" dirty="0"/>
              <a:t>Key info – that’s the sparsity thing. Can we build it into the network itself?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21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each time step, we take in an input x. Think of this as the new updates that have happened.</a:t>
            </a:r>
          </a:p>
          <a:p>
            <a:r>
              <a:rPr lang="en-US" dirty="0"/>
              <a:t>At the same time, we take in v, which is the current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64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every level, we have an input, state and prediction.</a:t>
            </a:r>
          </a:p>
          <a:p>
            <a:r>
              <a:rPr lang="en-US" dirty="0"/>
              <a:t>Because it can be unrolled we can do backpropagation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64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version of the smoothness IB</a:t>
            </a:r>
          </a:p>
          <a:p>
            <a:r>
              <a:rPr lang="en-US" dirty="0"/>
              <a:t>If data shuffled, IE pt labs where order means nothing, then performance will be hurt.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08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Loss: 1 for whatever the word is, 0 for everything else, but remember we have many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88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real one equal to 1, all other words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086B2-8283-464C-9BD8-D3BC221518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50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weight reuse here as we back propagate through states</a:t>
            </a:r>
          </a:p>
          <a:p>
            <a:r>
              <a:rPr lang="en-US" dirty="0"/>
              <a:t>Any reference to a word a few back has to propagate its way through the network via the state.</a:t>
            </a:r>
          </a:p>
          <a:p>
            <a:r>
              <a:rPr lang="en-US" dirty="0"/>
              <a:t>If our new state has half the influence on the state, then the one before has ¼, then 1/8,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0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Sequential training does not play nice with GPUs/TPUs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05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 of RNN to include a forget gate, preventing certain data from propagating</a:t>
            </a:r>
          </a:p>
          <a:p>
            <a:r>
              <a:rPr lang="en-US" dirty="0" err="1"/>
              <a:t>Bc</a:t>
            </a:r>
            <a:r>
              <a:rPr lang="en-US" dirty="0"/>
              <a:t> of that only critical info makes it thru, so addresses the issue of data being a smaller and smaller piece of the state</a:t>
            </a:r>
          </a:p>
          <a:p>
            <a:r>
              <a:rPr lang="en-US" dirty="0"/>
              <a:t>Used commonly for most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25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skip to the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81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11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network to recover data after pushing through a small bottleneck.</a:t>
            </a:r>
          </a:p>
          <a:p>
            <a:r>
              <a:rPr lang="en-US" dirty="0"/>
              <a:t>Reconfiguration of the NN structure we all know.</a:t>
            </a:r>
          </a:p>
          <a:p>
            <a:r>
              <a:rPr lang="en-US" dirty="0" err="1"/>
              <a:t>Hyperparaeter</a:t>
            </a:r>
            <a:r>
              <a:rPr lang="en-US" dirty="0"/>
              <a:t> is the size of the bottleneck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74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Bottleneck size audience participation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63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kept the key info. We lost the text, the shoelaces, but kept the shape.</a:t>
            </a:r>
          </a:p>
          <a:p>
            <a:r>
              <a:rPr lang="en-US" dirty="0"/>
              <a:t>For training, we add noise. How much we add is a hyperparameter.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748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E126B-0425-B3F6-CDB6-9F2D0F60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DF1BE-8C12-2461-1A33-0766EB6F3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985EF-4E73-A59D-FE09-0A2C0A45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kept the key info. We lost the text, the shoelaces, but kept the shape.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32F0A-1188-60E8-E91C-E42A4E62C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23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element wise, subtract difference,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150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is a way to find the key information that separates disparate data points. It converts data that’s many dimensional into 2d or lower d so humans can see key groupings.</a:t>
            </a:r>
          </a:p>
          <a:p>
            <a:r>
              <a:rPr lang="en-US" dirty="0"/>
              <a:t>For autoencoder, this would be like if you plotted the data at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03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7EC3-3F14-6867-8FFB-073AEFC4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B560E-C2DD-A831-D21B-52C21B10D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EA907-2B93-DAC8-6B01-406D9288A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fact PCA is a subset of autoencoders, where the activations are linear (i.e. only constant multiplication)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67476-2F22-9EE1-9810-64F79884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081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Fundamentally we’re asking how do we introduce some noise into our signal, then get rid of the noise that wouldn’t randomly be there between two members of the same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09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 wants: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dirty="0"/>
                  <a:t>for real,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𝐺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US" dirty="0"/>
                  <a:t>for fake.</a:t>
                </a:r>
              </a:p>
              <a:p>
                <a:r>
                  <a:rPr lang="en-US" b="1" dirty="0"/>
                  <a:t>G wants: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𝐺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ar-AE" dirty="0"/>
                  <a:t>(</a:t>
                </a:r>
                <a:r>
                  <a:rPr lang="en-US" dirty="0"/>
                  <a:t>fool D).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 wants: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(𝑥)=1</a:t>
                </a:r>
                <a:r>
                  <a:rPr lang="en-US" dirty="0"/>
                  <a:t>for real,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(𝐺(𝑧))=0</a:t>
                </a:r>
                <a:r>
                  <a:rPr lang="en-US" dirty="0"/>
                  <a:t>for fake.</a:t>
                </a:r>
              </a:p>
              <a:p>
                <a:r>
                  <a:rPr lang="en-US" b="1" dirty="0"/>
                  <a:t>G wants: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(𝐺(𝑧))=1</a:t>
                </a:r>
                <a:r>
                  <a:rPr lang="ar-AE" dirty="0"/>
                  <a:t>(</a:t>
                </a:r>
                <a:r>
                  <a:rPr lang="en-US" dirty="0"/>
                  <a:t>fool D).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32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Hyperparameters can control the variability in the predictions. Won’t go into them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38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Ethical concerns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8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Bootstrapping, </a:t>
            </a:r>
            <a:r>
              <a:rPr lang="en-US" dirty="0" err="1"/>
              <a:t>ensembling</a:t>
            </a:r>
            <a:r>
              <a:rPr lang="en-US" dirty="0"/>
              <a:t> technique</a:t>
            </a:r>
          </a:p>
          <a:p>
            <a:r>
              <a:rPr lang="en-US" dirty="0"/>
              <a:t>Repeat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38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807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lecture all case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9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D1FD-CC74-386F-C204-0FA55031A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A9DE5-7764-B77C-C9CA-6E14C9338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A4F4C-BEA4-B3BE-0C92-CE16D832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487D7-7BF6-33D3-BF4A-CA8407CC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9B864-5B04-18CA-3DC8-D4FF9663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6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0F9A-6108-DD82-AC32-E2532A57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81E07-2774-2F0F-8A9D-7261674C8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18CBB-E1D7-59A3-F3A8-7C50AC15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05724-F7EB-85DE-AA94-4A07DE03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A7658-628B-F799-B32C-46CC9E1B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AF23-DD2F-F5BA-957F-5316E4D0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44E5C-342E-45BA-5BCB-73E07AB99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C406-2341-140D-0F53-37DA5CCB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12431-1F7B-7DE4-3CCE-27ADE06D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5907E-0BB1-573A-F732-47AF470D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8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5B9A-2117-3EBF-522B-531E4005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D149D-963C-19BF-7E7E-4F18550EB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1B7AB-3A74-35F8-FD9A-815F39A2E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B4969-B682-4C4E-9951-EC62B534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C804B-BBA4-7B35-D7A9-52AC41D1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5ED95-51DA-AD01-0481-52AC5E5F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7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F049-1ADA-4D33-6DE8-C3C68E1F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10A9B-AD53-F043-48C2-258F08743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EFCA9-9721-62A8-D5CD-917508759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80F7F-022C-1A28-6029-F7682C2A0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F5F02-F2CC-AE3E-64CE-4965EB29F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7125B-81CD-30B0-CB3C-90E4BFE6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47157-1519-C7C6-0C17-38FD29F2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584A3-0F69-6214-5D9F-66B33297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4F43-E82F-87E8-435E-D23E4E22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5FBCF-5024-1DF9-E204-A87A3580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25509-2E68-FC59-376F-FB8A1FA4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32B6D-D2BD-8CCC-2B53-C3F6E95F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5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E5573-7196-C157-99A2-4200C8F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C7DE-91C6-561C-7D37-E25F4D4A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1243A-0426-7A02-07B5-27ED1BCE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9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E872-CA22-A741-BE36-E35543B68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A4B19-82EB-232A-35C9-E1AAC079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511FB-4DC1-4579-5F76-CE4DAEB42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079D7-7803-8E02-6286-67C43875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9829A-B62E-9F37-87F5-562312E8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4270D-BC5B-2FC5-9715-6F4E2A55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6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6FCF-BB1B-2FD5-855E-91C8B265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DD43D-D751-4151-4508-A84C9EFE1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DC7C5-A884-777F-BD88-79A5B7FB0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49B07-5BA1-FF53-8F1B-67E53E20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BFABE-344C-6557-B6F9-EF029C86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353AE-0F39-3D36-DF23-F07631D8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D91B-7F59-DBEB-0A97-0CA77594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969EF-C9C8-C160-30AB-96495C620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7DAD0-D008-A355-E7FD-6C228464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923DD-B25A-548D-2353-7AD88A6C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5A2C2-69A4-A588-7391-B7894873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1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2C704-58DA-1B59-C005-344DB9365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F112F-91D7-8875-1AB0-1B0BA92FF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9B640-4EF4-1152-D251-7C502670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70CE-D0B0-D37A-9F56-D5CB18D7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49AC-5178-7209-7FC1-8A27830A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BFACA-B532-3002-2CCB-8E15161B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C6357-9848-B0AA-EA5D-B362685A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85751-82EF-2374-6F3D-B3F816E99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0E29A-B8DE-4EC5-AB8B-F7347953339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82A06-1115-A2A3-4ED2-A851D9031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4B4B7-645D-99CB-E1ED-4D47384C2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3A8CF-8C08-4778-B097-18BDFD9E9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6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A42C-A7CE-ED9B-3983-8DF9EA10D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3554F-CE14-BE15-C4EA-B40381068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6: Network</a:t>
            </a:r>
          </a:p>
        </p:txBody>
      </p:sp>
    </p:spTree>
    <p:extLst>
      <p:ext uri="{BB962C8B-B14F-4D97-AF65-F5344CB8AC3E}">
        <p14:creationId xmlns:p14="http://schemas.microsoft.com/office/powerpoint/2010/main" val="305387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1000-C941-CF5F-0EF7-6DC64C81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0335-C3D4-4017-A164-F5FF30C7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different ways of encoding data so it can interface with matrices</a:t>
            </a:r>
          </a:p>
          <a:p>
            <a:r>
              <a:rPr lang="en-US" dirty="0"/>
              <a:t>Went over types of bias</a:t>
            </a:r>
          </a:p>
          <a:p>
            <a:r>
              <a:rPr lang="en-US" dirty="0"/>
              <a:t>Introduced data augmentation</a:t>
            </a:r>
          </a:p>
        </p:txBody>
      </p:sp>
    </p:spTree>
    <p:extLst>
      <p:ext uri="{BB962C8B-B14F-4D97-AF65-F5344CB8AC3E}">
        <p14:creationId xmlns:p14="http://schemas.microsoft.com/office/powerpoint/2010/main" val="32212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8ED7-40A7-C815-DB19-7EF9E5CD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71CA-806E-C841-2907-671C720B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Learned what the structure of the regular neural net looks like</a:t>
            </a:r>
          </a:p>
        </p:txBody>
      </p:sp>
    </p:spTree>
    <p:extLst>
      <p:ext uri="{BB962C8B-B14F-4D97-AF65-F5344CB8AC3E}">
        <p14:creationId xmlns:p14="http://schemas.microsoft.com/office/powerpoint/2010/main" val="367904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7ECF-07A3-1210-35A7-F8F4F0BF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BF79-5CA1-2AE7-7575-002CD7B02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Variations on the theme of the regular neural net, and how that can help solve a wider class of problems</a:t>
            </a:r>
          </a:p>
          <a:p>
            <a:r>
              <a:rPr lang="en-US" dirty="0"/>
              <a:t>Everything we’ll see today is just a small but creative tweak to the network we already know!</a:t>
            </a:r>
          </a:p>
          <a:p>
            <a:r>
              <a:rPr lang="en-US" dirty="0"/>
              <a:t>Each tweak addresses a key limitation with the original NN for fitting different problems</a:t>
            </a:r>
          </a:p>
        </p:txBody>
      </p:sp>
    </p:spTree>
    <p:extLst>
      <p:ext uri="{BB962C8B-B14F-4D97-AF65-F5344CB8AC3E}">
        <p14:creationId xmlns:p14="http://schemas.microsoft.com/office/powerpoint/2010/main" val="3939175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3C474CC-DFD6-9574-C2B8-1B26900B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Revisiting the neuron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C4442-590B-4A98-2C95-3892E51DA90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5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DA2E-EEEE-0CCC-A358-066D8F91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E423-A182-242D-2C81-12C28456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bias in the traditional sense – it’s the direction we point our model toward via the construction of the network</a:t>
            </a:r>
          </a:p>
          <a:p>
            <a:r>
              <a:rPr lang="en-US" dirty="0"/>
              <a:t>Ex. For linear regression (no neural net) we assume our data can be fit linearly</a:t>
            </a:r>
          </a:p>
          <a:p>
            <a:r>
              <a:rPr lang="en-US" dirty="0"/>
              <a:t>For other problems, we can give our ML model a hint by changing the way it processes data</a:t>
            </a:r>
          </a:p>
        </p:txBody>
      </p:sp>
    </p:spTree>
    <p:extLst>
      <p:ext uri="{BB962C8B-B14F-4D97-AF65-F5344CB8AC3E}">
        <p14:creationId xmlns:p14="http://schemas.microsoft.com/office/powerpoint/2010/main" val="363785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DF2B-A956-8EDE-D597-2906759D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28E1E-F458-6EBD-77D2-E0EBA973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Smoothness: Similar inputs have similar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05E3A-A010-1F26-A507-74E8F2636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228" y="2591159"/>
            <a:ext cx="4223994" cy="37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7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C7D8-3B89-FA6C-10E6-97925CB5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963D-982C-C8E5-5F5F-0CD544E49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Sparsity: Your question can be answered by only a few key inputs</a:t>
            </a:r>
          </a:p>
          <a:p>
            <a:r>
              <a:rPr lang="en-US" dirty="0"/>
              <a:t>In other words: not every input matters for every question</a:t>
            </a:r>
          </a:p>
        </p:txBody>
      </p:sp>
      <p:pic>
        <p:nvPicPr>
          <p:cNvPr id="1026" name="Picture 2" descr="ReLU Activation Function in Deep Learning - GeeksforGeeks">
            <a:extLst>
              <a:ext uri="{FF2B5EF4-FFF2-40B4-BE49-F238E27FC236}">
                <a16:creationId xmlns:a16="http://schemas.microsoft.com/office/drawing/2014/main" id="{F67D59F9-F370-C7DA-0D9F-8B26DFB72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21" y="2939725"/>
            <a:ext cx="5425928" cy="3553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ltimate Guidebook for Regularization Techniques in Deep Learning.">
            <a:extLst>
              <a:ext uri="{FF2B5EF4-FFF2-40B4-BE49-F238E27FC236}">
                <a16:creationId xmlns:a16="http://schemas.microsoft.com/office/drawing/2014/main" id="{D50B2B92-0FBA-69B1-2791-08DE2EE11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0"/>
          <a:stretch>
            <a:fillRect/>
          </a:stretch>
        </p:blipFill>
        <p:spPr bwMode="auto">
          <a:xfrm>
            <a:off x="6973804" y="3111500"/>
            <a:ext cx="4379996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48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A87A-71A6-9F51-229A-706D5760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6932-AE41-5AEB-3607-4C7B99153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free lunch rule: If your inductive bias works well for one type of data, it works worse for another type.	</a:t>
            </a:r>
          </a:p>
        </p:txBody>
      </p:sp>
    </p:spTree>
    <p:extLst>
      <p:ext uri="{BB962C8B-B14F-4D97-AF65-F5344CB8AC3E}">
        <p14:creationId xmlns:p14="http://schemas.microsoft.com/office/powerpoint/2010/main" val="100473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F097-11B9-0690-7FD3-A103ECF4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B19D7-412C-7FB8-0E5D-2F87F302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4480"/>
          </a:xfrm>
        </p:spPr>
        <p:txBody>
          <a:bodyPr/>
          <a:lstStyle/>
          <a:p>
            <a:r>
              <a:rPr lang="en-US" dirty="0"/>
              <a:t>Incorporate time?</a:t>
            </a:r>
          </a:p>
          <a:p>
            <a:r>
              <a:rPr lang="en-US" dirty="0"/>
              <a:t>Extract only the most key information, removing noise?</a:t>
            </a:r>
          </a:p>
          <a:p>
            <a:r>
              <a:rPr lang="en-US" dirty="0"/>
              <a:t>Our outputs want to be as similar to a known dataset as possible?</a:t>
            </a:r>
          </a:p>
          <a:p>
            <a:r>
              <a:rPr lang="en-US" dirty="0"/>
              <a:t>Consider spatial relationships in imaging?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6639C-88B1-89BB-C9D5-2F187CDF9A00}"/>
              </a:ext>
            </a:extLst>
          </p:cNvPr>
          <p:cNvSpPr txBox="1">
            <a:spLocks/>
          </p:cNvSpPr>
          <p:nvPr/>
        </p:nvSpPr>
        <p:spPr>
          <a:xfrm>
            <a:off x="838200" y="4119646"/>
            <a:ext cx="10515600" cy="2024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Recurrent Neural Nets</a:t>
            </a:r>
          </a:p>
          <a:p>
            <a:r>
              <a:rPr lang="en-US" dirty="0"/>
              <a:t>Autoencoders</a:t>
            </a:r>
          </a:p>
          <a:p>
            <a:r>
              <a:rPr lang="en-US" dirty="0"/>
              <a:t>Generative Adversarial Nets</a:t>
            </a:r>
          </a:p>
          <a:p>
            <a:r>
              <a:rPr lang="en-US" dirty="0"/>
              <a:t>Convolutional Nets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2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BE8E-FF70-4062-3826-04E3A334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916D1-FEC9-5157-960A-7C3DA859A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Chart data for patients in the PICU</a:t>
            </a:r>
          </a:p>
          <a:p>
            <a:r>
              <a:rPr lang="en-US" dirty="0"/>
              <a:t>Every day, we get a new set of labs</a:t>
            </a:r>
          </a:p>
          <a:p>
            <a:r>
              <a:rPr lang="en-US" dirty="0"/>
              <a:t>Every few hours, we get new vitals</a:t>
            </a:r>
          </a:p>
          <a:p>
            <a:r>
              <a:rPr lang="en-US" dirty="0"/>
              <a:t>Can we use not only the data, but the change in the data to accurately diagnose?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15702-D5AF-602A-B1B4-23877C86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48" y="3962889"/>
            <a:ext cx="5477458" cy="262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5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AA18-1A92-D115-8E26-72F17CFE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97BA-0B95-250E-E9DB-5AC87570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6038"/>
          </a:xfrm>
        </p:spPr>
        <p:txBody>
          <a:bodyPr/>
          <a:lstStyle/>
          <a:p>
            <a:r>
              <a:rPr lang="en-US" dirty="0"/>
              <a:t>Idea: Capture effect time has on data by combining new input with current state.</a:t>
            </a:r>
          </a:p>
          <a:p>
            <a:r>
              <a:rPr lang="en-US" dirty="0"/>
              <a:t>How it’s implemented: “looped” neural net which receives data from input at a given time and the current state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49CAC9D1-23E4-D0A7-B451-84FE399E8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50"/>
          <a:stretch>
            <a:fillRect/>
          </a:stretch>
        </p:blipFill>
        <p:spPr bwMode="auto">
          <a:xfrm>
            <a:off x="4289257" y="3429000"/>
            <a:ext cx="2544679" cy="334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45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A164-F889-5316-AA02-DF57179F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1719-D28C-14E0-4287-CDFA86D0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Nets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16CACAFE-8D51-0291-EE1F-544E582EE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16485"/>
          <a:stretch>
            <a:fillRect/>
          </a:stretch>
        </p:blipFill>
        <p:spPr bwMode="auto">
          <a:xfrm>
            <a:off x="1269331" y="2261937"/>
            <a:ext cx="11692691" cy="334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94ED-4CE9-361B-9F7E-E825E620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75C69-F445-7082-67F9-871968E88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81537" y="1952949"/>
            <a:ext cx="9228925" cy="385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5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AD7F-94F1-43FB-A328-A4AE64F0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Net: Formalization and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70D9-032D-C05C-DF12-B956FD00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we want to predict a sequence.</a:t>
            </a:r>
          </a:p>
          <a:p>
            <a:pPr marL="0" indent="0">
              <a:buNone/>
            </a:pPr>
            <a:r>
              <a:rPr lang="en-US" dirty="0"/>
              <a:t>We have pairs of </a:t>
            </a:r>
            <a:r>
              <a:rPr lang="en-US" dirty="0" err="1"/>
              <a:t>x</a:t>
            </a:r>
            <a:r>
              <a:rPr lang="en-US" baseline="-25000" dirty="0" err="1"/>
              <a:t>t</a:t>
            </a:r>
            <a:r>
              <a:rPr lang="en-US" dirty="0"/>
              <a:t> and </a:t>
            </a:r>
            <a:r>
              <a:rPr lang="en-US" dirty="0" err="1"/>
              <a:t>y</a:t>
            </a:r>
            <a:r>
              <a:rPr lang="en-US" baseline="-25000" dirty="0" err="1"/>
              <a:t>t</a:t>
            </a:r>
            <a:r>
              <a:rPr lang="en-US" baseline="-25000" dirty="0"/>
              <a:t> </a:t>
            </a:r>
            <a:r>
              <a:rPr lang="en-US" dirty="0"/>
              <a:t> for a given time step. </a:t>
            </a:r>
          </a:p>
          <a:p>
            <a:pPr marL="0" indent="0">
              <a:buNone/>
            </a:pPr>
            <a:r>
              <a:rPr lang="en-US" dirty="0"/>
              <a:t>So for a given sequence of inputs, we want a certain sequence of outputs</a:t>
            </a:r>
          </a:p>
          <a:p>
            <a:r>
              <a:rPr lang="en-US" dirty="0"/>
              <a:t>Loss function is loosely defined – can be anything that measures similarity between predictions and actual, summed across timesteps</a:t>
            </a:r>
          </a:p>
        </p:txBody>
      </p:sp>
    </p:spTree>
    <p:extLst>
      <p:ext uri="{BB962C8B-B14F-4D97-AF65-F5344CB8AC3E}">
        <p14:creationId xmlns:p14="http://schemas.microsoft.com/office/powerpoint/2010/main" val="343094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879E-83ED-87D5-7EBD-DF9A8F49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RNN: 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A79A-36A0-1DAE-6540-62ED14122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has a temporal relationship</a:t>
            </a:r>
          </a:p>
          <a:p>
            <a:r>
              <a:rPr lang="en-US" dirty="0"/>
              <a:t>Last state has a large effect on what the next state will be (recency bias)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6C14-BD72-CA38-E9D4-B466050E1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411" y="3279729"/>
            <a:ext cx="5860705" cy="281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8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D0AE-1655-D7FD-E955-CBA56D78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RNN: Character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C310-A462-19A6-CB4D-253B5E14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we have a sequence of characters and want to predict the next</a:t>
            </a:r>
          </a:p>
        </p:txBody>
      </p:sp>
      <p:pic>
        <p:nvPicPr>
          <p:cNvPr id="3076" name="Picture 4" descr="NEXT WORD PREDICTOR USING LSTM – Insight – Data Science Society, IMI, New  Delhi">
            <a:extLst>
              <a:ext uri="{FF2B5EF4-FFF2-40B4-BE49-F238E27FC236}">
                <a16:creationId xmlns:a16="http://schemas.microsoft.com/office/drawing/2014/main" id="{D3154F25-F16E-5D94-F86C-5A1B43BA7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2374700"/>
            <a:ext cx="4932195" cy="43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6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AEE957E2-57A6-F8E6-A85F-C6D2E88672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494900"/>
              </p:ext>
            </p:extLst>
          </p:nvPr>
        </p:nvGraphicFramePr>
        <p:xfrm>
          <a:off x="1576137" y="746481"/>
          <a:ext cx="9039726" cy="5365037"/>
        </p:xfrm>
        <a:graphic>
          <a:graphicData uri="http://schemas.openxmlformats.org/drawingml/2006/table">
            <a:tbl>
              <a:tblPr/>
              <a:tblGrid>
                <a:gridCol w="4519855">
                  <a:extLst>
                    <a:ext uri="{9D8B030D-6E8A-4147-A177-3AD203B41FA5}">
                      <a16:colId xmlns:a16="http://schemas.microsoft.com/office/drawing/2014/main" val="1066187513"/>
                    </a:ext>
                  </a:extLst>
                </a:gridCol>
                <a:gridCol w="4519871">
                  <a:extLst>
                    <a:ext uri="{9D8B030D-6E8A-4147-A177-3AD203B41FA5}">
                      <a16:colId xmlns:a16="http://schemas.microsoft.com/office/drawing/2014/main" val="729878784"/>
                    </a:ext>
                  </a:extLst>
                </a:gridCol>
              </a:tblGrid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27053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06767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40160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17909"/>
                  </a:ext>
                </a:extLst>
              </a:tr>
              <a:tr h="515138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058476"/>
                  </a:ext>
                </a:extLst>
              </a:tr>
              <a:tr h="120563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dirty="0"/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879990"/>
                  </a:ext>
                </a:extLst>
              </a:tr>
              <a:tr h="515138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932619"/>
                  </a:ext>
                </a:extLst>
              </a:tr>
              <a:tr h="1068574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432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85B23F-865B-6AA9-C6AC-093C70323E9A}"/>
              </a:ext>
            </a:extLst>
          </p:cNvPr>
          <p:cNvSpPr txBox="1"/>
          <p:nvPr/>
        </p:nvSpPr>
        <p:spPr>
          <a:xfrm>
            <a:off x="3332748" y="1311443"/>
            <a:ext cx="779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Predict the next word the user wants to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01451-15B8-277C-17DB-D9F03C7F2EB9}"/>
              </a:ext>
            </a:extLst>
          </p:cNvPr>
          <p:cNvSpPr txBox="1"/>
          <p:nvPr/>
        </p:nvSpPr>
        <p:spPr>
          <a:xfrm>
            <a:off x="1576138" y="2338070"/>
            <a:ext cx="903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Multiclass classification of sequential data – finding the most likely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DCCD3-6F6F-F70A-8B39-3D1205A27F9E}"/>
              </a:ext>
            </a:extLst>
          </p:cNvPr>
          <p:cNvSpPr txBox="1"/>
          <p:nvPr/>
        </p:nvSpPr>
        <p:spPr>
          <a:xfrm>
            <a:off x="1576137" y="3272589"/>
            <a:ext cx="4519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ton of user text messages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7D9D5-423E-5817-1DCE-9C282D66532D}"/>
              </a:ext>
            </a:extLst>
          </p:cNvPr>
          <p:cNvSpPr txBox="1"/>
          <p:nvPr/>
        </p:nvSpPr>
        <p:spPr>
          <a:xfrm>
            <a:off x="6096000" y="3249815"/>
            <a:ext cx="4519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Multiclass log loss at each step, summed across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E7207-FBBC-10AF-3E96-3720B657E2E3}"/>
              </a:ext>
            </a:extLst>
          </p:cNvPr>
          <p:cNvSpPr txBox="1"/>
          <p:nvPr/>
        </p:nvSpPr>
        <p:spPr>
          <a:xfrm>
            <a:off x="1680411" y="5064233"/>
            <a:ext cx="39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RNN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A9AF9-17D7-436C-5028-C93376DB6842}"/>
              </a:ext>
            </a:extLst>
          </p:cNvPr>
          <p:cNvSpPr txBox="1"/>
          <p:nvPr/>
        </p:nvSpPr>
        <p:spPr>
          <a:xfrm>
            <a:off x="6464969" y="5165286"/>
            <a:ext cx="4407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Simple for now</a:t>
            </a:r>
          </a:p>
        </p:txBody>
      </p:sp>
    </p:spTree>
    <p:extLst>
      <p:ext uri="{BB962C8B-B14F-4D97-AF65-F5344CB8AC3E}">
        <p14:creationId xmlns:p14="http://schemas.microsoft.com/office/powerpoint/2010/main" val="229528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eural Networks - step by step | Lasse Hansen">
            <a:extLst>
              <a:ext uri="{FF2B5EF4-FFF2-40B4-BE49-F238E27FC236}">
                <a16:creationId xmlns:a16="http://schemas.microsoft.com/office/drawing/2014/main" id="{D46B1285-C559-5231-4B2F-C4BC698C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29" y="1821742"/>
            <a:ext cx="5945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A3FBA6-D10B-5DC2-1922-C49F470A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Softmax</a:t>
            </a:r>
            <a:r>
              <a:rPr lang="en-US" dirty="0"/>
              <a:t> Function</a:t>
            </a:r>
          </a:p>
        </p:txBody>
      </p:sp>
      <p:pic>
        <p:nvPicPr>
          <p:cNvPr id="6146" name="Picture 2" descr="Understanding the Softmax Activation Function: A Comprehensive Guide">
            <a:extLst>
              <a:ext uri="{FF2B5EF4-FFF2-40B4-BE49-F238E27FC236}">
                <a16:creationId xmlns:a16="http://schemas.microsoft.com/office/drawing/2014/main" id="{8DB01FFD-2EDA-544A-B6A0-3EEA0A9855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071" y="1690688"/>
            <a:ext cx="6096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19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0468-66A2-A965-0CF1-D1054F6D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RNN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3CA3-5336-822B-D7A3-74E50A94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9154"/>
          </a:xfrm>
        </p:spPr>
        <p:txBody>
          <a:bodyPr/>
          <a:lstStyle/>
          <a:p>
            <a:r>
              <a:rPr lang="en-US" dirty="0"/>
              <a:t>As we get to a given layer, the input of layer two back means less than the layer one back.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0ADB591-5F0C-4652-2220-E633C7A4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3" y="3429000"/>
            <a:ext cx="7738662" cy="3229164"/>
          </a:xfrm>
          <a:prstGeom prst="rect">
            <a:avLst/>
          </a:prstGeom>
        </p:spPr>
      </p:pic>
      <p:pic>
        <p:nvPicPr>
          <p:cNvPr id="4098" name="Picture 2" descr="Fractal Foundation Online Course - Chapter 11 - FIBONACCI FRACTALS">
            <a:extLst>
              <a:ext uri="{FF2B5EF4-FFF2-40B4-BE49-F238E27FC236}">
                <a16:creationId xmlns:a16="http://schemas.microsoft.com/office/drawing/2014/main" id="{DA3CEC05-74F4-33DC-2F78-CF740205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56990" y="3526024"/>
            <a:ext cx="3993482" cy="247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004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9C08-582C-35FF-8B07-53F4DDB3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1849-87A4-C77E-FAC5-AD0528FE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timestep spacing</a:t>
            </a:r>
          </a:p>
          <a:p>
            <a:r>
              <a:rPr lang="en-US" dirty="0"/>
              <a:t>Training must be sequential</a:t>
            </a:r>
          </a:p>
          <a:p>
            <a:r>
              <a:rPr lang="en-US" dirty="0"/>
              <a:t>Current state must always have the same matrix size</a:t>
            </a:r>
          </a:p>
        </p:txBody>
      </p:sp>
    </p:spTree>
    <p:extLst>
      <p:ext uri="{BB962C8B-B14F-4D97-AF65-F5344CB8AC3E}">
        <p14:creationId xmlns:p14="http://schemas.microsoft.com/office/powerpoint/2010/main" val="613194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9D28-EBD5-543D-AD32-11AB5B60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 Term Memory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85BFC5-25AD-6B7C-16FE-C236D6113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0740" y="1825625"/>
            <a:ext cx="65705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3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5D2E-B878-DBC4-CE0A-9DACA52A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How to interpret networks in papers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FFB28-CDA3-C135-87AA-A66DE92D1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57" y="1652339"/>
            <a:ext cx="7954485" cy="355332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24215E-4B79-4335-CC18-BDC6C6CF8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14312" y="3194635"/>
            <a:ext cx="5563376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6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B111-40F3-9BA7-DC22-46670D8B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few lectures…</a:t>
            </a:r>
          </a:p>
        </p:txBody>
      </p:sp>
      <p:pic>
        <p:nvPicPr>
          <p:cNvPr id="5122" name="Picture 2" descr="Understanding Attention Mechanism in Transformer Neural Networks">
            <a:extLst>
              <a:ext uri="{FF2B5EF4-FFF2-40B4-BE49-F238E27FC236}">
                <a16:creationId xmlns:a16="http://schemas.microsoft.com/office/drawing/2014/main" id="{53A0EA40-0B0D-5780-C329-7CBFA3936E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955" y="1849688"/>
            <a:ext cx="580461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hat Gpt Logo Stock Illustrations – 540 Chat Gpt Logo Stock Illustrations,  Vectors &amp; Clipart - Dreamstime">
            <a:extLst>
              <a:ext uri="{FF2B5EF4-FFF2-40B4-BE49-F238E27FC236}">
                <a16:creationId xmlns:a16="http://schemas.microsoft.com/office/drawing/2014/main" id="{D72E4C5C-D7EF-9A02-25AF-89C99F0F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243" y="2272757"/>
            <a:ext cx="3505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787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47E3-6117-D981-0E7D-30151F40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0BE7C-48D7-03A8-E69B-C9D64E7E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only the critical information needed to represent data</a:t>
            </a:r>
          </a:p>
          <a:p>
            <a:r>
              <a:rPr lang="en-US" dirty="0"/>
              <a:t>Why do this?</a:t>
            </a:r>
          </a:p>
          <a:p>
            <a:pPr lvl="1"/>
            <a:r>
              <a:rPr lang="en-US" dirty="0"/>
              <a:t>Remove noise</a:t>
            </a:r>
          </a:p>
          <a:p>
            <a:pPr lvl="1"/>
            <a:r>
              <a:rPr lang="en-US" dirty="0"/>
              <a:t>Simplify to human-interpretable patterns</a:t>
            </a:r>
          </a:p>
          <a:p>
            <a:pPr lvl="1"/>
            <a:r>
              <a:rPr lang="en-US" dirty="0"/>
              <a:t>Identify critical genes/labs/imaging features that are distinguish example</a:t>
            </a:r>
          </a:p>
        </p:txBody>
      </p:sp>
    </p:spTree>
    <p:extLst>
      <p:ext uri="{BB962C8B-B14F-4D97-AF65-F5344CB8AC3E}">
        <p14:creationId xmlns:p14="http://schemas.microsoft.com/office/powerpoint/2010/main" val="113725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AB97-08B7-E866-4F59-229B20AA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  <p:pic>
        <p:nvPicPr>
          <p:cNvPr id="6146" name="Picture 2" descr="Types of Autoencoders - GeeksforGeeks">
            <a:extLst>
              <a:ext uri="{FF2B5EF4-FFF2-40B4-BE49-F238E27FC236}">
                <a16:creationId xmlns:a16="http://schemas.microsoft.com/office/drawing/2014/main" id="{53C5BF3C-2B89-3FEB-EDB3-8F166D84D7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506" y="1263316"/>
            <a:ext cx="5202988" cy="475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enoising autoencoders with Keras, TensorFlow, and Deep Learning -  PyImageSearch">
            <a:extLst>
              <a:ext uri="{FF2B5EF4-FFF2-40B4-BE49-F238E27FC236}">
                <a16:creationId xmlns:a16="http://schemas.microsoft.com/office/drawing/2014/main" id="{C5D6ED43-ECCC-BBCE-9BE6-F2F293EA3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9" t="8833" r="83128" b="18724"/>
          <a:stretch>
            <a:fillRect/>
          </a:stretch>
        </p:blipFill>
        <p:spPr bwMode="auto">
          <a:xfrm>
            <a:off x="3181685" y="2264318"/>
            <a:ext cx="312821" cy="275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Denoising autoencoders with Keras, TensorFlow, and Deep Learning -  PyImageSearch">
            <a:extLst>
              <a:ext uri="{FF2B5EF4-FFF2-40B4-BE49-F238E27FC236}">
                <a16:creationId xmlns:a16="http://schemas.microsoft.com/office/drawing/2014/main" id="{E073BD3F-D2D1-ABE8-8543-A9D0FF471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89" t="8833" r="8239" b="18724"/>
          <a:stretch>
            <a:fillRect/>
          </a:stretch>
        </p:blipFill>
        <p:spPr bwMode="auto">
          <a:xfrm>
            <a:off x="8396705" y="2264318"/>
            <a:ext cx="300789" cy="275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10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7FE1-DD34-7046-DD08-064959E4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920AB-7A59-0048-1F3C-C1A0B0EBB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method: Each input is its own expected output</a:t>
            </a:r>
          </a:p>
          <a:p>
            <a:r>
              <a:rPr lang="en-US" dirty="0"/>
              <a:t>Tradeoff between bottleneck size and reconstruction fidelity</a:t>
            </a:r>
          </a:p>
        </p:txBody>
      </p:sp>
    </p:spTree>
    <p:extLst>
      <p:ext uri="{BB962C8B-B14F-4D97-AF65-F5344CB8AC3E}">
        <p14:creationId xmlns:p14="http://schemas.microsoft.com/office/powerpoint/2010/main" val="4210825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ACA5-7964-E94B-B073-CB7109EA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 Examples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228E0FE-AE4C-4502-A170-B6E068353F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47" y="1861638"/>
            <a:ext cx="10784306" cy="225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084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D629-E658-DBBD-7B70-AD25F937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6B0A-D665-CB55-85B8-68BB3AC2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 Examples</a:t>
            </a:r>
          </a:p>
        </p:txBody>
      </p:sp>
      <p:pic>
        <p:nvPicPr>
          <p:cNvPr id="8194" name="Picture 2" descr="GitHub - manthanguptaa/Denoising-Medical-Images: Denoising medical images  using AutoEncoders">
            <a:extLst>
              <a:ext uri="{FF2B5EF4-FFF2-40B4-BE49-F238E27FC236}">
                <a16:creationId xmlns:a16="http://schemas.microsoft.com/office/drawing/2014/main" id="{906DC238-7452-F353-1EF3-FA2E9564A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1581"/>
            <a:ext cx="10743587" cy="297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301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D632-07C5-ABB2-03E1-287E4D07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00848"/>
            <a:ext cx="10515600" cy="1325563"/>
          </a:xfrm>
        </p:spPr>
        <p:txBody>
          <a:bodyPr/>
          <a:lstStyle/>
          <a:p>
            <a:r>
              <a:rPr lang="en-US" dirty="0"/>
              <a:t>Autoencoder Loss</a:t>
            </a:r>
          </a:p>
        </p:txBody>
      </p:sp>
      <p:pic>
        <p:nvPicPr>
          <p:cNvPr id="11266" name="Picture 2" descr="MICCAI 2024 Paper] Rethinking Autoencoders for Medical Anomaly Detection  from A Theoretical Perspective">
            <a:extLst>
              <a:ext uri="{FF2B5EF4-FFF2-40B4-BE49-F238E27FC236}">
                <a16:creationId xmlns:a16="http://schemas.microsoft.com/office/drawing/2014/main" id="{34EFCFA4-65C7-CA39-52A3-45D0968F6D6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689" y="899193"/>
            <a:ext cx="734661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231E73B2-CBEC-EF0B-7D7F-EC3A2D5BD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16" y="4985836"/>
            <a:ext cx="65246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806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4AE6-7173-EC5D-0899-D172B4A7D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47" y="365125"/>
            <a:ext cx="10860505" cy="1325563"/>
          </a:xfrm>
        </p:spPr>
        <p:txBody>
          <a:bodyPr/>
          <a:lstStyle/>
          <a:p>
            <a:r>
              <a:rPr lang="en-US" dirty="0"/>
              <a:t>Autoencoders vs Principal Component Analysis</a:t>
            </a:r>
          </a:p>
        </p:txBody>
      </p:sp>
      <p:pic>
        <p:nvPicPr>
          <p:cNvPr id="9218" name="Picture 2" descr="Dimensionality reduction with Autoencoders versus PCA | by Andrea  Castiglioni | TDS Archive | Medium">
            <a:extLst>
              <a:ext uri="{FF2B5EF4-FFF2-40B4-BE49-F238E27FC236}">
                <a16:creationId xmlns:a16="http://schemas.microsoft.com/office/drawing/2014/main" id="{729BA102-1CC7-6B33-7B52-D584E1AA8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856" y="2286341"/>
            <a:ext cx="8914285" cy="345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406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2424-6DA0-B959-531D-7DD667A6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080EA2-FB67-2262-A04A-FE6863F6D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9483" y="1047474"/>
            <a:ext cx="6734696" cy="512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70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087A-E41D-552E-2E65-3ABEB5E7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29EE-4B5C-BF86-E8A8-0DBFEE10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47" y="365125"/>
            <a:ext cx="10860505" cy="1325563"/>
          </a:xfrm>
        </p:spPr>
        <p:txBody>
          <a:bodyPr/>
          <a:lstStyle/>
          <a:p>
            <a:r>
              <a:rPr lang="en-US" dirty="0"/>
              <a:t>Autoencoders vs Principal Component Analysis</a:t>
            </a:r>
          </a:p>
        </p:txBody>
      </p:sp>
      <p:pic>
        <p:nvPicPr>
          <p:cNvPr id="10242" name="Picture 2" descr="Autoencoders vs Principal Component Analysis - Naukri Code 360">
            <a:extLst>
              <a:ext uri="{FF2B5EF4-FFF2-40B4-BE49-F238E27FC236}">
                <a16:creationId xmlns:a16="http://schemas.microsoft.com/office/drawing/2014/main" id="{56F05FD8-C391-5451-7A05-04A66846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041" y="1690688"/>
            <a:ext cx="5161916" cy="44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646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7331-B464-0287-913F-2B01C132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Soon…</a:t>
            </a:r>
          </a:p>
        </p:txBody>
      </p:sp>
      <p:pic>
        <p:nvPicPr>
          <p:cNvPr id="12290" name="Picture 2" descr="U-Net: Convolutional Networks for Biomedical Image Segmentation">
            <a:extLst>
              <a:ext uri="{FF2B5EF4-FFF2-40B4-BE49-F238E27FC236}">
                <a16:creationId xmlns:a16="http://schemas.microsoft.com/office/drawing/2014/main" id="{92446D99-85D7-6DC1-EEAB-1174621865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89" y="1849689"/>
            <a:ext cx="65312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Enhancing medical image segmentation with a multi-transformer U-Net [PeerJ]">
            <a:extLst>
              <a:ext uri="{FF2B5EF4-FFF2-40B4-BE49-F238E27FC236}">
                <a16:creationId xmlns:a16="http://schemas.microsoft.com/office/drawing/2014/main" id="{280E6B4C-DBEF-23AA-526B-DF5364056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796" y="2230115"/>
            <a:ext cx="5261059" cy="359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60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89F0-3552-238F-F358-13D6F6DE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AD2AC-FA02-2138-24D0-17F4B4BB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tons of patient data, but it’s not private</a:t>
            </a:r>
          </a:p>
          <a:p>
            <a:r>
              <a:rPr lang="en-US" dirty="0"/>
              <a:t>How can we generate data that clinically similar, doesn’t lose key info, but is changed in a way that prevents tracing back?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r>
              <a:rPr lang="en-US" dirty="0"/>
              <a:t>How do we generate a new antibiotic that is structurally different from an existing one, but works the same?</a:t>
            </a:r>
          </a:p>
        </p:txBody>
      </p:sp>
    </p:spTree>
    <p:extLst>
      <p:ext uri="{BB962C8B-B14F-4D97-AF65-F5344CB8AC3E}">
        <p14:creationId xmlns:p14="http://schemas.microsoft.com/office/powerpoint/2010/main" val="234538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0014-6339-6E7B-91AD-5D9A26FB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</a:t>
            </a:r>
          </a:p>
        </p:txBody>
      </p:sp>
      <p:pic>
        <p:nvPicPr>
          <p:cNvPr id="13314" name="Picture 2" descr="undefined">
            <a:extLst>
              <a:ext uri="{FF2B5EF4-FFF2-40B4-BE49-F238E27FC236}">
                <a16:creationId xmlns:a16="http://schemas.microsoft.com/office/drawing/2014/main" id="{8669AAE8-CE34-C3AF-0D6B-396037E1C3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746" y="1873752"/>
            <a:ext cx="372705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Noise: White, Pink, Brown, etc. - What's the Difference? - RouteNote Create  Blog">
            <a:extLst>
              <a:ext uri="{FF2B5EF4-FFF2-40B4-BE49-F238E27FC236}">
                <a16:creationId xmlns:a16="http://schemas.microsoft.com/office/drawing/2014/main" id="{8587E24C-C873-2974-9755-39A59C359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28" y="5385970"/>
            <a:ext cx="1878408" cy="110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BE9924-9E6E-7809-6314-FAA034C8DC14}"/>
              </a:ext>
            </a:extLst>
          </p:cNvPr>
          <p:cNvSpPr txBox="1"/>
          <p:nvPr/>
        </p:nvSpPr>
        <p:spPr>
          <a:xfrm>
            <a:off x="7543800" y="476450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Generator</a:t>
            </a:r>
          </a:p>
        </p:txBody>
      </p:sp>
      <p:pic>
        <p:nvPicPr>
          <p:cNvPr id="13318" name="Picture 6" descr="Aurora - Flopsie - 12&quot; Topaz Tiger">
            <a:extLst>
              <a:ext uri="{FF2B5EF4-FFF2-40B4-BE49-F238E27FC236}">
                <a16:creationId xmlns:a16="http://schemas.microsoft.com/office/drawing/2014/main" id="{1D99176F-6FB1-4C58-DAAA-BD77EA736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79" y="3125926"/>
            <a:ext cx="1512512" cy="151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Tiger | Species | WWF">
            <a:extLst>
              <a:ext uri="{FF2B5EF4-FFF2-40B4-BE49-F238E27FC236}">
                <a16:creationId xmlns:a16="http://schemas.microsoft.com/office/drawing/2014/main" id="{B60F9A79-6626-4279-438B-60E9D7EE5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641" y="3110656"/>
            <a:ext cx="2057401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D91F0-2526-564C-31F8-2CBAFC2059D7}"/>
              </a:ext>
            </a:extLst>
          </p:cNvPr>
          <p:cNvSpPr txBox="1"/>
          <p:nvPr/>
        </p:nvSpPr>
        <p:spPr>
          <a:xfrm>
            <a:off x="10004257" y="4890571"/>
            <a:ext cx="158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6DF06-1F5B-D254-9D5B-56E23CB771FE}"/>
              </a:ext>
            </a:extLst>
          </p:cNvPr>
          <p:cNvSpPr txBox="1"/>
          <p:nvPr/>
        </p:nvSpPr>
        <p:spPr>
          <a:xfrm>
            <a:off x="8614611" y="2322095"/>
            <a:ext cx="172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Discriminator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5873D-9CE6-C8EB-B792-9ECA55110300}"/>
              </a:ext>
            </a:extLst>
          </p:cNvPr>
          <p:cNvSpPr txBox="1"/>
          <p:nvPr/>
        </p:nvSpPr>
        <p:spPr>
          <a:xfrm>
            <a:off x="7985913" y="151826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AED33D-07F3-9287-55D0-4AE8711D1B9C}"/>
              </a:ext>
            </a:extLst>
          </p:cNvPr>
          <p:cNvSpPr txBox="1"/>
          <p:nvPr/>
        </p:nvSpPr>
        <p:spPr>
          <a:xfrm>
            <a:off x="10151597" y="1538605"/>
            <a:ext cx="65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Fake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0D5FFE-6CC5-C144-CDC7-7C50360353D0}"/>
              </a:ext>
            </a:extLst>
          </p:cNvPr>
          <p:cNvCxnSpPr>
            <a:stCxn id="13316" idx="0"/>
          </p:cNvCxnSpPr>
          <p:nvPr/>
        </p:nvCxnSpPr>
        <p:spPr>
          <a:xfrm flipV="1">
            <a:off x="8187132" y="5133837"/>
            <a:ext cx="0" cy="252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1546A9-96F9-142B-1752-DEE57885B0A6}"/>
              </a:ext>
            </a:extLst>
          </p:cNvPr>
          <p:cNvCxnSpPr>
            <a:cxnSpLocks/>
          </p:cNvCxnSpPr>
          <p:nvPr/>
        </p:nvCxnSpPr>
        <p:spPr>
          <a:xfrm flipV="1">
            <a:off x="8152685" y="4606718"/>
            <a:ext cx="0" cy="157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00D0B6-5D4C-0DDE-6A5C-0FD8A005C599}"/>
              </a:ext>
            </a:extLst>
          </p:cNvPr>
          <p:cNvCxnSpPr>
            <a:cxnSpLocks/>
            <a:stCxn id="5" idx="0"/>
            <a:endCxn id="13320" idx="2"/>
          </p:cNvCxnSpPr>
          <p:nvPr/>
        </p:nvCxnSpPr>
        <p:spPr>
          <a:xfrm flipV="1">
            <a:off x="10798341" y="4653707"/>
            <a:ext cx="1" cy="236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AF435F-9AB8-4420-D053-225BC7376501}"/>
              </a:ext>
            </a:extLst>
          </p:cNvPr>
          <p:cNvCxnSpPr>
            <a:stCxn id="13318" idx="0"/>
            <a:endCxn id="6" idx="2"/>
          </p:cNvCxnSpPr>
          <p:nvPr/>
        </p:nvCxnSpPr>
        <p:spPr>
          <a:xfrm flipV="1">
            <a:off x="8215835" y="2691427"/>
            <a:ext cx="1259034" cy="434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1B833A-927D-2ED8-9DC1-F8CE8D44D6F4}"/>
              </a:ext>
            </a:extLst>
          </p:cNvPr>
          <p:cNvCxnSpPr>
            <a:endCxn id="6" idx="2"/>
          </p:cNvCxnSpPr>
          <p:nvPr/>
        </p:nvCxnSpPr>
        <p:spPr>
          <a:xfrm flipH="1" flipV="1">
            <a:off x="9474869" y="2691427"/>
            <a:ext cx="1449805" cy="419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1BFDDB-E4EA-9C9E-C8A5-E34DC6A263CB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H="1" flipV="1">
            <a:off x="8300262" y="1887596"/>
            <a:ext cx="1174607" cy="434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D844EF-2641-5C69-FA18-A6E5B4A5C086}"/>
              </a:ext>
            </a:extLst>
          </p:cNvPr>
          <p:cNvCxnSpPr>
            <a:stCxn id="6" idx="0"/>
            <a:endCxn id="8" idx="2"/>
          </p:cNvCxnSpPr>
          <p:nvPr/>
        </p:nvCxnSpPr>
        <p:spPr>
          <a:xfrm flipV="1">
            <a:off x="9474869" y="1907937"/>
            <a:ext cx="1004543" cy="414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836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B600-0749-8429-7368-260E9FAF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GANs</a:t>
            </a:r>
          </a:p>
        </p:txBody>
      </p:sp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69722722-4096-A65F-CD75-B02049A663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069113"/>
              </p:ext>
            </p:extLst>
          </p:nvPr>
        </p:nvGraphicFramePr>
        <p:xfrm>
          <a:off x="1576137" y="1336029"/>
          <a:ext cx="9039726" cy="5365037"/>
        </p:xfrm>
        <a:graphic>
          <a:graphicData uri="http://schemas.openxmlformats.org/drawingml/2006/table">
            <a:tbl>
              <a:tblPr/>
              <a:tblGrid>
                <a:gridCol w="4519855">
                  <a:extLst>
                    <a:ext uri="{9D8B030D-6E8A-4147-A177-3AD203B41FA5}">
                      <a16:colId xmlns:a16="http://schemas.microsoft.com/office/drawing/2014/main" val="1066187513"/>
                    </a:ext>
                  </a:extLst>
                </a:gridCol>
                <a:gridCol w="4519871">
                  <a:extLst>
                    <a:ext uri="{9D8B030D-6E8A-4147-A177-3AD203B41FA5}">
                      <a16:colId xmlns:a16="http://schemas.microsoft.com/office/drawing/2014/main" val="729878784"/>
                    </a:ext>
                  </a:extLst>
                </a:gridCol>
              </a:tblGrid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27053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06767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40160"/>
                  </a:ext>
                </a:extLst>
              </a:tr>
              <a:tr h="515138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17909"/>
                  </a:ext>
                </a:extLst>
              </a:tr>
              <a:tr h="515138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058476"/>
                  </a:ext>
                </a:extLst>
              </a:tr>
              <a:tr h="120563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dirty="0"/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879990"/>
                  </a:ext>
                </a:extLst>
              </a:tr>
              <a:tr h="515138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932619"/>
                  </a:ext>
                </a:extLst>
              </a:tr>
              <a:tr h="1068574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4320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1E3E213-4E06-9514-77D7-1DEFF7E14538}"/>
              </a:ext>
            </a:extLst>
          </p:cNvPr>
          <p:cNvSpPr txBox="1"/>
          <p:nvPr/>
        </p:nvSpPr>
        <p:spPr>
          <a:xfrm>
            <a:off x="1680411" y="1894012"/>
            <a:ext cx="8935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Generate new data that’s indistinguishable from other data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A7542-D519-DEE6-D6C3-A6B65F954773}"/>
              </a:ext>
            </a:extLst>
          </p:cNvPr>
          <p:cNvSpPr txBox="1"/>
          <p:nvPr/>
        </p:nvSpPr>
        <p:spPr>
          <a:xfrm>
            <a:off x="3898233" y="2853633"/>
            <a:ext cx="903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Adversarial binary classification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4E663-EB1A-8929-8394-96907446B5B1}"/>
              </a:ext>
            </a:extLst>
          </p:cNvPr>
          <p:cNvSpPr txBox="1"/>
          <p:nvPr/>
        </p:nvSpPr>
        <p:spPr>
          <a:xfrm>
            <a:off x="1576137" y="3862137"/>
            <a:ext cx="4519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group of similar data,</a:t>
            </a:r>
          </a:p>
          <a:p>
            <a:r>
              <a:rPr lang="en-US" sz="2400" dirty="0"/>
              <a:t>Sample one at a time (stochastic)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922B82-CF1F-C2F2-277B-F5E70F1B7F59}"/>
              </a:ext>
            </a:extLst>
          </p:cNvPr>
          <p:cNvSpPr txBox="1"/>
          <p:nvPr/>
        </p:nvSpPr>
        <p:spPr>
          <a:xfrm>
            <a:off x="6096000" y="3839363"/>
            <a:ext cx="4519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 log loss for both</a:t>
            </a:r>
          </a:p>
          <a:p>
            <a:r>
              <a:rPr lang="en-US" sz="2400" dirty="0"/>
              <a:t>D wants to classify correctly</a:t>
            </a:r>
          </a:p>
          <a:p>
            <a:r>
              <a:rPr lang="en-US" sz="2400" dirty="0"/>
              <a:t>G wants to fool 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C5530E-F5A8-DB8F-5E86-4A9EAB4645D1}"/>
              </a:ext>
            </a:extLst>
          </p:cNvPr>
          <p:cNvSpPr txBox="1"/>
          <p:nvPr/>
        </p:nvSpPr>
        <p:spPr>
          <a:xfrm>
            <a:off x="1680411" y="5653781"/>
            <a:ext cx="393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 on last slide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A9A2B-F5B8-4268-562F-F884E4F33255}"/>
              </a:ext>
            </a:extLst>
          </p:cNvPr>
          <p:cNvSpPr txBox="1"/>
          <p:nvPr/>
        </p:nvSpPr>
        <p:spPr>
          <a:xfrm>
            <a:off x="6152147" y="5684558"/>
            <a:ext cx="4407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Take turns updating weights for both G and D </a:t>
            </a:r>
          </a:p>
        </p:txBody>
      </p:sp>
    </p:spTree>
    <p:extLst>
      <p:ext uri="{BB962C8B-B14F-4D97-AF65-F5344CB8AC3E}">
        <p14:creationId xmlns:p14="http://schemas.microsoft.com/office/powerpoint/2010/main" val="138657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B85C9-5A1E-ACDA-F888-D64DC912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Collapse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BFDA-AD23-BB77-72F6-65A0A248A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in any generative AI network</a:t>
            </a:r>
          </a:p>
          <a:p>
            <a:r>
              <a:rPr lang="en-US" dirty="0"/>
              <a:t>When generated data too highly represents one class</a:t>
            </a:r>
          </a:p>
          <a:p>
            <a:pPr lvl="1"/>
            <a:r>
              <a:rPr lang="en-US" dirty="0"/>
              <a:t>Dashes in ChatGPT</a:t>
            </a:r>
          </a:p>
          <a:p>
            <a:pPr lvl="1"/>
            <a:r>
              <a:rPr lang="en-US" dirty="0"/>
              <a:t>Always predicting negative on chest x-ray</a:t>
            </a:r>
          </a:p>
          <a:p>
            <a:r>
              <a:rPr lang="en-US" dirty="0"/>
              <a:t>Common when AI is trained on AI generated data</a:t>
            </a:r>
          </a:p>
          <a:p>
            <a:r>
              <a:rPr lang="en-US" dirty="0"/>
              <a:t>Tradeoff between quality and diversity</a:t>
            </a:r>
          </a:p>
          <a:p>
            <a:pPr lvl="1"/>
            <a:r>
              <a:rPr lang="en-US" dirty="0"/>
              <a:t>Regularize!</a:t>
            </a:r>
          </a:p>
          <a:p>
            <a:pPr lvl="1"/>
            <a:r>
              <a:rPr lang="en-US" dirty="0"/>
              <a:t>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612452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BD20-3589-847C-0D0C-86BC86DB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Generated Images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1D655E-DF29-D0A4-766B-1EC1F6A7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600" y="1474028"/>
            <a:ext cx="7344800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84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5B18-9EF9-542B-CD59-70F0CEEE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A7765-B309-B0AB-5807-565EA023E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 true neural net model</a:t>
            </a:r>
          </a:p>
          <a:p>
            <a:r>
              <a:rPr lang="en-US" dirty="0"/>
              <a:t>Often used in medicine because interpretable</a:t>
            </a:r>
          </a:p>
          <a:p>
            <a:r>
              <a:rPr lang="en-US" dirty="0"/>
              <a:t>Plan:</a:t>
            </a:r>
          </a:p>
          <a:p>
            <a:pPr lvl="1"/>
            <a:r>
              <a:rPr lang="en-US" dirty="0"/>
              <a:t>Take a bootstrapped data sample</a:t>
            </a:r>
          </a:p>
          <a:p>
            <a:pPr lvl="1"/>
            <a:r>
              <a:rPr lang="en-US" dirty="0"/>
              <a:t>Find a matrix operation to split the data in half</a:t>
            </a:r>
          </a:p>
          <a:p>
            <a:pPr lvl="1"/>
            <a:r>
              <a:rPr lang="en-US" dirty="0"/>
              <a:t>Repeat until you have the amount of classes you want to predict</a:t>
            </a:r>
          </a:p>
          <a:p>
            <a:pPr lvl="1"/>
            <a:r>
              <a:rPr lang="en-US" dirty="0"/>
              <a:t>For a new example, go down the tree and get filtered into a class</a:t>
            </a:r>
          </a:p>
          <a:p>
            <a:pPr lvl="1"/>
            <a:endParaRPr lang="en-US" dirty="0"/>
          </a:p>
        </p:txBody>
      </p:sp>
      <p:pic>
        <p:nvPicPr>
          <p:cNvPr id="15362" name="Picture 2" descr="3 Reasons to Use Random Forest Over a Neural Network ...">
            <a:extLst>
              <a:ext uri="{FF2B5EF4-FFF2-40B4-BE49-F238E27FC236}">
                <a16:creationId xmlns:a16="http://schemas.microsoft.com/office/drawing/2014/main" id="{912084CB-7802-42E2-E2C1-81B46381C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" t="33797" r="68462" b="47089"/>
          <a:stretch>
            <a:fillRect/>
          </a:stretch>
        </p:blipFill>
        <p:spPr bwMode="auto">
          <a:xfrm>
            <a:off x="4631739" y="5041805"/>
            <a:ext cx="2928521" cy="145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423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603A-40E4-E8F0-E357-D504FA7D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Picture 2" descr="3 Reasons to Use Random Forest Over a Neural Network ...">
            <a:extLst>
              <a:ext uri="{FF2B5EF4-FFF2-40B4-BE49-F238E27FC236}">
                <a16:creationId xmlns:a16="http://schemas.microsoft.com/office/drawing/2014/main" id="{348BB43A-E4FC-4F7D-ACF4-D8B7C10110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14" t="-1007" r="-22336" b="-13469"/>
          <a:stretch>
            <a:fillRect/>
          </a:stretch>
        </p:blipFill>
        <p:spPr bwMode="auto">
          <a:xfrm>
            <a:off x="3188369" y="1690688"/>
            <a:ext cx="7543800" cy="523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744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81A8-C2F9-EB87-35C8-053AA3D0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come a long way!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22EBC9-03CA-F403-853A-780A23E6802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630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90F6-2389-4731-14F3-C4BD80F7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3" y="2766218"/>
            <a:ext cx="1051560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61631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1590</Words>
  <Application>Microsoft Office PowerPoint</Application>
  <PresentationFormat>Widescreen</PresentationFormat>
  <Paragraphs>223</Paragraphs>
  <Slides>43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Cambria Math</vt:lpstr>
      <vt:lpstr>Office Theme</vt:lpstr>
      <vt:lpstr>Intro to AI for Medicine</vt:lpstr>
      <vt:lpstr>Last Time:</vt:lpstr>
      <vt:lpstr>Before</vt:lpstr>
      <vt:lpstr>Today</vt:lpstr>
      <vt:lpstr>Revisiting the neuron</vt:lpstr>
      <vt:lpstr>Inductive Bias</vt:lpstr>
      <vt:lpstr>Examples of Inductive Bias</vt:lpstr>
      <vt:lpstr>Examples of Inductive Bias</vt:lpstr>
      <vt:lpstr>Inductive Bias</vt:lpstr>
      <vt:lpstr>Can We: </vt:lpstr>
      <vt:lpstr>Example Case</vt:lpstr>
      <vt:lpstr>Recurrent Neural Nets</vt:lpstr>
      <vt:lpstr>Recurrent Neural Nets</vt:lpstr>
      <vt:lpstr>Recurrent Neural Nets</vt:lpstr>
      <vt:lpstr>Recurrent Neural Net: Formalization and Loss</vt:lpstr>
      <vt:lpstr>RNN: Inductive Bias</vt:lpstr>
      <vt:lpstr>RNN: Character Prediction</vt:lpstr>
      <vt:lpstr>PowerPoint Presentation</vt:lpstr>
      <vt:lpstr>Softmax Function</vt:lpstr>
      <vt:lpstr>Issues With RNN </vt:lpstr>
      <vt:lpstr>Issues With RNN</vt:lpstr>
      <vt:lpstr>Long Short Term Memory</vt:lpstr>
      <vt:lpstr>Aside: How to interpret networks in papers</vt:lpstr>
      <vt:lpstr>In a few lectures…</vt:lpstr>
      <vt:lpstr>Problem Statement</vt:lpstr>
      <vt:lpstr>Autoencoders</vt:lpstr>
      <vt:lpstr>Autoencoder Considerations</vt:lpstr>
      <vt:lpstr>Autoencoder Examples</vt:lpstr>
      <vt:lpstr>Autoencoder Examples</vt:lpstr>
      <vt:lpstr>Autoencoder Loss</vt:lpstr>
      <vt:lpstr>Autoencoders vs Principal Component Analysis</vt:lpstr>
      <vt:lpstr>PCA</vt:lpstr>
      <vt:lpstr>Autoencoders vs Principal Component Analysis</vt:lpstr>
      <vt:lpstr>Soon…</vt:lpstr>
      <vt:lpstr>Problem Statement</vt:lpstr>
      <vt:lpstr>GAN</vt:lpstr>
      <vt:lpstr>GANs</vt:lpstr>
      <vt:lpstr>Mode Collapse</vt:lpstr>
      <vt:lpstr>AI Generated Images</vt:lpstr>
      <vt:lpstr>Random Tree</vt:lpstr>
      <vt:lpstr>Random Forest</vt:lpstr>
      <vt:lpstr>We’ve come a long way!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6</cp:revision>
  <dcterms:created xsi:type="dcterms:W3CDTF">2025-09-21T01:52:23Z</dcterms:created>
  <dcterms:modified xsi:type="dcterms:W3CDTF">2026-07-12T21:07:00Z</dcterms:modified>
</cp:coreProperties>
</file>
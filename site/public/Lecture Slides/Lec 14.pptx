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75" r:id="rId5"/>
    <p:sldId id="279" r:id="rId6"/>
    <p:sldId id="266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7" r:id="rId15"/>
    <p:sldId id="268" r:id="rId16"/>
    <p:sldId id="269" r:id="rId17"/>
    <p:sldId id="270" r:id="rId18"/>
    <p:sldId id="271" r:id="rId19"/>
    <p:sldId id="272" r:id="rId20"/>
    <p:sldId id="274" r:id="rId21"/>
    <p:sldId id="276" r:id="rId22"/>
    <p:sldId id="277" r:id="rId23"/>
    <p:sldId id="278" r:id="rId24"/>
    <p:sldId id="280" r:id="rId25"/>
    <p:sldId id="281" r:id="rId26"/>
    <p:sldId id="282" r:id="rId27"/>
    <p:sldId id="273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6325" autoAdjust="0"/>
  </p:normalViewPr>
  <p:slideViewPr>
    <p:cSldViewPr snapToGrid="0">
      <p:cViewPr varScale="1">
        <p:scale>
          <a:sx n="54" d="100"/>
          <a:sy n="54" d="100"/>
        </p:scale>
        <p:origin x="114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139803-4488-4E6D-AB19-D81D0D535E70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912E09-E1A4-4214-8655-02E6153B1D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63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Precision medicine a key target for AI, so incredibly valuable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58568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https://www.lek.com/insights/hea/us/ei/healthcare-providers-and-data-gold-rush-how-get-your-share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7534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Reward hacking has corollaries within the medical world, what unethical shortcuts are being taken to minimize loss?</a:t>
            </a:r>
          </a:p>
          <a:p>
            <a:r>
              <a:rPr lang="en-US" dirty="0"/>
              <a:t>Reference reading - takeaways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6869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framework of taking human feedback and adjusting models to be more aligned than initially</a:t>
            </a:r>
          </a:p>
          <a:p>
            <a:r>
              <a:rPr lang="en-US" dirty="0"/>
              <a:t>When you give thumbs up thumbs down on </a:t>
            </a:r>
            <a:r>
              <a:rPr lang="en-US" dirty="0" err="1"/>
              <a:t>chatgpt</a:t>
            </a:r>
            <a:r>
              <a:rPr lang="en-US" dirty="0"/>
              <a:t> message you’re participating in this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66054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ways of evaluating and addressing design flaws</a:t>
            </a:r>
          </a:p>
          <a:p>
            <a:r>
              <a:rPr lang="en-US" dirty="0"/>
              <a:t>Will highlight red team, which simulates scenarios of “AI gone wrong”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5537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we know classification algorithms are never without error</a:t>
            </a:r>
          </a:p>
          <a:p>
            <a:r>
              <a:rPr lang="en-US" dirty="0"/>
              <a:t>Retinopathy works without physician, but in a certain case – next step is to refer for more specialized evaluation, and can have equivocal result</a:t>
            </a:r>
          </a:p>
          <a:p>
            <a:r>
              <a:rPr lang="en-US" dirty="0"/>
              <a:t>https://www.ama-assn.org/system/files/2019-04/a19-bot21.pdf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0469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 – who gets a scan earlier, limited MRI time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1487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https://www.npr.org/sections/shots-health-news/2025/09/19/nx-s1-5545749/ai-chatbots-safety-openai-meta-characterai-teens-suicide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912E09-E1A4-4214-8655-02E6153B1D7B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213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7311-5F74-6229-EC22-A56CD73540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17CBD85-F4D9-F04A-80C9-F68FDB31E7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EC2BD8-99FA-683E-3FC0-CBD2C64FD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6D34DC-E587-BED7-9DF9-A34B25F253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14801-1281-91A9-F58E-18EAEFB0E3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868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2172D-9C99-6320-A5B7-0E0DCBDDF0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4EB00-DD2D-3199-0E0F-FDA92D6BC3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5FFBD-87EF-790A-0FEF-1F036224F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2C6FCE-A5AB-A7C3-1DD7-56C52E3622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95AA56-F870-6272-1A7E-5E29BA29D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11961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2411E0-2CE1-CC04-2B69-1C5C78E31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14B8B8-818A-09FA-BCB8-ADF0281A5C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3136B7-EE07-5CB6-A39A-62B925C0BC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05F999-F7DF-9D74-BCFB-7E328769CB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252C05-3051-3B7B-C797-F6E4D5BF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5134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070B1-7B83-DE1D-47BA-454FA8E827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EB8EE6-C911-4C7C-4A29-F96CA4BF721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808EC-D60C-1A8F-9414-3C5176E8E5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E44E4-C596-87E4-D60B-0753DB58A1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AA4323-76AA-B999-019F-9650ADDD1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3CC92F-F031-F80E-51BD-21B3DAAA6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7740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DD70A-A8F9-F467-EB42-E45CF5CFB6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F35840-BF2F-0EE5-A9C5-F0D81F04D2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115312-DDAF-55C1-A2E3-3E022E97913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EDDDFC7-A519-34AC-079B-104C795AE3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0915BE-7577-7E79-3ED1-9EE83C7A1A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2A0B37-0929-6862-9B08-FAC6318C6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1E9A92-4B80-B730-4B0F-B7726FCD5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AC4621D-711C-CDFD-2F00-CC72367B0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848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EA2CD-D6C6-6735-6902-4C32A65A03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D004B2-5CF0-7165-6DE0-08B58780B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7B79EA-5BE1-EBF3-F3E9-26E64D3E9E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A1162C-09C6-EA8E-2CE6-3D5188F71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3587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BA8B4F-B848-6810-FB03-DC55EA820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77889D7-79B9-AA12-3CA4-C3D36A7025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B2A3C9-006E-A336-2F9D-98C2E5889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71878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908387-3C71-11D3-798E-24DB01D4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E39B8-34E9-3E51-6206-2D620CF968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A8B057-E781-5CE4-6E0B-29D561A8E5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9C4A97-7607-0DE6-B670-4F917673FC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6D0937-7EA0-AEE7-1DE2-DFF27486F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8E3DAA-637C-7B36-E376-C482E35F5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850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96480-EE98-0BD9-ED54-AF9306012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027C37D-82E1-BB48-548B-96E9A3AD0F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3F22846-2E1B-223D-1F00-C3CB9BD7E9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449F3E-885C-E3A8-EDB6-12A1B50BE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E6A76-A831-57CD-CB7D-E072F75F3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CF14427-BA9B-B135-54CB-E08B6705E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98074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E7E0E-47CD-70C8-8705-A24D53EFF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1B01F8-F7DA-43A4-871F-16939B6B4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DF005-7990-D3C5-CD54-A63368B6A5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0B471E-72FC-3D01-7EDB-AD9DD045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DF43C-9018-C295-A16A-56F8EE4839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45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5A2C18-7B79-4F9A-5118-19DF96B9820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8ADEE2-5448-B73D-3382-7E21BDA6CA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B2C434-F15B-E54B-6D1A-B9545F262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C5DAB6-C0D5-0B35-7E79-99886C65B1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B798C3-DE01-08E4-BB3B-3D46E500D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151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CD95EA-E56F-1000-A25B-1EFF6720A0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98979F-4C27-777B-5EBD-A3924BA0A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C6EC1C-E445-8E17-2567-58345E1300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EE0C96D-0F9F-457E-85A0-D4F032672C99}" type="datetimeFigureOut">
              <a:rPr lang="en-US" smtClean="0"/>
              <a:t>10/29/2025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C30DAC-B432-6F57-0535-91695EB923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B81C3-A905-CCD4-6213-B593F33621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A16001-10EF-4A13-A3FE-9D17DB84F0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7034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en.wikipedia.org/wiki/Three_Laws_of_Robotics#cite_note-IROBOT-1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gi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C1291C-4582-0144-6266-AB4E4F3B578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Intro to AI for Medicine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D94CD0-0C02-CE91-3978-12B3391CDF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Lec</a:t>
            </a:r>
            <a:r>
              <a:rPr lang="en-US" dirty="0"/>
              <a:t> 14: </a:t>
            </a:r>
            <a:r>
              <a:rPr lang="en-US"/>
              <a:t>Ethical Issues in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67788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ADD902-C1B1-0C12-47B6-F341EFEFB6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Last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AD1326-F087-0CCC-8AF5-25E065238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Discussed sources of bias and how they can be worsened by AI</a:t>
            </a:r>
          </a:p>
          <a:p>
            <a:r>
              <a:rPr lang="en-US" dirty="0"/>
              <a:t>Went over some of the classes of bias</a:t>
            </a:r>
          </a:p>
          <a:p>
            <a:r>
              <a:rPr lang="en-US" dirty="0"/>
              <a:t>Had case studies and discussions regarding two instances where AI was biased</a:t>
            </a:r>
          </a:p>
        </p:txBody>
      </p:sp>
    </p:spTree>
    <p:extLst>
      <p:ext uri="{BB962C8B-B14F-4D97-AF65-F5344CB8AC3E}">
        <p14:creationId xmlns:p14="http://schemas.microsoft.com/office/powerpoint/2010/main" val="221799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BD2E5-709A-5981-9040-53C81F116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8832B-D5E7-4250-3344-6030C0747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Moral and ethical dilemmas when it comes to AI</a:t>
            </a:r>
          </a:p>
          <a:p>
            <a:r>
              <a:rPr lang="en-US" dirty="0"/>
              <a:t>Last time: how were models making biased decisions</a:t>
            </a:r>
          </a:p>
          <a:p>
            <a:r>
              <a:rPr lang="en-US" dirty="0"/>
              <a:t>This time: is the decision making process fair to begin with</a:t>
            </a:r>
          </a:p>
          <a:p>
            <a:r>
              <a:rPr lang="en-US" dirty="0"/>
              <a:t>Too many areas to touch on, so we’ll only cover a handful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95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356B5-6060-9801-37E4-DD9703A5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This 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3BA841-1A1D-2E63-8E39-2D3A9FAF01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Exploring the ways AI algorithms exhibit bias, harmful and otherwise</a:t>
            </a:r>
          </a:p>
          <a:p>
            <a:r>
              <a:rPr lang="en-US" dirty="0"/>
              <a:t>Let what you know about AI algorithms inform your opinions</a:t>
            </a:r>
          </a:p>
          <a:p>
            <a:r>
              <a:rPr lang="en-US" dirty="0"/>
              <a:t>Lots of discussion! You guys know more than me</a:t>
            </a:r>
          </a:p>
          <a:p>
            <a:r>
              <a:rPr lang="en-US" dirty="0"/>
              <a:t>Topics can be heavy so let’s tackle them with an open mind</a:t>
            </a:r>
          </a:p>
        </p:txBody>
      </p:sp>
      <p:pic>
        <p:nvPicPr>
          <p:cNvPr id="1028" name="Picture 4" descr="Handshake Emoji [Download iPhone Emojis]">
            <a:extLst>
              <a:ext uri="{FF2B5EF4-FFF2-40B4-BE49-F238E27FC236}">
                <a16:creationId xmlns:a16="http://schemas.microsoft.com/office/drawing/2014/main" id="{D432D732-9003-98E3-EFD0-F5ED3AB5ED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052" y="4609360"/>
            <a:ext cx="2737895" cy="18754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5081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071F7-4482-22EF-FE6A-92483F2FC3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Workflow</a:t>
            </a:r>
          </a:p>
        </p:txBody>
      </p:sp>
      <p:pic>
        <p:nvPicPr>
          <p:cNvPr id="1026" name="Picture 2" descr="A Quick Guide to Automate Workflows with AI: From Data to Decisions | Newgen">
            <a:extLst>
              <a:ext uri="{FF2B5EF4-FFF2-40B4-BE49-F238E27FC236}">
                <a16:creationId xmlns:a16="http://schemas.microsoft.com/office/drawing/2014/main" id="{564846A7-E871-EDD8-AA73-B75454BA43E9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1356" y="1616467"/>
            <a:ext cx="10502444" cy="4543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837176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51FEEF-04D2-8EB8-D267-453010878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Asimov’s Three Laws of Robotics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277C67-8C29-84E3-1252-D4CEB47D55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916838" cy="435133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Three Laws, presented to be from the fictional "Handbook of Robotics, 56th Edition, 2058 A.D.", are:</a:t>
            </a:r>
            <a:r>
              <a:rPr lang="en-US" baseline="30000" dirty="0">
                <a:hlinkClick r:id="rId2"/>
              </a:rPr>
              <a:t>[1]</a:t>
            </a:r>
            <a:endParaRPr lang="en-US" dirty="0"/>
          </a:p>
          <a:p>
            <a:pPr lvl="1"/>
            <a:r>
              <a:rPr lang="en-US" dirty="0"/>
              <a:t>A robot may not injure a human being or, through inaction, allow a human being to come to harm.</a:t>
            </a:r>
          </a:p>
          <a:p>
            <a:pPr lvl="1"/>
            <a:r>
              <a:rPr lang="en-US" dirty="0"/>
              <a:t>A robot must obey the orders given it by human beings except where such orders would conflict with the First Law.</a:t>
            </a:r>
          </a:p>
          <a:p>
            <a:pPr lvl="1"/>
            <a:r>
              <a:rPr lang="en-US" dirty="0"/>
              <a:t>A robot must protect its own existence as long as such protection does not conflict with the First or Second Law.</a:t>
            </a:r>
          </a:p>
          <a:p>
            <a:endParaRPr lang="en-US" dirty="0"/>
          </a:p>
        </p:txBody>
      </p:sp>
      <p:pic>
        <p:nvPicPr>
          <p:cNvPr id="4098" name="Picture 2" descr="undefined">
            <a:extLst>
              <a:ext uri="{FF2B5EF4-FFF2-40B4-BE49-F238E27FC236}">
                <a16:creationId xmlns:a16="http://schemas.microsoft.com/office/drawing/2014/main" id="{56FEFA57-6530-405D-CAD8-7F235F7516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60638" y="963425"/>
            <a:ext cx="3041368" cy="49311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9673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6AF194-DA89-F509-F246-89A8394F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8714" y="365125"/>
            <a:ext cx="10755086" cy="1325563"/>
          </a:xfrm>
        </p:spPr>
        <p:txBody>
          <a:bodyPr/>
          <a:lstStyle/>
          <a:p>
            <a:r>
              <a:rPr lang="en-US" dirty="0"/>
              <a:t>Ethical Issues Regarding Data: Data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D476CA-C434-1242-BB8D-8CDBCF3716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398032"/>
          </a:xfrm>
        </p:spPr>
        <p:txBody>
          <a:bodyPr/>
          <a:lstStyle/>
          <a:p>
            <a:r>
              <a:rPr lang="en-US" dirty="0"/>
              <a:t>Data collected by health systems, stored in their EHR</a:t>
            </a:r>
          </a:p>
          <a:p>
            <a:r>
              <a:rPr lang="en-US" dirty="0"/>
              <a:t>From there, the EHR company or healthcare system is free to make AI products using this data</a:t>
            </a:r>
          </a:p>
          <a:p>
            <a:r>
              <a:rPr lang="en-US" dirty="0"/>
              <a:t>Do the patients whose data is being used deserve some degree of compensation?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7522CAC-20E4-433B-7583-594C58891128}"/>
              </a:ext>
            </a:extLst>
          </p:cNvPr>
          <p:cNvSpPr txBox="1"/>
          <p:nvPr/>
        </p:nvSpPr>
        <p:spPr>
          <a:xfrm>
            <a:off x="1752049" y="6222442"/>
            <a:ext cx="76962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/>
              <a:t>https://advisor.echelonpartners.com/research/content/DRDR%20-%20MCI%20Onehealth%20Initiating%20-%20April%2014%202021.pdf?utm_source=BenchmarkEmail&amp;utm_campaign=ActionPac_-_Apr_14_2021_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B27F8A-9DAD-F085-D7F2-23B6169DDC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892" y="4190864"/>
            <a:ext cx="8051442" cy="1883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87FFAC-7FA7-1E36-2FA9-D13E7E0FD5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2977" y="4371735"/>
            <a:ext cx="3029023" cy="760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28786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7D420-314A-8C59-5B17-BB1DFA4A8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7F4A9E7-91B5-AB0A-0117-4F9B48B2AA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180"/>
            <a:ext cx="12192000" cy="6559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8943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2DD588-B786-221A-4E69-C66457BE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Decentralized data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44BEE-027C-1F09-8CA8-B9167FFEDC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Instead of one organization owning data, smaller entities own and lease data to other parties </a:t>
            </a:r>
          </a:p>
          <a:p>
            <a:r>
              <a:rPr lang="en-US" dirty="0"/>
              <a:t>More equitable in terms of ownership and compensation</a:t>
            </a:r>
          </a:p>
          <a:p>
            <a:r>
              <a:rPr lang="en-US" dirty="0"/>
              <a:t>However, decreases standardization and adds red tape to datasets being assembled</a:t>
            </a:r>
          </a:p>
          <a:p>
            <a:r>
              <a:rPr lang="en-US" dirty="0"/>
              <a:t>What do you all think about this model, or how could it be changed to better represent all stakeholders?</a:t>
            </a:r>
          </a:p>
        </p:txBody>
      </p:sp>
    </p:spTree>
    <p:extLst>
      <p:ext uri="{BB962C8B-B14F-4D97-AF65-F5344CB8AC3E}">
        <p14:creationId xmlns:p14="http://schemas.microsoft.com/office/powerpoint/2010/main" val="34875111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10CE5D-9E46-D4C2-F784-5E183D91A0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0956403" cy="1325563"/>
          </a:xfrm>
        </p:spPr>
        <p:txBody>
          <a:bodyPr/>
          <a:lstStyle/>
          <a:p>
            <a:r>
              <a:rPr lang="en-US" dirty="0"/>
              <a:t>Ethical Issues Regarding Data: Privacy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AB56EA-FE59-DA1C-5132-5F327AEA9E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453132" cy="4351338"/>
          </a:xfrm>
        </p:spPr>
        <p:txBody>
          <a:bodyPr/>
          <a:lstStyle/>
          <a:p>
            <a:r>
              <a:rPr lang="en-US" dirty="0"/>
              <a:t>The obvious: data must be kept private and safe to respect patient confidentiality</a:t>
            </a:r>
          </a:p>
          <a:p>
            <a:r>
              <a:rPr lang="en-US" dirty="0"/>
              <a:t>When too far out of context, ChatGPT shown to regurgitate training data verbatim</a:t>
            </a:r>
          </a:p>
          <a:p>
            <a:r>
              <a:rPr lang="en-US" dirty="0"/>
              <a:t>Could happen with medical data as well</a:t>
            </a:r>
          </a:p>
          <a:p>
            <a:endParaRPr lang="en-US" dirty="0"/>
          </a:p>
        </p:txBody>
      </p:sp>
      <p:pic>
        <p:nvPicPr>
          <p:cNvPr id="3074" name="Picture 2" descr="ChatGPT can leak training data, violate privacy, says Google's DeepMind |  ZDNET">
            <a:extLst>
              <a:ext uri="{FF2B5EF4-FFF2-40B4-BE49-F238E27FC236}">
                <a16:creationId xmlns:a16="http://schemas.microsoft.com/office/drawing/2014/main" id="{D8DA0B59-E1C9-105D-F368-17F317A89A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1332" y="1310896"/>
            <a:ext cx="3900668" cy="32854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D739CCD-25AD-03F0-498C-40181015FA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974" y="4227446"/>
            <a:ext cx="3620005" cy="2629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5709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53C749-6CA4-A3BC-F302-CE840FD0E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Inference: Likeness Ownership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7825E6-E7D2-C2A2-C8F1-3A36F3B82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727066" cy="4351338"/>
          </a:xfrm>
        </p:spPr>
        <p:txBody>
          <a:bodyPr/>
          <a:lstStyle/>
          <a:p>
            <a:r>
              <a:rPr lang="en-US" dirty="0"/>
              <a:t>Can make AI generated pictures of well known characters like </a:t>
            </a:r>
            <a:r>
              <a:rPr lang="en-US" dirty="0" err="1"/>
              <a:t>Spongebob</a:t>
            </a:r>
            <a:r>
              <a:rPr lang="en-US" dirty="0"/>
              <a:t> – but what if it’s a real person?</a:t>
            </a:r>
          </a:p>
          <a:p>
            <a:r>
              <a:rPr lang="en-US" dirty="0"/>
              <a:t>Who should own a likeness human or otherwise?</a:t>
            </a:r>
          </a:p>
          <a:p>
            <a:r>
              <a:rPr lang="en-US" dirty="0"/>
              <a:t>Is placing data on the internet consenting to have it used in AI models?</a:t>
            </a:r>
          </a:p>
          <a:p>
            <a:r>
              <a:rPr lang="en-US" dirty="0"/>
              <a:t>What other issues are created by generating images of others without their permission?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26" name="Picture 2" descr="Generate Spongebob-Inspired Art with AI | CGDream">
            <a:extLst>
              <a:ext uri="{FF2B5EF4-FFF2-40B4-BE49-F238E27FC236}">
                <a16:creationId xmlns:a16="http://schemas.microsoft.com/office/drawing/2014/main" id="{C876E637-A943-12CD-22A8-8E8298F0D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6777" y="558417"/>
            <a:ext cx="2830975" cy="2830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471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F775C-F648-2AC9-3A32-A46D4B053D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Medical Corollary – Digital Twins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EBFF4-4BC0-3150-94FC-A9F0C198ED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simulated version of a patient that allows different treatments or interventions to be tested ahead of time</a:t>
            </a:r>
          </a:p>
          <a:p>
            <a:r>
              <a:rPr lang="en-US" dirty="0"/>
              <a:t>Generated using a combo of AI and regular algorithms</a:t>
            </a:r>
          </a:p>
          <a:p>
            <a:r>
              <a:rPr lang="en-US" dirty="0"/>
              <a:t>Ex. A model of heart rhythm which captures how currents travel in the myocardium</a:t>
            </a:r>
          </a:p>
          <a:p>
            <a:r>
              <a:rPr lang="en-US" dirty="0"/>
              <a:t>Do patients own their digital twin for further experimentation, even if deidentified?</a:t>
            </a:r>
          </a:p>
          <a:p>
            <a:r>
              <a:rPr lang="en-US" dirty="0"/>
              <a:t>What other issues might outweigh the benefits of digital twins?</a:t>
            </a:r>
          </a:p>
        </p:txBody>
      </p:sp>
      <p:pic>
        <p:nvPicPr>
          <p:cNvPr id="2050" name="Picture 2" descr="Integrating digital twins and deep learning for medical image analysis in  the era of COVID-19">
            <a:extLst>
              <a:ext uri="{FF2B5EF4-FFF2-40B4-BE49-F238E27FC236}">
                <a16:creationId xmlns:a16="http://schemas.microsoft.com/office/drawing/2014/main" id="{B20BE10F-3CAB-121C-C10C-0DBF7EA8BD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44941" y="0"/>
            <a:ext cx="2291928" cy="19270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221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C71A-28A8-740C-58C8-71FBE932FD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Alignment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E4E1D2-663F-1A73-7F16-00F30D226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646043" cy="4351338"/>
          </a:xfrm>
        </p:spPr>
        <p:txBody>
          <a:bodyPr/>
          <a:lstStyle/>
          <a:p>
            <a:r>
              <a:rPr lang="en-US" dirty="0"/>
              <a:t>AI’s generated responses should match the morals and ethical principals of its creators</a:t>
            </a:r>
          </a:p>
          <a:p>
            <a:r>
              <a:rPr lang="en-US" dirty="0"/>
              <a:t>Entire divisions of large AI companies devoted to alignment</a:t>
            </a:r>
          </a:p>
          <a:p>
            <a:r>
              <a:rPr lang="en-US" dirty="0"/>
              <a:t>Massive consideration </a:t>
            </a:r>
            <a:r>
              <a:rPr lang="en-US" dirty="0" err="1"/>
              <a:t>wrt</a:t>
            </a:r>
            <a:r>
              <a:rPr lang="en-US" dirty="0"/>
              <a:t> the problem of superintelligence – if AI is more powerful than us it should have our best interests in mind</a:t>
            </a:r>
          </a:p>
          <a:p>
            <a:endParaRPr lang="en-US" dirty="0"/>
          </a:p>
        </p:txBody>
      </p:sp>
      <p:pic>
        <p:nvPicPr>
          <p:cNvPr id="5122" name="Picture 2" descr="url_upload_68fd703be5746.webm [video-to-gif output image]">
            <a:extLst>
              <a:ext uri="{FF2B5EF4-FFF2-40B4-BE49-F238E27FC236}">
                <a16:creationId xmlns:a16="http://schemas.microsoft.com/office/drawing/2014/main" id="{7D58F747-CCB7-33C6-99B9-B5A787A64E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7863" y="3263900"/>
            <a:ext cx="3048000" cy="304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1EE168-0A77-F908-AD6F-8C5401306861}"/>
              </a:ext>
            </a:extLst>
          </p:cNvPr>
          <p:cNvSpPr txBox="1"/>
          <p:nvPr/>
        </p:nvSpPr>
        <p:spPr>
          <a:xfrm>
            <a:off x="9491241" y="6358199"/>
            <a:ext cx="2858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Reward Hacking</a:t>
            </a:r>
          </a:p>
        </p:txBody>
      </p:sp>
      <p:pic>
        <p:nvPicPr>
          <p:cNvPr id="5124" name="Picture 4" descr="I, Robot (film) - Wikipedia">
            <a:extLst>
              <a:ext uri="{FF2B5EF4-FFF2-40B4-BE49-F238E27FC236}">
                <a16:creationId xmlns:a16="http://schemas.microsoft.com/office/drawing/2014/main" id="{21177536-569A-4004-CD4A-D74A2970DF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8979" y="343624"/>
            <a:ext cx="1970562" cy="2694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99348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FDFF4-16B6-44AA-5FD2-2CC191AB7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Alignment Problem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47AE1A-4EDA-9918-A207-1D58C32635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Forward alignment: alignment through training </a:t>
            </a:r>
          </a:p>
          <a:p>
            <a:pPr lvl="1"/>
            <a:r>
              <a:rPr lang="en-US" dirty="0"/>
              <a:t>Data selection</a:t>
            </a:r>
          </a:p>
          <a:p>
            <a:pPr lvl="1"/>
            <a:r>
              <a:rPr lang="en-US" dirty="0"/>
              <a:t>Post-training (in the case of LLM)</a:t>
            </a:r>
          </a:p>
          <a:p>
            <a:pPr lvl="1"/>
            <a:r>
              <a:rPr lang="en-US" dirty="0" err="1"/>
              <a:t>Preprompting</a:t>
            </a:r>
            <a:endParaRPr lang="en-US" dirty="0"/>
          </a:p>
          <a:p>
            <a:r>
              <a:rPr lang="en-US" dirty="0"/>
              <a:t>Backward alignment: identifying and diagnosing issues in final model before or after deployment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C1DBA5-385D-1719-E760-27946480A9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5520" y="4362102"/>
            <a:ext cx="9678751" cy="2495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03613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E7108-420E-7C05-3759-AD36B82B83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 Alignment Problem: Human in the loop</a:t>
            </a:r>
          </a:p>
        </p:txBody>
      </p:sp>
      <p:pic>
        <p:nvPicPr>
          <p:cNvPr id="6146" name="Picture 2" descr="The Power of RLHF: From GPT-3 to ChatGPT | by LM Po | Medium">
            <a:extLst>
              <a:ext uri="{FF2B5EF4-FFF2-40B4-BE49-F238E27FC236}">
                <a16:creationId xmlns:a16="http://schemas.microsoft.com/office/drawing/2014/main" id="{C6601D95-5615-7930-7931-B4327DF1CA7A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3115" y="1825625"/>
            <a:ext cx="8265770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94145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E0C61E0-B719-A0D7-F03F-7F36FD35484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492914" y="16059"/>
            <a:ext cx="9206171" cy="684194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98A6185-C751-405C-B874-235E1A857C10}"/>
              </a:ext>
            </a:extLst>
          </p:cNvPr>
          <p:cNvSpPr txBox="1"/>
          <p:nvPr/>
        </p:nvSpPr>
        <p:spPr>
          <a:xfrm>
            <a:off x="10336192" y="1458410"/>
            <a:ext cx="17246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https://arxiv.org/pdf/2310.19852</a:t>
            </a:r>
          </a:p>
        </p:txBody>
      </p:sp>
    </p:spTree>
    <p:extLst>
      <p:ext uri="{BB962C8B-B14F-4D97-AF65-F5344CB8AC3E}">
        <p14:creationId xmlns:p14="http://schemas.microsoft.com/office/powerpoint/2010/main" val="22146368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F1B4D-BC57-BACF-D359-C5CD29D062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Inference: Hallucinations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5DB7CA-15DD-1600-7406-8CCECCAAA3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766953" cy="4385170"/>
          </a:xfrm>
        </p:spPr>
        <p:txBody>
          <a:bodyPr>
            <a:normAutofit/>
          </a:bodyPr>
          <a:lstStyle/>
          <a:p>
            <a:r>
              <a:rPr lang="en-US" dirty="0"/>
              <a:t>Hallucinations: When AI presents information as fact that isn’t true</a:t>
            </a:r>
          </a:p>
          <a:p>
            <a:r>
              <a:rPr lang="en-US" dirty="0"/>
              <a:t>Recall</a:t>
            </a:r>
          </a:p>
          <a:p>
            <a:pPr lvl="1"/>
            <a:r>
              <a:rPr lang="en-US" dirty="0"/>
              <a:t>Training data seldom says “I don’t know”</a:t>
            </a:r>
          </a:p>
          <a:p>
            <a:pPr lvl="1"/>
            <a:r>
              <a:rPr lang="en-US" dirty="0"/>
              <a:t>The objective of AI is to predict the next most accurate word, not create factually correct info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DCE86-77C9-A21B-A80C-F745FC52ED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0974" y="2885704"/>
            <a:ext cx="6165346" cy="36588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5267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4BE02B-555C-FD0D-9F08-6DBBD732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Overreliance on AI</a:t>
            </a:r>
          </a:p>
        </p:txBody>
      </p:sp>
      <p:pic>
        <p:nvPicPr>
          <p:cNvPr id="7170" name="Picture 2" descr="Image">
            <a:extLst>
              <a:ext uri="{FF2B5EF4-FFF2-40B4-BE49-F238E27FC236}">
                <a16:creationId xmlns:a16="http://schemas.microsoft.com/office/drawing/2014/main" id="{66EF2BC6-D2F8-6A72-349E-F93864B84B00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8200" y="1540615"/>
            <a:ext cx="5642830" cy="51349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2" name="Picture 4" descr="Image">
            <a:extLst>
              <a:ext uri="{FF2B5EF4-FFF2-40B4-BE49-F238E27FC236}">
                <a16:creationId xmlns:a16="http://schemas.microsoft.com/office/drawing/2014/main" id="{AA1AE7CA-FA51-77FB-7293-C329C7C79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5931" y="1027906"/>
            <a:ext cx="4562968" cy="51387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3031747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6AABF-94B4-B2B8-0A0B-DAB4808FF2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Overreliance on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6B0B28-E8FA-C65E-FDE9-E34E15BFD1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57800" cy="4351338"/>
          </a:xfrm>
        </p:spPr>
        <p:txBody>
          <a:bodyPr/>
          <a:lstStyle/>
          <a:p>
            <a:r>
              <a:rPr lang="en-US" dirty="0"/>
              <a:t>How could this impact patient-physician trust?</a:t>
            </a:r>
          </a:p>
          <a:p>
            <a:r>
              <a:rPr lang="en-US" dirty="0"/>
              <a:t>Could this perpetuate medical pseudoscience?</a:t>
            </a:r>
          </a:p>
          <a:p>
            <a:r>
              <a:rPr lang="en-US" dirty="0"/>
              <a:t>What role should AI have in medical research or clinical decision making?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998FC8A-807C-DF78-6E0F-C6EC0EE2D6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1878" y="1417638"/>
            <a:ext cx="4698015" cy="516731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559E91B-A37F-CA52-B12C-4FE05857FD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61877" y="273050"/>
            <a:ext cx="4698016" cy="137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94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8FD2-2FFC-5470-E58E-D8E5297D2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Overreliance on AI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A7AC87-C8EA-67E5-ED32-E6F73B382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603375"/>
          </a:xfrm>
        </p:spPr>
        <p:txBody>
          <a:bodyPr/>
          <a:lstStyle/>
          <a:p>
            <a:r>
              <a:rPr lang="en-US" dirty="0"/>
              <a:t>How will the role of physicians and other medical professionals transform with the widespread adoption of OpenAI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7ABE44-854E-6C09-66ED-14BE29731F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555" y="3571528"/>
            <a:ext cx="9352890" cy="325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3616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02282-85CA-5469-3A11-1CE15F282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– Liability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AB2FC-A845-A8C3-B19F-35D5C488D1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51965"/>
          </a:xfrm>
        </p:spPr>
        <p:txBody>
          <a:bodyPr/>
          <a:lstStyle/>
          <a:p>
            <a:r>
              <a:rPr lang="en-US" dirty="0"/>
              <a:t>Who should be liable if AI misses a diagnosis?</a:t>
            </a:r>
          </a:p>
          <a:p>
            <a:r>
              <a:rPr lang="en-US" dirty="0"/>
              <a:t>Can we ever fully remove physicians from the loop?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62F6E9-CB90-6ACF-877A-FE5042BA7D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485" y="3277590"/>
            <a:ext cx="7461663" cy="3555949"/>
          </a:xfrm>
          <a:prstGeom prst="rect">
            <a:avLst/>
          </a:prstGeom>
        </p:spPr>
      </p:pic>
      <p:pic>
        <p:nvPicPr>
          <p:cNvPr id="9220" name="Picture 4" descr="Diabetic retinopathy - Wikipedia">
            <a:extLst>
              <a:ext uri="{FF2B5EF4-FFF2-40B4-BE49-F238E27FC236}">
                <a16:creationId xmlns:a16="http://schemas.microsoft.com/office/drawing/2014/main" id="{3678727E-5855-7099-3D72-AD38397575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98151" y="3277590"/>
            <a:ext cx="4186471" cy="35559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8244A6-629A-1DF6-9BAC-5E44B942F9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32126" y="132082"/>
            <a:ext cx="2820389" cy="2802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0385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76E02A-F715-4E01-4F72-3572605ED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– Trolley Problem</a:t>
            </a:r>
          </a:p>
        </p:txBody>
      </p:sp>
      <p:pic>
        <p:nvPicPr>
          <p:cNvPr id="10242" name="Picture 2" descr="Philosopher Scholar - Two Solutions to the Trolley Problem for Self Driving  Cars">
            <a:extLst>
              <a:ext uri="{FF2B5EF4-FFF2-40B4-BE49-F238E27FC236}">
                <a16:creationId xmlns:a16="http://schemas.microsoft.com/office/drawing/2014/main" id="{D88D5870-0E1A-F30C-BDC5-DE518BDCE76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299" y="1690688"/>
            <a:ext cx="8445644" cy="4776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765828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9BA3A-0EC0-E7EE-6FB1-3A66BED22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– Trolley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B102D-A6B3-1DFF-28D7-D5766BDFF4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limited resource scenario, should AI decide who gets care?</a:t>
            </a:r>
          </a:p>
          <a:p>
            <a:r>
              <a:rPr lang="en-US" dirty="0"/>
              <a:t>Ex. there are n ventilators in an ICU, if AI has a larger role should it ever be making the call?</a:t>
            </a:r>
          </a:p>
          <a:p>
            <a:r>
              <a:rPr lang="en-US" dirty="0"/>
              <a:t>What are other scenarios where AI may be dividing resources?</a:t>
            </a:r>
          </a:p>
        </p:txBody>
      </p:sp>
    </p:spTree>
    <p:extLst>
      <p:ext uri="{BB962C8B-B14F-4D97-AF65-F5344CB8AC3E}">
        <p14:creationId xmlns:p14="http://schemas.microsoft.com/office/powerpoint/2010/main" val="372280770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1D61A-7F10-2E80-396E-A0287E86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– AI Psychosis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B0A5C-250D-1DAC-5E02-0676EFD6A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43847" cy="4351338"/>
          </a:xfrm>
        </p:spPr>
        <p:txBody>
          <a:bodyPr/>
          <a:lstStyle/>
          <a:p>
            <a:r>
              <a:rPr lang="en-US" dirty="0"/>
              <a:t>People believing AI chatbots too easily, leading to parasocial relationships</a:t>
            </a:r>
          </a:p>
          <a:p>
            <a:r>
              <a:rPr lang="en-US" dirty="0"/>
              <a:t>Sycophantism: AI agreeing with whatever the user says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81059E-D070-CABF-823D-D065F2BBB9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5174" y="1825625"/>
            <a:ext cx="5712031" cy="445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3874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13CEAF-1D18-8D09-A849-642177826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86995" cy="1325563"/>
          </a:xfrm>
        </p:spPr>
        <p:txBody>
          <a:bodyPr/>
          <a:lstStyle/>
          <a:p>
            <a:r>
              <a:rPr lang="en-US" dirty="0"/>
              <a:t>Deployment – AI Psychosis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FAC1BC-C047-39FE-FB66-5EEC6F5236D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125195" y="583272"/>
            <a:ext cx="4818013" cy="5691455"/>
          </a:xfrm>
          <a:prstGeom prst="rect">
            <a:avLst/>
          </a:prstGeom>
        </p:spPr>
      </p:pic>
      <p:pic>
        <p:nvPicPr>
          <p:cNvPr id="2050" name="Picture 2" descr="Petah, what am I missing here? : r/PeterExplainsTheJoke">
            <a:extLst>
              <a:ext uri="{FF2B5EF4-FFF2-40B4-BE49-F238E27FC236}">
                <a16:creationId xmlns:a16="http://schemas.microsoft.com/office/drawing/2014/main" id="{3ED11195-C954-B086-D8BB-3E28B8132F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2342" y="1836447"/>
            <a:ext cx="4445329" cy="4292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4319299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3732D8-97D1-26C6-D22A-9839CC46A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– AI Psychosis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270003-FAC1-4B68-A5DF-252E34F243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763992" cy="1511341"/>
          </a:xfrm>
        </p:spPr>
        <p:txBody>
          <a:bodyPr>
            <a:normAutofit fontScale="92500"/>
          </a:bodyPr>
          <a:lstStyle/>
          <a:p>
            <a:r>
              <a:rPr lang="en-US" dirty="0"/>
              <a:t>Case of Adam Raine – 16 y/o boy who died by suicide after being encouraged by ChatGPT</a:t>
            </a:r>
          </a:p>
          <a:p>
            <a:r>
              <a:rPr lang="en-US" dirty="0"/>
              <a:t>Caused lawsuit and introduction of legislation against underage AI use</a:t>
            </a:r>
          </a:p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6A976C7-5AAC-85C2-B92B-658744981E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7034" y="3250870"/>
            <a:ext cx="9086324" cy="3340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28693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E7260C-7A24-1225-35D8-4B187F19F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2647" y="2766218"/>
            <a:ext cx="10515600" cy="1325563"/>
          </a:xfrm>
        </p:spPr>
        <p:txBody>
          <a:bodyPr/>
          <a:lstStyle/>
          <a:p>
            <a:r>
              <a:rPr lang="en-US" dirty="0"/>
              <a:t>What have I missed?</a:t>
            </a:r>
          </a:p>
        </p:txBody>
      </p:sp>
    </p:spTree>
    <p:extLst>
      <p:ext uri="{BB962C8B-B14F-4D97-AF65-F5344CB8AC3E}">
        <p14:creationId xmlns:p14="http://schemas.microsoft.com/office/powerpoint/2010/main" val="192032091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0C1684-D597-CA3B-79B4-33F8530FE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35851" y="3429000"/>
            <a:ext cx="10515600" cy="1325563"/>
          </a:xfrm>
        </p:spPr>
        <p:txBody>
          <a:bodyPr/>
          <a:lstStyle/>
          <a:p>
            <a:r>
              <a:rPr lang="en-US" dirty="0"/>
              <a:t>Thanks!</a:t>
            </a:r>
          </a:p>
        </p:txBody>
      </p:sp>
      <p:pic>
        <p:nvPicPr>
          <p:cNvPr id="3074" name="Picture 2" descr="AI Is Just Spicy Math In Disguise · ProgrammerHumor.io">
            <a:extLst>
              <a:ext uri="{FF2B5EF4-FFF2-40B4-BE49-F238E27FC236}">
                <a16:creationId xmlns:a16="http://schemas.microsoft.com/office/drawing/2014/main" id="{4F495FC2-8433-9D6C-C2C2-AFB510B27D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8747" y="1615203"/>
            <a:ext cx="3564824" cy="4748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65A2E53-84D4-0126-9A69-56DD1AF9DE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5302" y="0"/>
            <a:ext cx="379669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9B51C05-3E3C-9AEF-735E-136D5B4D2E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2059" y="0"/>
            <a:ext cx="4467883" cy="29785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96207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2486</TotalTime>
  <Words>1099</Words>
  <Application>Microsoft Office PowerPoint</Application>
  <PresentationFormat>Widescreen</PresentationFormat>
  <Paragraphs>110</Paragraphs>
  <Slides>28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Office Theme</vt:lpstr>
      <vt:lpstr>Intro to AI for Medicine</vt:lpstr>
      <vt:lpstr>Last Time</vt:lpstr>
      <vt:lpstr>This time</vt:lpstr>
      <vt:lpstr>This Time</vt:lpstr>
      <vt:lpstr>AI Workflow</vt:lpstr>
      <vt:lpstr>Asimov’s Three Laws of Robotics</vt:lpstr>
      <vt:lpstr>Ethical Issues Regarding Data: Data Ownership</vt:lpstr>
      <vt:lpstr>PowerPoint Presentation</vt:lpstr>
      <vt:lpstr>Decentralized data ownership</vt:lpstr>
      <vt:lpstr>Ethical Issues Regarding Data: Privacy</vt:lpstr>
      <vt:lpstr>Inference: Likeness Ownership</vt:lpstr>
      <vt:lpstr>Medical Corollary – Digital Twins</vt:lpstr>
      <vt:lpstr>AI Alignment Problem</vt:lpstr>
      <vt:lpstr>AI Alignment Problem </vt:lpstr>
      <vt:lpstr>AI Alignment Problem: Human in the loop</vt:lpstr>
      <vt:lpstr>PowerPoint Presentation</vt:lpstr>
      <vt:lpstr>Inference: Hallucinations</vt:lpstr>
      <vt:lpstr>Overreliance on AI</vt:lpstr>
      <vt:lpstr>Overreliance on AI</vt:lpstr>
      <vt:lpstr>Overreliance on AI</vt:lpstr>
      <vt:lpstr>Deployment – Liability </vt:lpstr>
      <vt:lpstr>Deployment – Trolley Problem</vt:lpstr>
      <vt:lpstr>Deployment – Trolley Problem</vt:lpstr>
      <vt:lpstr>Deployment – AI Psychosis</vt:lpstr>
      <vt:lpstr>Deployment – AI Psychosis</vt:lpstr>
      <vt:lpstr>Deployment – AI Psychosis</vt:lpstr>
      <vt:lpstr>What have I missed?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Lostetter</dc:creator>
  <cp:lastModifiedBy>Stephen Lostetter</cp:lastModifiedBy>
  <cp:revision>4</cp:revision>
  <dcterms:created xsi:type="dcterms:W3CDTF">2025-10-25T23:18:27Z</dcterms:created>
  <dcterms:modified xsi:type="dcterms:W3CDTF">2025-10-30T13:49:18Z</dcterms:modified>
</cp:coreProperties>
</file>
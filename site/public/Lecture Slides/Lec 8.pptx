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257" r:id="rId2"/>
    <p:sldId id="258" r:id="rId3"/>
    <p:sldId id="312" r:id="rId4"/>
    <p:sldId id="277" r:id="rId5"/>
    <p:sldId id="260" r:id="rId6"/>
    <p:sldId id="278" r:id="rId7"/>
    <p:sldId id="279" r:id="rId8"/>
    <p:sldId id="259" r:id="rId9"/>
    <p:sldId id="290" r:id="rId10"/>
    <p:sldId id="291" r:id="rId11"/>
    <p:sldId id="292" r:id="rId12"/>
    <p:sldId id="293" r:id="rId13"/>
    <p:sldId id="296" r:id="rId14"/>
    <p:sldId id="294" r:id="rId15"/>
    <p:sldId id="280" r:id="rId16"/>
    <p:sldId id="281" r:id="rId17"/>
    <p:sldId id="282" r:id="rId18"/>
    <p:sldId id="285" r:id="rId19"/>
    <p:sldId id="283" r:id="rId20"/>
    <p:sldId id="284" r:id="rId21"/>
    <p:sldId id="286" r:id="rId22"/>
    <p:sldId id="288" r:id="rId23"/>
    <p:sldId id="302" r:id="rId24"/>
    <p:sldId id="287" r:id="rId25"/>
    <p:sldId id="289" r:id="rId26"/>
    <p:sldId id="297" r:id="rId27"/>
    <p:sldId id="298" r:id="rId28"/>
    <p:sldId id="295" r:id="rId29"/>
    <p:sldId id="299" r:id="rId30"/>
    <p:sldId id="300" r:id="rId31"/>
    <p:sldId id="301" r:id="rId32"/>
    <p:sldId id="304" r:id="rId33"/>
    <p:sldId id="303" r:id="rId34"/>
    <p:sldId id="305" r:id="rId35"/>
    <p:sldId id="307" r:id="rId36"/>
    <p:sldId id="306" r:id="rId37"/>
    <p:sldId id="310" r:id="rId38"/>
    <p:sldId id="308" r:id="rId39"/>
    <p:sldId id="311" r:id="rId40"/>
    <p:sldId id="309" r:id="rId41"/>
    <p:sldId id="314" r:id="rId42"/>
    <p:sldId id="315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1624" autoAdjust="0"/>
  </p:normalViewPr>
  <p:slideViewPr>
    <p:cSldViewPr snapToGrid="0">
      <p:cViewPr varScale="1">
        <p:scale>
          <a:sx n="30" d="100"/>
          <a:sy n="30" d="100"/>
        </p:scale>
        <p:origin x="120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01T22:16:26.7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38,'51'0,"606"-14,28-9,2 23,-269 2,-128-2,-261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D3D86-1139-477F-A907-65F59E1471EF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4B62C4-67FA-4552-8D2A-AA0F2330F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337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if we know something about our data and what our output should take into account and look like, we can change our network accordingly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41BFC-39C1-44E1-AFBB-E56DCC5A8AC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152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inductive biases do we want to bake into our model?</a:t>
            </a:r>
          </a:p>
          <a:p>
            <a:r>
              <a:rPr lang="en-US" dirty="0"/>
              <a:t>What’s true about the pixels making up the dog?</a:t>
            </a:r>
          </a:p>
          <a:p>
            <a:r>
              <a:rPr lang="en-US" dirty="0"/>
              <a:t>What about the pixels making up the ear relative to the pixels making up the eye?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DE8A7-3B7E-013F-224D-0C3A80B32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76F833-72EC-BBC8-6A45-9ED2C904D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2C8C5-4028-C73D-3640-A843556F7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inductive biases do we want to bake into our model?</a:t>
            </a:r>
          </a:p>
          <a:p>
            <a:r>
              <a:rPr lang="en-US" dirty="0"/>
              <a:t>What’s true about the pixels making up the dog?</a:t>
            </a:r>
          </a:p>
          <a:p>
            <a:r>
              <a:rPr lang="en-US" dirty="0"/>
              <a:t>What about the pixels making up the ear relative to the pixels making up the eye?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F8727-9E32-E311-DFE1-D53F55692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77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341C8-ECFE-3B3A-01B0-DA246D6C0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2FBB8-5AE1-30F1-982A-29306BD07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C182E5-3072-041E-28AC-261661D4A6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inductive biases do we want to bake into our model?</a:t>
            </a:r>
          </a:p>
          <a:p>
            <a:r>
              <a:rPr lang="en-US" dirty="0"/>
              <a:t>What’s true about the pixels making up the dog?</a:t>
            </a:r>
          </a:p>
          <a:p>
            <a:r>
              <a:rPr lang="en-US" dirty="0"/>
              <a:t>What about the pixels making up the ear relative to the pixels making up the eye?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BF449-909B-DFFA-6CD9-95ED555B40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4960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Retina photoreceptors activate neurons which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99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ECBAD-7CB5-38EB-0296-C1200D6D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CF46A6-42BD-9C6A-E701-C7E229DD3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45AD62-D586-FE5D-5B39-1B0C3ABDA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Retina photoreceptors activate neurons which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77751-C6AF-506E-3CEB-CB63518DF8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8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Moving matrix called the kernel.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634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extend to 3d as well</a:t>
            </a:r>
          </a:p>
          <a:p>
            <a:r>
              <a:rPr lang="en-US" dirty="0"/>
              <a:t>Can be of any dimension</a:t>
            </a:r>
          </a:p>
          <a:p>
            <a:r>
              <a:rPr lang="en-US" dirty="0"/>
              <a:t>Pad outside for 0s – not critical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242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Audience? What else do we share weights 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0996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scaled input, max pool </a:t>
            </a:r>
          </a:p>
          <a:p>
            <a:r>
              <a:rPr lang="en-US" dirty="0"/>
              <a:t>Not perfectly translation invariant but if feature occurs within that max pool window, will yield same output regardless of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6449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 channel 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476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Lengthened cells to correspond to part of the CNN</a:t>
            </a:r>
          </a:p>
          <a:p>
            <a:r>
              <a:rPr lang="en-US" dirty="0"/>
              <a:t>Combination of many layers + nonlinearity (activation) leads to filters being able to learn and extract very specific info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262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Note: Every </a:t>
            </a:r>
            <a:r>
              <a:rPr lang="en-US" dirty="0" err="1"/>
              <a:t>conv+pooling</a:t>
            </a:r>
            <a:r>
              <a:rPr lang="en-US" dirty="0"/>
              <a:t>, we thicken. We have many filters, and decrease x, y via pooling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76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Derm, path, rads, micro?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95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1872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Hausdorff</a:t>
            </a:r>
            <a:r>
              <a:rPr lang="en-US" dirty="0"/>
              <a:t>: Distance from the point in region 1 that’s furthest to anywhere in region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7540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Backprop from highly weighted matrix values @ last layer, tracking which tiles it corresponds to in the original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3203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Participation -&gt; where can AI intervene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435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PS1 triages protocoling by parsing word structures and yielding likely protocols</a:t>
            </a:r>
          </a:p>
          <a:p>
            <a:r>
              <a:rPr lang="en-US" dirty="0"/>
              <a:t>Of course challenging if the indication is “pain”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814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2420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foundation model – takes in multimodal data, decides what algorithms to run and delivers prelim 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4B62C4-67FA-4552-8D2A-AA0F2330F7D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13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CB61-9A0D-34D4-8D8E-2CBE68E4C3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332BAB-794C-E72C-6D61-3D5E11771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721D7-A6FE-DCE3-1262-C9E4F8376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A77AE3-7519-10A4-87CA-200EECE1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D066A-09BF-B8A6-4CC6-AF2BAEE7E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98FAB-0426-527C-0295-1CA7D92BC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9B917-7D10-2B98-0629-652863A8A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08FFC-7C88-8692-CA8C-ACBCC5DFD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8489E-06DE-34D4-33DD-A4C70CF99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D1E3C-7253-921E-9F45-BDED80E5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07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442B0-479B-2EB0-310F-50AF94E7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E689CA-8927-594E-CF62-A7E2A569D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A1CCB-452A-53BA-02E8-45BDB23F5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EEE09-427D-EF92-32C8-662B15C05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94CC68-70D6-F240-0DAE-ABC09FACC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041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DB312-CC21-22B2-3056-E1B04B8AD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C1283-F4A2-75D7-390C-FE515744FB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06E87E-DFB1-2050-4D66-E598B042B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377B4-0F3E-B8E3-B3D8-5FB69D541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8C7CB-61A4-5B5F-69EE-91F6C45FF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42F010-B64B-C7F2-9592-A164F8A88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2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BC7-6604-808F-022D-8C65AFB60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CCE40A-F79B-7EDC-5935-FA654CB45A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FDFFD-07AD-3BE8-5210-7FBB3E5B7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234642-30D9-114E-3B4E-770F4FFFF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8FF8E-2B36-35F8-9CB9-AB9164CB1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8D0985-34A6-4A13-7517-771888CB8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C12B01-51D4-2268-C52F-44188DE74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11A21C-DFA1-AE01-C05B-7C099E134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099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79A4-4933-6F6C-FF3B-977AF63BE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E3C8A-62A6-3874-CE3F-B10E78C1F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883669-DFC2-6009-36B3-9A6697B82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F7A02-63EB-8A73-4AC8-F6FDE76AA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653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BFD5A-09E0-7635-DF9A-92CDE7553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F7311-F0E2-0F6D-FAEA-C2FA4A4A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4CA7C4-DCC5-1EDD-1400-A716FEBF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21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EA482-0700-1B45-42EC-88012AD4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F94D0-0D2B-A70B-A5F2-916C224B9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44BB54-586B-0F93-7D70-E45FA8777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B821A-1506-21D4-6F0B-61C35A47B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0FA5C6-645D-EE2E-97E0-379ECE15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8C71BC-4559-5DA1-8A81-CCED188A3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285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5FBA0-2447-27F8-19B6-F9A4D720D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9007-824A-B577-C987-0007D10E98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DB1D2-F6B7-8C43-1AB7-BC7FE1568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F62D8-6123-A877-43C1-B0630A2EA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6FED2E-C5C5-0E36-B266-DFFE2DCB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7E4BE-2AFC-0552-9D5F-A8F5D59B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96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B3E3F-7C32-3754-06B2-2ABC80D20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0D3E5-46A2-16A3-EEB2-A40BAC128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934631-8779-F811-3566-ED33F56FE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6D6426-AB84-A2FF-1B95-77E99C69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094B9-CF77-78BB-1EE6-ABE5299F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DB5903-C3E8-C687-6450-9087F5B57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2071A7-146B-690A-BAAF-19EEDB130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B1E31-D5CB-6BFF-4A6B-DE9CB124E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1B6E12-5093-114A-5E9C-D4F62A58C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850701-925D-B384-9CC5-F16F6F9E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23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359CB2-9E84-1257-F8AF-E0AFB60DC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A3C8B-2DDB-38F9-3BBE-2EF7002AA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99248-4FF0-979A-B1B4-FA506BBFC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243D0-74A0-48F1-A651-BE27A907E89C}" type="datetimeFigureOut">
              <a:rPr lang="en-US" smtClean="0"/>
              <a:t>7/12/2026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1CDEC2-3AF9-9B13-2897-49353EF8E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779274-4F28-AAE0-0AF7-31420AA281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F6B9C5-A4D9-4B86-8003-41EFCD70AE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8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customXml" Target="../ink/ink1.xml"/><Relationship Id="rId4" Type="http://schemas.openxmlformats.org/officeDocument/2006/relationships/image" Target="../media/image43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?query=radiology&amp;searchtype=all&amp;source=header" TargetMode="External"/><Relationship Id="rId2" Type="http://schemas.openxmlformats.org/officeDocument/2006/relationships/hyperlink" Target="https://healthairegister.com/radiology/products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957F9-B837-3C49-9960-9AC92C5060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182B61-321E-B36C-BDA7-E5ECDEB953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8: Computer Vision and Radiology</a:t>
            </a:r>
          </a:p>
        </p:txBody>
      </p:sp>
    </p:spTree>
    <p:extLst>
      <p:ext uri="{BB962C8B-B14F-4D97-AF65-F5344CB8AC3E}">
        <p14:creationId xmlns:p14="http://schemas.microsoft.com/office/powerpoint/2010/main" val="13669966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7A60-6662-7CBC-E8C3-2C176DF5E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9FEFA-E3A4-BA32-3947-38B995BDD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Case Studies</a:t>
            </a:r>
          </a:p>
          <a:p>
            <a:pPr lvl="1"/>
            <a:r>
              <a:rPr lang="en-US" dirty="0"/>
              <a:t>LSTM</a:t>
            </a:r>
          </a:p>
          <a:p>
            <a:pPr lvl="1"/>
            <a:r>
              <a:rPr lang="en-US" dirty="0"/>
              <a:t>Arrhythmia classification</a:t>
            </a:r>
          </a:p>
          <a:p>
            <a:pPr lvl="1"/>
            <a:r>
              <a:rPr lang="en-US" dirty="0"/>
              <a:t>Stroke prediction</a:t>
            </a:r>
          </a:p>
          <a:p>
            <a:pPr lvl="1"/>
            <a:r>
              <a:rPr lang="en-US" dirty="0"/>
              <a:t>U-Net/CNN -&gt; synthetic MRI</a:t>
            </a:r>
          </a:p>
        </p:txBody>
      </p:sp>
    </p:spTree>
    <p:extLst>
      <p:ext uri="{BB962C8B-B14F-4D97-AF65-F5344CB8AC3E}">
        <p14:creationId xmlns:p14="http://schemas.microsoft.com/office/powerpoint/2010/main" val="332437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EB6F-385D-8F80-86DA-186D6A51A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03644-8E39-5B86-66C9-20BDA51B4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What’s different about image data?</a:t>
            </a:r>
          </a:p>
          <a:p>
            <a:r>
              <a:rPr lang="en-US" dirty="0"/>
              <a:t>Neuroscientific basis for computer vision – 1981 Nobel Prize</a:t>
            </a:r>
          </a:p>
          <a:p>
            <a:r>
              <a:rPr lang="en-US" dirty="0"/>
              <a:t>Intro to Computer Vision</a:t>
            </a:r>
          </a:p>
          <a:p>
            <a:r>
              <a:rPr lang="en-US" dirty="0"/>
              <a:t>The Radiologist’s workflow</a:t>
            </a:r>
          </a:p>
          <a:p>
            <a:r>
              <a:rPr lang="en-US" dirty="0"/>
              <a:t>AI interventions based on different points (only a few!)</a:t>
            </a:r>
          </a:p>
          <a:p>
            <a:endParaRPr lang="en-US" dirty="0"/>
          </a:p>
          <a:p>
            <a:r>
              <a:rPr lang="en-US" dirty="0"/>
              <a:t>Goals</a:t>
            </a:r>
          </a:p>
          <a:p>
            <a:pPr lvl="1"/>
            <a:r>
              <a:rPr lang="en-US" dirty="0"/>
              <a:t>Not teach you everything going on in the world of Radiology</a:t>
            </a:r>
          </a:p>
          <a:p>
            <a:pPr lvl="1"/>
            <a:r>
              <a:rPr lang="en-US" dirty="0"/>
              <a:t>Help you fold AI image interpretation into your understanding of AI</a:t>
            </a:r>
          </a:p>
          <a:p>
            <a:pPr lvl="1"/>
            <a:r>
              <a:rPr lang="en-US" dirty="0"/>
              <a:t>Brainstorm areas where innovation may be most helpful</a:t>
            </a:r>
          </a:p>
        </p:txBody>
      </p:sp>
    </p:spTree>
    <p:extLst>
      <p:ext uri="{BB962C8B-B14F-4D97-AF65-F5344CB8AC3E}">
        <p14:creationId xmlns:p14="http://schemas.microsoft.com/office/powerpoint/2010/main" val="3479700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6DA2E-EEEE-0CCC-A358-066D8F91F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Bias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BE423-A182-242D-2C81-12C284569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bias in the traditional sense – it’s the direction we point our model toward via the construction of the network</a:t>
            </a:r>
          </a:p>
          <a:p>
            <a:r>
              <a:rPr lang="en-US" dirty="0"/>
              <a:t>Ex. For linear regression (no neural net) we assume our data can be fit linearly</a:t>
            </a:r>
          </a:p>
          <a:p>
            <a:r>
              <a:rPr lang="en-US" dirty="0"/>
              <a:t>For other problems, we can give our ML model a hint by changing the way it processes data</a:t>
            </a:r>
          </a:p>
        </p:txBody>
      </p:sp>
    </p:spTree>
    <p:extLst>
      <p:ext uri="{BB962C8B-B14F-4D97-AF65-F5344CB8AC3E}">
        <p14:creationId xmlns:p14="http://schemas.microsoft.com/office/powerpoint/2010/main" val="3637855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og Adoption - Peninsula Humane Society &amp; SPCA in Burlingame, CA">
            <a:extLst>
              <a:ext uri="{FF2B5EF4-FFF2-40B4-BE49-F238E27FC236}">
                <a16:creationId xmlns:a16="http://schemas.microsoft.com/office/drawing/2014/main" id="{E49EECF6-6FE6-D5C4-0267-A68A37B908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785" y="734785"/>
            <a:ext cx="5388429" cy="538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57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4225-3E54-761E-843E-D1972615E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og Adoption - Peninsula Humane Society &amp; SPCA in Burlingame, CA">
            <a:extLst>
              <a:ext uri="{FF2B5EF4-FFF2-40B4-BE49-F238E27FC236}">
                <a16:creationId xmlns:a16="http://schemas.microsoft.com/office/drawing/2014/main" id="{47BB861A-2268-BF9B-F650-FAA82A243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499" y="734785"/>
            <a:ext cx="5388429" cy="5388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436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3327-349B-CE14-C989-0CBF8AA9F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Dog Adoption - Peninsula Humane Society &amp; SPCA in Burlingame, CA">
            <a:extLst>
              <a:ext uri="{FF2B5EF4-FFF2-40B4-BE49-F238E27FC236}">
                <a16:creationId xmlns:a16="http://schemas.microsoft.com/office/drawing/2014/main" id="{92F821C2-0302-BE3C-16A6-579B3B628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95876">
            <a:off x="5127170" y="751115"/>
            <a:ext cx="4120243" cy="4120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0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5E8F2B-F8CD-2C83-C8E0-C594ACD54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Approaching Imaging With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B9E19-41B8-1302-B0D9-21B84DACEC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857" y="1825625"/>
            <a:ext cx="6879771" cy="4351338"/>
          </a:xfrm>
        </p:spPr>
        <p:txBody>
          <a:bodyPr/>
          <a:lstStyle/>
          <a:p>
            <a:r>
              <a:rPr lang="en-US" dirty="0"/>
              <a:t>Recall -&gt; an image is a matrix of BW pixels</a:t>
            </a:r>
          </a:p>
          <a:p>
            <a:r>
              <a:rPr lang="en-US" dirty="0"/>
              <a:t>Inductive bias:</a:t>
            </a:r>
          </a:p>
          <a:p>
            <a:pPr lvl="1"/>
            <a:r>
              <a:rPr lang="en-US" b="1" dirty="0"/>
              <a:t>Spatial Locality: </a:t>
            </a:r>
            <a:r>
              <a:rPr lang="en-US" dirty="0"/>
              <a:t>Pixels of our target feature will be close together</a:t>
            </a:r>
          </a:p>
          <a:p>
            <a:pPr lvl="1"/>
            <a:r>
              <a:rPr lang="en-US" b="1" dirty="0"/>
              <a:t>Translation Invariance: </a:t>
            </a:r>
            <a:r>
              <a:rPr lang="en-US" dirty="0"/>
              <a:t>Pattern of pixels characterizing feature can occur anywhere in image</a:t>
            </a:r>
          </a:p>
          <a:p>
            <a:r>
              <a:rPr lang="en-US" dirty="0"/>
              <a:t>Our network should take these into account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1026" name="Picture 2" descr="Chest radiograph - Wikipedia">
            <a:extLst>
              <a:ext uri="{FF2B5EF4-FFF2-40B4-BE49-F238E27FC236}">
                <a16:creationId xmlns:a16="http://schemas.microsoft.com/office/drawing/2014/main" id="{3DCD8879-3B81-B115-89ED-91CFFE1F9E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825625"/>
            <a:ext cx="3705901" cy="4239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2660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63411-27C9-C0C3-B172-BD8E1F01E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Hubel &amp; Wiesel 1981 Nobel Prize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6270E0-45D9-45EB-233B-076E37E9D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8" y="5539470"/>
            <a:ext cx="10515600" cy="953405"/>
          </a:xfrm>
        </p:spPr>
        <p:txBody>
          <a:bodyPr>
            <a:normAutofit/>
          </a:bodyPr>
          <a:lstStyle/>
          <a:p>
            <a:pPr lvl="2"/>
            <a:r>
              <a:rPr lang="en-US" dirty="0"/>
              <a:t>Anesthetize cat, record from individual neurons @ occipital striate cortex</a:t>
            </a:r>
          </a:p>
          <a:p>
            <a:pPr lvl="2"/>
            <a:r>
              <a:rPr lang="en-US" dirty="0"/>
              <a:t>Noted increased firing of individual neurons based on light </a:t>
            </a:r>
            <a:r>
              <a:rPr lang="en-US" b="1" dirty="0"/>
              <a:t>bar orientations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590280-F7EC-9F8E-0BC7-171022093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1318530"/>
            <a:ext cx="6210300" cy="4048125"/>
          </a:xfrm>
          <a:prstGeom prst="rect">
            <a:avLst/>
          </a:prstGeom>
        </p:spPr>
      </p:pic>
      <p:pic>
        <p:nvPicPr>
          <p:cNvPr id="6152" name="Picture 8" descr="The demarcation of brain occipital lobe. A: Striate cortex; B and C:... |  Download Scientific Diagram">
            <a:extLst>
              <a:ext uri="{FF2B5EF4-FFF2-40B4-BE49-F238E27FC236}">
                <a16:creationId xmlns:a16="http://schemas.microsoft.com/office/drawing/2014/main" id="{29E2051C-E43D-EF83-72B1-BD4E232026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0164" y="1584211"/>
            <a:ext cx="34671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7908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575C6-F406-E51D-7783-ED504B8B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Hubel &amp; Wiesel 1981 Nobel Prize</a:t>
            </a:r>
          </a:p>
        </p:txBody>
      </p:sp>
      <p:pic>
        <p:nvPicPr>
          <p:cNvPr id="7170" name="Picture 2" descr="Exploring the Potential of Convolutional Neural Networks | Distillery">
            <a:extLst>
              <a:ext uri="{FF2B5EF4-FFF2-40B4-BE49-F238E27FC236}">
                <a16:creationId xmlns:a16="http://schemas.microsoft.com/office/drawing/2014/main" id="{D07F647A-3E3C-6BF8-678F-C539073FE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201" y="1398813"/>
            <a:ext cx="9817598" cy="5006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27354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ABA1E-2670-F532-CA8D-D571B8DC2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Hubel &amp; Wiesel 1981 Nobel Prize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BD1BC-CD24-02ED-067F-5759ACF69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0699"/>
            <a:ext cx="10515600" cy="1381524"/>
          </a:xfrm>
        </p:spPr>
        <p:txBody>
          <a:bodyPr/>
          <a:lstStyle/>
          <a:p>
            <a:r>
              <a:rPr lang="en-US" dirty="0"/>
              <a:t>Simple neuron synthesizes linear combo of input neurons</a:t>
            </a:r>
          </a:p>
          <a:p>
            <a:r>
              <a:rPr lang="en-US" dirty="0"/>
              <a:t>Corresponds to spatial region of retina</a:t>
            </a:r>
          </a:p>
        </p:txBody>
      </p:sp>
      <p:sp>
        <p:nvSpPr>
          <p:cNvPr id="4" name="Block Arc 3">
            <a:extLst>
              <a:ext uri="{FF2B5EF4-FFF2-40B4-BE49-F238E27FC236}">
                <a16:creationId xmlns:a16="http://schemas.microsoft.com/office/drawing/2014/main" id="{0EB86A5D-CA08-CB6D-CA14-E0C727D139ED}"/>
              </a:ext>
            </a:extLst>
          </p:cNvPr>
          <p:cNvSpPr/>
          <p:nvPr/>
        </p:nvSpPr>
        <p:spPr>
          <a:xfrm rot="5400000">
            <a:off x="522514" y="2296886"/>
            <a:ext cx="3516085" cy="1611085"/>
          </a:xfrm>
          <a:prstGeom prst="blockArc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4134446-2A80-6270-9B40-C7A19767FA05}"/>
              </a:ext>
            </a:extLst>
          </p:cNvPr>
          <p:cNvCxnSpPr/>
          <p:nvPr/>
        </p:nvCxnSpPr>
        <p:spPr>
          <a:xfrm flipV="1">
            <a:off x="674914" y="2275114"/>
            <a:ext cx="1894115" cy="1665515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0868181-FB87-5448-D15D-C123FA2A8F7B}"/>
              </a:ext>
            </a:extLst>
          </p:cNvPr>
          <p:cNvCxnSpPr>
            <a:cxnSpLocks/>
          </p:cNvCxnSpPr>
          <p:nvPr/>
        </p:nvCxnSpPr>
        <p:spPr>
          <a:xfrm>
            <a:off x="3086100" y="2275114"/>
            <a:ext cx="1681843" cy="16655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46FECBB-037A-79F4-46AA-C0F48204DE98}"/>
              </a:ext>
            </a:extLst>
          </p:cNvPr>
          <p:cNvCxnSpPr>
            <a:cxnSpLocks/>
          </p:cNvCxnSpPr>
          <p:nvPr/>
        </p:nvCxnSpPr>
        <p:spPr>
          <a:xfrm flipV="1">
            <a:off x="3086100" y="1892074"/>
            <a:ext cx="1681843" cy="383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4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CF9B8174-CEA9-F1B2-4548-56A2C8E6D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4852364" y="1470643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4C32899E-F200-2435-88DF-3E85E42165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4852364" y="2232452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A2690D93-C277-D802-5F53-4AF10298F3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4852364" y="3134896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C01EF32-A720-C92A-1F97-364CDD3DB410}"/>
              </a:ext>
            </a:extLst>
          </p:cNvPr>
          <p:cNvSpPr txBox="1"/>
          <p:nvPr/>
        </p:nvSpPr>
        <p:spPr>
          <a:xfrm>
            <a:off x="5442858" y="4378197"/>
            <a:ext cx="794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CN II</a:t>
            </a:r>
          </a:p>
        </p:txBody>
      </p:sp>
      <p:pic>
        <p:nvPicPr>
          <p:cNvPr id="17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6F73891C-7137-5842-DF84-C17898D8C3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7546465" y="1470643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04E09E6D-F67B-7666-4174-FC32306720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7546465" y="2232452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0D947360-DA34-25B4-9A74-5CDDC34B4C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7546465" y="3134896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EF6673E-E6A7-214A-6EBC-22F1FF10F7B1}"/>
              </a:ext>
            </a:extLst>
          </p:cNvPr>
          <p:cNvCxnSpPr>
            <a:stCxn id="8194" idx="3"/>
            <a:endCxn id="17" idx="1"/>
          </p:cNvCxnSpPr>
          <p:nvPr/>
        </p:nvCxnSpPr>
        <p:spPr>
          <a:xfrm>
            <a:off x="6708038" y="1982902"/>
            <a:ext cx="838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0A879F9-CEE1-11C9-77DA-9FB8F957C6A7}"/>
              </a:ext>
            </a:extLst>
          </p:cNvPr>
          <p:cNvCxnSpPr/>
          <p:nvPr/>
        </p:nvCxnSpPr>
        <p:spPr>
          <a:xfrm>
            <a:off x="6708038" y="2723131"/>
            <a:ext cx="838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F12FAE8-8C84-3269-89C5-71633DCC7824}"/>
              </a:ext>
            </a:extLst>
          </p:cNvPr>
          <p:cNvCxnSpPr/>
          <p:nvPr/>
        </p:nvCxnSpPr>
        <p:spPr>
          <a:xfrm>
            <a:off x="6708038" y="3615760"/>
            <a:ext cx="838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ADC0BC9D-74DF-1D95-AADC-A5FF2C81B0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10240566" y="2251062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A8C147A-2CA0-82FF-E8BC-3D2DDCB2B90A}"/>
              </a:ext>
            </a:extLst>
          </p:cNvPr>
          <p:cNvCxnSpPr>
            <a:cxnSpLocks/>
          </p:cNvCxnSpPr>
          <p:nvPr/>
        </p:nvCxnSpPr>
        <p:spPr>
          <a:xfrm>
            <a:off x="9592752" y="1982901"/>
            <a:ext cx="647814" cy="292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BD5D0E5-3E27-8135-5D4F-11AC88C43142}"/>
              </a:ext>
            </a:extLst>
          </p:cNvPr>
          <p:cNvCxnSpPr/>
          <p:nvPr/>
        </p:nvCxnSpPr>
        <p:spPr>
          <a:xfrm>
            <a:off x="9429240" y="2723131"/>
            <a:ext cx="838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5EDE5C8-BADF-8E50-08D2-AD37D31DE6DE}"/>
              </a:ext>
            </a:extLst>
          </p:cNvPr>
          <p:cNvCxnSpPr>
            <a:cxnSpLocks/>
          </p:cNvCxnSpPr>
          <p:nvPr/>
        </p:nvCxnSpPr>
        <p:spPr>
          <a:xfrm flipV="1">
            <a:off x="9429240" y="3102428"/>
            <a:ext cx="727131" cy="326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C4095644-9770-7699-B832-7F9C80208AEA}"/>
              </a:ext>
            </a:extLst>
          </p:cNvPr>
          <p:cNvSpPr txBox="1"/>
          <p:nvPr/>
        </p:nvSpPr>
        <p:spPr>
          <a:xfrm>
            <a:off x="7426496" y="4281296"/>
            <a:ext cx="2002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Lateral Geniculate Nucleus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F58001-FEAA-8A60-8EB3-DB5F886D7959}"/>
              </a:ext>
            </a:extLst>
          </p:cNvPr>
          <p:cNvSpPr txBox="1"/>
          <p:nvPr/>
        </p:nvSpPr>
        <p:spPr>
          <a:xfrm>
            <a:off x="2762760" y="4415526"/>
            <a:ext cx="2364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Retinal photodetectors</a:t>
            </a:r>
          </a:p>
        </p:txBody>
      </p:sp>
      <p:sp>
        <p:nvSpPr>
          <p:cNvPr id="8192" name="TextBox 8191">
            <a:extLst>
              <a:ext uri="{FF2B5EF4-FFF2-40B4-BE49-F238E27FC236}">
                <a16:creationId xmlns:a16="http://schemas.microsoft.com/office/drawing/2014/main" id="{2D7C1E0F-EFB3-9404-DF47-160E49507BA0}"/>
              </a:ext>
            </a:extLst>
          </p:cNvPr>
          <p:cNvSpPr txBox="1"/>
          <p:nvPr/>
        </p:nvSpPr>
        <p:spPr>
          <a:xfrm>
            <a:off x="10352428" y="4314833"/>
            <a:ext cx="2002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cortex “simple neuron”</a:t>
            </a:r>
          </a:p>
        </p:txBody>
      </p:sp>
    </p:spTree>
    <p:extLst>
      <p:ext uri="{BB962C8B-B14F-4D97-AF65-F5344CB8AC3E}">
        <p14:creationId xmlns:p14="http://schemas.microsoft.com/office/powerpoint/2010/main" val="1943987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9A5F4-EBED-45A1-8729-E45EBBA13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C8CA2-B5C0-1951-5348-059F819E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Hubel &amp; Wiesel 1981 Nobel Prize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1AD6F4-EBFD-008C-4F48-57ABEC4AB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5620048"/>
            <a:ext cx="11974286" cy="8793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Complex neurons: Less predictable effect </a:t>
            </a:r>
            <a:r>
              <a:rPr lang="en-US" dirty="0" err="1"/>
              <a:t>w.r.t.</a:t>
            </a:r>
            <a:r>
              <a:rPr lang="en-US" dirty="0"/>
              <a:t> light intensity and position</a:t>
            </a:r>
          </a:p>
          <a:p>
            <a:r>
              <a:rPr lang="en-US" dirty="0"/>
              <a:t>Some noted to pick up certain position of line from any region </a:t>
            </a:r>
          </a:p>
          <a:p>
            <a:endParaRPr lang="en-US" dirty="0"/>
          </a:p>
        </p:txBody>
      </p:sp>
      <p:pic>
        <p:nvPicPr>
          <p:cNvPr id="24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CB389BF5-335C-3A63-4EB1-125F837375A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1023597" y="1518949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2" name="TextBox 8191">
            <a:extLst>
              <a:ext uri="{FF2B5EF4-FFF2-40B4-BE49-F238E27FC236}">
                <a16:creationId xmlns:a16="http://schemas.microsoft.com/office/drawing/2014/main" id="{0CB3E2D0-AB38-4CB7-EC3A-CD70B4ADEA31}"/>
              </a:ext>
            </a:extLst>
          </p:cNvPr>
          <p:cNvSpPr txBox="1"/>
          <p:nvPr/>
        </p:nvSpPr>
        <p:spPr>
          <a:xfrm>
            <a:off x="950062" y="4761147"/>
            <a:ext cx="2002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cortex “simple neurons”</a:t>
            </a:r>
          </a:p>
        </p:txBody>
      </p:sp>
      <p:pic>
        <p:nvPicPr>
          <p:cNvPr id="5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F1627123-5DCB-9C26-0E74-0223D1D9D5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950062" y="2567478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4140A06B-2E78-2E9C-5A9E-674EAA04BC2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950062" y="3688606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395F01E8-2040-85A0-53E6-C0FB3867FF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3927361" y="2664089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83D4AE9-5A31-EDA6-2BB6-027783356C2A}"/>
              </a:ext>
            </a:extLst>
          </p:cNvPr>
          <p:cNvCxnSpPr>
            <a:cxnSpLocks/>
          </p:cNvCxnSpPr>
          <p:nvPr/>
        </p:nvCxnSpPr>
        <p:spPr>
          <a:xfrm>
            <a:off x="3279547" y="2395928"/>
            <a:ext cx="647814" cy="2922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5FCC89-BFDC-B08C-BC82-3964B7102CCF}"/>
              </a:ext>
            </a:extLst>
          </p:cNvPr>
          <p:cNvCxnSpPr/>
          <p:nvPr/>
        </p:nvCxnSpPr>
        <p:spPr>
          <a:xfrm>
            <a:off x="3116035" y="3136158"/>
            <a:ext cx="8384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6F18C8-8A8E-DCD3-1927-9888C8887485}"/>
              </a:ext>
            </a:extLst>
          </p:cNvPr>
          <p:cNvCxnSpPr>
            <a:cxnSpLocks/>
          </p:cNvCxnSpPr>
          <p:nvPr/>
        </p:nvCxnSpPr>
        <p:spPr>
          <a:xfrm flipV="1">
            <a:off x="3116035" y="3515455"/>
            <a:ext cx="727131" cy="326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F1AF04F-0A76-83CB-0F72-96DDB08C6F2E}"/>
              </a:ext>
            </a:extLst>
          </p:cNvPr>
          <p:cNvSpPr txBox="1"/>
          <p:nvPr/>
        </p:nvSpPr>
        <p:spPr>
          <a:xfrm>
            <a:off x="3954462" y="4761147"/>
            <a:ext cx="22177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Visual cortex “complex neurons”</a:t>
            </a:r>
          </a:p>
        </p:txBody>
      </p:sp>
      <p:pic>
        <p:nvPicPr>
          <p:cNvPr id="26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2C147B45-52C2-270A-6492-A1617F24A6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6681447" y="2734800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0DCE22C-2596-F116-1805-1B68F79BC769}"/>
              </a:ext>
            </a:extLst>
          </p:cNvPr>
          <p:cNvCxnSpPr>
            <a:cxnSpLocks/>
          </p:cNvCxnSpPr>
          <p:nvPr/>
        </p:nvCxnSpPr>
        <p:spPr>
          <a:xfrm>
            <a:off x="5830660" y="3240359"/>
            <a:ext cx="7483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5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CCAF5060-06FE-694E-7FC5-DCF0F349AE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5277020" y="1314796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96" name="Straight Arrow Connector 8195">
            <a:extLst>
              <a:ext uri="{FF2B5EF4-FFF2-40B4-BE49-F238E27FC236}">
                <a16:creationId xmlns:a16="http://schemas.microsoft.com/office/drawing/2014/main" id="{C1624F05-BE74-894E-81E9-B420F9854FC2}"/>
              </a:ext>
            </a:extLst>
          </p:cNvPr>
          <p:cNvCxnSpPr>
            <a:cxnSpLocks/>
          </p:cNvCxnSpPr>
          <p:nvPr/>
        </p:nvCxnSpPr>
        <p:spPr>
          <a:xfrm>
            <a:off x="6484880" y="2255979"/>
            <a:ext cx="547291" cy="335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198" name="Picture 2" descr="2+ Thousand Neuron Cartoon Royalty-Free Images, Stock Photos &amp; Pictures |  Shutterstock">
            <a:extLst>
              <a:ext uri="{FF2B5EF4-FFF2-40B4-BE49-F238E27FC236}">
                <a16:creationId xmlns:a16="http://schemas.microsoft.com/office/drawing/2014/main" id="{6BA29CDD-4F9D-F1CC-9C6F-C63236D7A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734"/>
          <a:stretch>
            <a:fillRect/>
          </a:stretch>
        </p:blipFill>
        <p:spPr bwMode="auto">
          <a:xfrm>
            <a:off x="5871197" y="3946905"/>
            <a:ext cx="1855674" cy="1024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199" name="Straight Arrow Connector 8198">
            <a:extLst>
              <a:ext uri="{FF2B5EF4-FFF2-40B4-BE49-F238E27FC236}">
                <a16:creationId xmlns:a16="http://schemas.microsoft.com/office/drawing/2014/main" id="{3BB6FA4A-9B46-1A22-F345-E4F342D18709}"/>
              </a:ext>
            </a:extLst>
          </p:cNvPr>
          <p:cNvCxnSpPr>
            <a:cxnSpLocks/>
          </p:cNvCxnSpPr>
          <p:nvPr/>
        </p:nvCxnSpPr>
        <p:spPr>
          <a:xfrm flipV="1">
            <a:off x="6758525" y="3757058"/>
            <a:ext cx="727131" cy="3265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4909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528F-1523-439B-316A-66923696D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 Neuron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2DFC6-98D3-C13F-7F14-6EC89E59F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21632"/>
          </a:xfrm>
        </p:spPr>
        <p:txBody>
          <a:bodyPr/>
          <a:lstStyle/>
          <a:p>
            <a:r>
              <a:rPr lang="en-US" dirty="0"/>
              <a:t>Neuron found that corresponds to Halle Berry – and others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D05A4-3E37-5C62-B93D-24B190E65405}"/>
              </a:ext>
            </a:extLst>
          </p:cNvPr>
          <p:cNvSpPr txBox="1"/>
          <p:nvPr/>
        </p:nvSpPr>
        <p:spPr>
          <a:xfrm>
            <a:off x="8425542" y="5332162"/>
            <a:ext cx="4082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Quiroga, R., Reddy, L., Kreiman, G. </a:t>
            </a:r>
            <a:r>
              <a:rPr lang="en-US" i="1" dirty="0"/>
              <a:t>et al.</a:t>
            </a:r>
            <a:r>
              <a:rPr lang="en-US" dirty="0"/>
              <a:t> Invariant visual representation by single neurons in the human brain. </a:t>
            </a:r>
            <a:r>
              <a:rPr lang="en-US" i="1" dirty="0"/>
              <a:t>Nature</a:t>
            </a:r>
            <a:r>
              <a:rPr lang="en-US" dirty="0"/>
              <a:t> </a:t>
            </a:r>
            <a:r>
              <a:rPr lang="en-US" b="1" dirty="0"/>
              <a:t>435</a:t>
            </a:r>
            <a:r>
              <a:rPr lang="en-US" dirty="0"/>
              <a:t>, 1102–1107 (2005). https://doi.org/10.1038/nature03687</a:t>
            </a:r>
          </a:p>
        </p:txBody>
      </p:sp>
      <p:pic>
        <p:nvPicPr>
          <p:cNvPr id="9218" name="Picture 2" descr="Halle Berry and How Your Brain Works, According to Science - Business  Insider">
            <a:extLst>
              <a:ext uri="{FF2B5EF4-FFF2-40B4-BE49-F238E27FC236}">
                <a16:creationId xmlns:a16="http://schemas.microsoft.com/office/drawing/2014/main" id="{F1F2A349-8278-CE2C-9D52-5F213FF21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5542" y="2547257"/>
            <a:ext cx="3573236" cy="2383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CF2F97-A520-CB1B-0C69-8D691C935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292" y="2547257"/>
            <a:ext cx="8096250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586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6CB8-9984-729C-DA53-79D232BA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48EF0-D6E6-7FA1-1FAB-8D300B06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operations going on that we need:</a:t>
            </a:r>
          </a:p>
          <a:p>
            <a:pPr lvl="1"/>
            <a:r>
              <a:rPr lang="en-US" b="1" dirty="0"/>
              <a:t>Spatial locality: </a:t>
            </a:r>
            <a:r>
              <a:rPr lang="en-US" dirty="0"/>
              <a:t>Linear combination of spatial region</a:t>
            </a:r>
          </a:p>
          <a:p>
            <a:pPr lvl="1"/>
            <a:r>
              <a:rPr lang="en-US" b="1" dirty="0"/>
              <a:t>Translation invariance: </a:t>
            </a:r>
            <a:r>
              <a:rPr lang="en-US" dirty="0"/>
              <a:t>Location irrespective recognition of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8704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A49F7-9B9B-637E-9BE1-6047799EC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57ADA-6942-4D9F-EBF0-9211E3C556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Accounts for </a:t>
            </a:r>
            <a:r>
              <a:rPr lang="en-US" b="1" dirty="0"/>
              <a:t>spatial locality</a:t>
            </a:r>
            <a:endParaRPr lang="en-US" dirty="0"/>
          </a:p>
          <a:p>
            <a:r>
              <a:rPr lang="en-US" dirty="0"/>
              <a:t>Moving matrix (kernel) across the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FC44DD-EF72-F62C-FB7F-250C6B7D7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14" y="3429000"/>
            <a:ext cx="9717344" cy="295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09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68057-74C1-DFF8-D3EB-F60861F0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515B-702B-8EBB-27C5-FA738925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4A4CC-B4C9-954D-A77A-EDED0D2BDA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en-US" dirty="0"/>
              <a:t>Accounts for </a:t>
            </a:r>
            <a:r>
              <a:rPr lang="en-US" b="1" dirty="0"/>
              <a:t>spatial locality</a:t>
            </a:r>
            <a:endParaRPr lang="en-US" dirty="0"/>
          </a:p>
          <a:p>
            <a:r>
              <a:rPr lang="en-US" dirty="0"/>
              <a:t>Moving matrix across the image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BE940-DDB1-4F1A-4CE1-46D5770822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4672"/>
          <a:stretch>
            <a:fillRect/>
          </a:stretch>
        </p:blipFill>
        <p:spPr>
          <a:xfrm>
            <a:off x="1364314" y="3429000"/>
            <a:ext cx="9717344" cy="1045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1A097F-2837-80A9-0353-B85A83EE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628" y="3979653"/>
            <a:ext cx="5970154" cy="190314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1B6EBFF-B290-B985-E3F2-3433812A5374}"/>
              </a:ext>
            </a:extLst>
          </p:cNvPr>
          <p:cNvSpPr/>
          <p:nvPr/>
        </p:nvSpPr>
        <p:spPr>
          <a:xfrm>
            <a:off x="5334000" y="5453743"/>
            <a:ext cx="402771" cy="28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38D94-07DE-6059-4D24-BAF974B56982}"/>
              </a:ext>
            </a:extLst>
          </p:cNvPr>
          <p:cNvSpPr/>
          <p:nvPr/>
        </p:nvSpPr>
        <p:spPr>
          <a:xfrm>
            <a:off x="5831100" y="5442857"/>
            <a:ext cx="402771" cy="28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5E9151-CC3F-5B48-0BC7-B3CFF34FA7E5}"/>
              </a:ext>
            </a:extLst>
          </p:cNvPr>
          <p:cNvSpPr/>
          <p:nvPr/>
        </p:nvSpPr>
        <p:spPr>
          <a:xfrm>
            <a:off x="6302831" y="5453743"/>
            <a:ext cx="402771" cy="2830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25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0FE3-009A-D3CB-2BAA-4DD017B82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to 2D</a:t>
            </a:r>
          </a:p>
        </p:txBody>
      </p:sp>
      <p:pic>
        <p:nvPicPr>
          <p:cNvPr id="3074" name="Picture 2" descr="Basics of CNN in Deep Learning - Analytics Vidhya">
            <a:extLst>
              <a:ext uri="{FF2B5EF4-FFF2-40B4-BE49-F238E27FC236}">
                <a16:creationId xmlns:a16="http://schemas.microsoft.com/office/drawing/2014/main" id="{07BA1CA2-A28B-AB69-EB85-6B7136A277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477" y="1607967"/>
            <a:ext cx="8721046" cy="4360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050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ED6AB-3FED-B697-A23C-644E764A9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CNN Weights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829E2-5B13-8B72-AE1C-C2E5F1966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Improved toward lower loss via gradient descent/backprop</a:t>
            </a:r>
          </a:p>
          <a:p>
            <a:r>
              <a:rPr lang="en-US" dirty="0"/>
              <a:t>Shared – every group of pixels gets same kernel</a:t>
            </a:r>
          </a:p>
          <a:p>
            <a:r>
              <a:rPr lang="en-US" dirty="0"/>
              <a:t>Each filter learns to extract some critical info from an image.</a:t>
            </a:r>
          </a:p>
        </p:txBody>
      </p:sp>
    </p:spTree>
    <p:extLst>
      <p:ext uri="{BB962C8B-B14F-4D97-AF65-F5344CB8AC3E}">
        <p14:creationId xmlns:p14="http://schemas.microsoft.com/office/powerpoint/2010/main" val="3900454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AFF3E-C46B-D8D9-28A8-A574D34E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Filters: Top Edge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474A77-5BC5-BA7F-A32E-4F66A8622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568562"/>
            <a:ext cx="9590314" cy="5195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3DBEE8-F33E-BB16-846A-1FE9ED39D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6676" y="1854738"/>
            <a:ext cx="1946346" cy="217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385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345C-0712-1674-6668-DBEF72E4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3E3BC-5C9B-20B2-9973-DFB361E5D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Filters: Left Edge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99C0D8-9172-9413-201D-93C2154E5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78" y="1361750"/>
            <a:ext cx="9930243" cy="53319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CB95E7-0449-E6F2-032F-B902767D0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0061" y="1361750"/>
            <a:ext cx="1852961" cy="20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3363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BCAFF-CF19-7F2D-A83C-EF89EE6E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D58A0-02C5-58FC-72DD-4EFF55E3F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Filters: Smooth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1AD3E-4B38-C9FA-E392-899736710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886" y="1570845"/>
            <a:ext cx="9901083" cy="47179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B2808-FCE3-902E-537B-C354AD8DEC8B}"/>
                  </a:ext>
                </a:extLst>
              </p:cNvPr>
              <p:cNvSpPr txBox="1"/>
              <p:nvPr/>
            </p:nvSpPr>
            <p:spPr>
              <a:xfrm>
                <a:off x="10308771" y="1585033"/>
                <a:ext cx="1491343" cy="12497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Filter: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1/9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8EB2808-FCE3-902E-537B-C354AD8DEC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8771" y="1585033"/>
                <a:ext cx="1491343" cy="1249701"/>
              </a:xfrm>
              <a:prstGeom prst="rect">
                <a:avLst/>
              </a:prstGeom>
              <a:blipFill>
                <a:blip r:embed="rId3"/>
                <a:stretch>
                  <a:fillRect l="-3265" t="-1951" r="-2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11760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7651F-0D2A-2C8A-1264-8B5930838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74C6F-4925-434C-4986-3753D7B11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Filters: Sharpen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F4617-4FD4-F0AE-45F5-3B431B555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295" y="1265748"/>
            <a:ext cx="2876951" cy="1638529"/>
          </a:xfrm>
          <a:prstGeom prst="rect">
            <a:avLst/>
          </a:prstGeom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4583B106-24A3-FA60-450E-1E9A8BECD9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650" y="1690688"/>
            <a:ext cx="3749788" cy="4931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88955D1-1087-D6B9-0271-2337829E393F}"/>
              </a:ext>
            </a:extLst>
          </p:cNvPr>
          <p:cNvSpPr txBox="1"/>
          <p:nvPr/>
        </p:nvSpPr>
        <p:spPr>
          <a:xfrm>
            <a:off x="8719457" y="2945564"/>
            <a:ext cx="27323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Emphasizes details that are different than surroundings</a:t>
            </a:r>
          </a:p>
        </p:txBody>
      </p:sp>
    </p:spTree>
    <p:extLst>
      <p:ext uri="{BB962C8B-B14F-4D97-AF65-F5344CB8AC3E}">
        <p14:creationId xmlns:p14="http://schemas.microsoft.com/office/powerpoint/2010/main" val="2729981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0C772A9-79EF-019F-F7B8-5F5A0CE51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"/>
            <a:ext cx="12236401" cy="57118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BBB4C0-1C12-5D80-429B-B1D4F7355FC1}"/>
              </a:ext>
            </a:extLst>
          </p:cNvPr>
          <p:cNvSpPr txBox="1"/>
          <p:nvPr/>
        </p:nvSpPr>
        <p:spPr>
          <a:xfrm>
            <a:off x="-1" y="5837129"/>
            <a:ext cx="1268886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Convolution kernels learned by the ﬁrst layer of a fully supervised convolutional </a:t>
            </a:r>
            <a:r>
              <a:rPr lang="en-US" sz="2800" dirty="0" err="1"/>
              <a:t>maxout</a:t>
            </a:r>
            <a:r>
              <a:rPr lang="en-US" sz="2800" dirty="0"/>
              <a:t>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5864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1FC64-8C53-EF74-4BE0-735EADD4C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Pooling Operation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032B5-B0B2-DE40-C05D-3B04A5FB0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Accounts for </a:t>
            </a:r>
            <a:r>
              <a:rPr lang="en-US" b="1" dirty="0"/>
              <a:t>Translation Invariance </a:t>
            </a:r>
            <a:r>
              <a:rPr lang="en-US" dirty="0"/>
              <a:t>when combined with convolution</a:t>
            </a:r>
          </a:p>
          <a:p>
            <a:r>
              <a:rPr lang="en-US" dirty="0"/>
              <a:t>Takes the maximum value in each field</a:t>
            </a:r>
          </a:p>
        </p:txBody>
      </p:sp>
      <p:pic>
        <p:nvPicPr>
          <p:cNvPr id="5122" name="Picture 2" descr="Max Pooling Layer | NumPyNet">
            <a:extLst>
              <a:ext uri="{FF2B5EF4-FFF2-40B4-BE49-F238E27FC236}">
                <a16:creationId xmlns:a16="http://schemas.microsoft.com/office/drawing/2014/main" id="{9C8B037D-BA74-5DF8-0431-3D5BF844A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3406775"/>
            <a:ext cx="6934200" cy="3086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2337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10FA1-D07C-71E4-2C93-634F07246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Pooling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4F9723-62A8-4DD1-84AD-3D909FE0E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285" y="1503024"/>
            <a:ext cx="9579429" cy="517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9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FE45-B763-DC75-8CCA-16BFDE2A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Multi-Filter Parallelization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748184A2-8185-0925-72F2-F4904AF04D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90744"/>
            <a:ext cx="12192000" cy="402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6AE7019B-A238-CD81-B35B-40DF8C991B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203" r="20472"/>
          <a:stretch>
            <a:fillRect/>
          </a:stretch>
        </p:blipFill>
        <p:spPr bwMode="auto">
          <a:xfrm>
            <a:off x="8485339" y="4262766"/>
            <a:ext cx="3439439" cy="2651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6521DE-35A5-120F-30C6-F6FE2324EA19}"/>
              </a:ext>
            </a:extLst>
          </p:cNvPr>
          <p:cNvSpPr txBox="1"/>
          <p:nvPr/>
        </p:nvSpPr>
        <p:spPr>
          <a:xfrm>
            <a:off x="838200" y="5511452"/>
            <a:ext cx="71534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Cross channel pool: pooling across filters @ same spatial location</a:t>
            </a:r>
          </a:p>
        </p:txBody>
      </p:sp>
    </p:spTree>
    <p:extLst>
      <p:ext uri="{BB962C8B-B14F-4D97-AF65-F5344CB8AC3E}">
        <p14:creationId xmlns:p14="http://schemas.microsoft.com/office/powerpoint/2010/main" val="40784894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C7057-0E6A-C76D-A188-67CABC2F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Convolutional Neural Network (CNN)</a:t>
            </a: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9CC8DBBA-9FC4-5F4F-B10B-E8A201C92A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69198"/>
            <a:ext cx="12192000" cy="266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2" name="Picture 4" descr="Brainsci 12 00470 g003 550">
            <a:extLst>
              <a:ext uri="{FF2B5EF4-FFF2-40B4-BE49-F238E27FC236}">
                <a16:creationId xmlns:a16="http://schemas.microsoft.com/office/drawing/2014/main" id="{E244F606-609B-C69E-90BF-C6068B20F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5101" y="3905977"/>
            <a:ext cx="3640899" cy="266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58226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B013A-E445-15A7-470C-37F41746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F3B1C-13DF-1E0D-1CF3-30C3A2C9B7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Spatial locality: </a:t>
            </a:r>
            <a:r>
              <a:rPr lang="en-US" dirty="0"/>
              <a:t>matrix kernel convolution</a:t>
            </a:r>
          </a:p>
          <a:p>
            <a:r>
              <a:rPr lang="en-US" b="1" dirty="0"/>
              <a:t>Translation invariance: </a:t>
            </a:r>
            <a:r>
              <a:rPr lang="en-US" dirty="0"/>
              <a:t>max pool/cross-channel pool</a:t>
            </a:r>
            <a:endParaRPr lang="en-US" b="1" dirty="0"/>
          </a:p>
        </p:txBody>
      </p:sp>
      <p:pic>
        <p:nvPicPr>
          <p:cNvPr id="13316" name="Picture 4" descr="What Is a Convolutional Neural Network? - MATLAB &amp; Simulink">
            <a:extLst>
              <a:ext uri="{FF2B5EF4-FFF2-40B4-BE49-F238E27FC236}">
                <a16:creationId xmlns:a16="http://schemas.microsoft.com/office/drawing/2014/main" id="{167C9EB6-8583-0C11-64FD-721EF6F1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82" y="3212430"/>
            <a:ext cx="9525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33EFD0-FF48-319A-996F-A4E2CB84DE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7940" y="365125"/>
            <a:ext cx="2851719" cy="473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706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66F9-8129-2124-9F62-D1EB5AEEF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to Medical Imaging</a:t>
            </a:r>
          </a:p>
        </p:txBody>
      </p:sp>
      <p:pic>
        <p:nvPicPr>
          <p:cNvPr id="14338" name="Picture 2" descr="CXAI: Explaining Convolutional Neural Networks for Medical Imaging  Diagnostic">
            <a:extLst>
              <a:ext uri="{FF2B5EF4-FFF2-40B4-BE49-F238E27FC236}">
                <a16:creationId xmlns:a16="http://schemas.microsoft.com/office/drawing/2014/main" id="{B4DCE559-25C9-45F8-66C7-1E934F4555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8275"/>
            <a:ext cx="12192000" cy="541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4165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D2D8B-A464-9187-CD6F-2755FDBAB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F0A70-B73C-49DF-CBC9-DB95083A1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Applied to Medical Imaging</a:t>
            </a:r>
          </a:p>
        </p:txBody>
      </p:sp>
      <p:pic>
        <p:nvPicPr>
          <p:cNvPr id="15362" name="Picture 2" descr="Multi-level dilated residual network for biomedical image segmentation |  Scientific Reports">
            <a:extLst>
              <a:ext uri="{FF2B5EF4-FFF2-40B4-BE49-F238E27FC236}">
                <a16:creationId xmlns:a16="http://schemas.microsoft.com/office/drawing/2014/main" id="{55FCB4B9-7E17-8AC1-ACEE-C0638CC9B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09" y="1232388"/>
            <a:ext cx="12091791" cy="5768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8028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AD7EE-8E9F-4A84-DABC-5E194CFD8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60969"/>
            <a:ext cx="10515600" cy="1325563"/>
          </a:xfrm>
        </p:spPr>
        <p:txBody>
          <a:bodyPr/>
          <a:lstStyle/>
          <a:p>
            <a:r>
              <a:rPr lang="en-US" dirty="0"/>
              <a:t>U-Net</a:t>
            </a:r>
          </a:p>
        </p:txBody>
      </p:sp>
      <p:pic>
        <p:nvPicPr>
          <p:cNvPr id="16386" name="Picture 2" descr="Frontiers | MSU-Net: Multi-Scale U-Net for 2D Medical Image Segmentation">
            <a:extLst>
              <a:ext uri="{FF2B5EF4-FFF2-40B4-BE49-F238E27FC236}">
                <a16:creationId xmlns:a16="http://schemas.microsoft.com/office/drawing/2014/main" id="{B83ECCF0-0E99-C086-01F9-17795D4F4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1059"/>
            <a:ext cx="12078533" cy="37327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51C347D-ECE9-E91A-A0D3-B504D9F1B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054" y="4669033"/>
            <a:ext cx="11625197" cy="2395646"/>
          </a:xfrm>
        </p:spPr>
        <p:txBody>
          <a:bodyPr>
            <a:normAutofit/>
          </a:bodyPr>
          <a:lstStyle/>
          <a:p>
            <a:r>
              <a:rPr lang="en-US" dirty="0"/>
              <a:t>CNN variant which extracts features, then reapplies them to form a segmentation mask</a:t>
            </a:r>
          </a:p>
          <a:p>
            <a:r>
              <a:rPr lang="en-US" dirty="0"/>
              <a:t> Skip connections fight loss of high-level features during max pool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294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AA934-53E9-9F60-A319-06EE2FD1C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Segmentation Accuracy Metrics</a:t>
            </a:r>
          </a:p>
        </p:txBody>
      </p:sp>
      <p:pic>
        <p:nvPicPr>
          <p:cNvPr id="18434" name="Picture 2" descr="image segmentation - neural network probability output and loss function  (example: dice loss) - Data Science Stack Exchange">
            <a:extLst>
              <a:ext uri="{FF2B5EF4-FFF2-40B4-BE49-F238E27FC236}">
                <a16:creationId xmlns:a16="http://schemas.microsoft.com/office/drawing/2014/main" id="{0BAE11B0-85FA-E9EE-9D13-A1DB87046D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60" y="2129435"/>
            <a:ext cx="664845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6" name="Picture 4" descr="Hausdorff distance - Wikipedia">
            <a:extLst>
              <a:ext uri="{FF2B5EF4-FFF2-40B4-BE49-F238E27FC236}">
                <a16:creationId xmlns:a16="http://schemas.microsoft.com/office/drawing/2014/main" id="{E82D5D5C-7926-A991-ABB8-3DC027DFE8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8367" y="2110515"/>
            <a:ext cx="3562220" cy="3562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52E091-F3C2-1B9B-5437-2EB13C125BE9}"/>
              </a:ext>
            </a:extLst>
          </p:cNvPr>
          <p:cNvSpPr txBox="1"/>
          <p:nvPr/>
        </p:nvSpPr>
        <p:spPr>
          <a:xfrm>
            <a:off x="2582449" y="5672735"/>
            <a:ext cx="4743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Dice Score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52A072-25A1-D9F6-5AFD-3422066993FB}"/>
              </a:ext>
            </a:extLst>
          </p:cNvPr>
          <p:cNvSpPr txBox="1"/>
          <p:nvPr/>
        </p:nvSpPr>
        <p:spPr>
          <a:xfrm>
            <a:off x="7548367" y="5672735"/>
            <a:ext cx="47431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Hausdorff</a:t>
            </a:r>
            <a:r>
              <a:rPr lang="en-US" sz="2800" dirty="0"/>
              <a:t> Distance</a:t>
            </a:r>
          </a:p>
        </p:txBody>
      </p:sp>
    </p:spTree>
    <p:extLst>
      <p:ext uri="{BB962C8B-B14F-4D97-AF65-F5344CB8AC3E}">
        <p14:creationId xmlns:p14="http://schemas.microsoft.com/office/powerpoint/2010/main" val="161218658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ECAD-7B77-B05D-39D4-B5D29D69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34" y="177235"/>
            <a:ext cx="10823532" cy="1325563"/>
          </a:xfrm>
        </p:spPr>
        <p:txBody>
          <a:bodyPr/>
          <a:lstStyle/>
          <a:p>
            <a:r>
              <a:rPr lang="en-US" dirty="0"/>
              <a:t>Gradient Class Activation Mapping (</a:t>
            </a:r>
            <a:r>
              <a:rPr lang="en-US" dirty="0" err="1"/>
              <a:t>GradCAM</a:t>
            </a:r>
            <a:r>
              <a:rPr lang="en-US" dirty="0"/>
              <a:t>)</a:t>
            </a:r>
          </a:p>
        </p:txBody>
      </p:sp>
      <p:pic>
        <p:nvPicPr>
          <p:cNvPr id="17410" name="Picture 2" descr="GradCAM: Enhancing Neural Network Interpretability">
            <a:extLst>
              <a:ext uri="{FF2B5EF4-FFF2-40B4-BE49-F238E27FC236}">
                <a16:creationId xmlns:a16="http://schemas.microsoft.com/office/drawing/2014/main" id="{2627BDE4-DCF5-706B-9161-B0C6A8818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68" y="1394354"/>
            <a:ext cx="3991497" cy="5463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What is the Grad CAM method?">
            <a:extLst>
              <a:ext uri="{FF2B5EF4-FFF2-40B4-BE49-F238E27FC236}">
                <a16:creationId xmlns:a16="http://schemas.microsoft.com/office/drawing/2014/main" id="{96DF8213-4F8B-1A79-893D-EACBE0BA29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731" y="1127017"/>
            <a:ext cx="7272552" cy="2806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GradCAM: Enhancing Neural Network Interpretability">
            <a:extLst>
              <a:ext uri="{FF2B5EF4-FFF2-40B4-BE49-F238E27FC236}">
                <a16:creationId xmlns:a16="http://schemas.microsoft.com/office/drawing/2014/main" id="{5BAB82D9-7DB1-4BA3-BD81-055E7F0F8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2193" y="3877542"/>
            <a:ext cx="6242137" cy="298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2905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32F531E-3AE9-0829-FFC2-F4A9940D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Radiology Workflow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47A8E8-44F8-F49C-68E8-1817DA797D4A}"/>
              </a:ext>
            </a:extLst>
          </p:cNvPr>
          <p:cNvSpPr txBox="1"/>
          <p:nvPr/>
        </p:nvSpPr>
        <p:spPr>
          <a:xfrm>
            <a:off x="5523979" y="3757808"/>
            <a:ext cx="185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+Protocol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FE7C37-197F-2B7D-BC09-D16B31966240}"/>
              </a:ext>
            </a:extLst>
          </p:cNvPr>
          <p:cNvSpPr txBox="1"/>
          <p:nvPr/>
        </p:nvSpPr>
        <p:spPr>
          <a:xfrm>
            <a:off x="7392445" y="3850894"/>
            <a:ext cx="1853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+Processing</a:t>
            </a: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33DD578F-A3E1-065C-EF88-240FC73597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82981"/>
            <a:ext cx="10387991" cy="5775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75943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66C2-D8F2-69DB-E395-B7E74A3A3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346C3-F066-0C43-6327-77530A37F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patient’s clinical indication, history, labs, previous images, allergies/contraindications, etc., decide which imaging exam + which parameters to order</a:t>
            </a:r>
          </a:p>
          <a:p>
            <a:pPr lvl="1"/>
            <a:r>
              <a:rPr lang="en-US" dirty="0"/>
              <a:t>Contrast v </a:t>
            </a:r>
            <a:r>
              <a:rPr lang="en-US" dirty="0" err="1"/>
              <a:t>noncontrast</a:t>
            </a:r>
            <a:endParaRPr lang="en-US" dirty="0"/>
          </a:p>
          <a:p>
            <a:pPr lvl="1"/>
            <a:r>
              <a:rPr lang="en-US" dirty="0"/>
              <a:t>Contrast phase</a:t>
            </a:r>
          </a:p>
          <a:p>
            <a:pPr lvl="1"/>
            <a:r>
              <a:rPr lang="en-US" dirty="0"/>
              <a:t>MRI sequences</a:t>
            </a:r>
          </a:p>
          <a:p>
            <a:pPr lvl="1"/>
            <a:r>
              <a:rPr lang="en-US" dirty="0"/>
              <a:t>Field of 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3115A8-EBA0-7705-0B79-AA9B815F6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926" y="3135241"/>
            <a:ext cx="6693074" cy="329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2692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FE460-64EF-3E18-E0C8-699CEF73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Acquisition/Reconstruction: </a:t>
            </a:r>
            <a:r>
              <a:rPr lang="en-US" dirty="0" err="1"/>
              <a:t>FastMRI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FB8FC0-DEA4-61D1-7590-4A5DE036C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55361"/>
          </a:xfrm>
        </p:spPr>
        <p:txBody>
          <a:bodyPr/>
          <a:lstStyle/>
          <a:p>
            <a:r>
              <a:rPr lang="en-US" dirty="0"/>
              <a:t>Reconstructs low fidelity image images using U-net</a:t>
            </a:r>
          </a:p>
          <a:p>
            <a:r>
              <a:rPr lang="en-US" dirty="0"/>
              <a:t>Results in 4-8 fold speed increase in MRI acquisition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E47E9E7-2C4B-2AB7-652A-5DB78B259E89}"/>
              </a:ext>
            </a:extLst>
          </p:cNvPr>
          <p:cNvSpPr txBox="1"/>
          <p:nvPr/>
        </p:nvSpPr>
        <p:spPr>
          <a:xfrm>
            <a:off x="838200" y="6363222"/>
            <a:ext cx="880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https://github.com/facebookresearch/fastMRI/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DB575D-7C60-5899-A124-5DAE07489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3862" y="2983575"/>
            <a:ext cx="8964276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355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23727-A96A-169B-0619-181A1471E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Triage and Prioritization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C8B5A-426F-D59C-DDCB-E708E2DE9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892523"/>
          </a:xfrm>
        </p:spPr>
        <p:txBody>
          <a:bodyPr/>
          <a:lstStyle/>
          <a:p>
            <a:r>
              <a:rPr lang="en-US" dirty="0"/>
              <a:t>Model may not make final diagnosis – but can infer diagnostic probability (which AI problem?)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A01BEBD-B8AB-90CF-D282-43134B553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854" y="2718148"/>
            <a:ext cx="8392033" cy="39506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44EEDF-CE58-9D97-C86C-3B55B53AEE95}"/>
              </a:ext>
            </a:extLst>
          </p:cNvPr>
          <p:cNvSpPr txBox="1"/>
          <p:nvPr/>
        </p:nvSpPr>
        <p:spPr>
          <a:xfrm>
            <a:off x="1752179" y="5774499"/>
            <a:ext cx="170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U-Net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E94605-4D1E-1C7F-CAFF-4719655E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6283" y="2157026"/>
            <a:ext cx="3176177" cy="460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6952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F6A8EF-2BC9-8650-9AB6-D7604DED4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767"/>
            <a:ext cx="12192000" cy="2842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787499C-627F-3BCF-8030-4C9C2AE13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685" y="1628383"/>
            <a:ext cx="9073315" cy="47473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F74D334-39BD-0F6D-15C6-36FD18EF8E13}"/>
                  </a:ext>
                </a:extLst>
              </p14:cNvPr>
              <p14:cNvContentPartPr/>
              <p14:nvPr/>
            </p14:nvContentPartPr>
            <p14:xfrm>
              <a:off x="137707" y="1915442"/>
              <a:ext cx="1014480" cy="14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F74D334-39BD-0F6D-15C6-36FD18EF8E1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067" y="1807802"/>
                <a:ext cx="1122120" cy="2296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68742BB9-1C38-A4E7-EBE0-FEEC5AFF2A25}"/>
              </a:ext>
            </a:extLst>
          </p:cNvPr>
          <p:cNvSpPr txBox="1"/>
          <p:nvPr/>
        </p:nvSpPr>
        <p:spPr>
          <a:xfrm>
            <a:off x="331689" y="5235879"/>
            <a:ext cx="36074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https://5748396.fs1.hubspotusercontent-na1.net/hubfs/5748396/Brochures/EFM173%20-%20Radiology%20Brochure.pdf</a:t>
            </a:r>
          </a:p>
        </p:txBody>
      </p:sp>
    </p:spTree>
    <p:extLst>
      <p:ext uri="{BB962C8B-B14F-4D97-AF65-F5344CB8AC3E}">
        <p14:creationId xmlns:p14="http://schemas.microsoft.com/office/powerpoint/2010/main" val="3660230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CA2E9-96C1-CC9D-704B-0F86F45A9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Multimodal – vision/text models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C98B0-D954-1089-1AF5-B79B2746CB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34220" y="844299"/>
            <a:ext cx="7523559" cy="6013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26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0977-1111-FC01-4894-7766F9F51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 Many More…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610FC-BDD2-EE85-5550-C74EF73A4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https://healthairegister.com/radiology/products</a:t>
            </a:r>
            <a:endParaRPr lang="en-US" dirty="0"/>
          </a:p>
          <a:p>
            <a:r>
              <a:rPr lang="en-US" dirty="0">
                <a:hlinkClick r:id="rId3"/>
              </a:rPr>
              <a:t>https://arxiv.org/search/?query=radiology&amp;searchtype=all&amp;source=header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04452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8681E-EEB9-F372-AB88-920E8BD3F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Directions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F76D2-A445-81D1-5B96-866482200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6"/>
            <a:ext cx="10515600" cy="1205674"/>
          </a:xfrm>
        </p:spPr>
        <p:txBody>
          <a:bodyPr/>
          <a:lstStyle/>
          <a:p>
            <a:r>
              <a:rPr lang="en-US" dirty="0"/>
              <a:t>Multimodality</a:t>
            </a:r>
          </a:p>
          <a:p>
            <a:r>
              <a:rPr lang="en-US" dirty="0"/>
              <a:t>Natural Language Processing</a:t>
            </a:r>
          </a:p>
        </p:txBody>
      </p:sp>
      <p:pic>
        <p:nvPicPr>
          <p:cNvPr id="20482" name="Picture 2" descr="K_1.3. Multi-head Attention, deep dive_EN - Deep Learning Bible - 3.  Natural Language Processing - Eng.">
            <a:extLst>
              <a:ext uri="{FF2B5EF4-FFF2-40B4-BE49-F238E27FC236}">
                <a16:creationId xmlns:a16="http://schemas.microsoft.com/office/drawing/2014/main" id="{D875EA37-4E57-6EE0-D8A6-4D5CEA5C0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1780" y="0"/>
            <a:ext cx="61928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A Brief History of the ChatGPT Logo - Logovent">
            <a:extLst>
              <a:ext uri="{FF2B5EF4-FFF2-40B4-BE49-F238E27FC236}">
                <a16:creationId xmlns:a16="http://schemas.microsoft.com/office/drawing/2014/main" id="{D0CA948C-5943-BB6B-4D09-DE30FB502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83" y="3166238"/>
            <a:ext cx="2079321" cy="115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6" name="Picture 6" descr="Google Gemini Logo PNG HD Download With Transparent Background | PNGHDPro">
            <a:extLst>
              <a:ext uri="{FF2B5EF4-FFF2-40B4-BE49-F238E27FC236}">
                <a16:creationId xmlns:a16="http://schemas.microsoft.com/office/drawing/2014/main" id="{71ABFFD7-28FD-7996-A75B-46A9D1EE3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631" y="2501329"/>
            <a:ext cx="2485221" cy="248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8" name="Picture 8">
            <a:extLst>
              <a:ext uri="{FF2B5EF4-FFF2-40B4-BE49-F238E27FC236}">
                <a16:creationId xmlns:a16="http://schemas.microsoft.com/office/drawing/2014/main" id="{51628855-42DF-F650-F55A-83C1DB140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047" y="4506850"/>
            <a:ext cx="2485221" cy="53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0" name="Picture 10" descr="OpenEvidence Company Profile: Funding, Investors &amp; Partnerships">
            <a:extLst>
              <a:ext uri="{FF2B5EF4-FFF2-40B4-BE49-F238E27FC236}">
                <a16:creationId xmlns:a16="http://schemas.microsoft.com/office/drawing/2014/main" id="{64D056F4-6285-6AD7-04A7-F78A0E9F9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8195" y="4197891"/>
            <a:ext cx="2296522" cy="120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0042C2-DF62-6254-8BA4-526E56658E17}"/>
              </a:ext>
            </a:extLst>
          </p:cNvPr>
          <p:cNvSpPr txBox="1"/>
          <p:nvPr/>
        </p:nvSpPr>
        <p:spPr>
          <a:xfrm>
            <a:off x="1060189" y="5568366"/>
            <a:ext cx="40960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Next Time!</a:t>
            </a:r>
          </a:p>
        </p:txBody>
      </p:sp>
    </p:spTree>
    <p:extLst>
      <p:ext uri="{BB962C8B-B14F-4D97-AF65-F5344CB8AC3E}">
        <p14:creationId xmlns:p14="http://schemas.microsoft.com/office/powerpoint/2010/main" val="9319448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549AE-CA61-20BD-BAE1-BA93EE4B2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9555" y="2766218"/>
            <a:ext cx="209289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</p:spTree>
    <p:extLst>
      <p:ext uri="{BB962C8B-B14F-4D97-AF65-F5344CB8AC3E}">
        <p14:creationId xmlns:p14="http://schemas.microsoft.com/office/powerpoint/2010/main" val="38303018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1156</Words>
  <Application>Microsoft Office PowerPoint</Application>
  <PresentationFormat>Widescreen</PresentationFormat>
  <Paragraphs>168</Paragraphs>
  <Slides>42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Aptos Display</vt:lpstr>
      <vt:lpstr>Arial</vt:lpstr>
      <vt:lpstr>Cambria Math</vt:lpstr>
      <vt:lpstr>Office Theme</vt:lpstr>
      <vt:lpstr>Intro to AI for Medicine</vt:lpstr>
      <vt:lpstr>Last Time</vt:lpstr>
      <vt:lpstr>Agenda</vt:lpstr>
      <vt:lpstr>Inductive Bias</vt:lpstr>
      <vt:lpstr>PowerPoint Presentation</vt:lpstr>
      <vt:lpstr>PowerPoint Presentation</vt:lpstr>
      <vt:lpstr>PowerPoint Presentation</vt:lpstr>
      <vt:lpstr>Approaching Imaging With ML</vt:lpstr>
      <vt:lpstr>Hubel &amp; Wiesel 1981 Nobel Prize</vt:lpstr>
      <vt:lpstr>Hubel &amp; Wiesel 1981 Nobel Prize</vt:lpstr>
      <vt:lpstr>Hubel &amp; Wiesel 1981 Nobel Prize</vt:lpstr>
      <vt:lpstr>Hubel &amp; Wiesel 1981 Nobel Prize</vt:lpstr>
      <vt:lpstr>Complex Neuron Specialization</vt:lpstr>
      <vt:lpstr>Takeaways</vt:lpstr>
      <vt:lpstr>Convolution Operation</vt:lpstr>
      <vt:lpstr>Convolution Operation</vt:lpstr>
      <vt:lpstr>Extension to 2D</vt:lpstr>
      <vt:lpstr>CNN Weights</vt:lpstr>
      <vt:lpstr>Types of Filters: Top Edge</vt:lpstr>
      <vt:lpstr>Types of Filters: Left Edge</vt:lpstr>
      <vt:lpstr>Types of Filters: Smooth</vt:lpstr>
      <vt:lpstr>Types of Filters: Sharpen</vt:lpstr>
      <vt:lpstr>PowerPoint Presentation</vt:lpstr>
      <vt:lpstr>Max Pooling Operation</vt:lpstr>
      <vt:lpstr>Max Pooling</vt:lpstr>
      <vt:lpstr>Multi-Filter Parallelization</vt:lpstr>
      <vt:lpstr>Convolutional Neural Network (CNN)</vt:lpstr>
      <vt:lpstr>Recap</vt:lpstr>
      <vt:lpstr>Applied to Medical Imaging</vt:lpstr>
      <vt:lpstr>Applied to Medical Imaging</vt:lpstr>
      <vt:lpstr>U-Net</vt:lpstr>
      <vt:lpstr>Segmentation Accuracy Metrics</vt:lpstr>
      <vt:lpstr>Gradient Class Activation Mapping (GradCAM)</vt:lpstr>
      <vt:lpstr>Radiology Workflow</vt:lpstr>
      <vt:lpstr>Protocoling</vt:lpstr>
      <vt:lpstr>Image Acquisition/Reconstruction: FastMRI</vt:lpstr>
      <vt:lpstr>Triage and Prioritization</vt:lpstr>
      <vt:lpstr>PowerPoint Presentation</vt:lpstr>
      <vt:lpstr>Multimodal – vision/text models</vt:lpstr>
      <vt:lpstr>And Many More…</vt:lpstr>
      <vt:lpstr>New Directions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3</cp:revision>
  <dcterms:created xsi:type="dcterms:W3CDTF">2025-09-30T22:31:34Z</dcterms:created>
  <dcterms:modified xsi:type="dcterms:W3CDTF">2026-07-12T21:08:59Z</dcterms:modified>
</cp:coreProperties>
</file>